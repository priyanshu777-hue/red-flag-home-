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present:</a:t>
            </a:r>
          </a:p>
          <a:p>
            <a:r>
              <a:t>• Never say $2.16 without “with three properties” in the same sentence.</a:t>
            </a:r>
          </a:p>
          <a:p>
            <a:r>
              <a:t>• Check the city ordinance before the call. Don’t pitch an owner in a city that bans short-term rentals — New York City is the obvious one.</a:t>
            </a:r>
          </a:p>
          <a:p>
            <a:r>
              <a:t>• Confirm our licensing position in that state before quoting. Several states require a real estate broker license to manage property for compensation.</a:t>
            </a:r>
          </a:p>
          <a:p>
            <a:r>
              <a:t>• Run their real nightly rate before the meeting. US owners know their numbers.</a:t>
            </a:r>
          </a:p>
          <a:p>
            <a:r>
              <a:t>• Never say “no questions asked.” Say: no claim form, no proof, no chasing — we count it and we pay.</a:t>
            </a:r>
          </a:p>
          <a:p>
            <a:r>
              <a:t>• Never say franchise. Not in a deck, not on a call, not in a DM.</a:t>
            </a:r>
          </a:p>
          <a:p/>
          <a:p>
            <a:r>
              <a:t>Language rules: never use franchise, franchisee, territory or royalty — this is a management agreement with an onboarding fee. Never promise income, revenue, profit or return — we promise nights. The listing stays in the owner’s name; we do not brand their property. Every performance number needs the illustrative line.</a:t>
            </a:r>
          </a:p>
          <a:p/>
          <a:p>
            <a:r>
              <a:t>Say on the call: Open with nights. Never with the programme name.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Pause here. This is the slide everything turns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Most full-service managers charge 15–25%. Let them react to 8%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Show $2.16 first, then $6.47. The gap is what makes a two-property owner find a third. Never say $2.16 without “with three properties” in the same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The point isn’t the total — it’s that a one-time fee buys a permanent service. Always add: before your own operating costs and taxes.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Most guarantees are built to be hard to claim. This one doesn’t need claiming at all. That’s the trust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American owners care about keeping their account and reviews. Lead with that — it removes the biggest fear of switching.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call: Owners trust the floor-rate line more than anything else in the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85800" y="16916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RED FLAG MANAGED  ·  THE NIGHTS PROMISE</a:t>
            </a:r>
          </a:p>
        </p:txBody>
      </p:sp>
      <p:sp>
        <p:nvSpPr>
          <p:cNvPr id="5" name="TextBox 4"/>
          <p:cNvSpPr txBox="1"/>
          <p:nvPr/>
        </p:nvSpPr>
        <p:spPr>
          <a:xfrm>
            <a:off x="685800" y="1965960"/>
            <a:ext cx="6675120" cy="2651760"/>
          </a:xfrm>
          <a:prstGeom prst="rect">
            <a:avLst/>
          </a:prstGeom>
          <a:noFill/>
        </p:spPr>
        <p:txBody>
          <a:bodyPr wrap="square" lIns="0" rIns="0" tIns="0" bIns="0">
            <a:spAutoFit/>
          </a:bodyPr>
          <a:lstStyle/>
          <a:p>
            <a:pPr algn="l">
              <a:lnSpc>
                <a:spcPct val="95000"/>
              </a:lnSpc>
            </a:pPr>
            <a:r>
              <a:rPr sz="5200" b="1" i="0" spc="-100">
                <a:solidFill>
                  <a:srgbClr val="FFFFFF"/>
                </a:solidFill>
                <a:latin typeface="Bricolage Grotesque"/>
                <a:ea typeface="Inter"/>
                <a:cs typeface="Inter"/>
              </a:rPr>
              <a:t>We’ll put 18 nights a month on your calendar.</a:t>
            </a:r>
          </a:p>
        </p:txBody>
      </p:sp>
      <p:sp>
        <p:nvSpPr>
          <p:cNvPr id="6" name="TextBox 5"/>
          <p:cNvSpPr txBox="1"/>
          <p:nvPr/>
        </p:nvSpPr>
        <p:spPr>
          <a:xfrm>
            <a:off x="685800" y="4526280"/>
            <a:ext cx="6035040" cy="731520"/>
          </a:xfrm>
          <a:prstGeom prst="rect">
            <a:avLst/>
          </a:prstGeom>
          <a:noFill/>
        </p:spPr>
        <p:txBody>
          <a:bodyPr wrap="square" lIns="0" rIns="0" tIns="0" bIns="0">
            <a:spAutoFit/>
          </a:bodyPr>
          <a:lstStyle/>
          <a:p>
            <a:pPr algn="l">
              <a:lnSpc>
                <a:spcPct val="130000"/>
              </a:lnSpc>
            </a:pPr>
            <a:r>
              <a:rPr sz="1800" b="0" i="0">
                <a:solidFill>
                  <a:srgbClr val="FFFFFF"/>
                </a:solidFill>
                <a:latin typeface="Inter"/>
                <a:ea typeface="Inter"/>
                <a:cs typeface="Inter"/>
              </a:rPr>
              <a:t>In writing. Or your onboarding fee comes back — automatically.</a:t>
            </a:r>
          </a:p>
        </p:txBody>
      </p:sp>
      <p:sp>
        <p:nvSpPr>
          <p:cNvPr id="7" name="Rounded Rectangle 6"/>
          <p:cNvSpPr/>
          <p:nvPr/>
        </p:nvSpPr>
        <p:spPr>
          <a:xfrm>
            <a:off x="685800" y="5486400"/>
            <a:ext cx="5852160" cy="457200"/>
          </a:xfrm>
          <a:prstGeom prst="roundRect">
            <a:avLst>
              <a:gd name="adj" fmla="val 50000"/>
            </a:avLst>
          </a:prstGeom>
          <a:solidFill>
            <a:srgbClr val="FFFFFF"/>
          </a:solidFill>
          <a:ln>
            <a:noFill/>
          </a:ln>
        </p:spPr>
        <p:txBody>
          <a:bodyPr rtlCol="0" anchor="ctr"/>
          <a:lstStyle/>
          <a:p>
            <a:pPr algn="ctr"/>
          </a:p>
        </p:txBody>
      </p:sp>
      <p:sp>
        <p:nvSpPr>
          <p:cNvPr id="8" name="TextBox 7"/>
          <p:cNvSpPr txBox="1"/>
          <p:nvPr/>
        </p:nvSpPr>
        <p:spPr>
          <a:xfrm>
            <a:off x="685800" y="5635625"/>
            <a:ext cx="5852160" cy="457200"/>
          </a:xfrm>
          <a:prstGeom prst="rect">
            <a:avLst/>
          </a:prstGeom>
          <a:noFill/>
        </p:spPr>
        <p:txBody>
          <a:bodyPr wrap="square" lIns="0" rIns="0" tIns="0" bIns="0">
            <a:spAutoFit/>
          </a:bodyPr>
          <a:lstStyle/>
          <a:p>
            <a:pPr algn="ctr"/>
            <a:r>
              <a:rPr sz="1000" b="1" i="0">
                <a:solidFill>
                  <a:srgbClr val="0B1020"/>
                </a:solidFill>
                <a:latin typeface="Inter"/>
                <a:ea typeface="Inter"/>
                <a:cs typeface="Inter"/>
              </a:rPr>
              <a:t>From $2.16 a night with three properties  ·  Refunded automatically if we miss</a:t>
            </a:r>
          </a:p>
        </p:txBody>
      </p:sp>
      <p:sp>
        <p:nvSpPr>
          <p:cNvPr id="9" name="Rounded Rectangle 8"/>
          <p:cNvSpPr/>
          <p:nvPr/>
        </p:nvSpPr>
        <p:spPr>
          <a:xfrm>
            <a:off x="7882127" y="1115568"/>
            <a:ext cx="3986784" cy="3803904"/>
          </a:xfrm>
          <a:prstGeom prst="roundRect">
            <a:avLst>
              <a:gd name="adj" fmla="val 8000"/>
            </a:avLst>
          </a:prstGeom>
          <a:solidFill>
            <a:srgbClr val="FFFFFF">
              <a:alpha val="10000"/>
            </a:srgbClr>
          </a:solidFill>
          <a:ln w="9525">
            <a:solidFill>
              <a:srgbClr val="FFFFFF">
                <a:alpha val="25000"/>
              </a:srgbClr>
            </a:solidFill>
          </a:ln>
        </p:spPr>
        <p:txBody>
          <a:bodyPr rtlCol="0" anchor="ctr"/>
          <a:lstStyle/>
          <a:p>
            <a:pPr algn="ctr"/>
          </a:p>
        </p:txBody>
      </p:sp>
      <p:sp>
        <p:nvSpPr>
          <p:cNvPr id="10" name="Rounded Rectangle 9"/>
          <p:cNvSpPr/>
          <p:nvPr/>
        </p:nvSpPr>
        <p:spPr>
          <a:xfrm>
            <a:off x="8092440" y="1325880"/>
            <a:ext cx="3566160" cy="3387851"/>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1" name="TextBox 10"/>
          <p:cNvSpPr txBox="1"/>
          <p:nvPr/>
        </p:nvSpPr>
        <p:spPr>
          <a:xfrm>
            <a:off x="8366760" y="1581912"/>
            <a:ext cx="3017520" cy="274320"/>
          </a:xfrm>
          <a:prstGeom prst="rect">
            <a:avLst/>
          </a:prstGeom>
          <a:noFill/>
        </p:spPr>
        <p:txBody>
          <a:bodyPr wrap="square" lIns="0" rIns="0" tIns="0" bIns="0">
            <a:spAutoFit/>
          </a:bodyPr>
          <a:lstStyle/>
          <a:p>
            <a:pPr algn="l"/>
            <a:r>
              <a:rPr sz="1300" b="1" i="0">
                <a:solidFill>
                  <a:srgbClr val="0B1020"/>
                </a:solidFill>
                <a:latin typeface="Inter"/>
                <a:ea typeface="Inter"/>
                <a:cs typeface="Inter"/>
              </a:rPr>
              <a:t>October</a:t>
            </a:r>
          </a:p>
        </p:txBody>
      </p:sp>
      <p:sp>
        <p:nvSpPr>
          <p:cNvPr id="12" name="Rounded Rectangle 11"/>
          <p:cNvSpPr/>
          <p:nvPr/>
        </p:nvSpPr>
        <p:spPr>
          <a:xfrm>
            <a:off x="9875520" y="1545336"/>
            <a:ext cx="1508760" cy="310896"/>
          </a:xfrm>
          <a:prstGeom prst="roundRect">
            <a:avLst>
              <a:gd name="adj" fmla="val 50000"/>
            </a:avLst>
          </a:prstGeom>
          <a:solidFill>
            <a:srgbClr val="E9F8EE"/>
          </a:solidFill>
          <a:ln>
            <a:noFill/>
          </a:ln>
        </p:spPr>
        <p:txBody>
          <a:bodyPr rtlCol="0" anchor="ctr"/>
          <a:lstStyle/>
          <a:p>
            <a:pPr algn="ctr"/>
          </a:p>
        </p:txBody>
      </p:sp>
      <p:sp>
        <p:nvSpPr>
          <p:cNvPr id="13" name="TextBox 12"/>
          <p:cNvSpPr txBox="1"/>
          <p:nvPr/>
        </p:nvSpPr>
        <p:spPr>
          <a:xfrm>
            <a:off x="9875520" y="1633315"/>
            <a:ext cx="1508760" cy="310896"/>
          </a:xfrm>
          <a:prstGeom prst="rect">
            <a:avLst/>
          </a:prstGeom>
          <a:noFill/>
        </p:spPr>
        <p:txBody>
          <a:bodyPr wrap="square" lIns="0" rIns="0" tIns="0" bIns="0">
            <a:spAutoFit/>
          </a:bodyPr>
          <a:lstStyle/>
          <a:p>
            <a:pPr algn="ctr"/>
            <a:r>
              <a:rPr sz="850" b="1" i="0">
                <a:solidFill>
                  <a:srgbClr val="13843D"/>
                </a:solidFill>
                <a:latin typeface="Inter"/>
                <a:ea typeface="Inter"/>
                <a:cs typeface="Inter"/>
              </a:rPr>
              <a:t>✓  On track</a:t>
            </a:r>
          </a:p>
        </p:txBody>
      </p:sp>
      <p:sp>
        <p:nvSpPr>
          <p:cNvPr id="14" name="TextBox 13"/>
          <p:cNvSpPr txBox="1"/>
          <p:nvPr/>
        </p:nvSpPr>
        <p:spPr>
          <a:xfrm>
            <a:off x="8366760"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S</a:t>
            </a:r>
          </a:p>
        </p:txBody>
      </p:sp>
      <p:sp>
        <p:nvSpPr>
          <p:cNvPr id="15" name="TextBox 14"/>
          <p:cNvSpPr txBox="1"/>
          <p:nvPr/>
        </p:nvSpPr>
        <p:spPr>
          <a:xfrm>
            <a:off x="8797834"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M</a:t>
            </a:r>
          </a:p>
        </p:txBody>
      </p:sp>
      <p:sp>
        <p:nvSpPr>
          <p:cNvPr id="16" name="TextBox 15"/>
          <p:cNvSpPr txBox="1"/>
          <p:nvPr/>
        </p:nvSpPr>
        <p:spPr>
          <a:xfrm>
            <a:off x="9228908"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T</a:t>
            </a:r>
          </a:p>
        </p:txBody>
      </p:sp>
      <p:sp>
        <p:nvSpPr>
          <p:cNvPr id="17" name="TextBox 16"/>
          <p:cNvSpPr txBox="1"/>
          <p:nvPr/>
        </p:nvSpPr>
        <p:spPr>
          <a:xfrm>
            <a:off x="9659982"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W</a:t>
            </a:r>
          </a:p>
        </p:txBody>
      </p:sp>
      <p:sp>
        <p:nvSpPr>
          <p:cNvPr id="18" name="TextBox 17"/>
          <p:cNvSpPr txBox="1"/>
          <p:nvPr/>
        </p:nvSpPr>
        <p:spPr>
          <a:xfrm>
            <a:off x="10091057"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T</a:t>
            </a:r>
          </a:p>
        </p:txBody>
      </p:sp>
      <p:sp>
        <p:nvSpPr>
          <p:cNvPr id="19" name="TextBox 18"/>
          <p:cNvSpPr txBox="1"/>
          <p:nvPr/>
        </p:nvSpPr>
        <p:spPr>
          <a:xfrm>
            <a:off x="10522131"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F</a:t>
            </a:r>
          </a:p>
        </p:txBody>
      </p:sp>
      <p:sp>
        <p:nvSpPr>
          <p:cNvPr id="20" name="TextBox 19"/>
          <p:cNvSpPr txBox="1"/>
          <p:nvPr/>
        </p:nvSpPr>
        <p:spPr>
          <a:xfrm>
            <a:off x="10953205" y="2011680"/>
            <a:ext cx="431074"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S</a:t>
            </a:r>
          </a:p>
        </p:txBody>
      </p:sp>
      <p:sp>
        <p:nvSpPr>
          <p:cNvPr id="21" name="Rounded Rectangle 20"/>
          <p:cNvSpPr/>
          <p:nvPr/>
        </p:nvSpPr>
        <p:spPr>
          <a:xfrm>
            <a:off x="9696558" y="2258568"/>
            <a:ext cx="357922" cy="284509"/>
          </a:xfrm>
          <a:prstGeom prst="roundRect">
            <a:avLst>
              <a:gd name="adj" fmla="val 30000"/>
            </a:avLst>
          </a:prstGeom>
          <a:solidFill>
            <a:srgbClr val="FF5C4D"/>
          </a:solidFill>
          <a:ln>
            <a:noFill/>
          </a:ln>
        </p:spPr>
        <p:txBody>
          <a:bodyPr rtlCol="0" anchor="ctr"/>
          <a:lstStyle/>
          <a:p>
            <a:pPr algn="ctr"/>
          </a:p>
        </p:txBody>
      </p:sp>
      <p:sp>
        <p:nvSpPr>
          <p:cNvPr id="22" name="TextBox 21"/>
          <p:cNvSpPr txBox="1"/>
          <p:nvPr/>
        </p:nvSpPr>
        <p:spPr>
          <a:xfrm>
            <a:off x="9659982" y="233185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a:t>
            </a:r>
          </a:p>
        </p:txBody>
      </p:sp>
      <p:sp>
        <p:nvSpPr>
          <p:cNvPr id="23" name="Rounded Rectangle 22"/>
          <p:cNvSpPr/>
          <p:nvPr/>
        </p:nvSpPr>
        <p:spPr>
          <a:xfrm>
            <a:off x="10127633" y="2258568"/>
            <a:ext cx="357922" cy="284509"/>
          </a:xfrm>
          <a:prstGeom prst="roundRect">
            <a:avLst>
              <a:gd name="adj" fmla="val 30000"/>
            </a:avLst>
          </a:prstGeom>
          <a:solidFill>
            <a:srgbClr val="FF5C4D"/>
          </a:solidFill>
          <a:ln>
            <a:noFill/>
          </a:ln>
        </p:spPr>
        <p:txBody>
          <a:bodyPr rtlCol="0" anchor="ctr"/>
          <a:lstStyle/>
          <a:p>
            <a:pPr algn="ctr"/>
          </a:p>
        </p:txBody>
      </p:sp>
      <p:sp>
        <p:nvSpPr>
          <p:cNvPr id="24" name="TextBox 23"/>
          <p:cNvSpPr txBox="1"/>
          <p:nvPr/>
        </p:nvSpPr>
        <p:spPr>
          <a:xfrm>
            <a:off x="10091057" y="233185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a:t>
            </a:r>
          </a:p>
        </p:txBody>
      </p:sp>
      <p:sp>
        <p:nvSpPr>
          <p:cNvPr id="25" name="Rounded Rectangle 24"/>
          <p:cNvSpPr/>
          <p:nvPr/>
        </p:nvSpPr>
        <p:spPr>
          <a:xfrm>
            <a:off x="10558707" y="2258568"/>
            <a:ext cx="357922" cy="284509"/>
          </a:xfrm>
          <a:prstGeom prst="roundRect">
            <a:avLst>
              <a:gd name="adj" fmla="val 30000"/>
            </a:avLst>
          </a:prstGeom>
          <a:solidFill>
            <a:srgbClr val="FF5C4D"/>
          </a:solidFill>
          <a:ln>
            <a:noFill/>
          </a:ln>
        </p:spPr>
        <p:txBody>
          <a:bodyPr rtlCol="0" anchor="ctr"/>
          <a:lstStyle/>
          <a:p>
            <a:pPr algn="ctr"/>
          </a:p>
        </p:txBody>
      </p:sp>
      <p:sp>
        <p:nvSpPr>
          <p:cNvPr id="26" name="TextBox 25"/>
          <p:cNvSpPr txBox="1"/>
          <p:nvPr/>
        </p:nvSpPr>
        <p:spPr>
          <a:xfrm>
            <a:off x="10522131" y="233185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3</a:t>
            </a:r>
          </a:p>
        </p:txBody>
      </p:sp>
      <p:sp>
        <p:nvSpPr>
          <p:cNvPr id="27" name="Rounded Rectangle 26"/>
          <p:cNvSpPr/>
          <p:nvPr/>
        </p:nvSpPr>
        <p:spPr>
          <a:xfrm>
            <a:off x="10989781" y="2258568"/>
            <a:ext cx="357922" cy="284509"/>
          </a:xfrm>
          <a:prstGeom prst="roundRect">
            <a:avLst>
              <a:gd name="adj" fmla="val 30000"/>
            </a:avLst>
          </a:prstGeom>
          <a:solidFill>
            <a:srgbClr val="FF5C4D"/>
          </a:solidFill>
          <a:ln>
            <a:noFill/>
          </a:ln>
        </p:spPr>
        <p:txBody>
          <a:bodyPr rtlCol="0" anchor="ctr"/>
          <a:lstStyle/>
          <a:p>
            <a:pPr algn="ctr"/>
          </a:p>
        </p:txBody>
      </p:sp>
      <p:sp>
        <p:nvSpPr>
          <p:cNvPr id="28" name="TextBox 27"/>
          <p:cNvSpPr txBox="1"/>
          <p:nvPr/>
        </p:nvSpPr>
        <p:spPr>
          <a:xfrm>
            <a:off x="10953205" y="233185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4</a:t>
            </a:r>
          </a:p>
        </p:txBody>
      </p:sp>
      <p:sp>
        <p:nvSpPr>
          <p:cNvPr id="29" name="TextBox 28"/>
          <p:cNvSpPr txBox="1"/>
          <p:nvPr/>
        </p:nvSpPr>
        <p:spPr>
          <a:xfrm>
            <a:off x="8366760" y="2676710"/>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5</a:t>
            </a:r>
          </a:p>
        </p:txBody>
      </p:sp>
      <p:sp>
        <p:nvSpPr>
          <p:cNvPr id="30" name="TextBox 29"/>
          <p:cNvSpPr txBox="1"/>
          <p:nvPr/>
        </p:nvSpPr>
        <p:spPr>
          <a:xfrm>
            <a:off x="8797834" y="2676710"/>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6</a:t>
            </a:r>
          </a:p>
        </p:txBody>
      </p:sp>
      <p:sp>
        <p:nvSpPr>
          <p:cNvPr id="31" name="TextBox 30"/>
          <p:cNvSpPr txBox="1"/>
          <p:nvPr/>
        </p:nvSpPr>
        <p:spPr>
          <a:xfrm>
            <a:off x="9228908" y="2676710"/>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7</a:t>
            </a:r>
          </a:p>
        </p:txBody>
      </p:sp>
      <p:sp>
        <p:nvSpPr>
          <p:cNvPr id="32" name="Rounded Rectangle 31"/>
          <p:cNvSpPr/>
          <p:nvPr/>
        </p:nvSpPr>
        <p:spPr>
          <a:xfrm>
            <a:off x="9696558" y="2603427"/>
            <a:ext cx="357922" cy="284509"/>
          </a:xfrm>
          <a:prstGeom prst="roundRect">
            <a:avLst>
              <a:gd name="adj" fmla="val 30000"/>
            </a:avLst>
          </a:prstGeom>
          <a:solidFill>
            <a:srgbClr val="FF5C4D"/>
          </a:solidFill>
          <a:ln>
            <a:noFill/>
          </a:ln>
        </p:spPr>
        <p:txBody>
          <a:bodyPr rtlCol="0" anchor="ctr"/>
          <a:lstStyle/>
          <a:p>
            <a:pPr algn="ctr"/>
          </a:p>
        </p:txBody>
      </p:sp>
      <p:sp>
        <p:nvSpPr>
          <p:cNvPr id="33" name="TextBox 32"/>
          <p:cNvSpPr txBox="1"/>
          <p:nvPr/>
        </p:nvSpPr>
        <p:spPr>
          <a:xfrm>
            <a:off x="9659982" y="267671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8</a:t>
            </a:r>
          </a:p>
        </p:txBody>
      </p:sp>
      <p:sp>
        <p:nvSpPr>
          <p:cNvPr id="34" name="Rounded Rectangle 33"/>
          <p:cNvSpPr/>
          <p:nvPr/>
        </p:nvSpPr>
        <p:spPr>
          <a:xfrm>
            <a:off x="10127633" y="2603427"/>
            <a:ext cx="357922" cy="284509"/>
          </a:xfrm>
          <a:prstGeom prst="roundRect">
            <a:avLst>
              <a:gd name="adj" fmla="val 30000"/>
            </a:avLst>
          </a:prstGeom>
          <a:solidFill>
            <a:srgbClr val="FF5C4D"/>
          </a:solidFill>
          <a:ln>
            <a:noFill/>
          </a:ln>
        </p:spPr>
        <p:txBody>
          <a:bodyPr rtlCol="0" anchor="ctr"/>
          <a:lstStyle/>
          <a:p>
            <a:pPr algn="ctr"/>
          </a:p>
        </p:txBody>
      </p:sp>
      <p:sp>
        <p:nvSpPr>
          <p:cNvPr id="35" name="TextBox 34"/>
          <p:cNvSpPr txBox="1"/>
          <p:nvPr/>
        </p:nvSpPr>
        <p:spPr>
          <a:xfrm>
            <a:off x="10091057" y="267671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9</a:t>
            </a:r>
          </a:p>
        </p:txBody>
      </p:sp>
      <p:sp>
        <p:nvSpPr>
          <p:cNvPr id="36" name="Rounded Rectangle 35"/>
          <p:cNvSpPr/>
          <p:nvPr/>
        </p:nvSpPr>
        <p:spPr>
          <a:xfrm>
            <a:off x="10558707" y="2603427"/>
            <a:ext cx="357922" cy="284509"/>
          </a:xfrm>
          <a:prstGeom prst="roundRect">
            <a:avLst>
              <a:gd name="adj" fmla="val 30000"/>
            </a:avLst>
          </a:prstGeom>
          <a:solidFill>
            <a:srgbClr val="FF5C4D"/>
          </a:solidFill>
          <a:ln>
            <a:noFill/>
          </a:ln>
        </p:spPr>
        <p:txBody>
          <a:bodyPr rtlCol="0" anchor="ctr"/>
          <a:lstStyle/>
          <a:p>
            <a:pPr algn="ctr"/>
          </a:p>
        </p:txBody>
      </p:sp>
      <p:sp>
        <p:nvSpPr>
          <p:cNvPr id="37" name="TextBox 36"/>
          <p:cNvSpPr txBox="1"/>
          <p:nvPr/>
        </p:nvSpPr>
        <p:spPr>
          <a:xfrm>
            <a:off x="10522131" y="267671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10</a:t>
            </a:r>
          </a:p>
        </p:txBody>
      </p:sp>
      <p:sp>
        <p:nvSpPr>
          <p:cNvPr id="38" name="Rounded Rectangle 37"/>
          <p:cNvSpPr/>
          <p:nvPr/>
        </p:nvSpPr>
        <p:spPr>
          <a:xfrm>
            <a:off x="10989781" y="2603427"/>
            <a:ext cx="357922" cy="284509"/>
          </a:xfrm>
          <a:prstGeom prst="roundRect">
            <a:avLst>
              <a:gd name="adj" fmla="val 30000"/>
            </a:avLst>
          </a:prstGeom>
          <a:solidFill>
            <a:srgbClr val="FF5C4D"/>
          </a:solidFill>
          <a:ln>
            <a:noFill/>
          </a:ln>
        </p:spPr>
        <p:txBody>
          <a:bodyPr rtlCol="0" anchor="ctr"/>
          <a:lstStyle/>
          <a:p>
            <a:pPr algn="ctr"/>
          </a:p>
        </p:txBody>
      </p:sp>
      <p:sp>
        <p:nvSpPr>
          <p:cNvPr id="39" name="TextBox 38"/>
          <p:cNvSpPr txBox="1"/>
          <p:nvPr/>
        </p:nvSpPr>
        <p:spPr>
          <a:xfrm>
            <a:off x="10953205" y="2676710"/>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11</a:t>
            </a:r>
          </a:p>
        </p:txBody>
      </p:sp>
      <p:sp>
        <p:nvSpPr>
          <p:cNvPr id="40" name="TextBox 39"/>
          <p:cNvSpPr txBox="1"/>
          <p:nvPr/>
        </p:nvSpPr>
        <p:spPr>
          <a:xfrm>
            <a:off x="8366760" y="3021569"/>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12</a:t>
            </a:r>
          </a:p>
        </p:txBody>
      </p:sp>
      <p:sp>
        <p:nvSpPr>
          <p:cNvPr id="41" name="TextBox 40"/>
          <p:cNvSpPr txBox="1"/>
          <p:nvPr/>
        </p:nvSpPr>
        <p:spPr>
          <a:xfrm>
            <a:off x="8797834" y="3021569"/>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13</a:t>
            </a:r>
          </a:p>
        </p:txBody>
      </p:sp>
      <p:sp>
        <p:nvSpPr>
          <p:cNvPr id="42" name="TextBox 41"/>
          <p:cNvSpPr txBox="1"/>
          <p:nvPr/>
        </p:nvSpPr>
        <p:spPr>
          <a:xfrm>
            <a:off x="9228908" y="3021569"/>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14</a:t>
            </a:r>
          </a:p>
        </p:txBody>
      </p:sp>
      <p:sp>
        <p:nvSpPr>
          <p:cNvPr id="43" name="Rounded Rectangle 42"/>
          <p:cNvSpPr/>
          <p:nvPr/>
        </p:nvSpPr>
        <p:spPr>
          <a:xfrm>
            <a:off x="9696558" y="2948286"/>
            <a:ext cx="357922" cy="284509"/>
          </a:xfrm>
          <a:prstGeom prst="roundRect">
            <a:avLst>
              <a:gd name="adj" fmla="val 30000"/>
            </a:avLst>
          </a:prstGeom>
          <a:solidFill>
            <a:srgbClr val="FF5C4D"/>
          </a:solidFill>
          <a:ln>
            <a:noFill/>
          </a:ln>
        </p:spPr>
        <p:txBody>
          <a:bodyPr rtlCol="0" anchor="ctr"/>
          <a:lstStyle/>
          <a:p>
            <a:pPr algn="ctr"/>
          </a:p>
        </p:txBody>
      </p:sp>
      <p:sp>
        <p:nvSpPr>
          <p:cNvPr id="44" name="TextBox 43"/>
          <p:cNvSpPr txBox="1"/>
          <p:nvPr/>
        </p:nvSpPr>
        <p:spPr>
          <a:xfrm>
            <a:off x="9659982" y="3021569"/>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15</a:t>
            </a:r>
          </a:p>
        </p:txBody>
      </p:sp>
      <p:sp>
        <p:nvSpPr>
          <p:cNvPr id="45" name="Rounded Rectangle 44"/>
          <p:cNvSpPr/>
          <p:nvPr/>
        </p:nvSpPr>
        <p:spPr>
          <a:xfrm>
            <a:off x="10127633" y="2948286"/>
            <a:ext cx="357922" cy="284509"/>
          </a:xfrm>
          <a:prstGeom prst="roundRect">
            <a:avLst>
              <a:gd name="adj" fmla="val 30000"/>
            </a:avLst>
          </a:prstGeom>
          <a:solidFill>
            <a:srgbClr val="FF5C4D"/>
          </a:solidFill>
          <a:ln>
            <a:noFill/>
          </a:ln>
        </p:spPr>
        <p:txBody>
          <a:bodyPr rtlCol="0" anchor="ctr"/>
          <a:lstStyle/>
          <a:p>
            <a:pPr algn="ctr"/>
          </a:p>
        </p:txBody>
      </p:sp>
      <p:sp>
        <p:nvSpPr>
          <p:cNvPr id="46" name="TextBox 45"/>
          <p:cNvSpPr txBox="1"/>
          <p:nvPr/>
        </p:nvSpPr>
        <p:spPr>
          <a:xfrm>
            <a:off x="10091057" y="3021569"/>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16</a:t>
            </a:r>
          </a:p>
        </p:txBody>
      </p:sp>
      <p:sp>
        <p:nvSpPr>
          <p:cNvPr id="47" name="Rounded Rectangle 46"/>
          <p:cNvSpPr/>
          <p:nvPr/>
        </p:nvSpPr>
        <p:spPr>
          <a:xfrm>
            <a:off x="10558707" y="2948286"/>
            <a:ext cx="357922" cy="284509"/>
          </a:xfrm>
          <a:prstGeom prst="roundRect">
            <a:avLst>
              <a:gd name="adj" fmla="val 30000"/>
            </a:avLst>
          </a:prstGeom>
          <a:solidFill>
            <a:srgbClr val="FF5C4D"/>
          </a:solidFill>
          <a:ln>
            <a:noFill/>
          </a:ln>
        </p:spPr>
        <p:txBody>
          <a:bodyPr rtlCol="0" anchor="ctr"/>
          <a:lstStyle/>
          <a:p>
            <a:pPr algn="ctr"/>
          </a:p>
        </p:txBody>
      </p:sp>
      <p:sp>
        <p:nvSpPr>
          <p:cNvPr id="48" name="TextBox 47"/>
          <p:cNvSpPr txBox="1"/>
          <p:nvPr/>
        </p:nvSpPr>
        <p:spPr>
          <a:xfrm>
            <a:off x="10522131" y="3021569"/>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17</a:t>
            </a:r>
          </a:p>
        </p:txBody>
      </p:sp>
      <p:sp>
        <p:nvSpPr>
          <p:cNvPr id="49" name="Rounded Rectangle 48"/>
          <p:cNvSpPr/>
          <p:nvPr/>
        </p:nvSpPr>
        <p:spPr>
          <a:xfrm>
            <a:off x="10989781" y="2948286"/>
            <a:ext cx="357922" cy="284509"/>
          </a:xfrm>
          <a:prstGeom prst="roundRect">
            <a:avLst>
              <a:gd name="adj" fmla="val 30000"/>
            </a:avLst>
          </a:prstGeom>
          <a:solidFill>
            <a:srgbClr val="FF5C4D"/>
          </a:solidFill>
          <a:ln>
            <a:noFill/>
          </a:ln>
        </p:spPr>
        <p:txBody>
          <a:bodyPr rtlCol="0" anchor="ctr"/>
          <a:lstStyle/>
          <a:p>
            <a:pPr algn="ctr"/>
          </a:p>
        </p:txBody>
      </p:sp>
      <p:sp>
        <p:nvSpPr>
          <p:cNvPr id="50" name="TextBox 49"/>
          <p:cNvSpPr txBox="1"/>
          <p:nvPr/>
        </p:nvSpPr>
        <p:spPr>
          <a:xfrm>
            <a:off x="10953205" y="3021569"/>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18</a:t>
            </a:r>
          </a:p>
        </p:txBody>
      </p:sp>
      <p:sp>
        <p:nvSpPr>
          <p:cNvPr id="51" name="TextBox 50"/>
          <p:cNvSpPr txBox="1"/>
          <p:nvPr/>
        </p:nvSpPr>
        <p:spPr>
          <a:xfrm>
            <a:off x="8366760" y="336642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19</a:t>
            </a:r>
          </a:p>
        </p:txBody>
      </p:sp>
      <p:sp>
        <p:nvSpPr>
          <p:cNvPr id="52" name="TextBox 51"/>
          <p:cNvSpPr txBox="1"/>
          <p:nvPr/>
        </p:nvSpPr>
        <p:spPr>
          <a:xfrm>
            <a:off x="8797834" y="336642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20</a:t>
            </a:r>
          </a:p>
        </p:txBody>
      </p:sp>
      <p:sp>
        <p:nvSpPr>
          <p:cNvPr id="53" name="TextBox 52"/>
          <p:cNvSpPr txBox="1"/>
          <p:nvPr/>
        </p:nvSpPr>
        <p:spPr>
          <a:xfrm>
            <a:off x="9228908" y="336642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21</a:t>
            </a:r>
          </a:p>
        </p:txBody>
      </p:sp>
      <p:sp>
        <p:nvSpPr>
          <p:cNvPr id="54" name="Rounded Rectangle 53"/>
          <p:cNvSpPr/>
          <p:nvPr/>
        </p:nvSpPr>
        <p:spPr>
          <a:xfrm>
            <a:off x="9696558" y="3293146"/>
            <a:ext cx="357922" cy="284509"/>
          </a:xfrm>
          <a:prstGeom prst="roundRect">
            <a:avLst>
              <a:gd name="adj" fmla="val 30000"/>
            </a:avLst>
          </a:prstGeom>
          <a:solidFill>
            <a:srgbClr val="FF5C4D"/>
          </a:solidFill>
          <a:ln>
            <a:noFill/>
          </a:ln>
        </p:spPr>
        <p:txBody>
          <a:bodyPr rtlCol="0" anchor="ctr"/>
          <a:lstStyle/>
          <a:p>
            <a:pPr algn="ctr"/>
          </a:p>
        </p:txBody>
      </p:sp>
      <p:sp>
        <p:nvSpPr>
          <p:cNvPr id="55" name="TextBox 54"/>
          <p:cNvSpPr txBox="1"/>
          <p:nvPr/>
        </p:nvSpPr>
        <p:spPr>
          <a:xfrm>
            <a:off x="9659982" y="3366428"/>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22</a:t>
            </a:r>
          </a:p>
        </p:txBody>
      </p:sp>
      <p:sp>
        <p:nvSpPr>
          <p:cNvPr id="56" name="Rounded Rectangle 55"/>
          <p:cNvSpPr/>
          <p:nvPr/>
        </p:nvSpPr>
        <p:spPr>
          <a:xfrm>
            <a:off x="10127633" y="3293146"/>
            <a:ext cx="357922" cy="284509"/>
          </a:xfrm>
          <a:prstGeom prst="roundRect">
            <a:avLst>
              <a:gd name="adj" fmla="val 30000"/>
            </a:avLst>
          </a:prstGeom>
          <a:solidFill>
            <a:srgbClr val="FF5C4D"/>
          </a:solidFill>
          <a:ln>
            <a:noFill/>
          </a:ln>
        </p:spPr>
        <p:txBody>
          <a:bodyPr rtlCol="0" anchor="ctr"/>
          <a:lstStyle/>
          <a:p>
            <a:pPr algn="ctr"/>
          </a:p>
        </p:txBody>
      </p:sp>
      <p:sp>
        <p:nvSpPr>
          <p:cNvPr id="57" name="TextBox 56"/>
          <p:cNvSpPr txBox="1"/>
          <p:nvPr/>
        </p:nvSpPr>
        <p:spPr>
          <a:xfrm>
            <a:off x="10091057" y="3366428"/>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23</a:t>
            </a:r>
          </a:p>
        </p:txBody>
      </p:sp>
      <p:sp>
        <p:nvSpPr>
          <p:cNvPr id="58" name="Rounded Rectangle 57"/>
          <p:cNvSpPr/>
          <p:nvPr/>
        </p:nvSpPr>
        <p:spPr>
          <a:xfrm>
            <a:off x="10558707" y="3293146"/>
            <a:ext cx="357922" cy="284509"/>
          </a:xfrm>
          <a:prstGeom prst="roundRect">
            <a:avLst>
              <a:gd name="adj" fmla="val 30000"/>
            </a:avLst>
          </a:prstGeom>
          <a:solidFill>
            <a:srgbClr val="FF5C4D"/>
          </a:solidFill>
          <a:ln>
            <a:noFill/>
          </a:ln>
        </p:spPr>
        <p:txBody>
          <a:bodyPr rtlCol="0" anchor="ctr"/>
          <a:lstStyle/>
          <a:p>
            <a:pPr algn="ctr"/>
          </a:p>
        </p:txBody>
      </p:sp>
      <p:sp>
        <p:nvSpPr>
          <p:cNvPr id="59" name="TextBox 58"/>
          <p:cNvSpPr txBox="1"/>
          <p:nvPr/>
        </p:nvSpPr>
        <p:spPr>
          <a:xfrm>
            <a:off x="10522131" y="3366428"/>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24</a:t>
            </a:r>
          </a:p>
        </p:txBody>
      </p:sp>
      <p:sp>
        <p:nvSpPr>
          <p:cNvPr id="60" name="Rounded Rectangle 59"/>
          <p:cNvSpPr/>
          <p:nvPr/>
        </p:nvSpPr>
        <p:spPr>
          <a:xfrm>
            <a:off x="10989781" y="3293146"/>
            <a:ext cx="357922" cy="284509"/>
          </a:xfrm>
          <a:prstGeom prst="roundRect">
            <a:avLst>
              <a:gd name="adj" fmla="val 30000"/>
            </a:avLst>
          </a:prstGeom>
          <a:solidFill>
            <a:srgbClr val="FF5C4D"/>
          </a:solidFill>
          <a:ln>
            <a:noFill/>
          </a:ln>
        </p:spPr>
        <p:txBody>
          <a:bodyPr rtlCol="0" anchor="ctr"/>
          <a:lstStyle/>
          <a:p>
            <a:pPr algn="ctr"/>
          </a:p>
        </p:txBody>
      </p:sp>
      <p:sp>
        <p:nvSpPr>
          <p:cNvPr id="61" name="TextBox 60"/>
          <p:cNvSpPr txBox="1"/>
          <p:nvPr/>
        </p:nvSpPr>
        <p:spPr>
          <a:xfrm>
            <a:off x="10953205" y="3366428"/>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25</a:t>
            </a:r>
          </a:p>
        </p:txBody>
      </p:sp>
      <p:sp>
        <p:nvSpPr>
          <p:cNvPr id="62" name="TextBox 61"/>
          <p:cNvSpPr txBox="1"/>
          <p:nvPr/>
        </p:nvSpPr>
        <p:spPr>
          <a:xfrm>
            <a:off x="8366760" y="371128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26</a:t>
            </a:r>
          </a:p>
        </p:txBody>
      </p:sp>
      <p:sp>
        <p:nvSpPr>
          <p:cNvPr id="63" name="TextBox 62"/>
          <p:cNvSpPr txBox="1"/>
          <p:nvPr/>
        </p:nvSpPr>
        <p:spPr>
          <a:xfrm>
            <a:off x="8797834" y="371128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27</a:t>
            </a:r>
          </a:p>
        </p:txBody>
      </p:sp>
      <p:sp>
        <p:nvSpPr>
          <p:cNvPr id="64" name="TextBox 63"/>
          <p:cNvSpPr txBox="1"/>
          <p:nvPr/>
        </p:nvSpPr>
        <p:spPr>
          <a:xfrm>
            <a:off x="9228908" y="371128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28</a:t>
            </a:r>
          </a:p>
        </p:txBody>
      </p:sp>
      <p:sp>
        <p:nvSpPr>
          <p:cNvPr id="65" name="Rounded Rectangle 64"/>
          <p:cNvSpPr/>
          <p:nvPr/>
        </p:nvSpPr>
        <p:spPr>
          <a:xfrm>
            <a:off x="9696558" y="3638005"/>
            <a:ext cx="357922" cy="284509"/>
          </a:xfrm>
          <a:prstGeom prst="roundRect">
            <a:avLst>
              <a:gd name="adj" fmla="val 30000"/>
            </a:avLst>
          </a:prstGeom>
          <a:solidFill>
            <a:srgbClr val="FF5C4D"/>
          </a:solidFill>
          <a:ln>
            <a:noFill/>
          </a:ln>
        </p:spPr>
        <p:txBody>
          <a:bodyPr rtlCol="0" anchor="ctr"/>
          <a:lstStyle/>
          <a:p>
            <a:pPr algn="ctr"/>
          </a:p>
        </p:txBody>
      </p:sp>
      <p:sp>
        <p:nvSpPr>
          <p:cNvPr id="66" name="TextBox 65"/>
          <p:cNvSpPr txBox="1"/>
          <p:nvPr/>
        </p:nvSpPr>
        <p:spPr>
          <a:xfrm>
            <a:off x="9659982" y="3711288"/>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29</a:t>
            </a:r>
          </a:p>
        </p:txBody>
      </p:sp>
      <p:sp>
        <p:nvSpPr>
          <p:cNvPr id="67" name="Rounded Rectangle 66"/>
          <p:cNvSpPr/>
          <p:nvPr/>
        </p:nvSpPr>
        <p:spPr>
          <a:xfrm>
            <a:off x="10127633" y="3638005"/>
            <a:ext cx="357922" cy="284509"/>
          </a:xfrm>
          <a:prstGeom prst="roundRect">
            <a:avLst>
              <a:gd name="adj" fmla="val 30000"/>
            </a:avLst>
          </a:prstGeom>
          <a:solidFill>
            <a:srgbClr val="FF5C4D"/>
          </a:solidFill>
          <a:ln>
            <a:noFill/>
          </a:ln>
        </p:spPr>
        <p:txBody>
          <a:bodyPr rtlCol="0" anchor="ctr"/>
          <a:lstStyle/>
          <a:p>
            <a:pPr algn="ctr"/>
          </a:p>
        </p:txBody>
      </p:sp>
      <p:sp>
        <p:nvSpPr>
          <p:cNvPr id="68" name="TextBox 67"/>
          <p:cNvSpPr txBox="1"/>
          <p:nvPr/>
        </p:nvSpPr>
        <p:spPr>
          <a:xfrm>
            <a:off x="10091057" y="3711288"/>
            <a:ext cx="431074"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30</a:t>
            </a:r>
          </a:p>
        </p:txBody>
      </p:sp>
      <p:sp>
        <p:nvSpPr>
          <p:cNvPr id="69" name="TextBox 68"/>
          <p:cNvSpPr txBox="1"/>
          <p:nvPr/>
        </p:nvSpPr>
        <p:spPr>
          <a:xfrm>
            <a:off x="10522131" y="3711288"/>
            <a:ext cx="431074"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31</a:t>
            </a:r>
          </a:p>
        </p:txBody>
      </p:sp>
      <p:sp>
        <p:nvSpPr>
          <p:cNvPr id="70" name="Rectangle 69"/>
          <p:cNvSpPr/>
          <p:nvPr/>
        </p:nvSpPr>
        <p:spPr>
          <a:xfrm>
            <a:off x="8366760" y="4146803"/>
            <a:ext cx="3017520" cy="10972"/>
          </a:xfrm>
          <a:prstGeom prst="rect">
            <a:avLst/>
          </a:prstGeom>
          <a:solidFill>
            <a:srgbClr val="ECEAE4"/>
          </a:solidFill>
          <a:ln>
            <a:noFill/>
          </a:ln>
        </p:spPr>
        <p:txBody>
          <a:bodyPr rtlCol="0" anchor="ctr"/>
          <a:lstStyle/>
          <a:p>
            <a:pPr algn="ctr"/>
          </a:p>
        </p:txBody>
      </p:sp>
      <p:sp>
        <p:nvSpPr>
          <p:cNvPr id="71" name="TextBox 70"/>
          <p:cNvSpPr txBox="1"/>
          <p:nvPr/>
        </p:nvSpPr>
        <p:spPr>
          <a:xfrm>
            <a:off x="8366760" y="4302251"/>
            <a:ext cx="3017520" cy="274320"/>
          </a:xfrm>
          <a:prstGeom prst="rect">
            <a:avLst/>
          </a:prstGeom>
          <a:noFill/>
        </p:spPr>
        <p:txBody>
          <a:bodyPr wrap="square" lIns="0" rIns="0" tIns="0" bIns="0">
            <a:spAutoFit/>
          </a:bodyPr>
          <a:lstStyle/>
          <a:p>
            <a:pPr algn="l"/>
            <a:r>
              <a:rPr sz="1050" b="1" i="0">
                <a:solidFill>
                  <a:srgbClr val="0B1020"/>
                </a:solidFill>
                <a:latin typeface="Inter"/>
                <a:ea typeface="Inter"/>
                <a:cs typeface="Inter"/>
              </a:rPr>
              <a:t>18 nights booked this month</a:t>
            </a:r>
          </a:p>
        </p:txBody>
      </p:sp>
      <p:sp>
        <p:nvSpPr>
          <p:cNvPr id="72" name="TextBox 71"/>
          <p:cNvSpPr txBox="1"/>
          <p:nvPr/>
        </p:nvSpPr>
        <p:spPr>
          <a:xfrm>
            <a:off x="8092440" y="5074920"/>
            <a:ext cx="3566160" cy="274320"/>
          </a:xfrm>
          <a:prstGeom prst="rect">
            <a:avLst/>
          </a:prstGeom>
          <a:noFill/>
        </p:spPr>
        <p:txBody>
          <a:bodyPr wrap="square" lIns="0" rIns="0" tIns="0" bIns="0">
            <a:spAutoFit/>
          </a:bodyPr>
          <a:lstStyle/>
          <a:p>
            <a:pPr algn="l"/>
            <a:r>
              <a:rPr sz="850" b="0" i="0">
                <a:solidFill>
                  <a:srgbClr val="C5C9DA"/>
                </a:solidFill>
                <a:latin typeface="Inter"/>
                <a:ea typeface="Inter"/>
                <a:cs typeface="Inter"/>
              </a:rPr>
              <a:t>Illustrative calendar.</a:t>
            </a:r>
          </a:p>
        </p:txBody>
      </p:sp>
      <p:pic>
        <p:nvPicPr>
          <p:cNvPr id="3" name="!!logo" descr="logobg.png"/>
          <p:cNvPicPr>
            <a:picLocks noChangeAspect="1"/>
          </p:cNvPicPr>
          <p:nvPr/>
        </p:nvPicPr>
        <p:blipFill>
          <a:blip r:embed="rId4"/>
          <a:stretch>
            <a:fillRect/>
          </a:stretch>
        </p:blipFill>
        <p:spPr>
          <a:xfrm>
            <a:off x="640080" y="548640"/>
            <a:ext cx="868680" cy="86868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par>
                                <p:cTn id="8" presetID="10" presetClass="entr" presetSubtype="0" fill="hold" grpId="0" nodeType="withEffect">
                                  <p:stCondLst>
                                    <p:cond delay="278"/>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00"/>
                                        <p:tgtEl>
                                          <p:spTgt spid="10"/>
                                        </p:tgtEl>
                                      </p:cBhvr>
                                    </p:animEffect>
                                  </p:childTnLst>
                                </p:cTn>
                              </p:par>
                              <p:par>
                                <p:cTn id="11" presetID="10" presetClass="entr" presetSubtype="0" fill="hold" grpId="0" nodeType="withEffect">
                                  <p:stCondLst>
                                    <p:cond delay="306"/>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00"/>
                                        <p:tgtEl>
                                          <p:spTgt spid="4"/>
                                        </p:tgtEl>
                                      </p:cBhvr>
                                    </p:animEffect>
                                  </p:childTnLst>
                                </p:cTn>
                              </p:par>
                              <p:par>
                                <p:cTn id="14" presetID="10" presetClass="entr" presetSubtype="0" fill="hold" grpId="0" nodeType="withEffect">
                                  <p:stCondLst>
                                    <p:cond delay="334"/>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00"/>
                                        <p:tgtEl>
                                          <p:spTgt spid="11"/>
                                        </p:tgtEl>
                                      </p:cBhvr>
                                    </p:animEffect>
                                  </p:childTnLst>
                                </p:cTn>
                              </p:par>
                              <p:par>
                                <p:cTn id="17" presetID="10" presetClass="entr" presetSubtype="0" fill="hold" grpId="0" nodeType="withEffect">
                                  <p:stCondLst>
                                    <p:cond delay="362"/>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700"/>
                                        <p:tgtEl>
                                          <p:spTgt spid="12"/>
                                        </p:tgtEl>
                                      </p:cBhvr>
                                    </p:animEffect>
                                  </p:childTnLst>
                                </p:cTn>
                              </p:par>
                              <p:par>
                                <p:cTn id="20" presetID="10" presetClass="entr" presetSubtype="0" fill="hold" grpId="0" nodeType="withEffect">
                                  <p:stCondLst>
                                    <p:cond delay="39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700"/>
                                        <p:tgtEl>
                                          <p:spTgt spid="13"/>
                                        </p:tgtEl>
                                      </p:cBhvr>
                                    </p:animEffect>
                                  </p:childTnLst>
                                </p:cTn>
                              </p:par>
                              <p:par>
                                <p:cTn id="23" presetID="42" presetClass="entr" presetSubtype="0" fill="hold" grpId="0" nodeType="withEffect">
                                  <p:stCondLst>
                                    <p:cond delay="418"/>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900"/>
                                        <p:tgtEl>
                                          <p:spTgt spid="5"/>
                                        </p:tgtEl>
                                      </p:cBhvr>
                                    </p:animEffect>
                                    <p:anim calcmode="lin" valueType="num">
                                      <p:cBhvr>
                                        <p:cTn id="26" dur="900" decel="100000"/>
                                        <p:tgtEl>
                                          <p:spTgt spid="5"/>
                                        </p:tgtEl>
                                        <p:attrNameLst>
                                          <p:attrName>ppt_x</p:attrName>
                                        </p:attrNameLst>
                                      </p:cBhvr>
                                      <p:tavLst>
                                        <p:tav tm="0">
                                          <p:val>
                                            <p:strVal val="#ppt_x"/>
                                          </p:val>
                                        </p:tav>
                                        <p:tav tm="100000">
                                          <p:val>
                                            <p:strVal val="#ppt_x"/>
                                          </p:val>
                                        </p:tav>
                                      </p:tavLst>
                                    </p:anim>
                                    <p:anim calcmode="lin" valueType="num">
                                      <p:cBhvr>
                                        <p:cTn id="27" dur="900" decel="100000"/>
                                        <p:tgtEl>
                                          <p:spTgt spid="5"/>
                                        </p:tgtEl>
                                        <p:attrNameLst>
                                          <p:attrName>ppt_y</p:attrName>
                                        </p:attrNameLst>
                                      </p:cBhvr>
                                      <p:tavLst>
                                        <p:tav tm="0">
                                          <p:val>
                                            <p:strVal val="#ppt_y+.035"/>
                                          </p:val>
                                        </p:tav>
                                        <p:tav tm="100000">
                                          <p:val>
                                            <p:strVal val="#ppt_y"/>
                                          </p:val>
                                        </p:tav>
                                      </p:tavLst>
                                    </p:anim>
                                  </p:childTnLst>
                                </p:cTn>
                              </p:par>
                              <p:par>
                                <p:cTn id="28" presetID="10" presetClass="entr" presetSubtype="0" fill="hold" grpId="0" nodeType="withEffect">
                                  <p:stCondLst>
                                    <p:cond delay="446"/>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700"/>
                                        <p:tgtEl>
                                          <p:spTgt spid="14"/>
                                        </p:tgtEl>
                                      </p:cBhvr>
                                    </p:animEffect>
                                  </p:childTnLst>
                                </p:cTn>
                              </p:par>
                              <p:par>
                                <p:cTn id="31" presetID="10" presetClass="entr" presetSubtype="0" fill="hold" grpId="0" nodeType="withEffect">
                                  <p:stCondLst>
                                    <p:cond delay="474"/>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700"/>
                                        <p:tgtEl>
                                          <p:spTgt spid="15"/>
                                        </p:tgtEl>
                                      </p:cBhvr>
                                    </p:animEffect>
                                  </p:childTnLst>
                                </p:cTn>
                              </p:par>
                              <p:par>
                                <p:cTn id="34" presetID="10" presetClass="entr" presetSubtype="0" fill="hold" grpId="0" nodeType="withEffect">
                                  <p:stCondLst>
                                    <p:cond delay="502"/>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700"/>
                                        <p:tgtEl>
                                          <p:spTgt spid="16"/>
                                        </p:tgtEl>
                                      </p:cBhvr>
                                    </p:animEffect>
                                  </p:childTnLst>
                                </p:cTn>
                              </p:par>
                              <p:par>
                                <p:cTn id="37" presetID="10" presetClass="entr" presetSubtype="0" fill="hold" grpId="0" nodeType="withEffect">
                                  <p:stCondLst>
                                    <p:cond delay="53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700"/>
                                        <p:tgtEl>
                                          <p:spTgt spid="17"/>
                                        </p:tgtEl>
                                      </p:cBhvr>
                                    </p:animEffect>
                                  </p:childTnLst>
                                </p:cTn>
                              </p:par>
                              <p:par>
                                <p:cTn id="40" presetID="10" presetClass="entr" presetSubtype="0" fill="hold" grpId="0" nodeType="withEffect">
                                  <p:stCondLst>
                                    <p:cond delay="558"/>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700"/>
                                        <p:tgtEl>
                                          <p:spTgt spid="18"/>
                                        </p:tgtEl>
                                      </p:cBhvr>
                                    </p:animEffect>
                                  </p:childTnLst>
                                </p:cTn>
                              </p:par>
                              <p:par>
                                <p:cTn id="43" presetID="10" presetClass="entr" presetSubtype="0" fill="hold" grpId="0" nodeType="withEffect">
                                  <p:stCondLst>
                                    <p:cond delay="586"/>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700"/>
                                        <p:tgtEl>
                                          <p:spTgt spid="19"/>
                                        </p:tgtEl>
                                      </p:cBhvr>
                                    </p:animEffect>
                                  </p:childTnLst>
                                </p:cTn>
                              </p:par>
                              <p:par>
                                <p:cTn id="46" presetID="10" presetClass="entr" presetSubtype="0" fill="hold" grpId="0" nodeType="withEffect">
                                  <p:stCondLst>
                                    <p:cond delay="614"/>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700"/>
                                        <p:tgtEl>
                                          <p:spTgt spid="20"/>
                                        </p:tgtEl>
                                      </p:cBhvr>
                                    </p:animEffect>
                                  </p:childTnLst>
                                </p:cTn>
                              </p:par>
                              <p:par>
                                <p:cTn id="49" presetID="10" presetClass="entr" presetSubtype="0" fill="hold" grpId="0" nodeType="withEffect">
                                  <p:stCondLst>
                                    <p:cond delay="642"/>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700"/>
                                        <p:tgtEl>
                                          <p:spTgt spid="22"/>
                                        </p:tgtEl>
                                      </p:cBhvr>
                                    </p:animEffect>
                                  </p:childTnLst>
                                </p:cTn>
                              </p:par>
                              <p:par>
                                <p:cTn id="52" presetID="10" presetClass="entr" presetSubtype="0" fill="hold" grpId="0" nodeType="withEffect">
                                  <p:stCondLst>
                                    <p:cond delay="67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par>
                                <p:cTn id="55" presetID="10" presetClass="entr" presetSubtype="0" fill="hold" grpId="0" nodeType="withEffect">
                                  <p:stCondLst>
                                    <p:cond delay="698"/>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700"/>
                                        <p:tgtEl>
                                          <p:spTgt spid="24"/>
                                        </p:tgtEl>
                                      </p:cBhvr>
                                    </p:animEffect>
                                  </p:childTnLst>
                                </p:cTn>
                              </p:par>
                              <p:par>
                                <p:cTn id="58" presetID="10" presetClass="entr" presetSubtype="0" fill="hold" grpId="0" nodeType="withEffect">
                                  <p:stCondLst>
                                    <p:cond delay="726"/>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700"/>
                                        <p:tgtEl>
                                          <p:spTgt spid="23"/>
                                        </p:tgtEl>
                                      </p:cBhvr>
                                    </p:animEffect>
                                  </p:childTnLst>
                                </p:cTn>
                              </p:par>
                              <p:par>
                                <p:cTn id="61" presetID="10" presetClass="entr" presetSubtype="0" fill="hold" grpId="0" nodeType="withEffect">
                                  <p:stCondLst>
                                    <p:cond delay="754"/>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700"/>
                                        <p:tgtEl>
                                          <p:spTgt spid="26"/>
                                        </p:tgtEl>
                                      </p:cBhvr>
                                    </p:animEffect>
                                  </p:childTnLst>
                                </p:cTn>
                              </p:par>
                              <p:par>
                                <p:cTn id="64" presetID="10" presetClass="entr" presetSubtype="0" fill="hold" grpId="0" nodeType="withEffect">
                                  <p:stCondLst>
                                    <p:cond delay="782"/>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700"/>
                                        <p:tgtEl>
                                          <p:spTgt spid="25"/>
                                        </p:tgtEl>
                                      </p:cBhvr>
                                    </p:animEffect>
                                  </p:childTnLst>
                                </p:cTn>
                              </p:par>
                              <p:par>
                                <p:cTn id="67" presetID="10" presetClass="entr" presetSubtype="0" fill="hold" grpId="0" nodeType="withEffect">
                                  <p:stCondLst>
                                    <p:cond delay="81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700"/>
                                        <p:tgtEl>
                                          <p:spTgt spid="28"/>
                                        </p:tgtEl>
                                      </p:cBhvr>
                                    </p:animEffect>
                                  </p:childTnLst>
                                </p:cTn>
                              </p:par>
                              <p:par>
                                <p:cTn id="70" presetID="10" presetClass="entr" presetSubtype="0" fill="hold" grpId="0" nodeType="withEffect">
                                  <p:stCondLst>
                                    <p:cond delay="838"/>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700"/>
                                        <p:tgtEl>
                                          <p:spTgt spid="27"/>
                                        </p:tgtEl>
                                      </p:cBhvr>
                                    </p:animEffect>
                                  </p:childTnLst>
                                </p:cTn>
                              </p:par>
                              <p:par>
                                <p:cTn id="73" presetID="10" presetClass="entr" presetSubtype="0" fill="hold" grpId="0" nodeType="withEffect">
                                  <p:stCondLst>
                                    <p:cond delay="866"/>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700"/>
                                        <p:tgtEl>
                                          <p:spTgt spid="29"/>
                                        </p:tgtEl>
                                      </p:cBhvr>
                                    </p:animEffect>
                                  </p:childTnLst>
                                </p:cTn>
                              </p:par>
                              <p:par>
                                <p:cTn id="76" presetID="10" presetClass="entr" presetSubtype="0" fill="hold" grpId="0" nodeType="withEffect">
                                  <p:stCondLst>
                                    <p:cond delay="894"/>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700"/>
                                        <p:tgtEl>
                                          <p:spTgt spid="30"/>
                                        </p:tgtEl>
                                      </p:cBhvr>
                                    </p:animEffect>
                                  </p:childTnLst>
                                </p:cTn>
                              </p:par>
                              <p:par>
                                <p:cTn id="79" presetID="10" presetClass="entr" presetSubtype="0" fill="hold" grpId="0" nodeType="withEffect">
                                  <p:stCondLst>
                                    <p:cond delay="922"/>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700"/>
                                        <p:tgtEl>
                                          <p:spTgt spid="31"/>
                                        </p:tgtEl>
                                      </p:cBhvr>
                                    </p:animEffect>
                                  </p:childTnLst>
                                </p:cTn>
                              </p:par>
                              <p:par>
                                <p:cTn id="82" presetID="10" presetClass="entr" presetSubtype="0" fill="hold" grpId="0" nodeType="withEffect">
                                  <p:stCondLst>
                                    <p:cond delay="95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700"/>
                                        <p:tgtEl>
                                          <p:spTgt spid="33"/>
                                        </p:tgtEl>
                                      </p:cBhvr>
                                    </p:animEffect>
                                  </p:childTnLst>
                                </p:cTn>
                              </p:par>
                              <p:par>
                                <p:cTn id="85" presetID="10" presetClass="entr" presetSubtype="0" fill="hold" grpId="0" nodeType="withEffect">
                                  <p:stCondLst>
                                    <p:cond delay="978"/>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700"/>
                                        <p:tgtEl>
                                          <p:spTgt spid="32"/>
                                        </p:tgtEl>
                                      </p:cBhvr>
                                    </p:animEffect>
                                  </p:childTnLst>
                                </p:cTn>
                              </p:par>
                              <p:par>
                                <p:cTn id="88" presetID="10" presetClass="entr" presetSubtype="0" fill="hold" grpId="0" nodeType="withEffect">
                                  <p:stCondLst>
                                    <p:cond delay="1006"/>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700"/>
                                        <p:tgtEl>
                                          <p:spTgt spid="35"/>
                                        </p:tgtEl>
                                      </p:cBhvr>
                                    </p:animEffect>
                                  </p:childTnLst>
                                </p:cTn>
                              </p:par>
                              <p:par>
                                <p:cTn id="91" presetID="10" presetClass="entr" presetSubtype="0" fill="hold" grpId="0" nodeType="withEffect">
                                  <p:stCondLst>
                                    <p:cond delay="1034"/>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700"/>
                                        <p:tgtEl>
                                          <p:spTgt spid="34"/>
                                        </p:tgtEl>
                                      </p:cBhvr>
                                    </p:animEffect>
                                  </p:childTnLst>
                                </p:cTn>
                              </p:par>
                              <p:par>
                                <p:cTn id="94" presetID="10" presetClass="entr" presetSubtype="0" fill="hold" grpId="0" nodeType="withEffect">
                                  <p:stCondLst>
                                    <p:cond delay="1062"/>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700"/>
                                        <p:tgtEl>
                                          <p:spTgt spid="37"/>
                                        </p:tgtEl>
                                      </p:cBhvr>
                                    </p:animEffect>
                                  </p:childTnLst>
                                </p:cTn>
                              </p:par>
                              <p:par>
                                <p:cTn id="97" presetID="10" presetClass="entr" presetSubtype="0" fill="hold" grpId="0" nodeType="withEffect">
                                  <p:stCondLst>
                                    <p:cond delay="109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700"/>
                                        <p:tgtEl>
                                          <p:spTgt spid="36"/>
                                        </p:tgtEl>
                                      </p:cBhvr>
                                    </p:animEffect>
                                  </p:childTnLst>
                                </p:cTn>
                              </p:par>
                              <p:par>
                                <p:cTn id="100" presetID="10" presetClass="entr" presetSubtype="0" fill="hold" grpId="0" nodeType="withEffect">
                                  <p:stCondLst>
                                    <p:cond delay="1118"/>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700"/>
                                        <p:tgtEl>
                                          <p:spTgt spid="39"/>
                                        </p:tgtEl>
                                      </p:cBhvr>
                                    </p:animEffect>
                                  </p:childTnLst>
                                </p:cTn>
                              </p:par>
                              <p:par>
                                <p:cTn id="103" presetID="10" presetClass="entr" presetSubtype="0" fill="hold" grpId="0" nodeType="withEffect">
                                  <p:stCondLst>
                                    <p:cond delay="1146"/>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700"/>
                                        <p:tgtEl>
                                          <p:spTgt spid="38"/>
                                        </p:tgtEl>
                                      </p:cBhvr>
                                    </p:animEffect>
                                  </p:childTnLst>
                                </p:cTn>
                              </p:par>
                              <p:par>
                                <p:cTn id="106" presetID="10" presetClass="entr" presetSubtype="0" fill="hold" grpId="0" nodeType="withEffect">
                                  <p:stCondLst>
                                    <p:cond delay="1174"/>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700"/>
                                        <p:tgtEl>
                                          <p:spTgt spid="40"/>
                                        </p:tgtEl>
                                      </p:cBhvr>
                                    </p:animEffect>
                                  </p:childTnLst>
                                </p:cTn>
                              </p:par>
                              <p:par>
                                <p:cTn id="109" presetID="10" presetClass="entr" presetSubtype="0" fill="hold" grpId="0" nodeType="withEffect">
                                  <p:stCondLst>
                                    <p:cond delay="1202"/>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700"/>
                                        <p:tgtEl>
                                          <p:spTgt spid="41"/>
                                        </p:tgtEl>
                                      </p:cBhvr>
                                    </p:animEffect>
                                  </p:childTnLst>
                                </p:cTn>
                              </p:par>
                              <p:par>
                                <p:cTn id="112" presetID="10" presetClass="entr" presetSubtype="0" fill="hold" grpId="0" nodeType="withEffect">
                                  <p:stCondLst>
                                    <p:cond delay="123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700"/>
                                        <p:tgtEl>
                                          <p:spTgt spid="42"/>
                                        </p:tgtEl>
                                      </p:cBhvr>
                                    </p:animEffect>
                                  </p:childTnLst>
                                </p:cTn>
                              </p:par>
                              <p:par>
                                <p:cTn id="115" presetID="10" presetClass="entr" presetSubtype="0" fill="hold" grpId="0" nodeType="withEffect">
                                  <p:stCondLst>
                                    <p:cond delay="1258"/>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7" dur="700"/>
                                        <p:tgtEl>
                                          <p:spTgt spid="44"/>
                                        </p:tgtEl>
                                      </p:cBhvr>
                                    </p:animEffect>
                                  </p:childTnLst>
                                </p:cTn>
                              </p:par>
                              <p:par>
                                <p:cTn id="118" presetID="10" presetClass="entr" presetSubtype="0" fill="hold" grpId="0" nodeType="withEffect">
                                  <p:stCondLst>
                                    <p:cond delay="1286"/>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700"/>
                                        <p:tgtEl>
                                          <p:spTgt spid="43"/>
                                        </p:tgtEl>
                                      </p:cBhvr>
                                    </p:animEffect>
                                  </p:childTnLst>
                                </p:cTn>
                              </p:par>
                              <p:par>
                                <p:cTn id="121" presetID="10" presetClass="entr" presetSubtype="0" fill="hold" grpId="0" nodeType="withEffect">
                                  <p:stCondLst>
                                    <p:cond delay="1314"/>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3" dur="700"/>
                                        <p:tgtEl>
                                          <p:spTgt spid="46"/>
                                        </p:tgtEl>
                                      </p:cBhvr>
                                    </p:animEffect>
                                  </p:childTnLst>
                                </p:cTn>
                              </p:par>
                              <p:par>
                                <p:cTn id="124" presetID="10" presetClass="entr" presetSubtype="0" fill="hold" grpId="0" nodeType="withEffect">
                                  <p:stCondLst>
                                    <p:cond delay="1342"/>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700"/>
                                        <p:tgtEl>
                                          <p:spTgt spid="45"/>
                                        </p:tgtEl>
                                      </p:cBhvr>
                                    </p:animEffect>
                                  </p:childTnLst>
                                </p:cTn>
                              </p:par>
                              <p:par>
                                <p:cTn id="127" presetID="10" presetClass="entr" presetSubtype="0" fill="hold" grpId="0" nodeType="withEffect">
                                  <p:stCondLst>
                                    <p:cond delay="137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700"/>
                                        <p:tgtEl>
                                          <p:spTgt spid="48"/>
                                        </p:tgtEl>
                                      </p:cBhvr>
                                    </p:animEffect>
                                  </p:childTnLst>
                                </p:cTn>
                              </p:par>
                              <p:par>
                                <p:cTn id="130" presetID="10" presetClass="entr" presetSubtype="0" fill="hold" grpId="0" nodeType="withEffect">
                                  <p:stCondLst>
                                    <p:cond delay="1398"/>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700"/>
                                        <p:tgtEl>
                                          <p:spTgt spid="47"/>
                                        </p:tgtEl>
                                      </p:cBhvr>
                                    </p:animEffect>
                                  </p:childTnLst>
                                </p:cTn>
                              </p:par>
                              <p:par>
                                <p:cTn id="133" presetID="10" presetClass="entr" presetSubtype="0" fill="hold" grpId="0" nodeType="withEffect">
                                  <p:stCondLst>
                                    <p:cond delay="1426"/>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700"/>
                                        <p:tgtEl>
                                          <p:spTgt spid="50"/>
                                        </p:tgtEl>
                                      </p:cBhvr>
                                    </p:animEffect>
                                  </p:childTnLst>
                                </p:cTn>
                              </p:par>
                              <p:par>
                                <p:cTn id="136" presetID="10" presetClass="entr" presetSubtype="0" fill="hold" grpId="0" nodeType="withEffect">
                                  <p:stCondLst>
                                    <p:cond delay="1454"/>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700"/>
                                        <p:tgtEl>
                                          <p:spTgt spid="49"/>
                                        </p:tgtEl>
                                      </p:cBhvr>
                                    </p:animEffect>
                                  </p:childTnLst>
                                </p:cTn>
                              </p:par>
                              <p:par>
                                <p:cTn id="139" presetID="10" presetClass="entr" presetSubtype="0" fill="hold" grpId="0" nodeType="withEffect">
                                  <p:stCondLst>
                                    <p:cond delay="1482"/>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700"/>
                                        <p:tgtEl>
                                          <p:spTgt spid="54"/>
                                        </p:tgtEl>
                                      </p:cBhvr>
                                    </p:animEffect>
                                  </p:childTnLst>
                                </p:cTn>
                              </p:par>
                              <p:par>
                                <p:cTn id="142" presetID="10" presetClass="entr" presetSubtype="0" fill="hold" grpId="0" nodeType="withEffect">
                                  <p:stCondLst>
                                    <p:cond delay="1510"/>
                                  </p:stCondLst>
                                  <p:childTnLst>
                                    <p:set>
                                      <p:cBhvr>
                                        <p:cTn id="143" dur="1" fill="hold">
                                          <p:stCondLst>
                                            <p:cond delay="0"/>
                                          </p:stCondLst>
                                        </p:cTn>
                                        <p:tgtEl>
                                          <p:spTgt spid="56"/>
                                        </p:tgtEl>
                                        <p:attrNameLst>
                                          <p:attrName>style.visibility</p:attrName>
                                        </p:attrNameLst>
                                      </p:cBhvr>
                                      <p:to>
                                        <p:strVal val="visible"/>
                                      </p:to>
                                    </p:set>
                                    <p:animEffect transition="in" filter="fade">
                                      <p:cBhvr>
                                        <p:cTn id="144" dur="700"/>
                                        <p:tgtEl>
                                          <p:spTgt spid="56"/>
                                        </p:tgtEl>
                                      </p:cBhvr>
                                    </p:animEffect>
                                  </p:childTnLst>
                                </p:cTn>
                              </p:par>
                              <p:par>
                                <p:cTn id="145" presetID="10" presetClass="entr" presetSubtype="0" fill="hold" grpId="0" nodeType="withEffect">
                                  <p:stCondLst>
                                    <p:cond delay="1538"/>
                                  </p:stCondLst>
                                  <p:childTnLst>
                                    <p:set>
                                      <p:cBhvr>
                                        <p:cTn id="146" dur="1" fill="hold">
                                          <p:stCondLst>
                                            <p:cond delay="0"/>
                                          </p:stCondLst>
                                        </p:cTn>
                                        <p:tgtEl>
                                          <p:spTgt spid="58"/>
                                        </p:tgtEl>
                                        <p:attrNameLst>
                                          <p:attrName>style.visibility</p:attrName>
                                        </p:attrNameLst>
                                      </p:cBhvr>
                                      <p:to>
                                        <p:strVal val="visible"/>
                                      </p:to>
                                    </p:set>
                                    <p:animEffect transition="in" filter="fade">
                                      <p:cBhvr>
                                        <p:cTn id="147" dur="700"/>
                                        <p:tgtEl>
                                          <p:spTgt spid="58"/>
                                        </p:tgtEl>
                                      </p:cBhvr>
                                    </p:animEffect>
                                  </p:childTnLst>
                                </p:cTn>
                              </p:par>
                              <p:par>
                                <p:cTn id="148" presetID="10" presetClass="entr" presetSubtype="0" fill="hold" grpId="0" nodeType="withEffect">
                                  <p:stCondLst>
                                    <p:cond delay="1566"/>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700"/>
                                        <p:tgtEl>
                                          <p:spTgt spid="60"/>
                                        </p:tgtEl>
                                      </p:cBhvr>
                                    </p:animEffect>
                                  </p:childTnLst>
                                </p:cTn>
                              </p:par>
                              <p:par>
                                <p:cTn id="151" presetID="10" presetClass="entr" presetSubtype="0" fill="hold" grpId="0" nodeType="withEffect">
                                  <p:stCondLst>
                                    <p:cond delay="1594"/>
                                  </p:stCondLst>
                                  <p:childTnLst>
                                    <p:set>
                                      <p:cBhvr>
                                        <p:cTn id="152" dur="1" fill="hold">
                                          <p:stCondLst>
                                            <p:cond delay="0"/>
                                          </p:stCondLst>
                                        </p:cTn>
                                        <p:tgtEl>
                                          <p:spTgt spid="51"/>
                                        </p:tgtEl>
                                        <p:attrNameLst>
                                          <p:attrName>style.visibility</p:attrName>
                                        </p:attrNameLst>
                                      </p:cBhvr>
                                      <p:to>
                                        <p:strVal val="visible"/>
                                      </p:to>
                                    </p:set>
                                    <p:animEffect transition="in" filter="fade">
                                      <p:cBhvr>
                                        <p:cTn id="153" dur="700"/>
                                        <p:tgtEl>
                                          <p:spTgt spid="51"/>
                                        </p:tgtEl>
                                      </p:cBhvr>
                                    </p:animEffect>
                                  </p:childTnLst>
                                </p:cTn>
                              </p:par>
                              <p:par>
                                <p:cTn id="154" presetID="10" presetClass="entr" presetSubtype="0" fill="hold" grpId="0" nodeType="withEffect">
                                  <p:stCondLst>
                                    <p:cond delay="1622"/>
                                  </p:stCondLst>
                                  <p:childTnLst>
                                    <p:set>
                                      <p:cBhvr>
                                        <p:cTn id="155" dur="1" fill="hold">
                                          <p:stCondLst>
                                            <p:cond delay="0"/>
                                          </p:stCondLst>
                                        </p:cTn>
                                        <p:tgtEl>
                                          <p:spTgt spid="52"/>
                                        </p:tgtEl>
                                        <p:attrNameLst>
                                          <p:attrName>style.visibility</p:attrName>
                                        </p:attrNameLst>
                                      </p:cBhvr>
                                      <p:to>
                                        <p:strVal val="visible"/>
                                      </p:to>
                                    </p:set>
                                    <p:animEffect transition="in" filter="fade">
                                      <p:cBhvr>
                                        <p:cTn id="156" dur="700"/>
                                        <p:tgtEl>
                                          <p:spTgt spid="52"/>
                                        </p:tgtEl>
                                      </p:cBhvr>
                                    </p:animEffect>
                                  </p:childTnLst>
                                </p:cTn>
                              </p:par>
                              <p:par>
                                <p:cTn id="157" presetID="10" presetClass="entr" presetSubtype="0" fill="hold" grpId="0" nodeType="withEffect">
                                  <p:stCondLst>
                                    <p:cond delay="1650"/>
                                  </p:stCondLst>
                                  <p:childTnLst>
                                    <p:set>
                                      <p:cBhvr>
                                        <p:cTn id="158" dur="1" fill="hold">
                                          <p:stCondLst>
                                            <p:cond delay="0"/>
                                          </p:stCondLst>
                                        </p:cTn>
                                        <p:tgtEl>
                                          <p:spTgt spid="53"/>
                                        </p:tgtEl>
                                        <p:attrNameLst>
                                          <p:attrName>style.visibility</p:attrName>
                                        </p:attrNameLst>
                                      </p:cBhvr>
                                      <p:to>
                                        <p:strVal val="visible"/>
                                      </p:to>
                                    </p:set>
                                    <p:animEffect transition="in" filter="fade">
                                      <p:cBhvr>
                                        <p:cTn id="159" dur="700"/>
                                        <p:tgtEl>
                                          <p:spTgt spid="53"/>
                                        </p:tgtEl>
                                      </p:cBhvr>
                                    </p:animEffect>
                                  </p:childTnLst>
                                </p:cTn>
                              </p:par>
                              <p:par>
                                <p:cTn id="160" presetID="10" presetClass="entr" presetSubtype="0" fill="hold" grpId="0" nodeType="withEffect">
                                  <p:stCondLst>
                                    <p:cond delay="1678"/>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700"/>
                                        <p:tgtEl>
                                          <p:spTgt spid="55"/>
                                        </p:tgtEl>
                                      </p:cBhvr>
                                    </p:animEffect>
                                  </p:childTnLst>
                                </p:cTn>
                              </p:par>
                              <p:par>
                                <p:cTn id="163" presetID="10" presetClass="entr" presetSubtype="0" fill="hold" grpId="0" nodeType="withEffect">
                                  <p:stCondLst>
                                    <p:cond delay="1706"/>
                                  </p:stCondLst>
                                  <p:childTnLst>
                                    <p:set>
                                      <p:cBhvr>
                                        <p:cTn id="164" dur="1" fill="hold">
                                          <p:stCondLst>
                                            <p:cond delay="0"/>
                                          </p:stCondLst>
                                        </p:cTn>
                                        <p:tgtEl>
                                          <p:spTgt spid="65"/>
                                        </p:tgtEl>
                                        <p:attrNameLst>
                                          <p:attrName>style.visibility</p:attrName>
                                        </p:attrNameLst>
                                      </p:cBhvr>
                                      <p:to>
                                        <p:strVal val="visible"/>
                                      </p:to>
                                    </p:set>
                                    <p:animEffect transition="in" filter="fade">
                                      <p:cBhvr>
                                        <p:cTn id="165" dur="700"/>
                                        <p:tgtEl>
                                          <p:spTgt spid="65"/>
                                        </p:tgtEl>
                                      </p:cBhvr>
                                    </p:animEffect>
                                  </p:childTnLst>
                                </p:cTn>
                              </p:par>
                              <p:par>
                                <p:cTn id="166" presetID="10" presetClass="entr" presetSubtype="0" fill="hold" grpId="0" nodeType="withEffect">
                                  <p:stCondLst>
                                    <p:cond delay="1734"/>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700"/>
                                        <p:tgtEl>
                                          <p:spTgt spid="57"/>
                                        </p:tgtEl>
                                      </p:cBhvr>
                                    </p:animEffect>
                                  </p:childTnLst>
                                </p:cTn>
                              </p:par>
                              <p:par>
                                <p:cTn id="169" presetID="10" presetClass="entr" presetSubtype="0" fill="hold" grpId="0" nodeType="withEffect">
                                  <p:stCondLst>
                                    <p:cond delay="1762"/>
                                  </p:stCondLst>
                                  <p:childTnLst>
                                    <p:set>
                                      <p:cBhvr>
                                        <p:cTn id="170" dur="1" fill="hold">
                                          <p:stCondLst>
                                            <p:cond delay="0"/>
                                          </p:stCondLst>
                                        </p:cTn>
                                        <p:tgtEl>
                                          <p:spTgt spid="67"/>
                                        </p:tgtEl>
                                        <p:attrNameLst>
                                          <p:attrName>style.visibility</p:attrName>
                                        </p:attrNameLst>
                                      </p:cBhvr>
                                      <p:to>
                                        <p:strVal val="visible"/>
                                      </p:to>
                                    </p:set>
                                    <p:animEffect transition="in" filter="fade">
                                      <p:cBhvr>
                                        <p:cTn id="171" dur="700"/>
                                        <p:tgtEl>
                                          <p:spTgt spid="67"/>
                                        </p:tgtEl>
                                      </p:cBhvr>
                                    </p:animEffect>
                                  </p:childTnLst>
                                </p:cTn>
                              </p:par>
                              <p:par>
                                <p:cTn id="172" presetID="10" presetClass="entr" presetSubtype="0" fill="hold" grpId="0" nodeType="withEffect">
                                  <p:stCondLst>
                                    <p:cond delay="179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700"/>
                                        <p:tgtEl>
                                          <p:spTgt spid="59"/>
                                        </p:tgtEl>
                                      </p:cBhvr>
                                    </p:animEffect>
                                  </p:childTnLst>
                                </p:cTn>
                              </p:par>
                              <p:par>
                                <p:cTn id="175" presetID="10" presetClass="entr" presetSubtype="0" fill="hold" grpId="0" nodeType="withEffect">
                                  <p:stCondLst>
                                    <p:cond delay="1818"/>
                                  </p:stCondLst>
                                  <p:childTnLst>
                                    <p:set>
                                      <p:cBhvr>
                                        <p:cTn id="176" dur="1" fill="hold">
                                          <p:stCondLst>
                                            <p:cond delay="0"/>
                                          </p:stCondLst>
                                        </p:cTn>
                                        <p:tgtEl>
                                          <p:spTgt spid="61"/>
                                        </p:tgtEl>
                                        <p:attrNameLst>
                                          <p:attrName>style.visibility</p:attrName>
                                        </p:attrNameLst>
                                      </p:cBhvr>
                                      <p:to>
                                        <p:strVal val="visible"/>
                                      </p:to>
                                    </p:set>
                                    <p:animEffect transition="in" filter="fade">
                                      <p:cBhvr>
                                        <p:cTn id="177" dur="700"/>
                                        <p:tgtEl>
                                          <p:spTgt spid="61"/>
                                        </p:tgtEl>
                                      </p:cBhvr>
                                    </p:animEffect>
                                  </p:childTnLst>
                                </p:cTn>
                              </p:par>
                              <p:par>
                                <p:cTn id="178" presetID="10" presetClass="entr" presetSubtype="0" fill="hold" grpId="0" nodeType="withEffect">
                                  <p:stCondLst>
                                    <p:cond delay="1846"/>
                                  </p:stCondLst>
                                  <p:childTnLst>
                                    <p:set>
                                      <p:cBhvr>
                                        <p:cTn id="179" dur="1" fill="hold">
                                          <p:stCondLst>
                                            <p:cond delay="0"/>
                                          </p:stCondLst>
                                        </p:cTn>
                                        <p:tgtEl>
                                          <p:spTgt spid="62"/>
                                        </p:tgtEl>
                                        <p:attrNameLst>
                                          <p:attrName>style.visibility</p:attrName>
                                        </p:attrNameLst>
                                      </p:cBhvr>
                                      <p:to>
                                        <p:strVal val="visible"/>
                                      </p:to>
                                    </p:set>
                                    <p:animEffect transition="in" filter="fade">
                                      <p:cBhvr>
                                        <p:cTn id="180" dur="700"/>
                                        <p:tgtEl>
                                          <p:spTgt spid="62"/>
                                        </p:tgtEl>
                                      </p:cBhvr>
                                    </p:animEffect>
                                  </p:childTnLst>
                                </p:cTn>
                              </p:par>
                              <p:par>
                                <p:cTn id="181" presetID="10" presetClass="entr" presetSubtype="0" fill="hold" grpId="0" nodeType="withEffect">
                                  <p:stCondLst>
                                    <p:cond delay="1874"/>
                                  </p:stCondLst>
                                  <p:childTnLst>
                                    <p:set>
                                      <p:cBhvr>
                                        <p:cTn id="182" dur="1" fill="hold">
                                          <p:stCondLst>
                                            <p:cond delay="0"/>
                                          </p:stCondLst>
                                        </p:cTn>
                                        <p:tgtEl>
                                          <p:spTgt spid="63"/>
                                        </p:tgtEl>
                                        <p:attrNameLst>
                                          <p:attrName>style.visibility</p:attrName>
                                        </p:attrNameLst>
                                      </p:cBhvr>
                                      <p:to>
                                        <p:strVal val="visible"/>
                                      </p:to>
                                    </p:set>
                                    <p:animEffect transition="in" filter="fade">
                                      <p:cBhvr>
                                        <p:cTn id="183" dur="700"/>
                                        <p:tgtEl>
                                          <p:spTgt spid="63"/>
                                        </p:tgtEl>
                                      </p:cBhvr>
                                    </p:animEffect>
                                  </p:childTnLst>
                                </p:cTn>
                              </p:par>
                              <p:par>
                                <p:cTn id="184" presetID="10" presetClass="entr" presetSubtype="0" fill="hold" grpId="0" nodeType="withEffect">
                                  <p:stCondLst>
                                    <p:cond delay="1902"/>
                                  </p:stCondLst>
                                  <p:childTnLst>
                                    <p:set>
                                      <p:cBhvr>
                                        <p:cTn id="185" dur="1" fill="hold">
                                          <p:stCondLst>
                                            <p:cond delay="0"/>
                                          </p:stCondLst>
                                        </p:cTn>
                                        <p:tgtEl>
                                          <p:spTgt spid="64"/>
                                        </p:tgtEl>
                                        <p:attrNameLst>
                                          <p:attrName>style.visibility</p:attrName>
                                        </p:attrNameLst>
                                      </p:cBhvr>
                                      <p:to>
                                        <p:strVal val="visible"/>
                                      </p:to>
                                    </p:set>
                                    <p:animEffect transition="in" filter="fade">
                                      <p:cBhvr>
                                        <p:cTn id="186" dur="700"/>
                                        <p:tgtEl>
                                          <p:spTgt spid="64"/>
                                        </p:tgtEl>
                                      </p:cBhvr>
                                    </p:animEffect>
                                  </p:childTnLst>
                                </p:cTn>
                              </p:par>
                              <p:par>
                                <p:cTn id="187" presetID="10" presetClass="entr" presetSubtype="0" fill="hold" grpId="0" nodeType="withEffect">
                                  <p:stCondLst>
                                    <p:cond delay="193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700"/>
                                        <p:tgtEl>
                                          <p:spTgt spid="66"/>
                                        </p:tgtEl>
                                      </p:cBhvr>
                                    </p:animEffect>
                                  </p:childTnLst>
                                </p:cTn>
                              </p:par>
                              <p:par>
                                <p:cTn id="190" presetID="10" presetClass="entr" presetSubtype="0" fill="hold" grpId="0" nodeType="withEffect">
                                  <p:stCondLst>
                                    <p:cond delay="1958"/>
                                  </p:stCondLst>
                                  <p:childTnLst>
                                    <p:set>
                                      <p:cBhvr>
                                        <p:cTn id="191" dur="1" fill="hold">
                                          <p:stCondLst>
                                            <p:cond delay="0"/>
                                          </p:stCondLst>
                                        </p:cTn>
                                        <p:tgtEl>
                                          <p:spTgt spid="68"/>
                                        </p:tgtEl>
                                        <p:attrNameLst>
                                          <p:attrName>style.visibility</p:attrName>
                                        </p:attrNameLst>
                                      </p:cBhvr>
                                      <p:to>
                                        <p:strVal val="visible"/>
                                      </p:to>
                                    </p:set>
                                    <p:animEffect transition="in" filter="fade">
                                      <p:cBhvr>
                                        <p:cTn id="192" dur="700"/>
                                        <p:tgtEl>
                                          <p:spTgt spid="68"/>
                                        </p:tgtEl>
                                      </p:cBhvr>
                                    </p:animEffect>
                                  </p:childTnLst>
                                </p:cTn>
                              </p:par>
                              <p:par>
                                <p:cTn id="193" presetID="10" presetClass="entr" presetSubtype="0" fill="hold" grpId="0" nodeType="withEffect">
                                  <p:stCondLst>
                                    <p:cond delay="1986"/>
                                  </p:stCondLst>
                                  <p:childTnLst>
                                    <p:set>
                                      <p:cBhvr>
                                        <p:cTn id="194" dur="1" fill="hold">
                                          <p:stCondLst>
                                            <p:cond delay="0"/>
                                          </p:stCondLst>
                                        </p:cTn>
                                        <p:tgtEl>
                                          <p:spTgt spid="69"/>
                                        </p:tgtEl>
                                        <p:attrNameLst>
                                          <p:attrName>style.visibility</p:attrName>
                                        </p:attrNameLst>
                                      </p:cBhvr>
                                      <p:to>
                                        <p:strVal val="visible"/>
                                      </p:to>
                                    </p:set>
                                    <p:animEffect transition="in" filter="fade">
                                      <p:cBhvr>
                                        <p:cTn id="195" dur="700"/>
                                        <p:tgtEl>
                                          <p:spTgt spid="69"/>
                                        </p:tgtEl>
                                      </p:cBhvr>
                                    </p:animEffect>
                                  </p:childTnLst>
                                </p:cTn>
                              </p:par>
                              <p:par>
                                <p:cTn id="196" presetID="22" presetClass="entr" presetSubtype="8" fill="hold" grpId="0" nodeType="withEffect">
                                  <p:stCondLst>
                                    <p:cond delay="2014"/>
                                  </p:stCondLst>
                                  <p:childTnLst>
                                    <p:set>
                                      <p:cBhvr>
                                        <p:cTn id="197" dur="1" fill="hold">
                                          <p:stCondLst>
                                            <p:cond delay="0"/>
                                          </p:stCondLst>
                                        </p:cTn>
                                        <p:tgtEl>
                                          <p:spTgt spid="70"/>
                                        </p:tgtEl>
                                        <p:attrNameLst>
                                          <p:attrName>style.visibility</p:attrName>
                                        </p:attrNameLst>
                                      </p:cBhvr>
                                      <p:to>
                                        <p:strVal val="visible"/>
                                      </p:to>
                                    </p:set>
                                    <p:animEffect transition="in" filter="wipe(left)">
                                      <p:cBhvr>
                                        <p:cTn id="198" dur="700"/>
                                        <p:tgtEl>
                                          <p:spTgt spid="70"/>
                                        </p:tgtEl>
                                      </p:cBhvr>
                                    </p:animEffect>
                                  </p:childTnLst>
                                </p:cTn>
                              </p:par>
                              <p:par>
                                <p:cTn id="199" presetID="10" presetClass="entr" presetSubtype="0" fill="hold" grpId="0" nodeType="withEffect">
                                  <p:stCondLst>
                                    <p:cond delay="2042"/>
                                  </p:stCondLst>
                                  <p:childTnLst>
                                    <p:set>
                                      <p:cBhvr>
                                        <p:cTn id="200" dur="1" fill="hold">
                                          <p:stCondLst>
                                            <p:cond delay="0"/>
                                          </p:stCondLst>
                                        </p:cTn>
                                        <p:tgtEl>
                                          <p:spTgt spid="71"/>
                                        </p:tgtEl>
                                        <p:attrNameLst>
                                          <p:attrName>style.visibility</p:attrName>
                                        </p:attrNameLst>
                                      </p:cBhvr>
                                      <p:to>
                                        <p:strVal val="visible"/>
                                      </p:to>
                                    </p:set>
                                    <p:animEffect transition="in" filter="fade">
                                      <p:cBhvr>
                                        <p:cTn id="201" dur="700"/>
                                        <p:tgtEl>
                                          <p:spTgt spid="71"/>
                                        </p:tgtEl>
                                      </p:cBhvr>
                                    </p:animEffect>
                                  </p:childTnLst>
                                </p:cTn>
                              </p:par>
                              <p:par>
                                <p:cTn id="202" presetID="42" presetClass="entr" presetSubtype="0" fill="hold" grpId="0" nodeType="withEffect">
                                  <p:stCondLst>
                                    <p:cond delay="2070"/>
                                  </p:stCondLst>
                                  <p:childTnLst>
                                    <p:set>
                                      <p:cBhvr>
                                        <p:cTn id="203" dur="1" fill="hold">
                                          <p:stCondLst>
                                            <p:cond delay="0"/>
                                          </p:stCondLst>
                                        </p:cTn>
                                        <p:tgtEl>
                                          <p:spTgt spid="6"/>
                                        </p:tgtEl>
                                        <p:attrNameLst>
                                          <p:attrName>style.visibility</p:attrName>
                                        </p:attrNameLst>
                                      </p:cBhvr>
                                      <p:to>
                                        <p:strVal val="visible"/>
                                      </p:to>
                                    </p:set>
                                    <p:animEffect transition="in" filter="fade">
                                      <p:cBhvr>
                                        <p:cTn id="204" dur="900"/>
                                        <p:tgtEl>
                                          <p:spTgt spid="6"/>
                                        </p:tgtEl>
                                      </p:cBhvr>
                                    </p:animEffect>
                                    <p:anim calcmode="lin" valueType="num">
                                      <p:cBhvr>
                                        <p:cTn id="205" dur="900" decel="100000"/>
                                        <p:tgtEl>
                                          <p:spTgt spid="6"/>
                                        </p:tgtEl>
                                        <p:attrNameLst>
                                          <p:attrName>ppt_x</p:attrName>
                                        </p:attrNameLst>
                                      </p:cBhvr>
                                      <p:tavLst>
                                        <p:tav tm="0">
                                          <p:val>
                                            <p:strVal val="#ppt_x"/>
                                          </p:val>
                                        </p:tav>
                                        <p:tav tm="100000">
                                          <p:val>
                                            <p:strVal val="#ppt_x"/>
                                          </p:val>
                                        </p:tav>
                                      </p:tavLst>
                                    </p:anim>
                                    <p:anim calcmode="lin" valueType="num">
                                      <p:cBhvr>
                                        <p:cTn id="206" dur="900" decel="100000"/>
                                        <p:tgtEl>
                                          <p:spTgt spid="6"/>
                                        </p:tgtEl>
                                        <p:attrNameLst>
                                          <p:attrName>ppt_y</p:attrName>
                                        </p:attrNameLst>
                                      </p:cBhvr>
                                      <p:tavLst>
                                        <p:tav tm="0">
                                          <p:val>
                                            <p:strVal val="#ppt_y+.035"/>
                                          </p:val>
                                        </p:tav>
                                        <p:tav tm="100000">
                                          <p:val>
                                            <p:strVal val="#ppt_y"/>
                                          </p:val>
                                        </p:tav>
                                      </p:tavLst>
                                    </p:anim>
                                  </p:childTnLst>
                                </p:cTn>
                              </p:par>
                              <p:par>
                                <p:cTn id="207" presetID="10" presetClass="entr" presetSubtype="0" fill="hold" grpId="0" nodeType="withEffect">
                                  <p:stCondLst>
                                    <p:cond delay="2098"/>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700"/>
                                        <p:tgtEl>
                                          <p:spTgt spid="72"/>
                                        </p:tgtEl>
                                      </p:cBhvr>
                                    </p:animEffect>
                                  </p:childTnLst>
                                </p:cTn>
                              </p:par>
                              <p:par>
                                <p:cTn id="210" presetID="10" presetClass="entr" presetSubtype="0" fill="hold" grpId="0" nodeType="withEffect">
                                  <p:stCondLst>
                                    <p:cond delay="2126"/>
                                  </p:stCondLst>
                                  <p:childTnLst>
                                    <p:set>
                                      <p:cBhvr>
                                        <p:cTn id="211" dur="1" fill="hold">
                                          <p:stCondLst>
                                            <p:cond delay="0"/>
                                          </p:stCondLst>
                                        </p:cTn>
                                        <p:tgtEl>
                                          <p:spTgt spid="7"/>
                                        </p:tgtEl>
                                        <p:attrNameLst>
                                          <p:attrName>style.visibility</p:attrName>
                                        </p:attrNameLst>
                                      </p:cBhvr>
                                      <p:to>
                                        <p:strVal val="visible"/>
                                      </p:to>
                                    </p:set>
                                    <p:animEffect transition="in" filter="fade">
                                      <p:cBhvr>
                                        <p:cTn id="212" dur="700"/>
                                        <p:tgtEl>
                                          <p:spTgt spid="7"/>
                                        </p:tgtEl>
                                      </p:cBhvr>
                                    </p:animEffect>
                                  </p:childTnLst>
                                </p:cTn>
                              </p:par>
                              <p:par>
                                <p:cTn id="213" presetID="10" presetClass="entr" presetSubtype="0" fill="hold" grpId="0" nodeType="withEffect">
                                  <p:stCondLst>
                                    <p:cond delay="2154"/>
                                  </p:stCondLst>
                                  <p:childTnLst>
                                    <p:set>
                                      <p:cBhvr>
                                        <p:cTn id="214" dur="1" fill="hold">
                                          <p:stCondLst>
                                            <p:cond delay="0"/>
                                          </p:stCondLst>
                                        </p:cTn>
                                        <p:tgtEl>
                                          <p:spTgt spid="8"/>
                                        </p:tgtEl>
                                        <p:attrNameLst>
                                          <p:attrName>style.visibility</p:attrName>
                                        </p:attrNameLst>
                                      </p:cBhvr>
                                      <p:to>
                                        <p:strVal val="visible"/>
                                      </p:to>
                                    </p:set>
                                    <p:animEffect transition="in" filter="fade">
                                      <p:cBhvr>
                                        <p:cTn id="215"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4" grpId="0" animBg="1"/>
      <p:bldP spid="11" grpId="0" animBg="1"/>
      <p:bldP spid="12" grpId="0" animBg="1"/>
      <p:bldP spid="13" grpId="0" animBg="1"/>
      <p:bldP spid="5" grpId="0" animBg="1"/>
      <p:bldP spid="14" grpId="0" animBg="1"/>
      <p:bldP spid="15" grpId="0" animBg="1"/>
      <p:bldP spid="16" grpId="0" animBg="1"/>
      <p:bldP spid="17" grpId="0" animBg="1"/>
      <p:bldP spid="18" grpId="0" animBg="1"/>
      <p:bldP spid="19" grpId="0" animBg="1"/>
      <p:bldP spid="20" grpId="0" animBg="1"/>
      <p:bldP spid="22" grpId="0" animBg="1"/>
      <p:bldP spid="21" grpId="0" animBg="1"/>
      <p:bldP spid="24" grpId="0" animBg="1"/>
      <p:bldP spid="23" grpId="0" animBg="1"/>
      <p:bldP spid="26" grpId="0" animBg="1"/>
      <p:bldP spid="25" grpId="0" animBg="1"/>
      <p:bldP spid="28" grpId="0" animBg="1"/>
      <p:bldP spid="27" grpId="0" animBg="1"/>
      <p:bldP spid="29" grpId="0" animBg="1"/>
      <p:bldP spid="30" grpId="0" animBg="1"/>
      <p:bldP spid="31" grpId="0" animBg="1"/>
      <p:bldP spid="33" grpId="0" animBg="1"/>
      <p:bldP spid="32" grpId="0" animBg="1"/>
      <p:bldP spid="35" grpId="0" animBg="1"/>
      <p:bldP spid="34" grpId="0" animBg="1"/>
      <p:bldP spid="37" grpId="0" animBg="1"/>
      <p:bldP spid="36" grpId="0" animBg="1"/>
      <p:bldP spid="39" grpId="0" animBg="1"/>
      <p:bldP spid="38" grpId="0" animBg="1"/>
      <p:bldP spid="40" grpId="0" animBg="1"/>
      <p:bldP spid="41" grpId="0" animBg="1"/>
      <p:bldP spid="42" grpId="0" animBg="1"/>
      <p:bldP spid="44" grpId="0" animBg="1"/>
      <p:bldP spid="43" grpId="0" animBg="1"/>
      <p:bldP spid="46" grpId="0" animBg="1"/>
      <p:bldP spid="45" grpId="0" animBg="1"/>
      <p:bldP spid="48" grpId="0" animBg="1"/>
      <p:bldP spid="47" grpId="0" animBg="1"/>
      <p:bldP spid="50" grpId="0" animBg="1"/>
      <p:bldP spid="49" grpId="0" animBg="1"/>
      <p:bldP spid="54" grpId="0" animBg="1"/>
      <p:bldP spid="56" grpId="0" animBg="1"/>
      <p:bldP spid="58" grpId="0" animBg="1"/>
      <p:bldP spid="60" grpId="0" animBg="1"/>
      <p:bldP spid="51" grpId="0" animBg="1"/>
      <p:bldP spid="52" grpId="0" animBg="1"/>
      <p:bldP spid="53" grpId="0" animBg="1"/>
      <p:bldP spid="55" grpId="0" animBg="1"/>
      <p:bldP spid="65" grpId="0" animBg="1"/>
      <p:bldP spid="57" grpId="0" animBg="1"/>
      <p:bldP spid="67" grpId="0" animBg="1"/>
      <p:bldP spid="59" grpId="0" animBg="1"/>
      <p:bldP spid="61" grpId="0" animBg="1"/>
      <p:bldP spid="62" grpId="0" animBg="1"/>
      <p:bldP spid="63" grpId="0" animBg="1"/>
      <p:bldP spid="64" grpId="0" animBg="1"/>
      <p:bldP spid="66" grpId="0" animBg="1"/>
      <p:bldP spid="68" grpId="0" animBg="1"/>
      <p:bldP spid="69" grpId="0" animBg="1"/>
      <p:bldP spid="70" grpId="0" animBg="1"/>
      <p:bldP spid="71" grpId="0" animBg="1"/>
      <p:bldP spid="6" grpId="0" animBg="1"/>
      <p:bldP spid="72" grpId="0" animBg="1"/>
      <p:bldP spid="7" grpId="0" animBg="1"/>
      <p:bldP spid="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02</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YOU ALREADY KNOW THE PROBLEM</a:t>
            </a:r>
          </a:p>
        </p:txBody>
      </p:sp>
      <p:sp>
        <p:nvSpPr>
          <p:cNvPr id="7" name="TextBox 6"/>
          <p:cNvSpPr txBox="1"/>
          <p:nvPr/>
        </p:nvSpPr>
        <p:spPr>
          <a:xfrm>
            <a:off x="685800" y="1325880"/>
            <a:ext cx="5669280" cy="1371600"/>
          </a:xfrm>
          <a:prstGeom prst="rect">
            <a:avLst/>
          </a:prstGeom>
          <a:noFill/>
        </p:spPr>
        <p:txBody>
          <a:bodyPr wrap="square" lIns="0" rIns="0" tIns="0" bIns="0">
            <a:spAutoFit/>
          </a:bodyPr>
          <a:lstStyle/>
          <a:p>
            <a:pPr algn="l">
              <a:lnSpc>
                <a:spcPct val="95000"/>
              </a:lnSpc>
            </a:pPr>
            <a:r>
              <a:rPr sz="5000" b="1" i="0" spc="-100">
                <a:solidFill>
                  <a:srgbClr val="0B1020"/>
                </a:solidFill>
                <a:latin typeface="Bricolage Grotesque"/>
                <a:ea typeface="Inter"/>
                <a:cs typeface="Inter"/>
              </a:rPr>
              <a:t>Most rentals sit
half empty.</a:t>
            </a:r>
          </a:p>
        </p:txBody>
      </p:sp>
      <p:sp>
        <p:nvSpPr>
          <p:cNvPr id="8" name="Rounded Rectangle 7"/>
          <p:cNvSpPr/>
          <p:nvPr/>
        </p:nvSpPr>
        <p:spPr>
          <a:xfrm>
            <a:off x="685800" y="2926080"/>
            <a:ext cx="2468880" cy="1920240"/>
          </a:xfrm>
          <a:prstGeom prst="roundRect">
            <a:avLst>
              <a:gd name="adj" fmla="val 8000"/>
            </a:avLst>
          </a:prstGeom>
          <a:solidFill>
            <a:srgbClr val="090C1C"/>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960120" y="3108960"/>
            <a:ext cx="2103120" cy="914400"/>
          </a:xfrm>
          <a:prstGeom prst="rect">
            <a:avLst/>
          </a:prstGeom>
          <a:noFill/>
        </p:spPr>
        <p:txBody>
          <a:bodyPr wrap="square" lIns="0" rIns="0" tIns="0" bIns="0">
            <a:spAutoFit/>
          </a:bodyPr>
          <a:lstStyle/>
          <a:p>
            <a:pPr algn="l">
              <a:lnSpc>
                <a:spcPct val="95000"/>
              </a:lnSpc>
            </a:pPr>
            <a:r>
              <a:rPr sz="4800" b="1" i="0" spc="-100">
                <a:solidFill>
                  <a:srgbClr val="FFB547"/>
                </a:solidFill>
                <a:latin typeface="Bricolage Grotesque"/>
                <a:ea typeface="Inter"/>
                <a:cs typeface="Inter"/>
              </a:rPr>
              <a:t>12–15</a:t>
            </a:r>
          </a:p>
        </p:txBody>
      </p:sp>
      <p:sp>
        <p:nvSpPr>
          <p:cNvPr id="10" name="TextBox 9"/>
          <p:cNvSpPr txBox="1"/>
          <p:nvPr/>
        </p:nvSpPr>
        <p:spPr>
          <a:xfrm>
            <a:off x="960120" y="4023360"/>
            <a:ext cx="2011680" cy="640080"/>
          </a:xfrm>
          <a:prstGeom prst="rect">
            <a:avLst/>
          </a:prstGeom>
          <a:noFill/>
        </p:spPr>
        <p:txBody>
          <a:bodyPr wrap="square" lIns="0" rIns="0" tIns="0" bIns="0">
            <a:spAutoFit/>
          </a:bodyPr>
          <a:lstStyle/>
          <a:p>
            <a:pPr algn="l">
              <a:lnSpc>
                <a:spcPct val="130000"/>
              </a:lnSpc>
            </a:pPr>
            <a:r>
              <a:rPr sz="1000" b="0" i="0">
                <a:solidFill>
                  <a:srgbClr val="FFFFFF"/>
                </a:solidFill>
                <a:latin typeface="Inter"/>
                <a:ea typeface="Inter"/>
                <a:cs typeface="Inter"/>
              </a:rPr>
              <a:t>nights a month — where most short-term rentals sit</a:t>
            </a:r>
          </a:p>
        </p:txBody>
      </p:sp>
      <p:sp>
        <p:nvSpPr>
          <p:cNvPr id="11" name="Rounded Rectangle 10"/>
          <p:cNvSpPr/>
          <p:nvPr/>
        </p:nvSpPr>
        <p:spPr>
          <a:xfrm>
            <a:off x="3383280" y="2926080"/>
            <a:ext cx="3017520" cy="868680"/>
          </a:xfrm>
          <a:prstGeom prst="roundRect">
            <a:avLst>
              <a:gd name="adj" fmla="val 10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3611880" y="3090672"/>
            <a:ext cx="2651760" cy="640080"/>
          </a:xfrm>
          <a:prstGeom prst="rect">
            <a:avLst/>
          </a:prstGeom>
          <a:noFill/>
        </p:spPr>
        <p:txBody>
          <a:bodyPr wrap="square" lIns="0" rIns="0" tIns="0" bIns="0">
            <a:spAutoFit/>
          </a:bodyPr>
          <a:lstStyle/>
          <a:p>
            <a:pPr algn="l">
              <a:lnSpc>
                <a:spcPct val="130000"/>
              </a:lnSpc>
            </a:pPr>
            <a:r>
              <a:rPr sz="1050" b="0" i="0">
                <a:solidFill>
                  <a:srgbClr val="0B1020"/>
                </a:solidFill>
                <a:latin typeface="Inter"/>
                <a:ea typeface="Inter"/>
                <a:cs typeface="Inter"/>
              </a:rPr>
              <a:t>The rate barely moves, so weekends sell cheap and weekdays sit empty</a:t>
            </a:r>
          </a:p>
        </p:txBody>
      </p:sp>
      <p:sp>
        <p:nvSpPr>
          <p:cNvPr id="13" name="Rounded Rectangle 12"/>
          <p:cNvSpPr/>
          <p:nvPr/>
        </p:nvSpPr>
        <p:spPr>
          <a:xfrm>
            <a:off x="3383280" y="3913632"/>
            <a:ext cx="3017520" cy="868680"/>
          </a:xfrm>
          <a:prstGeom prst="roundRect">
            <a:avLst>
              <a:gd name="adj" fmla="val 10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4" name="TextBox 13"/>
          <p:cNvSpPr txBox="1"/>
          <p:nvPr/>
        </p:nvSpPr>
        <p:spPr>
          <a:xfrm>
            <a:off x="3611880" y="4078224"/>
            <a:ext cx="2651760" cy="640080"/>
          </a:xfrm>
          <a:prstGeom prst="rect">
            <a:avLst/>
          </a:prstGeom>
          <a:noFill/>
        </p:spPr>
        <p:txBody>
          <a:bodyPr wrap="square" lIns="0" rIns="0" tIns="0" bIns="0">
            <a:spAutoFit/>
          </a:bodyPr>
          <a:lstStyle/>
          <a:p>
            <a:pPr algn="l">
              <a:lnSpc>
                <a:spcPct val="130000"/>
              </a:lnSpc>
            </a:pPr>
            <a:r>
              <a:rPr sz="1050" b="0" i="0">
                <a:solidFill>
                  <a:srgbClr val="0B1020"/>
                </a:solidFill>
                <a:latin typeface="Inter"/>
                <a:ea typeface="Inter"/>
                <a:cs typeface="Inter"/>
              </a:rPr>
              <a:t>Guests message at midnight and the cleaner cancels on Sunday</a:t>
            </a:r>
          </a:p>
        </p:txBody>
      </p:sp>
      <p:sp>
        <p:nvSpPr>
          <p:cNvPr id="15" name="TextBox 14"/>
          <p:cNvSpPr txBox="1"/>
          <p:nvPr/>
        </p:nvSpPr>
        <p:spPr>
          <a:xfrm>
            <a:off x="685800" y="5166360"/>
            <a:ext cx="5852160" cy="731520"/>
          </a:xfrm>
          <a:prstGeom prst="rect">
            <a:avLst/>
          </a:prstGeom>
          <a:noFill/>
        </p:spPr>
        <p:txBody>
          <a:bodyPr wrap="square" lIns="0" rIns="0" tIns="0" bIns="0">
            <a:spAutoFit/>
          </a:bodyPr>
          <a:lstStyle/>
          <a:p>
            <a:pPr algn="l">
              <a:lnSpc>
                <a:spcPct val="130000"/>
              </a:lnSpc>
            </a:pPr>
            <a:r>
              <a:rPr sz="1500" b="1" i="0">
                <a:solidFill>
                  <a:srgbClr val="0B1020"/>
                </a:solidFill>
                <a:latin typeface="Inter"/>
                <a:ea typeface="Inter"/>
                <a:cs typeface="Inter"/>
              </a:rPr>
              <a:t>It isn’t the property. Nobody is working the calendar every single day.</a:t>
            </a:r>
          </a:p>
        </p:txBody>
      </p:sp>
      <p:sp>
        <p:nvSpPr>
          <p:cNvPr id="16" name="Rounded Rectangle 15"/>
          <p:cNvSpPr/>
          <p:nvPr/>
        </p:nvSpPr>
        <p:spPr>
          <a:xfrm>
            <a:off x="7086600" y="1143000"/>
            <a:ext cx="4389120" cy="4169663"/>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7" name="TextBox 16"/>
          <p:cNvSpPr txBox="1"/>
          <p:nvPr/>
        </p:nvSpPr>
        <p:spPr>
          <a:xfrm>
            <a:off x="7360920" y="1399032"/>
            <a:ext cx="3840480" cy="274320"/>
          </a:xfrm>
          <a:prstGeom prst="rect">
            <a:avLst/>
          </a:prstGeom>
          <a:noFill/>
        </p:spPr>
        <p:txBody>
          <a:bodyPr wrap="square" lIns="0" rIns="0" tIns="0" bIns="0">
            <a:spAutoFit/>
          </a:bodyPr>
          <a:lstStyle/>
          <a:p>
            <a:pPr algn="l"/>
            <a:r>
              <a:rPr sz="1300" b="1" i="0">
                <a:solidFill>
                  <a:srgbClr val="0B1020"/>
                </a:solidFill>
                <a:latin typeface="Inter"/>
                <a:ea typeface="Inter"/>
                <a:cs typeface="Inter"/>
              </a:rPr>
              <a:t>October</a:t>
            </a:r>
          </a:p>
        </p:txBody>
      </p:sp>
      <p:sp>
        <p:nvSpPr>
          <p:cNvPr id="18" name="Rounded Rectangle 17"/>
          <p:cNvSpPr/>
          <p:nvPr/>
        </p:nvSpPr>
        <p:spPr>
          <a:xfrm>
            <a:off x="9692640" y="1362456"/>
            <a:ext cx="1508760" cy="310896"/>
          </a:xfrm>
          <a:prstGeom prst="roundRect">
            <a:avLst>
              <a:gd name="adj" fmla="val 50000"/>
            </a:avLst>
          </a:prstGeom>
          <a:solidFill>
            <a:srgbClr val="E9F8EE"/>
          </a:solidFill>
          <a:ln>
            <a:noFill/>
          </a:ln>
        </p:spPr>
        <p:txBody>
          <a:bodyPr rtlCol="0" anchor="ctr"/>
          <a:lstStyle/>
          <a:p>
            <a:pPr algn="ctr"/>
          </a:p>
        </p:txBody>
      </p:sp>
      <p:sp>
        <p:nvSpPr>
          <p:cNvPr id="19" name="TextBox 18"/>
          <p:cNvSpPr txBox="1"/>
          <p:nvPr/>
        </p:nvSpPr>
        <p:spPr>
          <a:xfrm>
            <a:off x="9692640" y="1450435"/>
            <a:ext cx="1508760" cy="310896"/>
          </a:xfrm>
          <a:prstGeom prst="rect">
            <a:avLst/>
          </a:prstGeom>
          <a:noFill/>
        </p:spPr>
        <p:txBody>
          <a:bodyPr wrap="square" lIns="0" rIns="0" tIns="0" bIns="0">
            <a:spAutoFit/>
          </a:bodyPr>
          <a:lstStyle/>
          <a:p>
            <a:pPr algn="ctr"/>
            <a:r>
              <a:rPr sz="850" b="1" i="0">
                <a:solidFill>
                  <a:srgbClr val="13843D"/>
                </a:solidFill>
                <a:latin typeface="Inter"/>
                <a:ea typeface="Inter"/>
                <a:cs typeface="Inter"/>
              </a:rPr>
              <a:t>Half empty</a:t>
            </a:r>
          </a:p>
        </p:txBody>
      </p:sp>
      <p:sp>
        <p:nvSpPr>
          <p:cNvPr id="20" name="TextBox 19"/>
          <p:cNvSpPr txBox="1"/>
          <p:nvPr/>
        </p:nvSpPr>
        <p:spPr>
          <a:xfrm>
            <a:off x="736092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S</a:t>
            </a:r>
          </a:p>
        </p:txBody>
      </p:sp>
      <p:sp>
        <p:nvSpPr>
          <p:cNvPr id="21" name="TextBox 20"/>
          <p:cNvSpPr txBox="1"/>
          <p:nvPr/>
        </p:nvSpPr>
        <p:spPr>
          <a:xfrm>
            <a:off x="790956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M</a:t>
            </a:r>
          </a:p>
        </p:txBody>
      </p:sp>
      <p:sp>
        <p:nvSpPr>
          <p:cNvPr id="22" name="TextBox 21"/>
          <p:cNvSpPr txBox="1"/>
          <p:nvPr/>
        </p:nvSpPr>
        <p:spPr>
          <a:xfrm>
            <a:off x="845820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T</a:t>
            </a:r>
          </a:p>
        </p:txBody>
      </p:sp>
      <p:sp>
        <p:nvSpPr>
          <p:cNvPr id="23" name="TextBox 22"/>
          <p:cNvSpPr txBox="1"/>
          <p:nvPr/>
        </p:nvSpPr>
        <p:spPr>
          <a:xfrm>
            <a:off x="900684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W</a:t>
            </a:r>
          </a:p>
        </p:txBody>
      </p:sp>
      <p:sp>
        <p:nvSpPr>
          <p:cNvPr id="24" name="TextBox 23"/>
          <p:cNvSpPr txBox="1"/>
          <p:nvPr/>
        </p:nvSpPr>
        <p:spPr>
          <a:xfrm>
            <a:off x="955548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T</a:t>
            </a:r>
          </a:p>
        </p:txBody>
      </p:sp>
      <p:sp>
        <p:nvSpPr>
          <p:cNvPr id="25" name="TextBox 24"/>
          <p:cNvSpPr txBox="1"/>
          <p:nvPr/>
        </p:nvSpPr>
        <p:spPr>
          <a:xfrm>
            <a:off x="1010412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F</a:t>
            </a:r>
          </a:p>
        </p:txBody>
      </p:sp>
      <p:sp>
        <p:nvSpPr>
          <p:cNvPr id="26" name="TextBox 25"/>
          <p:cNvSpPr txBox="1"/>
          <p:nvPr/>
        </p:nvSpPr>
        <p:spPr>
          <a:xfrm>
            <a:off x="10652760" y="1828800"/>
            <a:ext cx="548640" cy="182880"/>
          </a:xfrm>
          <a:prstGeom prst="rect">
            <a:avLst/>
          </a:prstGeom>
          <a:noFill/>
        </p:spPr>
        <p:txBody>
          <a:bodyPr wrap="square" lIns="0" rIns="0" tIns="0" bIns="0">
            <a:spAutoFit/>
          </a:bodyPr>
          <a:lstStyle/>
          <a:p>
            <a:pPr algn="ctr"/>
            <a:r>
              <a:rPr sz="800" b="1" i="0">
                <a:solidFill>
                  <a:srgbClr val="9AA0B4"/>
                </a:solidFill>
                <a:latin typeface="Inter"/>
                <a:ea typeface="Inter"/>
                <a:cs typeface="Inter"/>
              </a:rPr>
              <a:t>S</a:t>
            </a:r>
          </a:p>
        </p:txBody>
      </p:sp>
      <p:sp>
        <p:nvSpPr>
          <p:cNvPr id="27" name="TextBox 26"/>
          <p:cNvSpPr txBox="1"/>
          <p:nvPr/>
        </p:nvSpPr>
        <p:spPr>
          <a:xfrm>
            <a:off x="9006840" y="2168956"/>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a:t>
            </a:r>
          </a:p>
        </p:txBody>
      </p:sp>
      <p:sp>
        <p:nvSpPr>
          <p:cNvPr id="28" name="TextBox 27"/>
          <p:cNvSpPr txBox="1"/>
          <p:nvPr/>
        </p:nvSpPr>
        <p:spPr>
          <a:xfrm>
            <a:off x="9555480" y="2168956"/>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a:t>
            </a:r>
          </a:p>
        </p:txBody>
      </p:sp>
      <p:sp>
        <p:nvSpPr>
          <p:cNvPr id="29" name="Rounded Rectangle 28"/>
          <p:cNvSpPr/>
          <p:nvPr/>
        </p:nvSpPr>
        <p:spPr>
          <a:xfrm>
            <a:off x="10140696" y="2075688"/>
            <a:ext cx="475488" cy="362102"/>
          </a:xfrm>
          <a:prstGeom prst="roundRect">
            <a:avLst>
              <a:gd name="adj" fmla="val 30000"/>
            </a:avLst>
          </a:prstGeom>
          <a:solidFill>
            <a:srgbClr val="FF5C4D"/>
          </a:solidFill>
          <a:ln>
            <a:noFill/>
          </a:ln>
        </p:spPr>
        <p:txBody>
          <a:bodyPr rtlCol="0" anchor="ctr"/>
          <a:lstStyle/>
          <a:p>
            <a:pPr algn="ctr"/>
          </a:p>
        </p:txBody>
      </p:sp>
      <p:sp>
        <p:nvSpPr>
          <p:cNvPr id="30" name="TextBox 29"/>
          <p:cNvSpPr txBox="1"/>
          <p:nvPr/>
        </p:nvSpPr>
        <p:spPr>
          <a:xfrm>
            <a:off x="10104120" y="2168956"/>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3</a:t>
            </a:r>
          </a:p>
        </p:txBody>
      </p:sp>
      <p:sp>
        <p:nvSpPr>
          <p:cNvPr id="31" name="Rounded Rectangle 30"/>
          <p:cNvSpPr/>
          <p:nvPr/>
        </p:nvSpPr>
        <p:spPr>
          <a:xfrm>
            <a:off x="10689336" y="2075688"/>
            <a:ext cx="475488" cy="362102"/>
          </a:xfrm>
          <a:prstGeom prst="roundRect">
            <a:avLst>
              <a:gd name="adj" fmla="val 30000"/>
            </a:avLst>
          </a:prstGeom>
          <a:solidFill>
            <a:srgbClr val="FF5C4D"/>
          </a:solidFill>
          <a:ln>
            <a:noFill/>
          </a:ln>
        </p:spPr>
        <p:txBody>
          <a:bodyPr rtlCol="0" anchor="ctr"/>
          <a:lstStyle/>
          <a:p>
            <a:pPr algn="ctr"/>
          </a:p>
        </p:txBody>
      </p:sp>
      <p:sp>
        <p:nvSpPr>
          <p:cNvPr id="32" name="TextBox 31"/>
          <p:cNvSpPr txBox="1"/>
          <p:nvPr/>
        </p:nvSpPr>
        <p:spPr>
          <a:xfrm>
            <a:off x="10652760" y="2168956"/>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4</a:t>
            </a:r>
          </a:p>
        </p:txBody>
      </p:sp>
      <p:sp>
        <p:nvSpPr>
          <p:cNvPr id="33" name="TextBox 32"/>
          <p:cNvSpPr txBox="1"/>
          <p:nvPr/>
        </p:nvSpPr>
        <p:spPr>
          <a:xfrm>
            <a:off x="7360920" y="2607868"/>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5</a:t>
            </a:r>
          </a:p>
        </p:txBody>
      </p:sp>
      <p:sp>
        <p:nvSpPr>
          <p:cNvPr id="34" name="Rounded Rectangle 33"/>
          <p:cNvSpPr/>
          <p:nvPr/>
        </p:nvSpPr>
        <p:spPr>
          <a:xfrm>
            <a:off x="7946136" y="2514600"/>
            <a:ext cx="475488" cy="362102"/>
          </a:xfrm>
          <a:prstGeom prst="roundRect">
            <a:avLst>
              <a:gd name="adj" fmla="val 30000"/>
            </a:avLst>
          </a:prstGeom>
          <a:solidFill>
            <a:srgbClr val="FF5C4D"/>
          </a:solidFill>
          <a:ln>
            <a:noFill/>
          </a:ln>
        </p:spPr>
        <p:txBody>
          <a:bodyPr rtlCol="0" anchor="ctr"/>
          <a:lstStyle/>
          <a:p>
            <a:pPr algn="ctr"/>
          </a:p>
        </p:txBody>
      </p:sp>
      <p:sp>
        <p:nvSpPr>
          <p:cNvPr id="35" name="TextBox 34"/>
          <p:cNvSpPr txBox="1"/>
          <p:nvPr/>
        </p:nvSpPr>
        <p:spPr>
          <a:xfrm>
            <a:off x="7909560" y="2607868"/>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6</a:t>
            </a:r>
          </a:p>
        </p:txBody>
      </p:sp>
      <p:sp>
        <p:nvSpPr>
          <p:cNvPr id="36" name="Rounded Rectangle 35"/>
          <p:cNvSpPr/>
          <p:nvPr/>
        </p:nvSpPr>
        <p:spPr>
          <a:xfrm>
            <a:off x="8494776" y="2514600"/>
            <a:ext cx="475488" cy="362102"/>
          </a:xfrm>
          <a:prstGeom prst="roundRect">
            <a:avLst>
              <a:gd name="adj" fmla="val 30000"/>
            </a:avLst>
          </a:prstGeom>
          <a:solidFill>
            <a:srgbClr val="FF5C4D"/>
          </a:solidFill>
          <a:ln>
            <a:noFill/>
          </a:ln>
        </p:spPr>
        <p:txBody>
          <a:bodyPr rtlCol="0" anchor="ctr"/>
          <a:lstStyle/>
          <a:p>
            <a:pPr algn="ctr"/>
          </a:p>
        </p:txBody>
      </p:sp>
      <p:sp>
        <p:nvSpPr>
          <p:cNvPr id="37" name="TextBox 36"/>
          <p:cNvSpPr txBox="1"/>
          <p:nvPr/>
        </p:nvSpPr>
        <p:spPr>
          <a:xfrm>
            <a:off x="8458200" y="2607868"/>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7</a:t>
            </a:r>
          </a:p>
        </p:txBody>
      </p:sp>
      <p:sp>
        <p:nvSpPr>
          <p:cNvPr id="38" name="TextBox 37"/>
          <p:cNvSpPr txBox="1"/>
          <p:nvPr/>
        </p:nvSpPr>
        <p:spPr>
          <a:xfrm>
            <a:off x="9006840" y="2607868"/>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8</a:t>
            </a:r>
          </a:p>
        </p:txBody>
      </p:sp>
      <p:sp>
        <p:nvSpPr>
          <p:cNvPr id="39" name="TextBox 38"/>
          <p:cNvSpPr txBox="1"/>
          <p:nvPr/>
        </p:nvSpPr>
        <p:spPr>
          <a:xfrm>
            <a:off x="9555480" y="2607868"/>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9</a:t>
            </a:r>
          </a:p>
        </p:txBody>
      </p:sp>
      <p:sp>
        <p:nvSpPr>
          <p:cNvPr id="40" name="Rounded Rectangle 39"/>
          <p:cNvSpPr/>
          <p:nvPr/>
        </p:nvSpPr>
        <p:spPr>
          <a:xfrm>
            <a:off x="10140696" y="2514600"/>
            <a:ext cx="475488" cy="362102"/>
          </a:xfrm>
          <a:prstGeom prst="roundRect">
            <a:avLst>
              <a:gd name="adj" fmla="val 30000"/>
            </a:avLst>
          </a:prstGeom>
          <a:solidFill>
            <a:srgbClr val="FF5C4D"/>
          </a:solidFill>
          <a:ln>
            <a:noFill/>
          </a:ln>
        </p:spPr>
        <p:txBody>
          <a:bodyPr rtlCol="0" anchor="ctr"/>
          <a:lstStyle/>
          <a:p>
            <a:pPr algn="ctr"/>
          </a:p>
        </p:txBody>
      </p:sp>
      <p:sp>
        <p:nvSpPr>
          <p:cNvPr id="41" name="TextBox 40"/>
          <p:cNvSpPr txBox="1"/>
          <p:nvPr/>
        </p:nvSpPr>
        <p:spPr>
          <a:xfrm>
            <a:off x="10104120" y="2607868"/>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10</a:t>
            </a:r>
          </a:p>
        </p:txBody>
      </p:sp>
      <p:sp>
        <p:nvSpPr>
          <p:cNvPr id="42" name="TextBox 41"/>
          <p:cNvSpPr txBox="1"/>
          <p:nvPr/>
        </p:nvSpPr>
        <p:spPr>
          <a:xfrm>
            <a:off x="10652760" y="2607868"/>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11</a:t>
            </a:r>
          </a:p>
        </p:txBody>
      </p:sp>
      <p:sp>
        <p:nvSpPr>
          <p:cNvPr id="43" name="TextBox 42"/>
          <p:cNvSpPr txBox="1"/>
          <p:nvPr/>
        </p:nvSpPr>
        <p:spPr>
          <a:xfrm>
            <a:off x="7360920" y="3046780"/>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12</a:t>
            </a:r>
          </a:p>
        </p:txBody>
      </p:sp>
      <p:sp>
        <p:nvSpPr>
          <p:cNvPr id="44" name="Rounded Rectangle 43"/>
          <p:cNvSpPr/>
          <p:nvPr/>
        </p:nvSpPr>
        <p:spPr>
          <a:xfrm>
            <a:off x="7946136" y="2953512"/>
            <a:ext cx="475488" cy="362102"/>
          </a:xfrm>
          <a:prstGeom prst="roundRect">
            <a:avLst>
              <a:gd name="adj" fmla="val 30000"/>
            </a:avLst>
          </a:prstGeom>
          <a:solidFill>
            <a:srgbClr val="FF5C4D"/>
          </a:solidFill>
          <a:ln>
            <a:noFill/>
          </a:ln>
        </p:spPr>
        <p:txBody>
          <a:bodyPr rtlCol="0" anchor="ctr"/>
          <a:lstStyle/>
          <a:p>
            <a:pPr algn="ctr"/>
          </a:p>
        </p:txBody>
      </p:sp>
      <p:sp>
        <p:nvSpPr>
          <p:cNvPr id="45" name="TextBox 44"/>
          <p:cNvSpPr txBox="1"/>
          <p:nvPr/>
        </p:nvSpPr>
        <p:spPr>
          <a:xfrm>
            <a:off x="7909560" y="3046780"/>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13</a:t>
            </a:r>
          </a:p>
        </p:txBody>
      </p:sp>
      <p:sp>
        <p:nvSpPr>
          <p:cNvPr id="46" name="Rounded Rectangle 45"/>
          <p:cNvSpPr/>
          <p:nvPr/>
        </p:nvSpPr>
        <p:spPr>
          <a:xfrm>
            <a:off x="8494776" y="2953512"/>
            <a:ext cx="475488" cy="362102"/>
          </a:xfrm>
          <a:prstGeom prst="roundRect">
            <a:avLst>
              <a:gd name="adj" fmla="val 30000"/>
            </a:avLst>
          </a:prstGeom>
          <a:solidFill>
            <a:srgbClr val="FF5C4D"/>
          </a:solidFill>
          <a:ln>
            <a:noFill/>
          </a:ln>
        </p:spPr>
        <p:txBody>
          <a:bodyPr rtlCol="0" anchor="ctr"/>
          <a:lstStyle/>
          <a:p>
            <a:pPr algn="ctr"/>
          </a:p>
        </p:txBody>
      </p:sp>
      <p:sp>
        <p:nvSpPr>
          <p:cNvPr id="47" name="TextBox 46"/>
          <p:cNvSpPr txBox="1"/>
          <p:nvPr/>
        </p:nvSpPr>
        <p:spPr>
          <a:xfrm>
            <a:off x="8458200" y="3046780"/>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14</a:t>
            </a:r>
          </a:p>
        </p:txBody>
      </p:sp>
      <p:sp>
        <p:nvSpPr>
          <p:cNvPr id="48" name="TextBox 47"/>
          <p:cNvSpPr txBox="1"/>
          <p:nvPr/>
        </p:nvSpPr>
        <p:spPr>
          <a:xfrm>
            <a:off x="9006840" y="3046780"/>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15</a:t>
            </a:r>
          </a:p>
        </p:txBody>
      </p:sp>
      <p:sp>
        <p:nvSpPr>
          <p:cNvPr id="49" name="TextBox 48"/>
          <p:cNvSpPr txBox="1"/>
          <p:nvPr/>
        </p:nvSpPr>
        <p:spPr>
          <a:xfrm>
            <a:off x="9555480" y="3046780"/>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16</a:t>
            </a:r>
          </a:p>
        </p:txBody>
      </p:sp>
      <p:sp>
        <p:nvSpPr>
          <p:cNvPr id="50" name="Rounded Rectangle 49"/>
          <p:cNvSpPr/>
          <p:nvPr/>
        </p:nvSpPr>
        <p:spPr>
          <a:xfrm>
            <a:off x="10140696" y="2953512"/>
            <a:ext cx="475488" cy="362102"/>
          </a:xfrm>
          <a:prstGeom prst="roundRect">
            <a:avLst>
              <a:gd name="adj" fmla="val 30000"/>
            </a:avLst>
          </a:prstGeom>
          <a:solidFill>
            <a:srgbClr val="FF5C4D"/>
          </a:solidFill>
          <a:ln>
            <a:noFill/>
          </a:ln>
        </p:spPr>
        <p:txBody>
          <a:bodyPr rtlCol="0" anchor="ctr"/>
          <a:lstStyle/>
          <a:p>
            <a:pPr algn="ctr"/>
          </a:p>
        </p:txBody>
      </p:sp>
      <p:sp>
        <p:nvSpPr>
          <p:cNvPr id="51" name="TextBox 50"/>
          <p:cNvSpPr txBox="1"/>
          <p:nvPr/>
        </p:nvSpPr>
        <p:spPr>
          <a:xfrm>
            <a:off x="10104120" y="3046780"/>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17</a:t>
            </a:r>
          </a:p>
        </p:txBody>
      </p:sp>
      <p:sp>
        <p:nvSpPr>
          <p:cNvPr id="52" name="TextBox 51"/>
          <p:cNvSpPr txBox="1"/>
          <p:nvPr/>
        </p:nvSpPr>
        <p:spPr>
          <a:xfrm>
            <a:off x="10652760" y="3046780"/>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18</a:t>
            </a:r>
          </a:p>
        </p:txBody>
      </p:sp>
      <p:sp>
        <p:nvSpPr>
          <p:cNvPr id="53" name="TextBox 52"/>
          <p:cNvSpPr txBox="1"/>
          <p:nvPr/>
        </p:nvSpPr>
        <p:spPr>
          <a:xfrm>
            <a:off x="7360920" y="3485692"/>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19</a:t>
            </a:r>
          </a:p>
        </p:txBody>
      </p:sp>
      <p:sp>
        <p:nvSpPr>
          <p:cNvPr id="54" name="Rounded Rectangle 53"/>
          <p:cNvSpPr/>
          <p:nvPr/>
        </p:nvSpPr>
        <p:spPr>
          <a:xfrm>
            <a:off x="7946136" y="3392424"/>
            <a:ext cx="475488" cy="362102"/>
          </a:xfrm>
          <a:prstGeom prst="roundRect">
            <a:avLst>
              <a:gd name="adj" fmla="val 30000"/>
            </a:avLst>
          </a:prstGeom>
          <a:solidFill>
            <a:srgbClr val="FF5C4D"/>
          </a:solidFill>
          <a:ln>
            <a:noFill/>
          </a:ln>
        </p:spPr>
        <p:txBody>
          <a:bodyPr rtlCol="0" anchor="ctr"/>
          <a:lstStyle/>
          <a:p>
            <a:pPr algn="ctr"/>
          </a:p>
        </p:txBody>
      </p:sp>
      <p:sp>
        <p:nvSpPr>
          <p:cNvPr id="55" name="TextBox 54"/>
          <p:cNvSpPr txBox="1"/>
          <p:nvPr/>
        </p:nvSpPr>
        <p:spPr>
          <a:xfrm>
            <a:off x="7909560" y="3485692"/>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20</a:t>
            </a:r>
          </a:p>
        </p:txBody>
      </p:sp>
      <p:sp>
        <p:nvSpPr>
          <p:cNvPr id="56" name="Rounded Rectangle 55"/>
          <p:cNvSpPr/>
          <p:nvPr/>
        </p:nvSpPr>
        <p:spPr>
          <a:xfrm>
            <a:off x="8494776" y="3392424"/>
            <a:ext cx="475488" cy="362102"/>
          </a:xfrm>
          <a:prstGeom prst="roundRect">
            <a:avLst>
              <a:gd name="adj" fmla="val 30000"/>
            </a:avLst>
          </a:prstGeom>
          <a:solidFill>
            <a:srgbClr val="FF5C4D"/>
          </a:solidFill>
          <a:ln>
            <a:noFill/>
          </a:ln>
        </p:spPr>
        <p:txBody>
          <a:bodyPr rtlCol="0" anchor="ctr"/>
          <a:lstStyle/>
          <a:p>
            <a:pPr algn="ctr"/>
          </a:p>
        </p:txBody>
      </p:sp>
      <p:sp>
        <p:nvSpPr>
          <p:cNvPr id="57" name="TextBox 56"/>
          <p:cNvSpPr txBox="1"/>
          <p:nvPr/>
        </p:nvSpPr>
        <p:spPr>
          <a:xfrm>
            <a:off x="8458200" y="3485692"/>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21</a:t>
            </a:r>
          </a:p>
        </p:txBody>
      </p:sp>
      <p:sp>
        <p:nvSpPr>
          <p:cNvPr id="58" name="TextBox 57"/>
          <p:cNvSpPr txBox="1"/>
          <p:nvPr/>
        </p:nvSpPr>
        <p:spPr>
          <a:xfrm>
            <a:off x="9006840" y="3485692"/>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22</a:t>
            </a:r>
          </a:p>
        </p:txBody>
      </p:sp>
      <p:sp>
        <p:nvSpPr>
          <p:cNvPr id="59" name="TextBox 58"/>
          <p:cNvSpPr txBox="1"/>
          <p:nvPr/>
        </p:nvSpPr>
        <p:spPr>
          <a:xfrm>
            <a:off x="9555480" y="3485692"/>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23</a:t>
            </a:r>
          </a:p>
        </p:txBody>
      </p:sp>
      <p:sp>
        <p:nvSpPr>
          <p:cNvPr id="60" name="Rounded Rectangle 59"/>
          <p:cNvSpPr/>
          <p:nvPr/>
        </p:nvSpPr>
        <p:spPr>
          <a:xfrm>
            <a:off x="10140696" y="3392424"/>
            <a:ext cx="475488" cy="362102"/>
          </a:xfrm>
          <a:prstGeom prst="roundRect">
            <a:avLst>
              <a:gd name="adj" fmla="val 30000"/>
            </a:avLst>
          </a:prstGeom>
          <a:solidFill>
            <a:srgbClr val="FF5C4D"/>
          </a:solidFill>
          <a:ln>
            <a:noFill/>
          </a:ln>
        </p:spPr>
        <p:txBody>
          <a:bodyPr rtlCol="0" anchor="ctr"/>
          <a:lstStyle/>
          <a:p>
            <a:pPr algn="ctr"/>
          </a:p>
        </p:txBody>
      </p:sp>
      <p:sp>
        <p:nvSpPr>
          <p:cNvPr id="61" name="TextBox 60"/>
          <p:cNvSpPr txBox="1"/>
          <p:nvPr/>
        </p:nvSpPr>
        <p:spPr>
          <a:xfrm>
            <a:off x="10104120" y="3485692"/>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24</a:t>
            </a:r>
          </a:p>
        </p:txBody>
      </p:sp>
      <p:sp>
        <p:nvSpPr>
          <p:cNvPr id="62" name="TextBox 61"/>
          <p:cNvSpPr txBox="1"/>
          <p:nvPr/>
        </p:nvSpPr>
        <p:spPr>
          <a:xfrm>
            <a:off x="10652760" y="3485692"/>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25</a:t>
            </a:r>
          </a:p>
        </p:txBody>
      </p:sp>
      <p:sp>
        <p:nvSpPr>
          <p:cNvPr id="63" name="TextBox 62"/>
          <p:cNvSpPr txBox="1"/>
          <p:nvPr/>
        </p:nvSpPr>
        <p:spPr>
          <a:xfrm>
            <a:off x="7360920" y="3924604"/>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26</a:t>
            </a:r>
          </a:p>
        </p:txBody>
      </p:sp>
      <p:sp>
        <p:nvSpPr>
          <p:cNvPr id="64" name="Rounded Rectangle 63"/>
          <p:cNvSpPr/>
          <p:nvPr/>
        </p:nvSpPr>
        <p:spPr>
          <a:xfrm>
            <a:off x="7946136" y="3831335"/>
            <a:ext cx="475488" cy="362102"/>
          </a:xfrm>
          <a:prstGeom prst="roundRect">
            <a:avLst>
              <a:gd name="adj" fmla="val 30000"/>
            </a:avLst>
          </a:prstGeom>
          <a:solidFill>
            <a:srgbClr val="FF5C4D"/>
          </a:solidFill>
          <a:ln>
            <a:noFill/>
          </a:ln>
        </p:spPr>
        <p:txBody>
          <a:bodyPr rtlCol="0" anchor="ctr"/>
          <a:lstStyle/>
          <a:p>
            <a:pPr algn="ctr"/>
          </a:p>
        </p:txBody>
      </p:sp>
      <p:sp>
        <p:nvSpPr>
          <p:cNvPr id="65" name="TextBox 64"/>
          <p:cNvSpPr txBox="1"/>
          <p:nvPr/>
        </p:nvSpPr>
        <p:spPr>
          <a:xfrm>
            <a:off x="7909560" y="3924604"/>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27</a:t>
            </a:r>
          </a:p>
        </p:txBody>
      </p:sp>
      <p:sp>
        <p:nvSpPr>
          <p:cNvPr id="66" name="Rounded Rectangle 65"/>
          <p:cNvSpPr/>
          <p:nvPr/>
        </p:nvSpPr>
        <p:spPr>
          <a:xfrm>
            <a:off x="8494776" y="3831335"/>
            <a:ext cx="475488" cy="362102"/>
          </a:xfrm>
          <a:prstGeom prst="roundRect">
            <a:avLst>
              <a:gd name="adj" fmla="val 30000"/>
            </a:avLst>
          </a:prstGeom>
          <a:solidFill>
            <a:srgbClr val="FF5C4D"/>
          </a:solidFill>
          <a:ln>
            <a:noFill/>
          </a:ln>
        </p:spPr>
        <p:txBody>
          <a:bodyPr rtlCol="0" anchor="ctr"/>
          <a:lstStyle/>
          <a:p>
            <a:pPr algn="ctr"/>
          </a:p>
        </p:txBody>
      </p:sp>
      <p:sp>
        <p:nvSpPr>
          <p:cNvPr id="67" name="TextBox 66"/>
          <p:cNvSpPr txBox="1"/>
          <p:nvPr/>
        </p:nvSpPr>
        <p:spPr>
          <a:xfrm>
            <a:off x="8458200" y="3924604"/>
            <a:ext cx="548640" cy="182880"/>
          </a:xfrm>
          <a:prstGeom prst="rect">
            <a:avLst/>
          </a:prstGeom>
          <a:noFill/>
        </p:spPr>
        <p:txBody>
          <a:bodyPr wrap="square" lIns="0" rIns="0" tIns="0" bIns="0">
            <a:spAutoFit/>
          </a:bodyPr>
          <a:lstStyle/>
          <a:p>
            <a:pPr algn="ctr"/>
            <a:r>
              <a:rPr sz="800" b="1" i="0">
                <a:solidFill>
                  <a:srgbClr val="FFFFFF"/>
                </a:solidFill>
                <a:latin typeface="Inter"/>
                <a:ea typeface="Inter"/>
                <a:cs typeface="Inter"/>
              </a:rPr>
              <a:t>28</a:t>
            </a:r>
          </a:p>
        </p:txBody>
      </p:sp>
      <p:sp>
        <p:nvSpPr>
          <p:cNvPr id="68" name="TextBox 67"/>
          <p:cNvSpPr txBox="1"/>
          <p:nvPr/>
        </p:nvSpPr>
        <p:spPr>
          <a:xfrm>
            <a:off x="9006840" y="3924604"/>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29</a:t>
            </a:r>
          </a:p>
        </p:txBody>
      </p:sp>
      <p:sp>
        <p:nvSpPr>
          <p:cNvPr id="69" name="TextBox 68"/>
          <p:cNvSpPr txBox="1"/>
          <p:nvPr/>
        </p:nvSpPr>
        <p:spPr>
          <a:xfrm>
            <a:off x="9555480" y="3924604"/>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30</a:t>
            </a:r>
          </a:p>
        </p:txBody>
      </p:sp>
      <p:sp>
        <p:nvSpPr>
          <p:cNvPr id="70" name="TextBox 69"/>
          <p:cNvSpPr txBox="1"/>
          <p:nvPr/>
        </p:nvSpPr>
        <p:spPr>
          <a:xfrm>
            <a:off x="10104120" y="3924604"/>
            <a:ext cx="548640" cy="182880"/>
          </a:xfrm>
          <a:prstGeom prst="rect">
            <a:avLst/>
          </a:prstGeom>
          <a:noFill/>
        </p:spPr>
        <p:txBody>
          <a:bodyPr wrap="square" lIns="0" rIns="0" tIns="0" bIns="0">
            <a:spAutoFit/>
          </a:bodyPr>
          <a:lstStyle/>
          <a:p>
            <a:pPr algn="ctr"/>
            <a:r>
              <a:rPr sz="800" b="0" i="0">
                <a:solidFill>
                  <a:srgbClr val="B4B8C8"/>
                </a:solidFill>
                <a:latin typeface="Inter"/>
                <a:ea typeface="Inter"/>
                <a:cs typeface="Inter"/>
              </a:rPr>
              <a:t>31</a:t>
            </a:r>
          </a:p>
        </p:txBody>
      </p:sp>
      <p:sp>
        <p:nvSpPr>
          <p:cNvPr id="71" name="Rectangle 70"/>
          <p:cNvSpPr/>
          <p:nvPr/>
        </p:nvSpPr>
        <p:spPr>
          <a:xfrm>
            <a:off x="7360920" y="4745736"/>
            <a:ext cx="3840480" cy="10972"/>
          </a:xfrm>
          <a:prstGeom prst="rect">
            <a:avLst/>
          </a:prstGeom>
          <a:solidFill>
            <a:srgbClr val="ECEAE4"/>
          </a:solidFill>
          <a:ln>
            <a:noFill/>
          </a:ln>
        </p:spPr>
        <p:txBody>
          <a:bodyPr rtlCol="0" anchor="ctr"/>
          <a:lstStyle/>
          <a:p>
            <a:pPr algn="ctr"/>
          </a:p>
        </p:txBody>
      </p:sp>
      <p:sp>
        <p:nvSpPr>
          <p:cNvPr id="72" name="TextBox 71"/>
          <p:cNvSpPr txBox="1"/>
          <p:nvPr/>
        </p:nvSpPr>
        <p:spPr>
          <a:xfrm>
            <a:off x="7360920" y="4901183"/>
            <a:ext cx="3840480" cy="274320"/>
          </a:xfrm>
          <a:prstGeom prst="rect">
            <a:avLst/>
          </a:prstGeom>
          <a:noFill/>
        </p:spPr>
        <p:txBody>
          <a:bodyPr wrap="square" lIns="0" rIns="0" tIns="0" bIns="0">
            <a:spAutoFit/>
          </a:bodyPr>
          <a:lstStyle/>
          <a:p>
            <a:pPr algn="l"/>
            <a:r>
              <a:rPr sz="1050" b="1" i="0">
                <a:solidFill>
                  <a:srgbClr val="0B1020"/>
                </a:solidFill>
                <a:latin typeface="Inter"/>
                <a:ea typeface="Inter"/>
                <a:cs typeface="Inter"/>
              </a:rPr>
              <a:t>13 nights booked · 18 empty</a:t>
            </a:r>
          </a:p>
        </p:txBody>
      </p:sp>
      <p:sp>
        <p:nvSpPr>
          <p:cNvPr id="73" name="TextBox 72"/>
          <p:cNvSpPr txBox="1"/>
          <p:nvPr/>
        </p:nvSpPr>
        <p:spPr>
          <a:xfrm>
            <a:off x="7086600" y="5486400"/>
            <a:ext cx="4389120" cy="274320"/>
          </a:xfrm>
          <a:prstGeom prst="rect">
            <a:avLst/>
          </a:prstGeom>
          <a:noFill/>
        </p:spPr>
        <p:txBody>
          <a:bodyPr wrap="square" lIns="0" rIns="0" tIns="0" bIns="0">
            <a:spAutoFit/>
          </a:bodyPr>
          <a:lstStyle/>
          <a:p>
            <a:pPr algn="l"/>
            <a:r>
              <a:rPr sz="850" b="0" i="0">
                <a:solidFill>
                  <a:srgbClr val="7D8296"/>
                </a:solidFill>
                <a:latin typeface="Inter"/>
                <a:ea typeface="Inter"/>
                <a:cs typeface="Inter"/>
              </a:rPr>
              <a:t>Illustrative calendar.</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279"/>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308"/>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700"/>
                                        <p:tgtEl>
                                          <p:spTgt spid="16"/>
                                        </p:tgtEl>
                                      </p:cBhvr>
                                    </p:animEffect>
                                  </p:childTnLst>
                                </p:cTn>
                              </p:par>
                              <p:par>
                                <p:cTn id="16" presetID="10" presetClass="entr" presetSubtype="0" fill="hold" grpId="0" nodeType="withEffect">
                                  <p:stCondLst>
                                    <p:cond delay="337"/>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700"/>
                                        <p:tgtEl>
                                          <p:spTgt spid="17"/>
                                        </p:tgtEl>
                                      </p:cBhvr>
                                    </p:animEffect>
                                  </p:childTnLst>
                                </p:cTn>
                              </p:par>
                              <p:par>
                                <p:cTn id="19" presetID="10" presetClass="entr" presetSubtype="0" fill="hold" grpId="0" nodeType="withEffect">
                                  <p:stCondLst>
                                    <p:cond delay="366"/>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00"/>
                                        <p:tgtEl>
                                          <p:spTgt spid="18"/>
                                        </p:tgtEl>
                                      </p:cBhvr>
                                    </p:animEffect>
                                  </p:childTnLst>
                                </p:cTn>
                              </p:par>
                              <p:par>
                                <p:cTn id="22" presetID="10" presetClass="entr" presetSubtype="0" fill="hold" grpId="0" nodeType="withEffect">
                                  <p:stCondLst>
                                    <p:cond delay="395"/>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700"/>
                                        <p:tgtEl>
                                          <p:spTgt spid="19"/>
                                        </p:tgtEl>
                                      </p:cBhvr>
                                    </p:animEffect>
                                  </p:childTnLst>
                                </p:cTn>
                              </p:par>
                              <p:par>
                                <p:cTn id="25" presetID="10" presetClass="entr" presetSubtype="0" fill="hold" grpId="0" nodeType="withEffect">
                                  <p:stCondLst>
                                    <p:cond delay="424"/>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700"/>
                                        <p:tgtEl>
                                          <p:spTgt spid="20"/>
                                        </p:tgtEl>
                                      </p:cBhvr>
                                    </p:animEffect>
                                  </p:childTnLst>
                                </p:cTn>
                              </p:par>
                              <p:par>
                                <p:cTn id="28" presetID="10" presetClass="entr" presetSubtype="0" fill="hold" grpId="0" nodeType="withEffect">
                                  <p:stCondLst>
                                    <p:cond delay="453"/>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700"/>
                                        <p:tgtEl>
                                          <p:spTgt spid="21"/>
                                        </p:tgtEl>
                                      </p:cBhvr>
                                    </p:animEffect>
                                  </p:childTnLst>
                                </p:cTn>
                              </p:par>
                              <p:par>
                                <p:cTn id="31" presetID="10" presetClass="entr" presetSubtype="0" fill="hold" grpId="0" nodeType="withEffect">
                                  <p:stCondLst>
                                    <p:cond delay="482"/>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700"/>
                                        <p:tgtEl>
                                          <p:spTgt spid="22"/>
                                        </p:tgtEl>
                                      </p:cBhvr>
                                    </p:animEffect>
                                  </p:childTnLst>
                                </p:cTn>
                              </p:par>
                              <p:par>
                                <p:cTn id="34" presetID="10" presetClass="entr" presetSubtype="0" fill="hold" grpId="0" nodeType="withEffect">
                                  <p:stCondLst>
                                    <p:cond delay="511"/>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700"/>
                                        <p:tgtEl>
                                          <p:spTgt spid="23"/>
                                        </p:tgtEl>
                                      </p:cBhvr>
                                    </p:animEffect>
                                  </p:childTnLst>
                                </p:cTn>
                              </p:par>
                              <p:par>
                                <p:cTn id="37" presetID="10" presetClass="entr" presetSubtype="0" fill="hold" grpId="0" nodeType="withEffect">
                                  <p:stCondLst>
                                    <p:cond delay="54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700"/>
                                        <p:tgtEl>
                                          <p:spTgt spid="24"/>
                                        </p:tgtEl>
                                      </p:cBhvr>
                                    </p:animEffect>
                                  </p:childTnLst>
                                </p:cTn>
                              </p:par>
                              <p:par>
                                <p:cTn id="40" presetID="10" presetClass="entr" presetSubtype="0" fill="hold" grpId="0" nodeType="withEffect">
                                  <p:stCondLst>
                                    <p:cond delay="569"/>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700"/>
                                        <p:tgtEl>
                                          <p:spTgt spid="25"/>
                                        </p:tgtEl>
                                      </p:cBhvr>
                                    </p:animEffect>
                                  </p:childTnLst>
                                </p:cTn>
                              </p:par>
                              <p:par>
                                <p:cTn id="43" presetID="10" presetClass="entr" presetSubtype="0" fill="hold" grpId="0" nodeType="withEffect">
                                  <p:stCondLst>
                                    <p:cond delay="598"/>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700"/>
                                        <p:tgtEl>
                                          <p:spTgt spid="29"/>
                                        </p:tgtEl>
                                      </p:cBhvr>
                                    </p:animEffect>
                                  </p:childTnLst>
                                </p:cTn>
                              </p:par>
                              <p:par>
                                <p:cTn id="46" presetID="10" presetClass="entr" presetSubtype="0" fill="hold" grpId="0" nodeType="withEffect">
                                  <p:stCondLst>
                                    <p:cond delay="627"/>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700"/>
                                        <p:tgtEl>
                                          <p:spTgt spid="26"/>
                                        </p:tgtEl>
                                      </p:cBhvr>
                                    </p:animEffect>
                                  </p:childTnLst>
                                </p:cTn>
                              </p:par>
                              <p:par>
                                <p:cTn id="49" presetID="10" presetClass="entr" presetSubtype="0" fill="hold" grpId="0" nodeType="withEffect">
                                  <p:stCondLst>
                                    <p:cond delay="656"/>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700"/>
                                        <p:tgtEl>
                                          <p:spTgt spid="31"/>
                                        </p:tgtEl>
                                      </p:cBhvr>
                                    </p:animEffect>
                                  </p:childTnLst>
                                </p:cTn>
                              </p:par>
                              <p:par>
                                <p:cTn id="52" presetID="10" presetClass="entr" presetSubtype="0" fill="hold" grpId="0" nodeType="withEffect">
                                  <p:stCondLst>
                                    <p:cond delay="685"/>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700"/>
                                        <p:tgtEl>
                                          <p:spTgt spid="27"/>
                                        </p:tgtEl>
                                      </p:cBhvr>
                                    </p:animEffect>
                                  </p:childTnLst>
                                </p:cTn>
                              </p:par>
                              <p:par>
                                <p:cTn id="55" presetID="10" presetClass="entr" presetSubtype="0" fill="hold" grpId="0" nodeType="withEffect">
                                  <p:stCondLst>
                                    <p:cond delay="714"/>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700"/>
                                        <p:tgtEl>
                                          <p:spTgt spid="28"/>
                                        </p:tgtEl>
                                      </p:cBhvr>
                                    </p:animEffect>
                                  </p:childTnLst>
                                </p:cTn>
                              </p:par>
                              <p:par>
                                <p:cTn id="58" presetID="10" presetClass="entr" presetSubtype="0" fill="hold" grpId="0" nodeType="withEffect">
                                  <p:stCondLst>
                                    <p:cond delay="743"/>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700"/>
                                        <p:tgtEl>
                                          <p:spTgt spid="30"/>
                                        </p:tgtEl>
                                      </p:cBhvr>
                                    </p:animEffect>
                                  </p:childTnLst>
                                </p:cTn>
                              </p:par>
                              <p:par>
                                <p:cTn id="61" presetID="10" presetClass="entr" presetSubtype="0" fill="hold" grpId="0" nodeType="withEffect">
                                  <p:stCondLst>
                                    <p:cond delay="772"/>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700"/>
                                        <p:tgtEl>
                                          <p:spTgt spid="32"/>
                                        </p:tgtEl>
                                      </p:cBhvr>
                                    </p:animEffect>
                                  </p:childTnLst>
                                </p:cTn>
                              </p:par>
                              <p:par>
                                <p:cTn id="64" presetID="10" presetClass="entr" presetSubtype="0" fill="hold" grpId="0" nodeType="withEffect">
                                  <p:stCondLst>
                                    <p:cond delay="801"/>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700"/>
                                        <p:tgtEl>
                                          <p:spTgt spid="33"/>
                                        </p:tgtEl>
                                      </p:cBhvr>
                                    </p:animEffect>
                                  </p:childTnLst>
                                </p:cTn>
                              </p:par>
                              <p:par>
                                <p:cTn id="67" presetID="10" presetClass="entr" presetSubtype="0" fill="hold" grpId="0" nodeType="withEffect">
                                  <p:stCondLst>
                                    <p:cond delay="83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700"/>
                                        <p:tgtEl>
                                          <p:spTgt spid="35"/>
                                        </p:tgtEl>
                                      </p:cBhvr>
                                    </p:animEffect>
                                  </p:childTnLst>
                                </p:cTn>
                              </p:par>
                              <p:par>
                                <p:cTn id="70" presetID="10" presetClass="entr" presetSubtype="0" fill="hold" grpId="0" nodeType="withEffect">
                                  <p:stCondLst>
                                    <p:cond delay="859"/>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700"/>
                                        <p:tgtEl>
                                          <p:spTgt spid="34"/>
                                        </p:tgtEl>
                                      </p:cBhvr>
                                    </p:animEffect>
                                  </p:childTnLst>
                                </p:cTn>
                              </p:par>
                              <p:par>
                                <p:cTn id="73" presetID="10" presetClass="entr" presetSubtype="0" fill="hold" grpId="0" nodeType="withEffect">
                                  <p:stCondLst>
                                    <p:cond delay="888"/>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700"/>
                                        <p:tgtEl>
                                          <p:spTgt spid="37"/>
                                        </p:tgtEl>
                                      </p:cBhvr>
                                    </p:animEffect>
                                  </p:childTnLst>
                                </p:cTn>
                              </p:par>
                              <p:par>
                                <p:cTn id="76" presetID="10" presetClass="entr" presetSubtype="0" fill="hold" grpId="0" nodeType="withEffect">
                                  <p:stCondLst>
                                    <p:cond delay="917"/>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700"/>
                                        <p:tgtEl>
                                          <p:spTgt spid="36"/>
                                        </p:tgtEl>
                                      </p:cBhvr>
                                    </p:animEffect>
                                  </p:childTnLst>
                                </p:cTn>
                              </p:par>
                              <p:par>
                                <p:cTn id="79" presetID="10" presetClass="entr" presetSubtype="0" fill="hold" grpId="0" nodeType="withEffect">
                                  <p:stCondLst>
                                    <p:cond delay="946"/>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700"/>
                                        <p:tgtEl>
                                          <p:spTgt spid="38"/>
                                        </p:tgtEl>
                                      </p:cBhvr>
                                    </p:animEffect>
                                  </p:childTnLst>
                                </p:cTn>
                              </p:par>
                              <p:par>
                                <p:cTn id="82" presetID="10" presetClass="entr" presetSubtype="0" fill="hold" grpId="0" nodeType="withEffect">
                                  <p:stCondLst>
                                    <p:cond delay="975"/>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700"/>
                                        <p:tgtEl>
                                          <p:spTgt spid="39"/>
                                        </p:tgtEl>
                                      </p:cBhvr>
                                    </p:animEffect>
                                  </p:childTnLst>
                                </p:cTn>
                              </p:par>
                              <p:par>
                                <p:cTn id="85" presetID="10" presetClass="entr" presetSubtype="0" fill="hold" grpId="0" nodeType="withEffect">
                                  <p:stCondLst>
                                    <p:cond delay="1004"/>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700"/>
                                        <p:tgtEl>
                                          <p:spTgt spid="41"/>
                                        </p:tgtEl>
                                      </p:cBhvr>
                                    </p:animEffect>
                                  </p:childTnLst>
                                </p:cTn>
                              </p:par>
                              <p:par>
                                <p:cTn id="88" presetID="10" presetClass="entr" presetSubtype="0" fill="hold" grpId="0" nodeType="withEffect">
                                  <p:stCondLst>
                                    <p:cond delay="1033"/>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700"/>
                                        <p:tgtEl>
                                          <p:spTgt spid="40"/>
                                        </p:tgtEl>
                                      </p:cBhvr>
                                    </p:animEffect>
                                  </p:childTnLst>
                                </p:cTn>
                              </p:par>
                              <p:par>
                                <p:cTn id="91" presetID="10" presetClass="entr" presetSubtype="0" fill="hold" grpId="0" nodeType="withEffect">
                                  <p:stCondLst>
                                    <p:cond delay="1062"/>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700"/>
                                        <p:tgtEl>
                                          <p:spTgt spid="42"/>
                                        </p:tgtEl>
                                      </p:cBhvr>
                                    </p:animEffect>
                                  </p:childTnLst>
                                </p:cTn>
                              </p:par>
                              <p:par>
                                <p:cTn id="94" presetID="10" presetClass="entr" presetSubtype="0" fill="hold" grpId="0" nodeType="withEffect">
                                  <p:stCondLst>
                                    <p:cond delay="1091"/>
                                  </p:stCondLst>
                                  <p:childTnLst>
                                    <p:set>
                                      <p:cBhvr>
                                        <p:cTn id="95" dur="1" fill="hold">
                                          <p:stCondLst>
                                            <p:cond delay="0"/>
                                          </p:stCondLst>
                                        </p:cTn>
                                        <p:tgtEl>
                                          <p:spTgt spid="8"/>
                                        </p:tgtEl>
                                        <p:attrNameLst>
                                          <p:attrName>style.visibility</p:attrName>
                                        </p:attrNameLst>
                                      </p:cBhvr>
                                      <p:to>
                                        <p:strVal val="visible"/>
                                      </p:to>
                                    </p:set>
                                    <p:animEffect transition="in" filter="fade">
                                      <p:cBhvr>
                                        <p:cTn id="96" dur="700"/>
                                        <p:tgtEl>
                                          <p:spTgt spid="8"/>
                                        </p:tgtEl>
                                      </p:cBhvr>
                                    </p:animEffect>
                                  </p:childTnLst>
                                </p:cTn>
                              </p:par>
                              <p:par>
                                <p:cTn id="97" presetID="10" presetClass="entr" presetSubtype="0" fill="hold" grpId="0" nodeType="withEffect">
                                  <p:stCondLst>
                                    <p:cond delay="1120"/>
                                  </p:stCondLst>
                                  <p:childTnLst>
                                    <p:set>
                                      <p:cBhvr>
                                        <p:cTn id="98" dur="1" fill="hold">
                                          <p:stCondLst>
                                            <p:cond delay="0"/>
                                          </p:stCondLst>
                                        </p:cTn>
                                        <p:tgtEl>
                                          <p:spTgt spid="11"/>
                                        </p:tgtEl>
                                        <p:attrNameLst>
                                          <p:attrName>style.visibility</p:attrName>
                                        </p:attrNameLst>
                                      </p:cBhvr>
                                      <p:to>
                                        <p:strVal val="visible"/>
                                      </p:to>
                                    </p:set>
                                    <p:animEffect transition="in" filter="fade">
                                      <p:cBhvr>
                                        <p:cTn id="99" dur="700"/>
                                        <p:tgtEl>
                                          <p:spTgt spid="11"/>
                                        </p:tgtEl>
                                      </p:cBhvr>
                                    </p:animEffect>
                                  </p:childTnLst>
                                </p:cTn>
                              </p:par>
                              <p:par>
                                <p:cTn id="100" presetID="10" presetClass="entr" presetSubtype="0" fill="hold" grpId="0" nodeType="withEffect">
                                  <p:stCondLst>
                                    <p:cond delay="1149"/>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700"/>
                                        <p:tgtEl>
                                          <p:spTgt spid="44"/>
                                        </p:tgtEl>
                                      </p:cBhvr>
                                    </p:animEffect>
                                  </p:childTnLst>
                                </p:cTn>
                              </p:par>
                              <p:par>
                                <p:cTn id="103" presetID="10" presetClass="entr" presetSubtype="0" fill="hold" grpId="0" nodeType="withEffect">
                                  <p:stCondLst>
                                    <p:cond delay="1178"/>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700"/>
                                        <p:tgtEl>
                                          <p:spTgt spid="46"/>
                                        </p:tgtEl>
                                      </p:cBhvr>
                                    </p:animEffect>
                                  </p:childTnLst>
                                </p:cTn>
                              </p:par>
                              <p:par>
                                <p:cTn id="106" presetID="10" presetClass="entr" presetSubtype="0" fill="hold" grpId="0" nodeType="withEffect">
                                  <p:stCondLst>
                                    <p:cond delay="1207"/>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700"/>
                                        <p:tgtEl>
                                          <p:spTgt spid="50"/>
                                        </p:tgtEl>
                                      </p:cBhvr>
                                    </p:animEffect>
                                  </p:childTnLst>
                                </p:cTn>
                              </p:par>
                              <p:par>
                                <p:cTn id="109" presetID="42" presetClass="entr" presetSubtype="0" fill="hold" grpId="0" nodeType="withEffect">
                                  <p:stCondLst>
                                    <p:cond delay="1236"/>
                                  </p:stCondLst>
                                  <p:childTnLst>
                                    <p:set>
                                      <p:cBhvr>
                                        <p:cTn id="110" dur="1" fill="hold">
                                          <p:stCondLst>
                                            <p:cond delay="0"/>
                                          </p:stCondLst>
                                        </p:cTn>
                                        <p:tgtEl>
                                          <p:spTgt spid="9"/>
                                        </p:tgtEl>
                                        <p:attrNameLst>
                                          <p:attrName>style.visibility</p:attrName>
                                        </p:attrNameLst>
                                      </p:cBhvr>
                                      <p:to>
                                        <p:strVal val="visible"/>
                                      </p:to>
                                    </p:set>
                                    <p:animEffect transition="in" filter="fade">
                                      <p:cBhvr>
                                        <p:cTn id="111" dur="900"/>
                                        <p:tgtEl>
                                          <p:spTgt spid="9"/>
                                        </p:tgtEl>
                                      </p:cBhvr>
                                    </p:animEffect>
                                    <p:anim calcmode="lin" valueType="num">
                                      <p:cBhvr>
                                        <p:cTn id="112" dur="900" decel="100000"/>
                                        <p:tgtEl>
                                          <p:spTgt spid="9"/>
                                        </p:tgtEl>
                                        <p:attrNameLst>
                                          <p:attrName>ppt_x</p:attrName>
                                        </p:attrNameLst>
                                      </p:cBhvr>
                                      <p:tavLst>
                                        <p:tav tm="0">
                                          <p:val>
                                            <p:strVal val="#ppt_x"/>
                                          </p:val>
                                        </p:tav>
                                        <p:tav tm="100000">
                                          <p:val>
                                            <p:strVal val="#ppt_x"/>
                                          </p:val>
                                        </p:tav>
                                      </p:tavLst>
                                    </p:anim>
                                    <p:anim calcmode="lin" valueType="num">
                                      <p:cBhvr>
                                        <p:cTn id="113" dur="900" decel="100000"/>
                                        <p:tgtEl>
                                          <p:spTgt spid="9"/>
                                        </p:tgtEl>
                                        <p:attrNameLst>
                                          <p:attrName>ppt_y</p:attrName>
                                        </p:attrNameLst>
                                      </p:cBhvr>
                                      <p:tavLst>
                                        <p:tav tm="0">
                                          <p:val>
                                            <p:strVal val="#ppt_y+.035"/>
                                          </p:val>
                                        </p:tav>
                                        <p:tav tm="100000">
                                          <p:val>
                                            <p:strVal val="#ppt_y"/>
                                          </p:val>
                                        </p:tav>
                                      </p:tavLst>
                                    </p:anim>
                                  </p:childTnLst>
                                </p:cTn>
                              </p:par>
                              <p:par>
                                <p:cTn id="114" presetID="10" presetClass="entr" presetSubtype="0" fill="hold" grpId="0" nodeType="withEffect">
                                  <p:stCondLst>
                                    <p:cond delay="1265"/>
                                  </p:stCondLst>
                                  <p:childTnLst>
                                    <p:set>
                                      <p:cBhvr>
                                        <p:cTn id="115" dur="1" fill="hold">
                                          <p:stCondLst>
                                            <p:cond delay="0"/>
                                          </p:stCondLst>
                                        </p:cTn>
                                        <p:tgtEl>
                                          <p:spTgt spid="12"/>
                                        </p:tgtEl>
                                        <p:attrNameLst>
                                          <p:attrName>style.visibility</p:attrName>
                                        </p:attrNameLst>
                                      </p:cBhvr>
                                      <p:to>
                                        <p:strVal val="visible"/>
                                      </p:to>
                                    </p:set>
                                    <p:animEffect transition="in" filter="fade">
                                      <p:cBhvr>
                                        <p:cTn id="116" dur="700"/>
                                        <p:tgtEl>
                                          <p:spTgt spid="12"/>
                                        </p:tgtEl>
                                      </p:cBhvr>
                                    </p:animEffect>
                                  </p:childTnLst>
                                </p:cTn>
                              </p:par>
                              <p:par>
                                <p:cTn id="117" presetID="10" presetClass="entr" presetSubtype="0" fill="hold" grpId="0" nodeType="withEffect">
                                  <p:stCondLst>
                                    <p:cond delay="1294"/>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700"/>
                                        <p:tgtEl>
                                          <p:spTgt spid="43"/>
                                        </p:tgtEl>
                                      </p:cBhvr>
                                    </p:animEffect>
                                  </p:childTnLst>
                                </p:cTn>
                              </p:par>
                              <p:par>
                                <p:cTn id="120" presetID="10" presetClass="entr" presetSubtype="0" fill="hold" grpId="0" nodeType="withEffect">
                                  <p:stCondLst>
                                    <p:cond delay="1323"/>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700"/>
                                        <p:tgtEl>
                                          <p:spTgt spid="45"/>
                                        </p:tgtEl>
                                      </p:cBhvr>
                                    </p:animEffect>
                                  </p:childTnLst>
                                </p:cTn>
                              </p:par>
                              <p:par>
                                <p:cTn id="123" presetID="10" presetClass="entr" presetSubtype="0" fill="hold" grpId="0" nodeType="withEffect">
                                  <p:stCondLst>
                                    <p:cond delay="1352"/>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700"/>
                                        <p:tgtEl>
                                          <p:spTgt spid="47"/>
                                        </p:tgtEl>
                                      </p:cBhvr>
                                    </p:animEffect>
                                  </p:childTnLst>
                                </p:cTn>
                              </p:par>
                              <p:par>
                                <p:cTn id="126" presetID="10" presetClass="entr" presetSubtype="0" fill="hold" grpId="0" nodeType="withEffect">
                                  <p:stCondLst>
                                    <p:cond delay="1381"/>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700"/>
                                        <p:tgtEl>
                                          <p:spTgt spid="48"/>
                                        </p:tgtEl>
                                      </p:cBhvr>
                                    </p:animEffect>
                                  </p:childTnLst>
                                </p:cTn>
                              </p:par>
                              <p:par>
                                <p:cTn id="129" presetID="10" presetClass="entr" presetSubtype="0" fill="hold" grpId="0" nodeType="withEffect">
                                  <p:stCondLst>
                                    <p:cond delay="1410"/>
                                  </p:stCondLst>
                                  <p:childTnLst>
                                    <p:set>
                                      <p:cBhvr>
                                        <p:cTn id="130" dur="1" fill="hold">
                                          <p:stCondLst>
                                            <p:cond delay="0"/>
                                          </p:stCondLst>
                                        </p:cTn>
                                        <p:tgtEl>
                                          <p:spTgt spid="49"/>
                                        </p:tgtEl>
                                        <p:attrNameLst>
                                          <p:attrName>style.visibility</p:attrName>
                                        </p:attrNameLst>
                                      </p:cBhvr>
                                      <p:to>
                                        <p:strVal val="visible"/>
                                      </p:to>
                                    </p:set>
                                    <p:animEffect transition="in" filter="fade">
                                      <p:cBhvr>
                                        <p:cTn id="131" dur="700"/>
                                        <p:tgtEl>
                                          <p:spTgt spid="49"/>
                                        </p:tgtEl>
                                      </p:cBhvr>
                                    </p:animEffect>
                                  </p:childTnLst>
                                </p:cTn>
                              </p:par>
                              <p:par>
                                <p:cTn id="132" presetID="10" presetClass="entr" presetSubtype="0" fill="hold" grpId="0" nodeType="withEffect">
                                  <p:stCondLst>
                                    <p:cond delay="1439"/>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700"/>
                                        <p:tgtEl>
                                          <p:spTgt spid="51"/>
                                        </p:tgtEl>
                                      </p:cBhvr>
                                    </p:animEffect>
                                  </p:childTnLst>
                                </p:cTn>
                              </p:par>
                              <p:par>
                                <p:cTn id="135" presetID="10" presetClass="entr" presetSubtype="0" fill="hold" grpId="0" nodeType="withEffect">
                                  <p:stCondLst>
                                    <p:cond delay="1468"/>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700"/>
                                        <p:tgtEl>
                                          <p:spTgt spid="52"/>
                                        </p:tgtEl>
                                      </p:cBhvr>
                                    </p:animEffect>
                                  </p:childTnLst>
                                </p:cTn>
                              </p:par>
                              <p:par>
                                <p:cTn id="138" presetID="10" presetClass="entr" presetSubtype="0" fill="hold" grpId="0" nodeType="withEffect">
                                  <p:stCondLst>
                                    <p:cond delay="1497"/>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700"/>
                                        <p:tgtEl>
                                          <p:spTgt spid="53"/>
                                        </p:tgtEl>
                                      </p:cBhvr>
                                    </p:animEffect>
                                  </p:childTnLst>
                                </p:cTn>
                              </p:par>
                              <p:par>
                                <p:cTn id="141" presetID="10" presetClass="entr" presetSubtype="0" fill="hold" grpId="0" nodeType="withEffect">
                                  <p:stCondLst>
                                    <p:cond delay="1526"/>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700"/>
                                        <p:tgtEl>
                                          <p:spTgt spid="55"/>
                                        </p:tgtEl>
                                      </p:cBhvr>
                                    </p:animEffect>
                                  </p:childTnLst>
                                </p:cTn>
                              </p:par>
                              <p:par>
                                <p:cTn id="144" presetID="10" presetClass="entr" presetSubtype="0" fill="hold" grpId="0" nodeType="withEffect">
                                  <p:stCondLst>
                                    <p:cond delay="1555"/>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6" dur="700"/>
                                        <p:tgtEl>
                                          <p:spTgt spid="54"/>
                                        </p:tgtEl>
                                      </p:cBhvr>
                                    </p:animEffect>
                                  </p:childTnLst>
                                </p:cTn>
                              </p:par>
                              <p:par>
                                <p:cTn id="147" presetID="10" presetClass="entr" presetSubtype="0" fill="hold" grpId="0" nodeType="withEffect">
                                  <p:stCondLst>
                                    <p:cond delay="1584"/>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700"/>
                                        <p:tgtEl>
                                          <p:spTgt spid="57"/>
                                        </p:tgtEl>
                                      </p:cBhvr>
                                    </p:animEffect>
                                  </p:childTnLst>
                                </p:cTn>
                              </p:par>
                              <p:par>
                                <p:cTn id="150" presetID="10" presetClass="entr" presetSubtype="0" fill="hold" grpId="0" nodeType="withEffect">
                                  <p:stCondLst>
                                    <p:cond delay="1613"/>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2" dur="700"/>
                                        <p:tgtEl>
                                          <p:spTgt spid="56"/>
                                        </p:tgtEl>
                                      </p:cBhvr>
                                    </p:animEffect>
                                  </p:childTnLst>
                                </p:cTn>
                              </p:par>
                              <p:par>
                                <p:cTn id="153" presetID="10" presetClass="entr" presetSubtype="0" fill="hold" grpId="0" nodeType="withEffect">
                                  <p:stCondLst>
                                    <p:cond delay="1642"/>
                                  </p:stCondLst>
                                  <p:childTnLst>
                                    <p:set>
                                      <p:cBhvr>
                                        <p:cTn id="154" dur="1" fill="hold">
                                          <p:stCondLst>
                                            <p:cond delay="0"/>
                                          </p:stCondLst>
                                        </p:cTn>
                                        <p:tgtEl>
                                          <p:spTgt spid="58"/>
                                        </p:tgtEl>
                                        <p:attrNameLst>
                                          <p:attrName>style.visibility</p:attrName>
                                        </p:attrNameLst>
                                      </p:cBhvr>
                                      <p:to>
                                        <p:strVal val="visible"/>
                                      </p:to>
                                    </p:set>
                                    <p:animEffect transition="in" filter="fade">
                                      <p:cBhvr>
                                        <p:cTn id="155" dur="700"/>
                                        <p:tgtEl>
                                          <p:spTgt spid="58"/>
                                        </p:tgtEl>
                                      </p:cBhvr>
                                    </p:animEffect>
                                  </p:childTnLst>
                                </p:cTn>
                              </p:par>
                              <p:par>
                                <p:cTn id="156" presetID="10" presetClass="entr" presetSubtype="0" fill="hold" grpId="0" nodeType="withEffect">
                                  <p:stCondLst>
                                    <p:cond delay="1671"/>
                                  </p:stCondLst>
                                  <p:childTnLst>
                                    <p:set>
                                      <p:cBhvr>
                                        <p:cTn id="157" dur="1" fill="hold">
                                          <p:stCondLst>
                                            <p:cond delay="0"/>
                                          </p:stCondLst>
                                        </p:cTn>
                                        <p:tgtEl>
                                          <p:spTgt spid="59"/>
                                        </p:tgtEl>
                                        <p:attrNameLst>
                                          <p:attrName>style.visibility</p:attrName>
                                        </p:attrNameLst>
                                      </p:cBhvr>
                                      <p:to>
                                        <p:strVal val="visible"/>
                                      </p:to>
                                    </p:set>
                                    <p:animEffect transition="in" filter="fade">
                                      <p:cBhvr>
                                        <p:cTn id="158" dur="700"/>
                                        <p:tgtEl>
                                          <p:spTgt spid="59"/>
                                        </p:tgtEl>
                                      </p:cBhvr>
                                    </p:animEffect>
                                  </p:childTnLst>
                                </p:cTn>
                              </p:par>
                              <p:par>
                                <p:cTn id="159" presetID="10" presetClass="entr" presetSubtype="0" fill="hold" grpId="0" nodeType="withEffect">
                                  <p:stCondLst>
                                    <p:cond delay="1700"/>
                                  </p:stCondLst>
                                  <p:childTnLst>
                                    <p:set>
                                      <p:cBhvr>
                                        <p:cTn id="160" dur="1" fill="hold">
                                          <p:stCondLst>
                                            <p:cond delay="0"/>
                                          </p:stCondLst>
                                        </p:cTn>
                                        <p:tgtEl>
                                          <p:spTgt spid="61"/>
                                        </p:tgtEl>
                                        <p:attrNameLst>
                                          <p:attrName>style.visibility</p:attrName>
                                        </p:attrNameLst>
                                      </p:cBhvr>
                                      <p:to>
                                        <p:strVal val="visible"/>
                                      </p:to>
                                    </p:set>
                                    <p:animEffect transition="in" filter="fade">
                                      <p:cBhvr>
                                        <p:cTn id="161" dur="700"/>
                                        <p:tgtEl>
                                          <p:spTgt spid="61"/>
                                        </p:tgtEl>
                                      </p:cBhvr>
                                    </p:animEffect>
                                  </p:childTnLst>
                                </p:cTn>
                              </p:par>
                              <p:par>
                                <p:cTn id="162" presetID="10" presetClass="entr" presetSubtype="0" fill="hold" grpId="0" nodeType="withEffect">
                                  <p:stCondLst>
                                    <p:cond delay="1729"/>
                                  </p:stCondLst>
                                  <p:childTnLst>
                                    <p:set>
                                      <p:cBhvr>
                                        <p:cTn id="163" dur="1" fill="hold">
                                          <p:stCondLst>
                                            <p:cond delay="0"/>
                                          </p:stCondLst>
                                        </p:cTn>
                                        <p:tgtEl>
                                          <p:spTgt spid="60"/>
                                        </p:tgtEl>
                                        <p:attrNameLst>
                                          <p:attrName>style.visibility</p:attrName>
                                        </p:attrNameLst>
                                      </p:cBhvr>
                                      <p:to>
                                        <p:strVal val="visible"/>
                                      </p:to>
                                    </p:set>
                                    <p:animEffect transition="in" filter="fade">
                                      <p:cBhvr>
                                        <p:cTn id="164" dur="700"/>
                                        <p:tgtEl>
                                          <p:spTgt spid="60"/>
                                        </p:tgtEl>
                                      </p:cBhvr>
                                    </p:animEffect>
                                  </p:childTnLst>
                                </p:cTn>
                              </p:par>
                              <p:par>
                                <p:cTn id="165" presetID="10" presetClass="entr" presetSubtype="0" fill="hold" grpId="0" nodeType="withEffect">
                                  <p:stCondLst>
                                    <p:cond delay="1758"/>
                                  </p:stCondLst>
                                  <p:childTnLst>
                                    <p:set>
                                      <p:cBhvr>
                                        <p:cTn id="166" dur="1" fill="hold">
                                          <p:stCondLst>
                                            <p:cond delay="0"/>
                                          </p:stCondLst>
                                        </p:cTn>
                                        <p:tgtEl>
                                          <p:spTgt spid="62"/>
                                        </p:tgtEl>
                                        <p:attrNameLst>
                                          <p:attrName>style.visibility</p:attrName>
                                        </p:attrNameLst>
                                      </p:cBhvr>
                                      <p:to>
                                        <p:strVal val="visible"/>
                                      </p:to>
                                    </p:set>
                                    <p:animEffect transition="in" filter="fade">
                                      <p:cBhvr>
                                        <p:cTn id="167" dur="700"/>
                                        <p:tgtEl>
                                          <p:spTgt spid="62"/>
                                        </p:tgtEl>
                                      </p:cBhvr>
                                    </p:animEffect>
                                  </p:childTnLst>
                                </p:cTn>
                              </p:par>
                              <p:par>
                                <p:cTn id="168" presetID="10" presetClass="entr" presetSubtype="0" fill="hold" grpId="0" nodeType="withEffect">
                                  <p:stCondLst>
                                    <p:cond delay="1787"/>
                                  </p:stCondLst>
                                  <p:childTnLst>
                                    <p:set>
                                      <p:cBhvr>
                                        <p:cTn id="169" dur="1" fill="hold">
                                          <p:stCondLst>
                                            <p:cond delay="0"/>
                                          </p:stCondLst>
                                        </p:cTn>
                                        <p:tgtEl>
                                          <p:spTgt spid="13"/>
                                        </p:tgtEl>
                                        <p:attrNameLst>
                                          <p:attrName>style.visibility</p:attrName>
                                        </p:attrNameLst>
                                      </p:cBhvr>
                                      <p:to>
                                        <p:strVal val="visible"/>
                                      </p:to>
                                    </p:set>
                                    <p:animEffect transition="in" filter="fade">
                                      <p:cBhvr>
                                        <p:cTn id="170" dur="700"/>
                                        <p:tgtEl>
                                          <p:spTgt spid="13"/>
                                        </p:tgtEl>
                                      </p:cBhvr>
                                    </p:animEffect>
                                  </p:childTnLst>
                                </p:cTn>
                              </p:par>
                              <p:par>
                                <p:cTn id="171" presetID="10" presetClass="entr" presetSubtype="0" fill="hold" grpId="0" nodeType="withEffect">
                                  <p:stCondLst>
                                    <p:cond delay="1816"/>
                                  </p:stCondLst>
                                  <p:childTnLst>
                                    <p:set>
                                      <p:cBhvr>
                                        <p:cTn id="172" dur="1" fill="hold">
                                          <p:stCondLst>
                                            <p:cond delay="0"/>
                                          </p:stCondLst>
                                        </p:cTn>
                                        <p:tgtEl>
                                          <p:spTgt spid="63"/>
                                        </p:tgtEl>
                                        <p:attrNameLst>
                                          <p:attrName>style.visibility</p:attrName>
                                        </p:attrNameLst>
                                      </p:cBhvr>
                                      <p:to>
                                        <p:strVal val="visible"/>
                                      </p:to>
                                    </p:set>
                                    <p:animEffect transition="in" filter="fade">
                                      <p:cBhvr>
                                        <p:cTn id="173" dur="700"/>
                                        <p:tgtEl>
                                          <p:spTgt spid="63"/>
                                        </p:tgtEl>
                                      </p:cBhvr>
                                    </p:animEffect>
                                  </p:childTnLst>
                                </p:cTn>
                              </p:par>
                              <p:par>
                                <p:cTn id="174" presetID="10" presetClass="entr" presetSubtype="0" fill="hold" grpId="0" nodeType="withEffect">
                                  <p:stCondLst>
                                    <p:cond delay="1845"/>
                                  </p:stCondLst>
                                  <p:childTnLst>
                                    <p:set>
                                      <p:cBhvr>
                                        <p:cTn id="175" dur="1" fill="hold">
                                          <p:stCondLst>
                                            <p:cond delay="0"/>
                                          </p:stCondLst>
                                        </p:cTn>
                                        <p:tgtEl>
                                          <p:spTgt spid="65"/>
                                        </p:tgtEl>
                                        <p:attrNameLst>
                                          <p:attrName>style.visibility</p:attrName>
                                        </p:attrNameLst>
                                      </p:cBhvr>
                                      <p:to>
                                        <p:strVal val="visible"/>
                                      </p:to>
                                    </p:set>
                                    <p:animEffect transition="in" filter="fade">
                                      <p:cBhvr>
                                        <p:cTn id="176" dur="700"/>
                                        <p:tgtEl>
                                          <p:spTgt spid="65"/>
                                        </p:tgtEl>
                                      </p:cBhvr>
                                    </p:animEffect>
                                  </p:childTnLst>
                                </p:cTn>
                              </p:par>
                              <p:par>
                                <p:cTn id="177" presetID="10" presetClass="entr" presetSubtype="0" fill="hold" grpId="0" nodeType="withEffect">
                                  <p:stCondLst>
                                    <p:cond delay="1874"/>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9" dur="700"/>
                                        <p:tgtEl>
                                          <p:spTgt spid="64"/>
                                        </p:tgtEl>
                                      </p:cBhvr>
                                    </p:animEffect>
                                  </p:childTnLst>
                                </p:cTn>
                              </p:par>
                              <p:par>
                                <p:cTn id="180" presetID="10" presetClass="entr" presetSubtype="0" fill="hold" grpId="0" nodeType="withEffect">
                                  <p:stCondLst>
                                    <p:cond delay="1903"/>
                                  </p:stCondLst>
                                  <p:childTnLst>
                                    <p:set>
                                      <p:cBhvr>
                                        <p:cTn id="181" dur="1" fill="hold">
                                          <p:stCondLst>
                                            <p:cond delay="0"/>
                                          </p:stCondLst>
                                        </p:cTn>
                                        <p:tgtEl>
                                          <p:spTgt spid="67"/>
                                        </p:tgtEl>
                                        <p:attrNameLst>
                                          <p:attrName>style.visibility</p:attrName>
                                        </p:attrNameLst>
                                      </p:cBhvr>
                                      <p:to>
                                        <p:strVal val="visible"/>
                                      </p:to>
                                    </p:set>
                                    <p:animEffect transition="in" filter="fade">
                                      <p:cBhvr>
                                        <p:cTn id="182" dur="700"/>
                                        <p:tgtEl>
                                          <p:spTgt spid="67"/>
                                        </p:tgtEl>
                                      </p:cBhvr>
                                    </p:animEffect>
                                  </p:childTnLst>
                                </p:cTn>
                              </p:par>
                              <p:par>
                                <p:cTn id="183" presetID="10" presetClass="entr" presetSubtype="0" fill="hold" grpId="0" nodeType="withEffect">
                                  <p:stCondLst>
                                    <p:cond delay="1932"/>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5" dur="700"/>
                                        <p:tgtEl>
                                          <p:spTgt spid="66"/>
                                        </p:tgtEl>
                                      </p:cBhvr>
                                    </p:animEffect>
                                  </p:childTnLst>
                                </p:cTn>
                              </p:par>
                              <p:par>
                                <p:cTn id="186" presetID="10" presetClass="entr" presetSubtype="0" fill="hold" grpId="0" nodeType="withEffect">
                                  <p:stCondLst>
                                    <p:cond delay="1961"/>
                                  </p:stCondLst>
                                  <p:childTnLst>
                                    <p:set>
                                      <p:cBhvr>
                                        <p:cTn id="187" dur="1" fill="hold">
                                          <p:stCondLst>
                                            <p:cond delay="0"/>
                                          </p:stCondLst>
                                        </p:cTn>
                                        <p:tgtEl>
                                          <p:spTgt spid="68"/>
                                        </p:tgtEl>
                                        <p:attrNameLst>
                                          <p:attrName>style.visibility</p:attrName>
                                        </p:attrNameLst>
                                      </p:cBhvr>
                                      <p:to>
                                        <p:strVal val="visible"/>
                                      </p:to>
                                    </p:set>
                                    <p:animEffect transition="in" filter="fade">
                                      <p:cBhvr>
                                        <p:cTn id="188" dur="700"/>
                                        <p:tgtEl>
                                          <p:spTgt spid="68"/>
                                        </p:tgtEl>
                                      </p:cBhvr>
                                    </p:animEffect>
                                  </p:childTnLst>
                                </p:cTn>
                              </p:par>
                              <p:par>
                                <p:cTn id="189" presetID="10" presetClass="entr" presetSubtype="0" fill="hold" grpId="0" nodeType="withEffect">
                                  <p:stCondLst>
                                    <p:cond delay="1990"/>
                                  </p:stCondLst>
                                  <p:childTnLst>
                                    <p:set>
                                      <p:cBhvr>
                                        <p:cTn id="190" dur="1" fill="hold">
                                          <p:stCondLst>
                                            <p:cond delay="0"/>
                                          </p:stCondLst>
                                        </p:cTn>
                                        <p:tgtEl>
                                          <p:spTgt spid="69"/>
                                        </p:tgtEl>
                                        <p:attrNameLst>
                                          <p:attrName>style.visibility</p:attrName>
                                        </p:attrNameLst>
                                      </p:cBhvr>
                                      <p:to>
                                        <p:strVal val="visible"/>
                                      </p:to>
                                    </p:set>
                                    <p:animEffect transition="in" filter="fade">
                                      <p:cBhvr>
                                        <p:cTn id="191" dur="700"/>
                                        <p:tgtEl>
                                          <p:spTgt spid="69"/>
                                        </p:tgtEl>
                                      </p:cBhvr>
                                    </p:animEffect>
                                  </p:childTnLst>
                                </p:cTn>
                              </p:par>
                              <p:par>
                                <p:cTn id="192" presetID="10" presetClass="entr" presetSubtype="0" fill="hold" grpId="0" nodeType="withEffect">
                                  <p:stCondLst>
                                    <p:cond delay="2019"/>
                                  </p:stCondLst>
                                  <p:childTnLst>
                                    <p:set>
                                      <p:cBhvr>
                                        <p:cTn id="193" dur="1" fill="hold">
                                          <p:stCondLst>
                                            <p:cond delay="0"/>
                                          </p:stCondLst>
                                        </p:cTn>
                                        <p:tgtEl>
                                          <p:spTgt spid="70"/>
                                        </p:tgtEl>
                                        <p:attrNameLst>
                                          <p:attrName>style.visibility</p:attrName>
                                        </p:attrNameLst>
                                      </p:cBhvr>
                                      <p:to>
                                        <p:strVal val="visible"/>
                                      </p:to>
                                    </p:set>
                                    <p:animEffect transition="in" filter="fade">
                                      <p:cBhvr>
                                        <p:cTn id="194" dur="700"/>
                                        <p:tgtEl>
                                          <p:spTgt spid="70"/>
                                        </p:tgtEl>
                                      </p:cBhvr>
                                    </p:animEffect>
                                  </p:childTnLst>
                                </p:cTn>
                              </p:par>
                              <p:par>
                                <p:cTn id="195" presetID="10" presetClass="entr" presetSubtype="0" fill="hold" grpId="0" nodeType="withEffect">
                                  <p:stCondLst>
                                    <p:cond delay="2048"/>
                                  </p:stCondLst>
                                  <p:childTnLst>
                                    <p:set>
                                      <p:cBhvr>
                                        <p:cTn id="196" dur="1" fill="hold">
                                          <p:stCondLst>
                                            <p:cond delay="0"/>
                                          </p:stCondLst>
                                        </p:cTn>
                                        <p:tgtEl>
                                          <p:spTgt spid="10"/>
                                        </p:tgtEl>
                                        <p:attrNameLst>
                                          <p:attrName>style.visibility</p:attrName>
                                        </p:attrNameLst>
                                      </p:cBhvr>
                                      <p:to>
                                        <p:strVal val="visible"/>
                                      </p:to>
                                    </p:set>
                                    <p:animEffect transition="in" filter="fade">
                                      <p:cBhvr>
                                        <p:cTn id="197" dur="700"/>
                                        <p:tgtEl>
                                          <p:spTgt spid="10"/>
                                        </p:tgtEl>
                                      </p:cBhvr>
                                    </p:animEffect>
                                  </p:childTnLst>
                                </p:cTn>
                              </p:par>
                              <p:par>
                                <p:cTn id="198" presetID="10" presetClass="entr" presetSubtype="0" fill="hold" grpId="0" nodeType="withEffect">
                                  <p:stCondLst>
                                    <p:cond delay="2077"/>
                                  </p:stCondLst>
                                  <p:childTnLst>
                                    <p:set>
                                      <p:cBhvr>
                                        <p:cTn id="199" dur="1" fill="hold">
                                          <p:stCondLst>
                                            <p:cond delay="0"/>
                                          </p:stCondLst>
                                        </p:cTn>
                                        <p:tgtEl>
                                          <p:spTgt spid="14"/>
                                        </p:tgtEl>
                                        <p:attrNameLst>
                                          <p:attrName>style.visibility</p:attrName>
                                        </p:attrNameLst>
                                      </p:cBhvr>
                                      <p:to>
                                        <p:strVal val="visible"/>
                                      </p:to>
                                    </p:set>
                                    <p:animEffect transition="in" filter="fade">
                                      <p:cBhvr>
                                        <p:cTn id="200" dur="700"/>
                                        <p:tgtEl>
                                          <p:spTgt spid="14"/>
                                        </p:tgtEl>
                                      </p:cBhvr>
                                    </p:animEffect>
                                  </p:childTnLst>
                                </p:cTn>
                              </p:par>
                              <p:par>
                                <p:cTn id="201" presetID="22" presetClass="entr" presetSubtype="8" fill="hold" grpId="0" nodeType="withEffect">
                                  <p:stCondLst>
                                    <p:cond delay="2106"/>
                                  </p:stCondLst>
                                  <p:childTnLst>
                                    <p:set>
                                      <p:cBhvr>
                                        <p:cTn id="202" dur="1" fill="hold">
                                          <p:stCondLst>
                                            <p:cond delay="0"/>
                                          </p:stCondLst>
                                        </p:cTn>
                                        <p:tgtEl>
                                          <p:spTgt spid="71"/>
                                        </p:tgtEl>
                                        <p:attrNameLst>
                                          <p:attrName>style.visibility</p:attrName>
                                        </p:attrNameLst>
                                      </p:cBhvr>
                                      <p:to>
                                        <p:strVal val="visible"/>
                                      </p:to>
                                    </p:set>
                                    <p:animEffect transition="in" filter="wipe(left)">
                                      <p:cBhvr>
                                        <p:cTn id="203" dur="700"/>
                                        <p:tgtEl>
                                          <p:spTgt spid="71"/>
                                        </p:tgtEl>
                                      </p:cBhvr>
                                    </p:animEffect>
                                  </p:childTnLst>
                                </p:cTn>
                              </p:par>
                              <p:par>
                                <p:cTn id="204" presetID="10" presetClass="entr" presetSubtype="0" fill="hold" grpId="0" nodeType="withEffect">
                                  <p:stCondLst>
                                    <p:cond delay="2135"/>
                                  </p:stCondLst>
                                  <p:childTnLst>
                                    <p:set>
                                      <p:cBhvr>
                                        <p:cTn id="205" dur="1" fill="hold">
                                          <p:stCondLst>
                                            <p:cond delay="0"/>
                                          </p:stCondLst>
                                        </p:cTn>
                                        <p:tgtEl>
                                          <p:spTgt spid="72"/>
                                        </p:tgtEl>
                                        <p:attrNameLst>
                                          <p:attrName>style.visibility</p:attrName>
                                        </p:attrNameLst>
                                      </p:cBhvr>
                                      <p:to>
                                        <p:strVal val="visible"/>
                                      </p:to>
                                    </p:set>
                                    <p:animEffect transition="in" filter="fade">
                                      <p:cBhvr>
                                        <p:cTn id="206" dur="700"/>
                                        <p:tgtEl>
                                          <p:spTgt spid="72"/>
                                        </p:tgtEl>
                                      </p:cBhvr>
                                    </p:animEffect>
                                  </p:childTnLst>
                                </p:cTn>
                              </p:par>
                              <p:par>
                                <p:cTn id="207" presetID="10" presetClass="entr" presetSubtype="0" fill="hold" grpId="0" nodeType="withEffect">
                                  <p:stCondLst>
                                    <p:cond delay="2164"/>
                                  </p:stCondLst>
                                  <p:childTnLst>
                                    <p:set>
                                      <p:cBhvr>
                                        <p:cTn id="208" dur="1" fill="hold">
                                          <p:stCondLst>
                                            <p:cond delay="0"/>
                                          </p:stCondLst>
                                        </p:cTn>
                                        <p:tgtEl>
                                          <p:spTgt spid="15"/>
                                        </p:tgtEl>
                                        <p:attrNameLst>
                                          <p:attrName>style.visibility</p:attrName>
                                        </p:attrNameLst>
                                      </p:cBhvr>
                                      <p:to>
                                        <p:strVal val="visible"/>
                                      </p:to>
                                    </p:set>
                                    <p:animEffect transition="in" filter="fade">
                                      <p:cBhvr>
                                        <p:cTn id="209" dur="700"/>
                                        <p:tgtEl>
                                          <p:spTgt spid="15"/>
                                        </p:tgtEl>
                                      </p:cBhvr>
                                    </p:animEffect>
                                  </p:childTnLst>
                                </p:cTn>
                              </p:par>
                              <p:par>
                                <p:cTn id="210" presetID="10" presetClass="entr" presetSubtype="0" fill="hold" grpId="0" nodeType="withEffect">
                                  <p:stCondLst>
                                    <p:cond delay="2193"/>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7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9" grpId="0" animBg="1"/>
      <p:bldP spid="26" grpId="0" animBg="1"/>
      <p:bldP spid="31" grpId="0" animBg="1"/>
      <p:bldP spid="27" grpId="0" animBg="1"/>
      <p:bldP spid="28" grpId="0" animBg="1"/>
      <p:bldP spid="30" grpId="0" animBg="1"/>
      <p:bldP spid="32" grpId="0" animBg="1"/>
      <p:bldP spid="33" grpId="0" animBg="1"/>
      <p:bldP spid="35" grpId="0" animBg="1"/>
      <p:bldP spid="34" grpId="0" animBg="1"/>
      <p:bldP spid="37" grpId="0" animBg="1"/>
      <p:bldP spid="36" grpId="0" animBg="1"/>
      <p:bldP spid="38" grpId="0" animBg="1"/>
      <p:bldP spid="39" grpId="0" animBg="1"/>
      <p:bldP spid="41" grpId="0" animBg="1"/>
      <p:bldP spid="40" grpId="0" animBg="1"/>
      <p:bldP spid="42" grpId="0" animBg="1"/>
      <p:bldP spid="8" grpId="0" animBg="1"/>
      <p:bldP spid="11" grpId="0" animBg="1"/>
      <p:bldP spid="44" grpId="0" animBg="1"/>
      <p:bldP spid="46" grpId="0" animBg="1"/>
      <p:bldP spid="50" grpId="0" animBg="1"/>
      <p:bldP spid="9" grpId="0" animBg="1"/>
      <p:bldP spid="12" grpId="0" animBg="1"/>
      <p:bldP spid="43" grpId="0" animBg="1"/>
      <p:bldP spid="45" grpId="0" animBg="1"/>
      <p:bldP spid="47" grpId="0" animBg="1"/>
      <p:bldP spid="48" grpId="0" animBg="1"/>
      <p:bldP spid="49" grpId="0" animBg="1"/>
      <p:bldP spid="51" grpId="0" animBg="1"/>
      <p:bldP spid="52" grpId="0" animBg="1"/>
      <p:bldP spid="53" grpId="0" animBg="1"/>
      <p:bldP spid="55" grpId="0" animBg="1"/>
      <p:bldP spid="54" grpId="0" animBg="1"/>
      <p:bldP spid="57" grpId="0" animBg="1"/>
      <p:bldP spid="56" grpId="0" animBg="1"/>
      <p:bldP spid="58" grpId="0" animBg="1"/>
      <p:bldP spid="59" grpId="0" animBg="1"/>
      <p:bldP spid="61" grpId="0" animBg="1"/>
      <p:bldP spid="60" grpId="0" animBg="1"/>
      <p:bldP spid="62" grpId="0" animBg="1"/>
      <p:bldP spid="13" grpId="0" animBg="1"/>
      <p:bldP spid="63" grpId="0" animBg="1"/>
      <p:bldP spid="65" grpId="0" animBg="1"/>
      <p:bldP spid="64" grpId="0" animBg="1"/>
      <p:bldP spid="67" grpId="0" animBg="1"/>
      <p:bldP spid="66" grpId="0" animBg="1"/>
      <p:bldP spid="68" grpId="0" animBg="1"/>
      <p:bldP spid="69" grpId="0" animBg="1"/>
      <p:bldP spid="70" grpId="0" animBg="1"/>
      <p:bldP spid="10" grpId="0" animBg="1"/>
      <p:bldP spid="14" grpId="0" animBg="1"/>
      <p:bldP spid="71" grpId="0" animBg="1"/>
      <p:bldP spid="72" grpId="0" animBg="1"/>
      <p:bldP spid="15" grpId="0" animBg="1"/>
      <p:bldP spid="7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2.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03</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SO WE PUT IT IN WRITING</a:t>
            </a:r>
          </a:p>
        </p:txBody>
      </p:sp>
      <p:sp>
        <p:nvSpPr>
          <p:cNvPr id="7" name="TextBox 6"/>
          <p:cNvSpPr txBox="1"/>
          <p:nvPr/>
        </p:nvSpPr>
        <p:spPr>
          <a:xfrm>
            <a:off x="685800" y="1234440"/>
            <a:ext cx="5943600" cy="2377440"/>
          </a:xfrm>
          <a:prstGeom prst="rect">
            <a:avLst/>
          </a:prstGeom>
          <a:noFill/>
        </p:spPr>
        <p:txBody>
          <a:bodyPr wrap="square" lIns="0" rIns="0" tIns="0" bIns="0">
            <a:spAutoFit/>
          </a:bodyPr>
          <a:lstStyle/>
          <a:p>
            <a:pPr algn="l">
              <a:lnSpc>
                <a:spcPct val="85000"/>
              </a:lnSpc>
            </a:pPr>
            <a:r>
              <a:rPr sz="21000" b="1" i="0" spc="-400">
                <a:solidFill>
                  <a:srgbClr val="FFFFFF"/>
                </a:solidFill>
                <a:latin typeface="Bricolage Grotesque"/>
                <a:ea typeface="Inter"/>
                <a:cs typeface="Inter"/>
              </a:rPr>
              <a:t>108</a:t>
            </a:r>
          </a:p>
        </p:txBody>
      </p:sp>
      <p:sp>
        <p:nvSpPr>
          <p:cNvPr id="8" name="TextBox 7"/>
          <p:cNvSpPr txBox="1"/>
          <p:nvPr/>
        </p:nvSpPr>
        <p:spPr>
          <a:xfrm>
            <a:off x="777240" y="3840480"/>
            <a:ext cx="5486400" cy="365760"/>
          </a:xfrm>
          <a:prstGeom prst="rect">
            <a:avLst/>
          </a:prstGeom>
          <a:noFill/>
        </p:spPr>
        <p:txBody>
          <a:bodyPr wrap="square" lIns="0" rIns="0" tIns="0" bIns="0">
            <a:spAutoFit/>
          </a:bodyPr>
          <a:lstStyle/>
          <a:p>
            <a:pPr algn="l"/>
            <a:r>
              <a:rPr sz="2000" b="1" i="0">
                <a:solidFill>
                  <a:srgbClr val="FFFFFF"/>
                </a:solidFill>
                <a:latin typeface="Inter"/>
                <a:ea typeface="Inter"/>
                <a:cs typeface="Inter"/>
              </a:rPr>
              <a:t>nights per property, in six months</a:t>
            </a:r>
          </a:p>
        </p:txBody>
      </p:sp>
      <p:sp>
        <p:nvSpPr>
          <p:cNvPr id="9" name="TextBox 8"/>
          <p:cNvSpPr txBox="1"/>
          <p:nvPr/>
        </p:nvSpPr>
        <p:spPr>
          <a:xfrm>
            <a:off x="777240" y="4343400"/>
            <a:ext cx="5029200" cy="731520"/>
          </a:xfrm>
          <a:prstGeom prst="rect">
            <a:avLst/>
          </a:prstGeom>
          <a:noFill/>
        </p:spPr>
        <p:txBody>
          <a:bodyPr wrap="square" lIns="0" rIns="0" tIns="0" bIns="0">
            <a:spAutoFit/>
          </a:bodyPr>
          <a:lstStyle/>
          <a:p>
            <a:pPr algn="l">
              <a:lnSpc>
                <a:spcPct val="140000"/>
              </a:lnSpc>
            </a:pPr>
            <a:r>
              <a:rPr sz="1400" b="0" i="0">
                <a:solidFill>
                  <a:srgbClr val="C5C9DA"/>
                </a:solidFill>
                <a:latin typeface="Inter"/>
                <a:ea typeface="Inter"/>
                <a:cs typeface="Inter"/>
              </a:rPr>
              <a:t>An average of 18 a month. Miss it, and your onboarding fee comes back.</a:t>
            </a:r>
          </a:p>
        </p:txBody>
      </p:sp>
      <p:sp>
        <p:nvSpPr>
          <p:cNvPr id="10" name="Rounded Rectangle 9"/>
          <p:cNvSpPr/>
          <p:nvPr/>
        </p:nvSpPr>
        <p:spPr>
          <a:xfrm>
            <a:off x="6949440" y="1188720"/>
            <a:ext cx="4572000" cy="4480560"/>
          </a:xfrm>
          <a:prstGeom prst="roundRect">
            <a:avLst>
              <a:gd name="adj" fmla="val 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1" name="TextBox 10"/>
          <p:cNvSpPr txBox="1"/>
          <p:nvPr/>
        </p:nvSpPr>
        <p:spPr>
          <a:xfrm>
            <a:off x="7315200" y="1508760"/>
            <a:ext cx="2743200" cy="228600"/>
          </a:xfrm>
          <a:prstGeom prst="rect">
            <a:avLst/>
          </a:prstGeom>
          <a:noFill/>
        </p:spPr>
        <p:txBody>
          <a:bodyPr wrap="square" lIns="0" rIns="0" tIns="0" bIns="0">
            <a:spAutoFit/>
          </a:bodyPr>
          <a:lstStyle/>
          <a:p>
            <a:pPr algn="l"/>
            <a:r>
              <a:rPr sz="850" b="1" i="0" spc="200">
                <a:solidFill>
                  <a:srgbClr val="FF5C4D"/>
                </a:solidFill>
                <a:latin typeface="Inter"/>
                <a:ea typeface="Inter"/>
                <a:cs typeface="Inter"/>
              </a:rPr>
              <a:t>THE NIGHTS PROMISE</a:t>
            </a:r>
          </a:p>
        </p:txBody>
      </p:sp>
      <p:sp>
        <p:nvSpPr>
          <p:cNvPr id="12" name="TextBox 11"/>
          <p:cNvSpPr txBox="1"/>
          <p:nvPr/>
        </p:nvSpPr>
        <p:spPr>
          <a:xfrm>
            <a:off x="7315200" y="1783080"/>
            <a:ext cx="3840480" cy="548640"/>
          </a:xfrm>
          <a:prstGeom prst="rect">
            <a:avLst/>
          </a:prstGeom>
          <a:noFill/>
        </p:spPr>
        <p:txBody>
          <a:bodyPr wrap="square" lIns="0" rIns="0" tIns="0" bIns="0">
            <a:spAutoFit/>
          </a:bodyPr>
          <a:lstStyle/>
          <a:p>
            <a:pPr algn="l">
              <a:lnSpc>
                <a:spcPct val="95000"/>
              </a:lnSpc>
            </a:pPr>
            <a:r>
              <a:rPr sz="2000" b="1" i="0" spc="0">
                <a:solidFill>
                  <a:srgbClr val="0B1020"/>
                </a:solidFill>
                <a:latin typeface="Bricolage Grotesque"/>
                <a:ea typeface="Inter"/>
                <a:cs typeface="Inter"/>
              </a:rPr>
              <a:t>Written into your agreement</a:t>
            </a:r>
          </a:p>
        </p:txBody>
      </p:sp>
      <p:sp>
        <p:nvSpPr>
          <p:cNvPr id="13" name="Rectangle 12"/>
          <p:cNvSpPr/>
          <p:nvPr/>
        </p:nvSpPr>
        <p:spPr>
          <a:xfrm>
            <a:off x="7315200" y="2514600"/>
            <a:ext cx="3840480" cy="10972"/>
          </a:xfrm>
          <a:prstGeom prst="rect">
            <a:avLst/>
          </a:prstGeom>
          <a:solidFill>
            <a:srgbClr val="ECEAE4"/>
          </a:solidFill>
          <a:ln>
            <a:noFill/>
          </a:ln>
        </p:spPr>
        <p:txBody>
          <a:bodyPr rtlCol="0" anchor="ctr"/>
          <a:lstStyle/>
          <a:p>
            <a:pPr algn="ctr"/>
          </a:p>
        </p:txBody>
      </p:sp>
      <p:sp>
        <p:nvSpPr>
          <p:cNvPr id="14" name="TextBox 13"/>
          <p:cNvSpPr txBox="1"/>
          <p:nvPr/>
        </p:nvSpPr>
        <p:spPr>
          <a:xfrm>
            <a:off x="7315200" y="2633472"/>
            <a:ext cx="2194560" cy="274320"/>
          </a:xfrm>
          <a:prstGeom prst="rect">
            <a:avLst/>
          </a:prstGeom>
          <a:noFill/>
        </p:spPr>
        <p:txBody>
          <a:bodyPr wrap="square" lIns="0" rIns="0" tIns="0" bIns="0">
            <a:spAutoFit/>
          </a:bodyPr>
          <a:lstStyle/>
          <a:p>
            <a:pPr algn="l"/>
            <a:r>
              <a:rPr sz="1000" b="0" i="0">
                <a:solidFill>
                  <a:srgbClr val="7D8296"/>
                </a:solidFill>
                <a:latin typeface="Inter"/>
                <a:ea typeface="Inter"/>
                <a:cs typeface="Inter"/>
              </a:rPr>
              <a:t>Nights per property</a:t>
            </a:r>
          </a:p>
        </p:txBody>
      </p:sp>
      <p:sp>
        <p:nvSpPr>
          <p:cNvPr id="15" name="TextBox 14"/>
          <p:cNvSpPr txBox="1"/>
          <p:nvPr/>
        </p:nvSpPr>
        <p:spPr>
          <a:xfrm>
            <a:off x="9144000" y="2633472"/>
            <a:ext cx="2011680" cy="274320"/>
          </a:xfrm>
          <a:prstGeom prst="rect">
            <a:avLst/>
          </a:prstGeom>
          <a:noFill/>
        </p:spPr>
        <p:txBody>
          <a:bodyPr wrap="square" lIns="0" rIns="0" tIns="0" bIns="0">
            <a:spAutoFit/>
          </a:bodyPr>
          <a:lstStyle/>
          <a:p>
            <a:pPr algn="r"/>
            <a:r>
              <a:rPr sz="1000" b="1" i="0">
                <a:solidFill>
                  <a:srgbClr val="0B1020"/>
                </a:solidFill>
                <a:latin typeface="Inter"/>
                <a:ea typeface="Inter"/>
                <a:cs typeface="Inter"/>
              </a:rPr>
              <a:t>108</a:t>
            </a:r>
          </a:p>
        </p:txBody>
      </p:sp>
      <p:sp>
        <p:nvSpPr>
          <p:cNvPr id="16" name="Rectangle 15"/>
          <p:cNvSpPr/>
          <p:nvPr/>
        </p:nvSpPr>
        <p:spPr>
          <a:xfrm>
            <a:off x="7315200" y="2944368"/>
            <a:ext cx="3840480" cy="10972"/>
          </a:xfrm>
          <a:prstGeom prst="rect">
            <a:avLst/>
          </a:prstGeom>
          <a:solidFill>
            <a:srgbClr val="ECEAE4"/>
          </a:solidFill>
          <a:ln>
            <a:noFill/>
          </a:ln>
        </p:spPr>
        <p:txBody>
          <a:bodyPr rtlCol="0" anchor="ctr"/>
          <a:lstStyle/>
          <a:p>
            <a:pPr algn="ctr"/>
          </a:p>
        </p:txBody>
      </p:sp>
      <p:sp>
        <p:nvSpPr>
          <p:cNvPr id="17" name="TextBox 16"/>
          <p:cNvSpPr txBox="1"/>
          <p:nvPr/>
        </p:nvSpPr>
        <p:spPr>
          <a:xfrm>
            <a:off x="7315200" y="3063239"/>
            <a:ext cx="2194560" cy="274320"/>
          </a:xfrm>
          <a:prstGeom prst="rect">
            <a:avLst/>
          </a:prstGeom>
          <a:noFill/>
        </p:spPr>
        <p:txBody>
          <a:bodyPr wrap="square" lIns="0" rIns="0" tIns="0" bIns="0">
            <a:spAutoFit/>
          </a:bodyPr>
          <a:lstStyle/>
          <a:p>
            <a:pPr algn="l"/>
            <a:r>
              <a:rPr sz="1000" b="0" i="0">
                <a:solidFill>
                  <a:srgbClr val="7D8296"/>
                </a:solidFill>
                <a:latin typeface="Inter"/>
                <a:ea typeface="Inter"/>
                <a:cs typeface="Inter"/>
              </a:rPr>
              <a:t>Period</a:t>
            </a:r>
          </a:p>
        </p:txBody>
      </p:sp>
      <p:sp>
        <p:nvSpPr>
          <p:cNvPr id="18" name="TextBox 17"/>
          <p:cNvSpPr txBox="1"/>
          <p:nvPr/>
        </p:nvSpPr>
        <p:spPr>
          <a:xfrm>
            <a:off x="9144000" y="3063239"/>
            <a:ext cx="2011680" cy="274320"/>
          </a:xfrm>
          <a:prstGeom prst="rect">
            <a:avLst/>
          </a:prstGeom>
          <a:noFill/>
        </p:spPr>
        <p:txBody>
          <a:bodyPr wrap="square" lIns="0" rIns="0" tIns="0" bIns="0">
            <a:spAutoFit/>
          </a:bodyPr>
          <a:lstStyle/>
          <a:p>
            <a:pPr algn="r"/>
            <a:r>
              <a:rPr sz="1000" b="1" i="0">
                <a:solidFill>
                  <a:srgbClr val="0B1020"/>
                </a:solidFill>
                <a:latin typeface="Inter"/>
                <a:ea typeface="Inter"/>
                <a:cs typeface="Inter"/>
              </a:rPr>
              <a:t>6 months</a:t>
            </a:r>
          </a:p>
        </p:txBody>
      </p:sp>
      <p:sp>
        <p:nvSpPr>
          <p:cNvPr id="19" name="Rectangle 18"/>
          <p:cNvSpPr/>
          <p:nvPr/>
        </p:nvSpPr>
        <p:spPr>
          <a:xfrm>
            <a:off x="7315200" y="3374136"/>
            <a:ext cx="3840480" cy="10972"/>
          </a:xfrm>
          <a:prstGeom prst="rect">
            <a:avLst/>
          </a:prstGeom>
          <a:solidFill>
            <a:srgbClr val="ECEAE4"/>
          </a:solidFill>
          <a:ln>
            <a:noFill/>
          </a:ln>
        </p:spPr>
        <p:txBody>
          <a:bodyPr rtlCol="0" anchor="ctr"/>
          <a:lstStyle/>
          <a:p>
            <a:pPr algn="ctr"/>
          </a:p>
        </p:txBody>
      </p:sp>
      <p:sp>
        <p:nvSpPr>
          <p:cNvPr id="20" name="TextBox 19"/>
          <p:cNvSpPr txBox="1"/>
          <p:nvPr/>
        </p:nvSpPr>
        <p:spPr>
          <a:xfrm>
            <a:off x="7315200" y="3493008"/>
            <a:ext cx="2194560" cy="274320"/>
          </a:xfrm>
          <a:prstGeom prst="rect">
            <a:avLst/>
          </a:prstGeom>
          <a:noFill/>
        </p:spPr>
        <p:txBody>
          <a:bodyPr wrap="square" lIns="0" rIns="0" tIns="0" bIns="0">
            <a:spAutoFit/>
          </a:bodyPr>
          <a:lstStyle/>
          <a:p>
            <a:pPr algn="l"/>
            <a:r>
              <a:rPr sz="1000" b="0" i="0">
                <a:solidFill>
                  <a:srgbClr val="7D8296"/>
                </a:solidFill>
                <a:latin typeface="Inter"/>
                <a:ea typeface="Inter"/>
                <a:cs typeface="Inter"/>
              </a:rPr>
              <a:t>Monthly average</a:t>
            </a:r>
          </a:p>
        </p:txBody>
      </p:sp>
      <p:sp>
        <p:nvSpPr>
          <p:cNvPr id="21" name="TextBox 20"/>
          <p:cNvSpPr txBox="1"/>
          <p:nvPr/>
        </p:nvSpPr>
        <p:spPr>
          <a:xfrm>
            <a:off x="9144000" y="3493008"/>
            <a:ext cx="2011680" cy="274320"/>
          </a:xfrm>
          <a:prstGeom prst="rect">
            <a:avLst/>
          </a:prstGeom>
          <a:noFill/>
        </p:spPr>
        <p:txBody>
          <a:bodyPr wrap="square" lIns="0" rIns="0" tIns="0" bIns="0">
            <a:spAutoFit/>
          </a:bodyPr>
          <a:lstStyle/>
          <a:p>
            <a:pPr algn="r"/>
            <a:r>
              <a:rPr sz="1000" b="1" i="0">
                <a:solidFill>
                  <a:srgbClr val="0B1020"/>
                </a:solidFill>
                <a:latin typeface="Inter"/>
                <a:ea typeface="Inter"/>
                <a:cs typeface="Inter"/>
              </a:rPr>
              <a:t>18</a:t>
            </a:r>
          </a:p>
        </p:txBody>
      </p:sp>
      <p:sp>
        <p:nvSpPr>
          <p:cNvPr id="22" name="Rectangle 21"/>
          <p:cNvSpPr/>
          <p:nvPr/>
        </p:nvSpPr>
        <p:spPr>
          <a:xfrm>
            <a:off x="7315200" y="3803904"/>
            <a:ext cx="3840480" cy="10972"/>
          </a:xfrm>
          <a:prstGeom prst="rect">
            <a:avLst/>
          </a:prstGeom>
          <a:solidFill>
            <a:srgbClr val="ECEAE4"/>
          </a:solidFill>
          <a:ln>
            <a:noFill/>
          </a:ln>
        </p:spPr>
        <p:txBody>
          <a:bodyPr rtlCol="0" anchor="ctr"/>
          <a:lstStyle/>
          <a:p>
            <a:pPr algn="ctr"/>
          </a:p>
        </p:txBody>
      </p:sp>
      <p:sp>
        <p:nvSpPr>
          <p:cNvPr id="23" name="TextBox 22"/>
          <p:cNvSpPr txBox="1"/>
          <p:nvPr/>
        </p:nvSpPr>
        <p:spPr>
          <a:xfrm>
            <a:off x="7315200" y="3922776"/>
            <a:ext cx="2194560" cy="274320"/>
          </a:xfrm>
          <a:prstGeom prst="rect">
            <a:avLst/>
          </a:prstGeom>
          <a:noFill/>
        </p:spPr>
        <p:txBody>
          <a:bodyPr wrap="square" lIns="0" rIns="0" tIns="0" bIns="0">
            <a:spAutoFit/>
          </a:bodyPr>
          <a:lstStyle/>
          <a:p>
            <a:pPr algn="l"/>
            <a:r>
              <a:rPr sz="1000" b="0" i="0">
                <a:solidFill>
                  <a:srgbClr val="7D8296"/>
                </a:solidFill>
                <a:latin typeface="Inter"/>
                <a:ea typeface="Inter"/>
                <a:cs typeface="Inter"/>
              </a:rPr>
              <a:t>If we miss</a:t>
            </a:r>
          </a:p>
        </p:txBody>
      </p:sp>
      <p:sp>
        <p:nvSpPr>
          <p:cNvPr id="24" name="TextBox 23"/>
          <p:cNvSpPr txBox="1"/>
          <p:nvPr/>
        </p:nvSpPr>
        <p:spPr>
          <a:xfrm>
            <a:off x="9144000" y="3922776"/>
            <a:ext cx="2011680" cy="274320"/>
          </a:xfrm>
          <a:prstGeom prst="rect">
            <a:avLst/>
          </a:prstGeom>
          <a:noFill/>
        </p:spPr>
        <p:txBody>
          <a:bodyPr wrap="square" lIns="0" rIns="0" tIns="0" bIns="0">
            <a:spAutoFit/>
          </a:bodyPr>
          <a:lstStyle/>
          <a:p>
            <a:pPr algn="r"/>
            <a:r>
              <a:rPr sz="1000" b="1" i="0">
                <a:solidFill>
                  <a:srgbClr val="0B1020"/>
                </a:solidFill>
                <a:latin typeface="Inter"/>
                <a:ea typeface="Inter"/>
                <a:cs typeface="Inter"/>
              </a:rPr>
              <a:t>Onboarding fee refunded</a:t>
            </a:r>
          </a:p>
        </p:txBody>
      </p:sp>
      <p:sp>
        <p:nvSpPr>
          <p:cNvPr id="25" name="Rectangle 24"/>
          <p:cNvSpPr/>
          <p:nvPr/>
        </p:nvSpPr>
        <p:spPr>
          <a:xfrm>
            <a:off x="7315200" y="4233672"/>
            <a:ext cx="3840480" cy="10972"/>
          </a:xfrm>
          <a:prstGeom prst="rect">
            <a:avLst/>
          </a:prstGeom>
          <a:solidFill>
            <a:srgbClr val="ECEAE4"/>
          </a:solidFill>
          <a:ln>
            <a:noFill/>
          </a:ln>
        </p:spPr>
        <p:txBody>
          <a:bodyPr rtlCol="0" anchor="ctr"/>
          <a:lstStyle/>
          <a:p>
            <a:pPr algn="ctr"/>
          </a:p>
        </p:txBody>
      </p:sp>
      <p:sp>
        <p:nvSpPr>
          <p:cNvPr id="26" name="TextBox 25"/>
          <p:cNvSpPr txBox="1"/>
          <p:nvPr/>
        </p:nvSpPr>
        <p:spPr>
          <a:xfrm>
            <a:off x="7315200" y="4352544"/>
            <a:ext cx="2194560" cy="274320"/>
          </a:xfrm>
          <a:prstGeom prst="rect">
            <a:avLst/>
          </a:prstGeom>
          <a:noFill/>
        </p:spPr>
        <p:txBody>
          <a:bodyPr wrap="square" lIns="0" rIns="0" tIns="0" bIns="0">
            <a:spAutoFit/>
          </a:bodyPr>
          <a:lstStyle/>
          <a:p>
            <a:pPr algn="l"/>
            <a:r>
              <a:rPr sz="1000" b="0" i="0">
                <a:solidFill>
                  <a:srgbClr val="7D8296"/>
                </a:solidFill>
                <a:latin typeface="Inter"/>
                <a:ea typeface="Inter"/>
                <a:cs typeface="Inter"/>
              </a:rPr>
              <a:t>Claim needed</a:t>
            </a:r>
          </a:p>
        </p:txBody>
      </p:sp>
      <p:sp>
        <p:nvSpPr>
          <p:cNvPr id="27" name="TextBox 26"/>
          <p:cNvSpPr txBox="1"/>
          <p:nvPr/>
        </p:nvSpPr>
        <p:spPr>
          <a:xfrm>
            <a:off x="9144000" y="4352544"/>
            <a:ext cx="2011680" cy="274320"/>
          </a:xfrm>
          <a:prstGeom prst="rect">
            <a:avLst/>
          </a:prstGeom>
          <a:noFill/>
        </p:spPr>
        <p:txBody>
          <a:bodyPr wrap="square" lIns="0" rIns="0" tIns="0" bIns="0">
            <a:spAutoFit/>
          </a:bodyPr>
          <a:lstStyle/>
          <a:p>
            <a:pPr algn="r"/>
            <a:r>
              <a:rPr sz="1000" b="1" i="0">
                <a:solidFill>
                  <a:srgbClr val="0B1020"/>
                </a:solidFill>
                <a:latin typeface="Inter"/>
                <a:ea typeface="Inter"/>
                <a:cs typeface="Inter"/>
              </a:rPr>
              <a:t>None</a:t>
            </a:r>
          </a:p>
        </p:txBody>
      </p:sp>
      <p:sp>
        <p:nvSpPr>
          <p:cNvPr id="28" name="Rectangle 27"/>
          <p:cNvSpPr/>
          <p:nvPr/>
        </p:nvSpPr>
        <p:spPr>
          <a:xfrm>
            <a:off x="7315200" y="4800600"/>
            <a:ext cx="2011680" cy="9144"/>
          </a:xfrm>
          <a:prstGeom prst="rect">
            <a:avLst/>
          </a:prstGeom>
          <a:solidFill>
            <a:srgbClr val="0B1020"/>
          </a:solidFill>
          <a:ln>
            <a:noFill/>
          </a:ln>
        </p:spPr>
        <p:txBody>
          <a:bodyPr rtlCol="0" anchor="ctr"/>
          <a:lstStyle/>
          <a:p>
            <a:pPr algn="ctr"/>
          </a:p>
        </p:txBody>
      </p:sp>
      <p:sp>
        <p:nvSpPr>
          <p:cNvPr id="29" name="TextBox 28"/>
          <p:cNvSpPr txBox="1"/>
          <p:nvPr/>
        </p:nvSpPr>
        <p:spPr>
          <a:xfrm>
            <a:off x="7315200" y="4919472"/>
            <a:ext cx="2194560" cy="228600"/>
          </a:xfrm>
          <a:prstGeom prst="rect">
            <a:avLst/>
          </a:prstGeom>
          <a:noFill/>
        </p:spPr>
        <p:txBody>
          <a:bodyPr wrap="square" lIns="0" rIns="0" tIns="0" bIns="0">
            <a:spAutoFit/>
          </a:bodyPr>
          <a:lstStyle/>
          <a:p>
            <a:pPr algn="l"/>
            <a:r>
              <a:rPr sz="850" b="0" i="0">
                <a:solidFill>
                  <a:srgbClr val="7D8296"/>
                </a:solidFill>
                <a:latin typeface="Inter"/>
                <a:ea typeface="Inter"/>
                <a:cs typeface="Inter"/>
              </a:rPr>
              <a:t>Red Flag Managed</a:t>
            </a:r>
          </a:p>
        </p:txBody>
      </p:sp>
      <p:sp>
        <p:nvSpPr>
          <p:cNvPr id="30" name="Oval 29"/>
          <p:cNvSpPr/>
          <p:nvPr/>
        </p:nvSpPr>
        <p:spPr>
          <a:xfrm>
            <a:off x="10287000" y="4709160"/>
            <a:ext cx="777240" cy="777240"/>
          </a:xfrm>
          <a:prstGeom prst="ellipse">
            <a:avLst/>
          </a:prstGeom>
          <a:solidFill>
            <a:srgbClr val="FF5C4D"/>
          </a:solidFill>
          <a:ln>
            <a:noFill/>
          </a:ln>
        </p:spPr>
        <p:txBody>
          <a:bodyPr rtlCol="0" anchor="ctr"/>
          <a:lstStyle/>
          <a:p>
            <a:pPr algn="ctr"/>
          </a:p>
        </p:txBody>
      </p:sp>
      <p:sp>
        <p:nvSpPr>
          <p:cNvPr id="31" name="TextBox 30"/>
          <p:cNvSpPr txBox="1"/>
          <p:nvPr/>
        </p:nvSpPr>
        <p:spPr>
          <a:xfrm>
            <a:off x="10287000" y="4937760"/>
            <a:ext cx="777240" cy="182880"/>
          </a:xfrm>
          <a:prstGeom prst="rect">
            <a:avLst/>
          </a:prstGeom>
          <a:noFill/>
        </p:spPr>
        <p:txBody>
          <a:bodyPr wrap="square" lIns="0" rIns="0" tIns="0" bIns="0">
            <a:spAutoFit/>
          </a:bodyPr>
          <a:lstStyle/>
          <a:p>
            <a:pPr algn="ctr"/>
            <a:r>
              <a:rPr sz="750" b="1" i="0" spc="100">
                <a:solidFill>
                  <a:srgbClr val="FFFFFF"/>
                </a:solidFill>
                <a:latin typeface="Inter"/>
                <a:ea typeface="Inter"/>
                <a:cs typeface="Inter"/>
              </a:rPr>
              <a:t>IN</a:t>
            </a:r>
          </a:p>
        </p:txBody>
      </p:sp>
      <p:sp>
        <p:nvSpPr>
          <p:cNvPr id="32" name="TextBox 31"/>
          <p:cNvSpPr txBox="1"/>
          <p:nvPr/>
        </p:nvSpPr>
        <p:spPr>
          <a:xfrm>
            <a:off x="10287000" y="5102352"/>
            <a:ext cx="777240" cy="182880"/>
          </a:xfrm>
          <a:prstGeom prst="rect">
            <a:avLst/>
          </a:prstGeom>
          <a:noFill/>
        </p:spPr>
        <p:txBody>
          <a:bodyPr wrap="square" lIns="0" rIns="0" tIns="0" bIns="0">
            <a:spAutoFit/>
          </a:bodyPr>
          <a:lstStyle/>
          <a:p>
            <a:pPr algn="ctr"/>
            <a:r>
              <a:rPr sz="750" b="1" i="0" spc="100">
                <a:solidFill>
                  <a:srgbClr val="FFFFFF"/>
                </a:solidFill>
                <a:latin typeface="Inter"/>
                <a:ea typeface="Inter"/>
                <a:cs typeface="Inter"/>
              </a:rPr>
              <a:t>WRITING</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24"/>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398"/>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childTnLst>
                                </p:cTn>
                              </p:par>
                              <p:par>
                                <p:cTn id="16" presetID="10" presetClass="entr" presetSubtype="0" fill="hold" grpId="0" nodeType="withEffect">
                                  <p:stCondLst>
                                    <p:cond delay="472"/>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par>
                                <p:cTn id="19" presetID="42" presetClass="entr" presetSubtype="0" fill="hold" grpId="0" nodeType="withEffect">
                                  <p:stCondLst>
                                    <p:cond delay="546"/>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900"/>
                                        <p:tgtEl>
                                          <p:spTgt spid="12"/>
                                        </p:tgtEl>
                                      </p:cBhvr>
                                    </p:animEffect>
                                    <p:anim calcmode="lin" valueType="num">
                                      <p:cBhvr>
                                        <p:cTn id="22" dur="900" decel="100000"/>
                                        <p:tgtEl>
                                          <p:spTgt spid="12"/>
                                        </p:tgtEl>
                                        <p:attrNameLst>
                                          <p:attrName>ppt_x</p:attrName>
                                        </p:attrNameLst>
                                      </p:cBhvr>
                                      <p:tavLst>
                                        <p:tav tm="0">
                                          <p:val>
                                            <p:strVal val="#ppt_x"/>
                                          </p:val>
                                        </p:tav>
                                        <p:tav tm="100000">
                                          <p:val>
                                            <p:strVal val="#ppt_x"/>
                                          </p:val>
                                        </p:tav>
                                      </p:tavLst>
                                    </p:anim>
                                    <p:anim calcmode="lin" valueType="num">
                                      <p:cBhvr>
                                        <p:cTn id="23" dur="900" decel="100000"/>
                                        <p:tgtEl>
                                          <p:spTgt spid="12"/>
                                        </p:tgtEl>
                                        <p:attrNameLst>
                                          <p:attrName>ppt_y</p:attrName>
                                        </p:attrNameLst>
                                      </p:cBhvr>
                                      <p:tavLst>
                                        <p:tav tm="0">
                                          <p:val>
                                            <p:strVal val="#ppt_y+.035"/>
                                          </p:val>
                                        </p:tav>
                                        <p:tav tm="100000">
                                          <p:val>
                                            <p:strVal val="#ppt_y"/>
                                          </p:val>
                                        </p:tav>
                                      </p:tavLst>
                                    </p:anim>
                                  </p:childTnLst>
                                </p:cTn>
                              </p:par>
                              <p:par>
                                <p:cTn id="24" presetID="22" presetClass="entr" presetSubtype="8" fill="hold" grpId="0" nodeType="withEffect">
                                  <p:stCondLst>
                                    <p:cond delay="62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700"/>
                                        <p:tgtEl>
                                          <p:spTgt spid="13"/>
                                        </p:tgtEl>
                                      </p:cBhvr>
                                    </p:animEffect>
                                  </p:childTnLst>
                                </p:cTn>
                              </p:par>
                              <p:par>
                                <p:cTn id="27" presetID="10" presetClass="entr" presetSubtype="0" fill="hold" grpId="0" nodeType="withEffect">
                                  <p:stCondLst>
                                    <p:cond delay="694"/>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700"/>
                                        <p:tgtEl>
                                          <p:spTgt spid="14"/>
                                        </p:tgtEl>
                                      </p:cBhvr>
                                    </p:animEffect>
                                  </p:childTnLst>
                                </p:cTn>
                              </p:par>
                              <p:par>
                                <p:cTn id="30" presetID="10" presetClass="entr" presetSubtype="0" fill="hold" grpId="0" nodeType="withEffect">
                                  <p:stCondLst>
                                    <p:cond delay="768"/>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700"/>
                                        <p:tgtEl>
                                          <p:spTgt spid="15"/>
                                        </p:tgtEl>
                                      </p:cBhvr>
                                    </p:animEffect>
                                  </p:childTnLst>
                                </p:cTn>
                              </p:par>
                              <p:par>
                                <p:cTn id="33" presetID="22" presetClass="entr" presetSubtype="8" fill="hold" grpId="0" nodeType="withEffect">
                                  <p:stCondLst>
                                    <p:cond delay="842"/>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700"/>
                                        <p:tgtEl>
                                          <p:spTgt spid="16"/>
                                        </p:tgtEl>
                                      </p:cBhvr>
                                    </p:animEffect>
                                  </p:childTnLst>
                                </p:cTn>
                              </p:par>
                              <p:par>
                                <p:cTn id="36" presetID="10" presetClass="entr" presetSubtype="0" fill="hold" grpId="0" nodeType="withEffect">
                                  <p:stCondLst>
                                    <p:cond delay="916"/>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700"/>
                                        <p:tgtEl>
                                          <p:spTgt spid="17"/>
                                        </p:tgtEl>
                                      </p:cBhvr>
                                    </p:animEffect>
                                  </p:childTnLst>
                                </p:cTn>
                              </p:par>
                              <p:par>
                                <p:cTn id="39" presetID="10" presetClass="entr" presetSubtype="0" fill="hold" grpId="0" nodeType="withEffect">
                                  <p:stCondLst>
                                    <p:cond delay="99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700"/>
                                        <p:tgtEl>
                                          <p:spTgt spid="18"/>
                                        </p:tgtEl>
                                      </p:cBhvr>
                                    </p:animEffect>
                                  </p:childTnLst>
                                </p:cTn>
                              </p:par>
                              <p:par>
                                <p:cTn id="42" presetID="22" presetClass="entr" presetSubtype="8" fill="hold" grpId="0" nodeType="withEffect">
                                  <p:stCondLst>
                                    <p:cond delay="1064"/>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700"/>
                                        <p:tgtEl>
                                          <p:spTgt spid="19"/>
                                        </p:tgtEl>
                                      </p:cBhvr>
                                    </p:animEffect>
                                  </p:childTnLst>
                                </p:cTn>
                              </p:par>
                              <p:par>
                                <p:cTn id="45" presetID="10" presetClass="entr" presetSubtype="0" fill="hold" grpId="0" nodeType="withEffect">
                                  <p:stCondLst>
                                    <p:cond delay="1138"/>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700"/>
                                        <p:tgtEl>
                                          <p:spTgt spid="20"/>
                                        </p:tgtEl>
                                      </p:cBhvr>
                                    </p:animEffect>
                                  </p:childTnLst>
                                </p:cTn>
                              </p:par>
                              <p:par>
                                <p:cTn id="48" presetID="10" presetClass="entr" presetSubtype="0" fill="hold" grpId="0" nodeType="withEffect">
                                  <p:stCondLst>
                                    <p:cond delay="1212"/>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700"/>
                                        <p:tgtEl>
                                          <p:spTgt spid="21"/>
                                        </p:tgtEl>
                                      </p:cBhvr>
                                    </p:animEffect>
                                  </p:childTnLst>
                                </p:cTn>
                              </p:par>
                              <p:par>
                                <p:cTn id="51" presetID="42" presetClass="entr" presetSubtype="0" fill="hold" grpId="0" nodeType="withEffect">
                                  <p:stCondLst>
                                    <p:cond delay="1286"/>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900"/>
                                        <p:tgtEl>
                                          <p:spTgt spid="8"/>
                                        </p:tgtEl>
                                      </p:cBhvr>
                                    </p:animEffect>
                                    <p:anim calcmode="lin" valueType="num">
                                      <p:cBhvr>
                                        <p:cTn id="54" dur="900" decel="100000"/>
                                        <p:tgtEl>
                                          <p:spTgt spid="8"/>
                                        </p:tgtEl>
                                        <p:attrNameLst>
                                          <p:attrName>ppt_x</p:attrName>
                                        </p:attrNameLst>
                                      </p:cBhvr>
                                      <p:tavLst>
                                        <p:tav tm="0">
                                          <p:val>
                                            <p:strVal val="#ppt_x"/>
                                          </p:val>
                                        </p:tav>
                                        <p:tav tm="100000">
                                          <p:val>
                                            <p:strVal val="#ppt_x"/>
                                          </p:val>
                                        </p:tav>
                                      </p:tavLst>
                                    </p:anim>
                                    <p:anim calcmode="lin" valueType="num">
                                      <p:cBhvr>
                                        <p:cTn id="55" dur="900" decel="100000"/>
                                        <p:tgtEl>
                                          <p:spTgt spid="8"/>
                                        </p:tgtEl>
                                        <p:attrNameLst>
                                          <p:attrName>ppt_y</p:attrName>
                                        </p:attrNameLst>
                                      </p:cBhvr>
                                      <p:tavLst>
                                        <p:tav tm="0">
                                          <p:val>
                                            <p:strVal val="#ppt_y+.035"/>
                                          </p:val>
                                        </p:tav>
                                        <p:tav tm="100000">
                                          <p:val>
                                            <p:strVal val="#ppt_y"/>
                                          </p:val>
                                        </p:tav>
                                      </p:tavLst>
                                    </p:anim>
                                  </p:childTnLst>
                                </p:cTn>
                              </p:par>
                              <p:par>
                                <p:cTn id="56" presetID="22" presetClass="entr" presetSubtype="8" fill="hold" grpId="0" nodeType="withEffect">
                                  <p:stCondLst>
                                    <p:cond delay="1360"/>
                                  </p:stCondLst>
                                  <p:childTnLst>
                                    <p:set>
                                      <p:cBhvr>
                                        <p:cTn id="57" dur="1" fill="hold">
                                          <p:stCondLst>
                                            <p:cond delay="0"/>
                                          </p:stCondLst>
                                        </p:cTn>
                                        <p:tgtEl>
                                          <p:spTgt spid="22"/>
                                        </p:tgtEl>
                                        <p:attrNameLst>
                                          <p:attrName>style.visibility</p:attrName>
                                        </p:attrNameLst>
                                      </p:cBhvr>
                                      <p:to>
                                        <p:strVal val="visible"/>
                                      </p:to>
                                    </p:set>
                                    <p:animEffect transition="in" filter="wipe(left)">
                                      <p:cBhvr>
                                        <p:cTn id="58" dur="700"/>
                                        <p:tgtEl>
                                          <p:spTgt spid="22"/>
                                        </p:tgtEl>
                                      </p:cBhvr>
                                    </p:animEffect>
                                  </p:childTnLst>
                                </p:cTn>
                              </p:par>
                              <p:par>
                                <p:cTn id="59" presetID="10" presetClass="entr" presetSubtype="0" fill="hold" grpId="0" nodeType="withEffect">
                                  <p:stCondLst>
                                    <p:cond delay="1434"/>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700"/>
                                        <p:tgtEl>
                                          <p:spTgt spid="23"/>
                                        </p:tgtEl>
                                      </p:cBhvr>
                                    </p:animEffect>
                                  </p:childTnLst>
                                </p:cTn>
                              </p:par>
                              <p:par>
                                <p:cTn id="62" presetID="10" presetClass="entr" presetSubtype="0" fill="hold" grpId="0" nodeType="withEffect">
                                  <p:stCondLst>
                                    <p:cond delay="1508"/>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700"/>
                                        <p:tgtEl>
                                          <p:spTgt spid="24"/>
                                        </p:tgtEl>
                                      </p:cBhvr>
                                    </p:animEffect>
                                  </p:childTnLst>
                                </p:cTn>
                              </p:par>
                              <p:par>
                                <p:cTn id="65" presetID="22" presetClass="entr" presetSubtype="8" fill="hold" grpId="0" nodeType="withEffect">
                                  <p:stCondLst>
                                    <p:cond delay="1582"/>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700"/>
                                        <p:tgtEl>
                                          <p:spTgt spid="25"/>
                                        </p:tgtEl>
                                      </p:cBhvr>
                                    </p:animEffect>
                                  </p:childTnLst>
                                </p:cTn>
                              </p:par>
                              <p:par>
                                <p:cTn id="68" presetID="10" presetClass="entr" presetSubtype="0" fill="hold" grpId="0" nodeType="withEffect">
                                  <p:stCondLst>
                                    <p:cond delay="1656"/>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700"/>
                                        <p:tgtEl>
                                          <p:spTgt spid="9"/>
                                        </p:tgtEl>
                                      </p:cBhvr>
                                    </p:animEffect>
                                  </p:childTnLst>
                                </p:cTn>
                              </p:par>
                              <p:par>
                                <p:cTn id="71" presetID="10" presetClass="entr" presetSubtype="0" fill="hold" grpId="0" nodeType="withEffect">
                                  <p:stCondLst>
                                    <p:cond delay="173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700"/>
                                        <p:tgtEl>
                                          <p:spTgt spid="26"/>
                                        </p:tgtEl>
                                      </p:cBhvr>
                                    </p:animEffect>
                                  </p:childTnLst>
                                </p:cTn>
                              </p:par>
                              <p:par>
                                <p:cTn id="74" presetID="10" presetClass="entr" presetSubtype="0" fill="hold" grpId="0" nodeType="withEffect">
                                  <p:stCondLst>
                                    <p:cond delay="1804"/>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700"/>
                                        <p:tgtEl>
                                          <p:spTgt spid="27"/>
                                        </p:tgtEl>
                                      </p:cBhvr>
                                    </p:animEffect>
                                  </p:childTnLst>
                                </p:cTn>
                              </p:par>
                              <p:par>
                                <p:cTn id="77" presetID="22" presetClass="entr" presetSubtype="8" fill="hold" grpId="0" nodeType="withEffect">
                                  <p:stCondLst>
                                    <p:cond delay="1878"/>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700"/>
                                        <p:tgtEl>
                                          <p:spTgt spid="28"/>
                                        </p:tgtEl>
                                      </p:cBhvr>
                                    </p:animEffect>
                                  </p:childTnLst>
                                </p:cTn>
                              </p:par>
                              <p:par>
                                <p:cTn id="80" presetID="10" presetClass="entr" presetSubtype="0" fill="hold" grpId="0" nodeType="withEffect">
                                  <p:stCondLst>
                                    <p:cond delay="1952"/>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700"/>
                                        <p:tgtEl>
                                          <p:spTgt spid="29"/>
                                        </p:tgtEl>
                                      </p:cBhvr>
                                    </p:animEffect>
                                  </p:childTnLst>
                                </p:cTn>
                              </p:par>
                              <p:par>
                                <p:cTn id="83" presetID="10" presetClass="entr" presetSubtype="0" fill="hold" grpId="0" nodeType="withEffect">
                                  <p:stCondLst>
                                    <p:cond delay="2026"/>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700"/>
                                        <p:tgtEl>
                                          <p:spTgt spid="30"/>
                                        </p:tgtEl>
                                      </p:cBhvr>
                                    </p:animEffect>
                                  </p:childTnLst>
                                </p:cTn>
                              </p:par>
                              <p:par>
                                <p:cTn id="86" presetID="10" presetClass="entr" presetSubtype="0" fill="hold" grpId="0" nodeType="withEffect">
                                  <p:stCondLst>
                                    <p:cond delay="210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700"/>
                                        <p:tgtEl>
                                          <p:spTgt spid="31"/>
                                        </p:tgtEl>
                                      </p:cBhvr>
                                    </p:animEffect>
                                  </p:childTnLst>
                                </p:cTn>
                              </p:par>
                              <p:par>
                                <p:cTn id="89" presetID="10" presetClass="entr" presetSubtype="0" fill="hold" grpId="0" nodeType="withEffect">
                                  <p:stCondLst>
                                    <p:cond delay="2174"/>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7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8" grpId="0" animBg="1"/>
      <p:bldP spid="22" grpId="0" animBg="1"/>
      <p:bldP spid="23" grpId="0" animBg="1"/>
      <p:bldP spid="24" grpId="0" animBg="1"/>
      <p:bldP spid="25" grpId="0" animBg="1"/>
      <p:bldP spid="9" grpId="0" animBg="1"/>
      <p:bldP spid="26" grpId="0" animBg="1"/>
      <p:bldP spid="27" grpId="0" animBg="1"/>
      <p:bldP spid="28" grpId="0" animBg="1"/>
      <p:bldP spid="29" grpId="0" animBg="1"/>
      <p:bldP spid="30" grpId="0" animBg="1"/>
      <p:bldP spid="31" grpId="0" animBg="1"/>
      <p:bldP spid="3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04</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WHAT IT COSTS</a:t>
            </a:r>
          </a:p>
        </p:txBody>
      </p:sp>
      <p:sp>
        <p:nvSpPr>
          <p:cNvPr id="7" name="TextBox 6"/>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000" b="1" i="0" spc="-100">
                <a:solidFill>
                  <a:srgbClr val="0B1020"/>
                </a:solidFill>
                <a:latin typeface="Bricolage Grotesque"/>
                <a:ea typeface="Inter"/>
                <a:cs typeface="Inter"/>
              </a:rPr>
              <a:t>One onboarding fee. Then 8%.</a:t>
            </a:r>
          </a:p>
        </p:txBody>
      </p:sp>
      <p:sp>
        <p:nvSpPr>
          <p:cNvPr id="8" name="Rounded Rectangle 7"/>
          <p:cNvSpPr/>
          <p:nvPr/>
        </p:nvSpPr>
        <p:spPr>
          <a:xfrm>
            <a:off x="685800" y="2331720"/>
            <a:ext cx="3454298" cy="3611880"/>
          </a:xfrm>
          <a:prstGeom prst="roundRect">
            <a:avLst>
              <a:gd name="adj" fmla="val 6000"/>
            </a:avLst>
          </a:prstGeom>
          <a:solidFill>
            <a:srgbClr val="090C1C"/>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1005840" y="3429000"/>
            <a:ext cx="2814218" cy="1097280"/>
          </a:xfrm>
          <a:prstGeom prst="rect">
            <a:avLst/>
          </a:prstGeom>
          <a:noFill/>
        </p:spPr>
        <p:txBody>
          <a:bodyPr wrap="square" lIns="0" rIns="0" tIns="0" bIns="0">
            <a:spAutoFit/>
          </a:bodyPr>
          <a:lstStyle/>
          <a:p>
            <a:pPr algn="l">
              <a:lnSpc>
                <a:spcPct val="95000"/>
              </a:lnSpc>
            </a:pPr>
            <a:r>
              <a:rPr sz="7200" b="1" i="0" spc="-100">
                <a:solidFill>
                  <a:srgbClr val="FFB547"/>
                </a:solidFill>
                <a:latin typeface="Bricolage Grotesque"/>
                <a:ea typeface="Inter"/>
                <a:cs typeface="Inter"/>
              </a:rPr>
              <a:t>$699</a:t>
            </a:r>
          </a:p>
        </p:txBody>
      </p:sp>
      <p:sp>
        <p:nvSpPr>
          <p:cNvPr id="10" name="TextBox 9"/>
          <p:cNvSpPr txBox="1"/>
          <p:nvPr/>
        </p:nvSpPr>
        <p:spPr>
          <a:xfrm>
            <a:off x="1051560" y="4663440"/>
            <a:ext cx="2814218" cy="365760"/>
          </a:xfrm>
          <a:prstGeom prst="rect">
            <a:avLst/>
          </a:prstGeom>
          <a:noFill/>
        </p:spPr>
        <p:txBody>
          <a:bodyPr wrap="square" lIns="0" rIns="0" tIns="0" bIns="0">
            <a:spAutoFit/>
          </a:bodyPr>
          <a:lstStyle/>
          <a:p>
            <a:pPr algn="l"/>
            <a:r>
              <a:rPr sz="1400" b="1" i="0">
                <a:solidFill>
                  <a:srgbClr val="FFFFFF"/>
                </a:solidFill>
                <a:latin typeface="Inter"/>
                <a:ea typeface="Inter"/>
                <a:cs typeface="Inter"/>
              </a:rPr>
              <a:t>Onboarding fee, one time</a:t>
            </a:r>
          </a:p>
        </p:txBody>
      </p:sp>
      <p:sp>
        <p:nvSpPr>
          <p:cNvPr id="11" name="Rounded Rectangle 10"/>
          <p:cNvSpPr/>
          <p:nvPr/>
        </p:nvSpPr>
        <p:spPr>
          <a:xfrm>
            <a:off x="4368698" y="2331720"/>
            <a:ext cx="3454298" cy="16916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4688738" y="2606039"/>
            <a:ext cx="2814218" cy="731520"/>
          </a:xfrm>
          <a:prstGeom prst="rect">
            <a:avLst/>
          </a:prstGeom>
          <a:noFill/>
        </p:spPr>
        <p:txBody>
          <a:bodyPr wrap="square" lIns="0" rIns="0" tIns="0" bIns="0">
            <a:spAutoFit/>
          </a:bodyPr>
          <a:lstStyle/>
          <a:p>
            <a:pPr algn="l">
              <a:lnSpc>
                <a:spcPct val="95000"/>
              </a:lnSpc>
            </a:pPr>
            <a:r>
              <a:rPr sz="4400" b="1" i="0" spc="-100">
                <a:solidFill>
                  <a:srgbClr val="FF5C4D"/>
                </a:solidFill>
                <a:latin typeface="Bricolage Grotesque"/>
                <a:ea typeface="Inter"/>
                <a:cs typeface="Inter"/>
              </a:rPr>
              <a:t>8%</a:t>
            </a:r>
          </a:p>
        </p:txBody>
      </p:sp>
      <p:sp>
        <p:nvSpPr>
          <p:cNvPr id="13" name="TextBox 12"/>
          <p:cNvSpPr txBox="1"/>
          <p:nvPr/>
        </p:nvSpPr>
        <p:spPr>
          <a:xfrm>
            <a:off x="4688738" y="3383279"/>
            <a:ext cx="2814218" cy="548640"/>
          </a:xfrm>
          <a:prstGeom prst="rect">
            <a:avLst/>
          </a:prstGeom>
          <a:noFill/>
        </p:spPr>
        <p:txBody>
          <a:bodyPr wrap="square" lIns="0" rIns="0" tIns="0" bIns="0">
            <a:spAutoFit/>
          </a:bodyPr>
          <a:lstStyle/>
          <a:p>
            <a:pPr algn="l">
              <a:lnSpc>
                <a:spcPct val="130000"/>
              </a:lnSpc>
            </a:pPr>
            <a:r>
              <a:rPr sz="1000" b="0" i="0">
                <a:solidFill>
                  <a:srgbClr val="41465A"/>
                </a:solidFill>
                <a:latin typeface="Inter"/>
                <a:ea typeface="Inter"/>
                <a:cs typeface="Inter"/>
              </a:rPr>
              <a:t>of booking revenue — or $99 per listing a month, whichever is higher</a:t>
            </a:r>
          </a:p>
        </p:txBody>
      </p:sp>
      <p:sp>
        <p:nvSpPr>
          <p:cNvPr id="14" name="Rounded Rectangle 13"/>
          <p:cNvSpPr/>
          <p:nvPr/>
        </p:nvSpPr>
        <p:spPr>
          <a:xfrm>
            <a:off x="8051596" y="2331720"/>
            <a:ext cx="3454298" cy="16916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5" name="TextBox 14"/>
          <p:cNvSpPr txBox="1"/>
          <p:nvPr/>
        </p:nvSpPr>
        <p:spPr>
          <a:xfrm>
            <a:off x="8371636" y="2606039"/>
            <a:ext cx="2814218" cy="731520"/>
          </a:xfrm>
          <a:prstGeom prst="rect">
            <a:avLst/>
          </a:prstGeom>
          <a:noFill/>
        </p:spPr>
        <p:txBody>
          <a:bodyPr wrap="square" lIns="0" rIns="0" tIns="0" bIns="0">
            <a:spAutoFit/>
          </a:bodyPr>
          <a:lstStyle/>
          <a:p>
            <a:pPr algn="l">
              <a:lnSpc>
                <a:spcPct val="95000"/>
              </a:lnSpc>
            </a:pPr>
            <a:r>
              <a:rPr sz="2400" b="1" i="0" spc="-100">
                <a:solidFill>
                  <a:srgbClr val="0B1020"/>
                </a:solidFill>
                <a:latin typeface="Bricolage Grotesque"/>
                <a:ea typeface="Inter"/>
                <a:cs typeface="Inter"/>
              </a:rPr>
              <a:t>Locked for life</a:t>
            </a:r>
          </a:p>
        </p:txBody>
      </p:sp>
      <p:sp>
        <p:nvSpPr>
          <p:cNvPr id="16" name="TextBox 15"/>
          <p:cNvSpPr txBox="1"/>
          <p:nvPr/>
        </p:nvSpPr>
        <p:spPr>
          <a:xfrm>
            <a:off x="8371636" y="3383279"/>
            <a:ext cx="2814218" cy="548640"/>
          </a:xfrm>
          <a:prstGeom prst="rect">
            <a:avLst/>
          </a:prstGeom>
          <a:noFill/>
        </p:spPr>
        <p:txBody>
          <a:bodyPr wrap="square" lIns="0" rIns="0" tIns="0" bIns="0">
            <a:spAutoFit/>
          </a:bodyPr>
          <a:lstStyle/>
          <a:p>
            <a:pPr algn="l">
              <a:lnSpc>
                <a:spcPct val="130000"/>
              </a:lnSpc>
            </a:pPr>
            <a:r>
              <a:rPr sz="1000" b="0" i="0">
                <a:solidFill>
                  <a:srgbClr val="41465A"/>
                </a:solidFill>
                <a:latin typeface="Inter"/>
                <a:ea typeface="Inter"/>
                <a:cs typeface="Inter"/>
              </a:rPr>
              <a:t>Your 8% rate never rises</a:t>
            </a:r>
          </a:p>
        </p:txBody>
      </p:sp>
      <p:sp>
        <p:nvSpPr>
          <p:cNvPr id="17" name="Rounded Rectangle 16"/>
          <p:cNvSpPr/>
          <p:nvPr/>
        </p:nvSpPr>
        <p:spPr>
          <a:xfrm>
            <a:off x="4368698" y="4251960"/>
            <a:ext cx="3454298" cy="16916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8" name="TextBox 17"/>
          <p:cNvSpPr txBox="1"/>
          <p:nvPr/>
        </p:nvSpPr>
        <p:spPr>
          <a:xfrm>
            <a:off x="4688738" y="4526280"/>
            <a:ext cx="2814218" cy="731520"/>
          </a:xfrm>
          <a:prstGeom prst="rect">
            <a:avLst/>
          </a:prstGeom>
          <a:noFill/>
        </p:spPr>
        <p:txBody>
          <a:bodyPr wrap="square" lIns="0" rIns="0" tIns="0" bIns="0">
            <a:spAutoFit/>
          </a:bodyPr>
          <a:lstStyle/>
          <a:p>
            <a:pPr algn="l">
              <a:lnSpc>
                <a:spcPct val="95000"/>
              </a:lnSpc>
            </a:pPr>
            <a:r>
              <a:rPr sz="3000" b="1" i="0" spc="-100">
                <a:solidFill>
                  <a:srgbClr val="0B1020"/>
                </a:solidFill>
                <a:latin typeface="Bricolage Grotesque"/>
                <a:ea typeface="Inter"/>
                <a:cs typeface="Inter"/>
              </a:rPr>
              <a:t>$0 setup</a:t>
            </a:r>
          </a:p>
        </p:txBody>
      </p:sp>
      <p:sp>
        <p:nvSpPr>
          <p:cNvPr id="19" name="TextBox 18"/>
          <p:cNvSpPr txBox="1"/>
          <p:nvPr/>
        </p:nvSpPr>
        <p:spPr>
          <a:xfrm>
            <a:off x="4688738" y="5303520"/>
            <a:ext cx="2814218" cy="548640"/>
          </a:xfrm>
          <a:prstGeom prst="rect">
            <a:avLst/>
          </a:prstGeom>
          <a:noFill/>
        </p:spPr>
        <p:txBody>
          <a:bodyPr wrap="square" lIns="0" rIns="0" tIns="0" bIns="0">
            <a:spAutoFit/>
          </a:bodyPr>
          <a:lstStyle/>
          <a:p>
            <a:pPr algn="l">
              <a:lnSpc>
                <a:spcPct val="130000"/>
              </a:lnSpc>
            </a:pPr>
            <a:r>
              <a:rPr sz="1000" b="0" i="0">
                <a:solidFill>
                  <a:srgbClr val="41465A"/>
                </a:solidFill>
                <a:latin typeface="Inter"/>
                <a:ea typeface="Inter"/>
                <a:cs typeface="Inter"/>
              </a:rPr>
              <a:t>Your property, your furniture</a:t>
            </a:r>
          </a:p>
        </p:txBody>
      </p:sp>
      <p:sp>
        <p:nvSpPr>
          <p:cNvPr id="20" name="Rounded Rectangle 19"/>
          <p:cNvSpPr/>
          <p:nvPr/>
        </p:nvSpPr>
        <p:spPr>
          <a:xfrm>
            <a:off x="8051596" y="4251960"/>
            <a:ext cx="3454298" cy="1691640"/>
          </a:xfrm>
          <a:prstGeom prst="roundRect">
            <a:avLst>
              <a:gd name="adj" fmla="val 6000"/>
            </a:avLst>
          </a:prstGeom>
          <a:solidFill>
            <a:srgbClr val="FF5C4D"/>
          </a:solidFill>
          <a:ln>
            <a:noFill/>
          </a:ln>
          <a:effectLst>
            <a:outerShdw blurRad="355600" dist="101600" dir="5400000" algn="t" rotWithShape="0">
              <a:srgbClr val="0B1020">
                <a:alpha val="18000"/>
              </a:srgbClr>
            </a:outerShdw>
          </a:effectLst>
        </p:spPr>
        <p:txBody>
          <a:bodyPr rtlCol="0" anchor="ctr"/>
          <a:lstStyle/>
          <a:p>
            <a:pPr algn="ctr"/>
          </a:p>
        </p:txBody>
      </p:sp>
      <p:sp>
        <p:nvSpPr>
          <p:cNvPr id="21" name="TextBox 20"/>
          <p:cNvSpPr txBox="1"/>
          <p:nvPr/>
        </p:nvSpPr>
        <p:spPr>
          <a:xfrm>
            <a:off x="8371636" y="4526280"/>
            <a:ext cx="2814218" cy="731520"/>
          </a:xfrm>
          <a:prstGeom prst="rect">
            <a:avLst/>
          </a:prstGeom>
          <a:noFill/>
        </p:spPr>
        <p:txBody>
          <a:bodyPr wrap="square" lIns="0" rIns="0" tIns="0" bIns="0">
            <a:spAutoFit/>
          </a:bodyPr>
          <a:lstStyle/>
          <a:p>
            <a:pPr algn="l">
              <a:lnSpc>
                <a:spcPct val="95000"/>
              </a:lnSpc>
            </a:pPr>
            <a:r>
              <a:rPr sz="3400" b="1" i="0" spc="-100">
                <a:solidFill>
                  <a:srgbClr val="FFFFFF"/>
                </a:solidFill>
                <a:latin typeface="Bricolage Grotesque"/>
                <a:ea typeface="Inter"/>
                <a:cs typeface="Inter"/>
              </a:rPr>
              <a:t>Up to 3</a:t>
            </a:r>
          </a:p>
        </p:txBody>
      </p:sp>
      <p:sp>
        <p:nvSpPr>
          <p:cNvPr id="22" name="TextBox 21"/>
          <p:cNvSpPr txBox="1"/>
          <p:nvPr/>
        </p:nvSpPr>
        <p:spPr>
          <a:xfrm>
            <a:off x="8371636" y="5303520"/>
            <a:ext cx="2814218" cy="548640"/>
          </a:xfrm>
          <a:prstGeom prst="rect">
            <a:avLst/>
          </a:prstGeom>
          <a:noFill/>
        </p:spPr>
        <p:txBody>
          <a:bodyPr wrap="square" lIns="0" rIns="0" tIns="0" bIns="0">
            <a:spAutoFit/>
          </a:bodyPr>
          <a:lstStyle/>
          <a:p>
            <a:pPr algn="l">
              <a:lnSpc>
                <a:spcPct val="130000"/>
              </a:lnSpc>
            </a:pPr>
            <a:r>
              <a:rPr sz="1000" b="0" i="0">
                <a:solidFill>
                  <a:srgbClr val="FFFFFF"/>
                </a:solidFill>
                <a:latin typeface="Inter"/>
                <a:ea typeface="Inter"/>
                <a:cs typeface="Inter"/>
              </a:rPr>
              <a:t>properties, onboarded together</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700"/>
                                        <p:tgtEl>
                                          <p:spTgt spid="14"/>
                                        </p:tgtEl>
                                      </p:cBhvr>
                                    </p:animEffect>
                                  </p:childTnLst>
                                </p:cTn>
                              </p:par>
                              <p:par>
                                <p:cTn id="22" presetID="42" presetClass="entr" presetSubtype="0" fill="hold" grpId="0" nodeType="withEffect">
                                  <p:stCondLst>
                                    <p:cond delay="7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900"/>
                                        <p:tgtEl>
                                          <p:spTgt spid="12"/>
                                        </p:tgtEl>
                                      </p:cBhvr>
                                    </p:animEffect>
                                    <p:anim calcmode="lin" valueType="num">
                                      <p:cBhvr>
                                        <p:cTn id="25" dur="900" decel="100000"/>
                                        <p:tgtEl>
                                          <p:spTgt spid="12"/>
                                        </p:tgtEl>
                                        <p:attrNameLst>
                                          <p:attrName>ppt_x</p:attrName>
                                        </p:attrNameLst>
                                      </p:cBhvr>
                                      <p:tavLst>
                                        <p:tav tm="0">
                                          <p:val>
                                            <p:strVal val="#ppt_x"/>
                                          </p:val>
                                        </p:tav>
                                        <p:tav tm="100000">
                                          <p:val>
                                            <p:strVal val="#ppt_x"/>
                                          </p:val>
                                        </p:tav>
                                      </p:tavLst>
                                    </p:anim>
                                    <p:anim calcmode="lin" valueType="num">
                                      <p:cBhvr>
                                        <p:cTn id="26" dur="900" decel="100000"/>
                                        <p:tgtEl>
                                          <p:spTgt spid="12"/>
                                        </p:tgtEl>
                                        <p:attrNameLst>
                                          <p:attrName>ppt_y</p:attrName>
                                        </p:attrNameLst>
                                      </p:cBhvr>
                                      <p:tavLst>
                                        <p:tav tm="0">
                                          <p:val>
                                            <p:strVal val="#ppt_y+.035"/>
                                          </p:val>
                                        </p:tav>
                                        <p:tav tm="100000">
                                          <p:val>
                                            <p:strVal val="#ppt_y"/>
                                          </p:val>
                                        </p:tav>
                                      </p:tavLst>
                                    </p:anim>
                                  </p:childTnLst>
                                </p:cTn>
                              </p:par>
                              <p:par>
                                <p:cTn id="27" presetID="42" presetClass="entr" presetSubtype="0" fill="hold" grpId="0" nodeType="withEffect">
                                  <p:stCondLst>
                                    <p:cond delay="79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900"/>
                                        <p:tgtEl>
                                          <p:spTgt spid="15"/>
                                        </p:tgtEl>
                                      </p:cBhvr>
                                    </p:animEffect>
                                    <p:anim calcmode="lin" valueType="num">
                                      <p:cBhvr>
                                        <p:cTn id="30" dur="900" decel="100000"/>
                                        <p:tgtEl>
                                          <p:spTgt spid="15"/>
                                        </p:tgtEl>
                                        <p:attrNameLst>
                                          <p:attrName>ppt_x</p:attrName>
                                        </p:attrNameLst>
                                      </p:cBhvr>
                                      <p:tavLst>
                                        <p:tav tm="0">
                                          <p:val>
                                            <p:strVal val="#ppt_x"/>
                                          </p:val>
                                        </p:tav>
                                        <p:tav tm="100000">
                                          <p:val>
                                            <p:strVal val="#ppt_x"/>
                                          </p:val>
                                        </p:tav>
                                      </p:tavLst>
                                    </p:anim>
                                    <p:anim calcmode="lin" valueType="num">
                                      <p:cBhvr>
                                        <p:cTn id="31" dur="900" decel="100000"/>
                                        <p:tgtEl>
                                          <p:spTgt spid="15"/>
                                        </p:tgtEl>
                                        <p:attrNameLst>
                                          <p:attrName>ppt_y</p:attrName>
                                        </p:attrNameLst>
                                      </p:cBhvr>
                                      <p:tavLst>
                                        <p:tav tm="0">
                                          <p:val>
                                            <p:strVal val="#ppt_y+.035"/>
                                          </p:val>
                                        </p:tav>
                                        <p:tav tm="100000">
                                          <p:val>
                                            <p:strVal val="#ppt_y"/>
                                          </p:val>
                                        </p:tav>
                                      </p:tavLst>
                                    </p:anim>
                                  </p:childTnLst>
                                </p:cTn>
                              </p:par>
                              <p:par>
                                <p:cTn id="32" presetID="42" presetClass="entr" presetSubtype="0" fill="hold" grpId="0" nodeType="withEffect">
                                  <p:stCondLst>
                                    <p:cond delay="88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900"/>
                                        <p:tgtEl>
                                          <p:spTgt spid="9"/>
                                        </p:tgtEl>
                                      </p:cBhvr>
                                    </p:animEffect>
                                    <p:anim calcmode="lin" valueType="num">
                                      <p:cBhvr>
                                        <p:cTn id="35" dur="900" decel="100000"/>
                                        <p:tgtEl>
                                          <p:spTgt spid="9"/>
                                        </p:tgtEl>
                                        <p:attrNameLst>
                                          <p:attrName>ppt_x</p:attrName>
                                        </p:attrNameLst>
                                      </p:cBhvr>
                                      <p:tavLst>
                                        <p:tav tm="0">
                                          <p:val>
                                            <p:strVal val="#ppt_x"/>
                                          </p:val>
                                        </p:tav>
                                        <p:tav tm="100000">
                                          <p:val>
                                            <p:strVal val="#ppt_x"/>
                                          </p:val>
                                        </p:tav>
                                      </p:tavLst>
                                    </p:anim>
                                    <p:anim calcmode="lin" valueType="num">
                                      <p:cBhvr>
                                        <p:cTn id="36" dur="900" decel="100000"/>
                                        <p:tgtEl>
                                          <p:spTgt spid="9"/>
                                        </p:tgtEl>
                                        <p:attrNameLst>
                                          <p:attrName>ppt_y</p:attrName>
                                        </p:attrNameLst>
                                      </p:cBhvr>
                                      <p:tavLst>
                                        <p:tav tm="0">
                                          <p:val>
                                            <p:strVal val="#ppt_y+.035"/>
                                          </p:val>
                                        </p:tav>
                                        <p:tav tm="100000">
                                          <p:val>
                                            <p:strVal val="#ppt_y"/>
                                          </p:val>
                                        </p:tav>
                                      </p:tavLst>
                                    </p:anim>
                                  </p:childTnLst>
                                </p:cTn>
                              </p:par>
                              <p:par>
                                <p:cTn id="37" presetID="10" presetClass="entr" presetSubtype="0" fill="hold" grpId="0" nodeType="withEffect">
                                  <p:stCondLst>
                                    <p:cond delay="97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700"/>
                                        <p:tgtEl>
                                          <p:spTgt spid="13"/>
                                        </p:tgtEl>
                                      </p:cBhvr>
                                    </p:animEffect>
                                  </p:childTnLst>
                                </p:cTn>
                              </p:par>
                              <p:par>
                                <p:cTn id="40" presetID="10" presetClass="entr" presetSubtype="0" fill="hold" grpId="0" nodeType="withEffect">
                                  <p:stCondLst>
                                    <p:cond delay="106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700"/>
                                        <p:tgtEl>
                                          <p:spTgt spid="16"/>
                                        </p:tgtEl>
                                      </p:cBhvr>
                                    </p:animEffect>
                                  </p:childTnLst>
                                </p:cTn>
                              </p:par>
                              <p:par>
                                <p:cTn id="43" presetID="10" presetClass="entr" presetSubtype="0" fill="hold" grpId="0" nodeType="withEffect">
                                  <p:stCondLst>
                                    <p:cond delay="115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700"/>
                                        <p:tgtEl>
                                          <p:spTgt spid="17"/>
                                        </p:tgtEl>
                                      </p:cBhvr>
                                    </p:animEffect>
                                  </p:childTnLst>
                                </p:cTn>
                              </p:par>
                              <p:par>
                                <p:cTn id="46" presetID="10" presetClass="entr" presetSubtype="0" fill="hold" grpId="0" nodeType="withEffect">
                                  <p:stCondLst>
                                    <p:cond delay="124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700"/>
                                        <p:tgtEl>
                                          <p:spTgt spid="20"/>
                                        </p:tgtEl>
                                      </p:cBhvr>
                                    </p:animEffect>
                                  </p:childTnLst>
                                </p:cTn>
                              </p:par>
                              <p:par>
                                <p:cTn id="49" presetID="42" presetClass="entr" presetSubtype="0" fill="hold" grpId="0" nodeType="withEffect">
                                  <p:stCondLst>
                                    <p:cond delay="133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900"/>
                                        <p:tgtEl>
                                          <p:spTgt spid="18"/>
                                        </p:tgtEl>
                                      </p:cBhvr>
                                    </p:animEffect>
                                    <p:anim calcmode="lin" valueType="num">
                                      <p:cBhvr>
                                        <p:cTn id="52" dur="900" decel="100000"/>
                                        <p:tgtEl>
                                          <p:spTgt spid="18"/>
                                        </p:tgtEl>
                                        <p:attrNameLst>
                                          <p:attrName>ppt_x</p:attrName>
                                        </p:attrNameLst>
                                      </p:cBhvr>
                                      <p:tavLst>
                                        <p:tav tm="0">
                                          <p:val>
                                            <p:strVal val="#ppt_x"/>
                                          </p:val>
                                        </p:tav>
                                        <p:tav tm="100000">
                                          <p:val>
                                            <p:strVal val="#ppt_x"/>
                                          </p:val>
                                        </p:tav>
                                      </p:tavLst>
                                    </p:anim>
                                    <p:anim calcmode="lin" valueType="num">
                                      <p:cBhvr>
                                        <p:cTn id="53" dur="900" decel="100000"/>
                                        <p:tgtEl>
                                          <p:spTgt spid="18"/>
                                        </p:tgtEl>
                                        <p:attrNameLst>
                                          <p:attrName>ppt_y</p:attrName>
                                        </p:attrNameLst>
                                      </p:cBhvr>
                                      <p:tavLst>
                                        <p:tav tm="0">
                                          <p:val>
                                            <p:strVal val="#ppt_y+.035"/>
                                          </p:val>
                                        </p:tav>
                                        <p:tav tm="100000">
                                          <p:val>
                                            <p:strVal val="#ppt_y"/>
                                          </p:val>
                                        </p:tav>
                                      </p:tavLst>
                                    </p:anim>
                                  </p:childTnLst>
                                </p:cTn>
                              </p:par>
                              <p:par>
                                <p:cTn id="54" presetID="42" presetClass="entr" presetSubtype="0" fill="hold" grpId="0" nodeType="withEffect">
                                  <p:stCondLst>
                                    <p:cond delay="142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900"/>
                                        <p:tgtEl>
                                          <p:spTgt spid="21"/>
                                        </p:tgtEl>
                                      </p:cBhvr>
                                    </p:animEffect>
                                    <p:anim calcmode="lin" valueType="num">
                                      <p:cBhvr>
                                        <p:cTn id="57" dur="900" decel="100000"/>
                                        <p:tgtEl>
                                          <p:spTgt spid="21"/>
                                        </p:tgtEl>
                                        <p:attrNameLst>
                                          <p:attrName>ppt_x</p:attrName>
                                        </p:attrNameLst>
                                      </p:cBhvr>
                                      <p:tavLst>
                                        <p:tav tm="0">
                                          <p:val>
                                            <p:strVal val="#ppt_x"/>
                                          </p:val>
                                        </p:tav>
                                        <p:tav tm="100000">
                                          <p:val>
                                            <p:strVal val="#ppt_x"/>
                                          </p:val>
                                        </p:tav>
                                      </p:tavLst>
                                    </p:anim>
                                    <p:anim calcmode="lin" valueType="num">
                                      <p:cBhvr>
                                        <p:cTn id="58" dur="900" decel="100000"/>
                                        <p:tgtEl>
                                          <p:spTgt spid="21"/>
                                        </p:tgtEl>
                                        <p:attrNameLst>
                                          <p:attrName>ppt_y</p:attrName>
                                        </p:attrNameLst>
                                      </p:cBhvr>
                                      <p:tavLst>
                                        <p:tav tm="0">
                                          <p:val>
                                            <p:strVal val="#ppt_y+.035"/>
                                          </p:val>
                                        </p:tav>
                                        <p:tav tm="100000">
                                          <p:val>
                                            <p:strVal val="#ppt_y"/>
                                          </p:val>
                                        </p:tav>
                                      </p:tavLst>
                                    </p:anim>
                                  </p:childTnLst>
                                </p:cTn>
                              </p:par>
                              <p:par>
                                <p:cTn id="59" presetID="10" presetClass="entr" presetSubtype="0" fill="hold" grpId="0" nodeType="withEffect">
                                  <p:stCondLst>
                                    <p:cond delay="151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700"/>
                                        <p:tgtEl>
                                          <p:spTgt spid="10"/>
                                        </p:tgtEl>
                                      </p:cBhvr>
                                    </p:animEffect>
                                  </p:childTnLst>
                                </p:cTn>
                              </p:par>
                              <p:par>
                                <p:cTn id="62" presetID="10" presetClass="entr" presetSubtype="0" fill="hold" grpId="0" nodeType="withEffect">
                                  <p:stCondLst>
                                    <p:cond delay="160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700"/>
                                        <p:tgtEl>
                                          <p:spTgt spid="19"/>
                                        </p:tgtEl>
                                      </p:cBhvr>
                                    </p:animEffect>
                                  </p:childTnLst>
                                </p:cTn>
                              </p:par>
                              <p:par>
                                <p:cTn id="65" presetID="10" presetClass="entr" presetSubtype="0" fill="hold" grpId="0" nodeType="withEffect">
                                  <p:stCondLst>
                                    <p:cond delay="169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4" grpId="0" animBg="1"/>
      <p:bldP spid="12" grpId="0" animBg="1"/>
      <p:bldP spid="15" grpId="0" animBg="1"/>
      <p:bldP spid="9" grpId="0" animBg="1"/>
      <p:bldP spid="13" grpId="0" animBg="1"/>
      <p:bldP spid="16" grpId="0" animBg="1"/>
      <p:bldP spid="17" grpId="0" animBg="1"/>
      <p:bldP spid="20" grpId="0" animBg="1"/>
      <p:bldP spid="18" grpId="0" animBg="1"/>
      <p:bldP spid="21" grpId="0" animBg="1"/>
      <p:bldP spid="10" grpId="0" animBg="1"/>
      <p:bldP spid="19" grpId="0" animBg="1"/>
      <p:bldP spid="2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3.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05</a:t>
            </a:r>
          </a:p>
        </p:txBody>
      </p:sp>
      <p:sp>
        <p:nvSpPr>
          <p:cNvPr id="6" name="static-mask"/>
          <p:cNvSpPr/>
          <p:nvPr/>
        </p:nvSpPr>
        <p:spPr>
          <a:xfrm>
            <a:off x="0" y="0"/>
            <a:ext cx="6583680" cy="6858000"/>
          </a:xfrm>
          <a:prstGeom prst="rect">
            <a:avLst/>
          </a:prstGeom>
          <a:gradFill rotWithShape="1" flip="none">
            <a:gsLst>
              <a:gs pos="0">
                <a:srgbClr val="090C1C">
                  <a:alpha val="85000"/>
                </a:srgbClr>
              </a:gs>
              <a:gs pos="100000">
                <a:srgbClr val="090C1C">
                  <a:alpha val="0"/>
                </a:srgbClr>
              </a:gs>
            </a:gsLst>
            <a:lin ang="0" scaled="1"/>
          </a:gradFill>
          <a:ln>
            <a:noFill/>
          </a:ln>
        </p:spPr>
        <p:txBody>
          <a:bodyPr rtlCol="0" anchor="ctr"/>
          <a:lstStyle/>
          <a:p>
            <a:pPr algn="ctr"/>
          </a:p>
        </p:txBody>
      </p:sp>
      <p:sp>
        <p:nvSpPr>
          <p:cNvPr id="7" name="TextBox 6"/>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NOW DIVIDE IT BY THE NIGHTS</a:t>
            </a:r>
          </a:p>
        </p:txBody>
      </p:sp>
      <p:sp>
        <p:nvSpPr>
          <p:cNvPr id="8" name="TextBox 7"/>
          <p:cNvSpPr txBox="1"/>
          <p:nvPr/>
        </p:nvSpPr>
        <p:spPr>
          <a:xfrm>
            <a:off x="685800" y="1280160"/>
            <a:ext cx="5943600" cy="1645920"/>
          </a:xfrm>
          <a:prstGeom prst="rect">
            <a:avLst/>
          </a:prstGeom>
          <a:noFill/>
        </p:spPr>
        <p:txBody>
          <a:bodyPr wrap="square" lIns="0" rIns="0" tIns="0" bIns="0">
            <a:spAutoFit/>
          </a:bodyPr>
          <a:lstStyle/>
          <a:p>
            <a:pPr algn="l">
              <a:lnSpc>
                <a:spcPct val="95000"/>
              </a:lnSpc>
            </a:pPr>
            <a:r>
              <a:rPr sz="13000" b="1" i="0" spc="-300">
                <a:solidFill>
                  <a:srgbClr val="FFFFFF"/>
                </a:solidFill>
                <a:latin typeface="Bricolage Grotesque"/>
                <a:ea typeface="Inter"/>
                <a:cs typeface="Inter"/>
              </a:rPr>
              <a:t>$2.16</a:t>
            </a:r>
          </a:p>
        </p:txBody>
      </p:sp>
      <p:sp>
        <p:nvSpPr>
          <p:cNvPr id="9" name="TextBox 8"/>
          <p:cNvSpPr txBox="1"/>
          <p:nvPr/>
        </p:nvSpPr>
        <p:spPr>
          <a:xfrm>
            <a:off x="731520" y="3017520"/>
            <a:ext cx="5486400" cy="365760"/>
          </a:xfrm>
          <a:prstGeom prst="rect">
            <a:avLst/>
          </a:prstGeom>
          <a:noFill/>
        </p:spPr>
        <p:txBody>
          <a:bodyPr wrap="square" lIns="0" rIns="0" tIns="0" bIns="0">
            <a:spAutoFit/>
          </a:bodyPr>
          <a:lstStyle/>
          <a:p>
            <a:pPr algn="l"/>
            <a:r>
              <a:rPr sz="2000" b="1" i="0">
                <a:solidFill>
                  <a:srgbClr val="FFFFFF"/>
                </a:solidFill>
                <a:latin typeface="Inter"/>
                <a:ea typeface="Inter"/>
                <a:cs typeface="Inter"/>
              </a:rPr>
              <a:t>a night, with three properties</a:t>
            </a:r>
          </a:p>
        </p:txBody>
      </p:sp>
      <p:sp>
        <p:nvSpPr>
          <p:cNvPr id="10" name="TextBox 9"/>
          <p:cNvSpPr txBox="1"/>
          <p:nvPr/>
        </p:nvSpPr>
        <p:spPr>
          <a:xfrm>
            <a:off x="731520" y="3474720"/>
            <a:ext cx="5486400" cy="365760"/>
          </a:xfrm>
          <a:prstGeom prst="rect">
            <a:avLst/>
          </a:prstGeom>
          <a:noFill/>
        </p:spPr>
        <p:txBody>
          <a:bodyPr wrap="square" lIns="0" rIns="0" tIns="0" bIns="0">
            <a:spAutoFit/>
          </a:bodyPr>
          <a:lstStyle/>
          <a:p>
            <a:pPr algn="l"/>
            <a:r>
              <a:rPr sz="1500" b="1" i="0">
                <a:solidFill>
                  <a:srgbClr val="FFB547"/>
                </a:solidFill>
                <a:latin typeface="Inter"/>
                <a:ea typeface="Inter"/>
                <a:cs typeface="Inter"/>
              </a:rPr>
              <a:t>One time. Never again.</a:t>
            </a:r>
          </a:p>
        </p:txBody>
      </p:sp>
      <p:sp>
        <p:nvSpPr>
          <p:cNvPr id="11" name="TextBox 10"/>
          <p:cNvSpPr txBox="1"/>
          <p:nvPr/>
        </p:nvSpPr>
        <p:spPr>
          <a:xfrm>
            <a:off x="731520" y="4069080"/>
            <a:ext cx="4937760" cy="822960"/>
          </a:xfrm>
          <a:prstGeom prst="rect">
            <a:avLst/>
          </a:prstGeom>
          <a:noFill/>
        </p:spPr>
        <p:txBody>
          <a:bodyPr wrap="square" lIns="0" rIns="0" tIns="0" bIns="0">
            <a:spAutoFit/>
          </a:bodyPr>
          <a:lstStyle/>
          <a:p>
            <a:pPr algn="l">
              <a:lnSpc>
                <a:spcPct val="145000"/>
              </a:lnSpc>
            </a:pPr>
            <a:r>
              <a:rPr sz="1300" b="0" i="0">
                <a:solidFill>
                  <a:srgbClr val="C5C9DA"/>
                </a:solidFill>
                <a:latin typeface="Inter"/>
                <a:ea typeface="Inter"/>
                <a:cs typeface="Inter"/>
              </a:rPr>
              <a:t>One fee covers three properties. The third costs nothing extra and cuts your per-night cost to a third.</a:t>
            </a:r>
          </a:p>
        </p:txBody>
      </p:sp>
      <p:sp>
        <p:nvSpPr>
          <p:cNvPr id="12" name="TextBox 11"/>
          <p:cNvSpPr txBox="1"/>
          <p:nvPr/>
        </p:nvSpPr>
        <p:spPr>
          <a:xfrm>
            <a:off x="731520" y="5120640"/>
            <a:ext cx="5029200" cy="274320"/>
          </a:xfrm>
          <a:prstGeom prst="rect">
            <a:avLst/>
          </a:prstGeom>
          <a:noFill/>
        </p:spPr>
        <p:txBody>
          <a:bodyPr wrap="square" lIns="0" rIns="0" tIns="0" bIns="0">
            <a:spAutoFit/>
          </a:bodyPr>
          <a:lstStyle/>
          <a:p>
            <a:pPr algn="l"/>
            <a:r>
              <a:rPr sz="900" b="0" i="0">
                <a:solidFill>
                  <a:srgbClr val="8A90AA"/>
                </a:solidFill>
                <a:latin typeface="Inter"/>
                <a:ea typeface="Inter"/>
                <a:cs typeface="Inter"/>
              </a:rPr>
              <a:t>Illustrative: $699 ÷ promised nights.</a:t>
            </a:r>
          </a:p>
        </p:txBody>
      </p:sp>
      <p:sp>
        <p:nvSpPr>
          <p:cNvPr id="13" name="Rounded Rectangle 12"/>
          <p:cNvSpPr/>
          <p:nvPr/>
        </p:nvSpPr>
        <p:spPr>
          <a:xfrm>
            <a:off x="6903720" y="1417320"/>
            <a:ext cx="4617720" cy="1143000"/>
          </a:xfrm>
          <a:prstGeom prst="roundRect">
            <a:avLst>
              <a:gd name="adj" fmla="val 12000"/>
            </a:avLst>
          </a:prstGeom>
          <a:solidFill>
            <a:srgbClr val="FFFFFF">
              <a:alpha val="10000"/>
            </a:srgbClr>
          </a:solidFill>
          <a:ln w="9525">
            <a:solidFill>
              <a:srgbClr val="FFFFFF">
                <a:alpha val="25000"/>
              </a:srgbClr>
            </a:solidFill>
          </a:ln>
        </p:spPr>
        <p:txBody>
          <a:bodyPr rtlCol="0" anchor="ctr"/>
          <a:lstStyle/>
          <a:p>
            <a:pPr algn="ctr"/>
          </a:p>
        </p:txBody>
      </p:sp>
      <p:sp>
        <p:nvSpPr>
          <p:cNvPr id="14" name="TextBox 13"/>
          <p:cNvSpPr txBox="1"/>
          <p:nvPr/>
        </p:nvSpPr>
        <p:spPr>
          <a:xfrm>
            <a:off x="7223760" y="1645920"/>
            <a:ext cx="2286000" cy="274320"/>
          </a:xfrm>
          <a:prstGeom prst="rect">
            <a:avLst/>
          </a:prstGeom>
          <a:noFill/>
        </p:spPr>
        <p:txBody>
          <a:bodyPr wrap="square" lIns="0" rIns="0" tIns="0" bIns="0">
            <a:spAutoFit/>
          </a:bodyPr>
          <a:lstStyle/>
          <a:p>
            <a:pPr algn="l"/>
            <a:r>
              <a:rPr sz="1300" b="1" i="0">
                <a:solidFill>
                  <a:srgbClr val="FFFFFF"/>
                </a:solidFill>
                <a:latin typeface="Inter"/>
                <a:ea typeface="Inter"/>
                <a:cs typeface="Inter"/>
              </a:rPr>
              <a:t>1 property</a:t>
            </a:r>
          </a:p>
        </p:txBody>
      </p:sp>
      <p:sp>
        <p:nvSpPr>
          <p:cNvPr id="15" name="TextBox 14"/>
          <p:cNvSpPr txBox="1"/>
          <p:nvPr/>
        </p:nvSpPr>
        <p:spPr>
          <a:xfrm>
            <a:off x="7223760" y="1965960"/>
            <a:ext cx="2286000" cy="274320"/>
          </a:xfrm>
          <a:prstGeom prst="rect">
            <a:avLst/>
          </a:prstGeom>
          <a:noFill/>
        </p:spPr>
        <p:txBody>
          <a:bodyPr wrap="square" lIns="0" rIns="0" tIns="0" bIns="0">
            <a:spAutoFit/>
          </a:bodyPr>
          <a:lstStyle/>
          <a:p>
            <a:pPr algn="l"/>
            <a:r>
              <a:rPr sz="1000" b="0" i="0">
                <a:solidFill>
                  <a:srgbClr val="C5C9DA"/>
                </a:solidFill>
                <a:latin typeface="Inter"/>
                <a:ea typeface="Inter"/>
                <a:cs typeface="Inter"/>
              </a:rPr>
              <a:t>108 nights</a:t>
            </a:r>
          </a:p>
        </p:txBody>
      </p:sp>
      <p:sp>
        <p:nvSpPr>
          <p:cNvPr id="16" name="TextBox 15"/>
          <p:cNvSpPr txBox="1"/>
          <p:nvPr/>
        </p:nvSpPr>
        <p:spPr>
          <a:xfrm>
            <a:off x="9326880" y="1645920"/>
            <a:ext cx="1920240" cy="640080"/>
          </a:xfrm>
          <a:prstGeom prst="rect">
            <a:avLst/>
          </a:prstGeom>
          <a:noFill/>
        </p:spPr>
        <p:txBody>
          <a:bodyPr wrap="square" lIns="0" rIns="0" tIns="0" bIns="0">
            <a:spAutoFit/>
          </a:bodyPr>
          <a:lstStyle/>
          <a:p>
            <a:pPr algn="r">
              <a:lnSpc>
                <a:spcPct val="95000"/>
              </a:lnSpc>
            </a:pPr>
            <a:r>
              <a:rPr sz="3400" b="1" i="0" spc="-150">
                <a:solidFill>
                  <a:srgbClr val="FFFFFF"/>
                </a:solidFill>
                <a:latin typeface="Bricolage Grotesque"/>
                <a:ea typeface="Inter"/>
                <a:cs typeface="Inter"/>
              </a:rPr>
              <a:t>$6.47</a:t>
            </a:r>
          </a:p>
        </p:txBody>
      </p:sp>
      <p:sp>
        <p:nvSpPr>
          <p:cNvPr id="17" name="Rounded Rectangle 16"/>
          <p:cNvSpPr/>
          <p:nvPr/>
        </p:nvSpPr>
        <p:spPr>
          <a:xfrm>
            <a:off x="6903720" y="2788920"/>
            <a:ext cx="4617720" cy="1143000"/>
          </a:xfrm>
          <a:prstGeom prst="roundRect">
            <a:avLst>
              <a:gd name="adj" fmla="val 12000"/>
            </a:avLst>
          </a:prstGeom>
          <a:solidFill>
            <a:srgbClr val="FFFFFF">
              <a:alpha val="10000"/>
            </a:srgbClr>
          </a:solidFill>
          <a:ln w="9525">
            <a:solidFill>
              <a:srgbClr val="FFFFFF">
                <a:alpha val="25000"/>
              </a:srgbClr>
            </a:solidFill>
          </a:ln>
        </p:spPr>
        <p:txBody>
          <a:bodyPr rtlCol="0" anchor="ctr"/>
          <a:lstStyle/>
          <a:p>
            <a:pPr algn="ctr"/>
          </a:p>
        </p:txBody>
      </p:sp>
      <p:sp>
        <p:nvSpPr>
          <p:cNvPr id="18" name="TextBox 17"/>
          <p:cNvSpPr txBox="1"/>
          <p:nvPr/>
        </p:nvSpPr>
        <p:spPr>
          <a:xfrm>
            <a:off x="7223760" y="3017520"/>
            <a:ext cx="2286000" cy="274320"/>
          </a:xfrm>
          <a:prstGeom prst="rect">
            <a:avLst/>
          </a:prstGeom>
          <a:noFill/>
        </p:spPr>
        <p:txBody>
          <a:bodyPr wrap="square" lIns="0" rIns="0" tIns="0" bIns="0">
            <a:spAutoFit/>
          </a:bodyPr>
          <a:lstStyle/>
          <a:p>
            <a:pPr algn="l"/>
            <a:r>
              <a:rPr sz="1300" b="1" i="0">
                <a:solidFill>
                  <a:srgbClr val="FFFFFF"/>
                </a:solidFill>
                <a:latin typeface="Inter"/>
                <a:ea typeface="Inter"/>
                <a:cs typeface="Inter"/>
              </a:rPr>
              <a:t>2 properties</a:t>
            </a:r>
          </a:p>
        </p:txBody>
      </p:sp>
      <p:sp>
        <p:nvSpPr>
          <p:cNvPr id="19" name="TextBox 18"/>
          <p:cNvSpPr txBox="1"/>
          <p:nvPr/>
        </p:nvSpPr>
        <p:spPr>
          <a:xfrm>
            <a:off x="7223760" y="3337560"/>
            <a:ext cx="2286000" cy="274320"/>
          </a:xfrm>
          <a:prstGeom prst="rect">
            <a:avLst/>
          </a:prstGeom>
          <a:noFill/>
        </p:spPr>
        <p:txBody>
          <a:bodyPr wrap="square" lIns="0" rIns="0" tIns="0" bIns="0">
            <a:spAutoFit/>
          </a:bodyPr>
          <a:lstStyle/>
          <a:p>
            <a:pPr algn="l"/>
            <a:r>
              <a:rPr sz="1000" b="0" i="0">
                <a:solidFill>
                  <a:srgbClr val="C5C9DA"/>
                </a:solidFill>
                <a:latin typeface="Inter"/>
                <a:ea typeface="Inter"/>
                <a:cs typeface="Inter"/>
              </a:rPr>
              <a:t>216 nights</a:t>
            </a:r>
          </a:p>
        </p:txBody>
      </p:sp>
      <p:sp>
        <p:nvSpPr>
          <p:cNvPr id="20" name="TextBox 19"/>
          <p:cNvSpPr txBox="1"/>
          <p:nvPr/>
        </p:nvSpPr>
        <p:spPr>
          <a:xfrm>
            <a:off x="9326880" y="3017520"/>
            <a:ext cx="1920240" cy="640080"/>
          </a:xfrm>
          <a:prstGeom prst="rect">
            <a:avLst/>
          </a:prstGeom>
          <a:noFill/>
        </p:spPr>
        <p:txBody>
          <a:bodyPr wrap="square" lIns="0" rIns="0" tIns="0" bIns="0">
            <a:spAutoFit/>
          </a:bodyPr>
          <a:lstStyle/>
          <a:p>
            <a:pPr algn="r">
              <a:lnSpc>
                <a:spcPct val="95000"/>
              </a:lnSpc>
            </a:pPr>
            <a:r>
              <a:rPr sz="3400" b="1" i="0" spc="-150">
                <a:solidFill>
                  <a:srgbClr val="FFFFFF"/>
                </a:solidFill>
                <a:latin typeface="Bricolage Grotesque"/>
                <a:ea typeface="Inter"/>
                <a:cs typeface="Inter"/>
              </a:rPr>
              <a:t>$3.24</a:t>
            </a:r>
          </a:p>
        </p:txBody>
      </p:sp>
      <p:sp>
        <p:nvSpPr>
          <p:cNvPr id="21" name="Rounded Rectangle 20"/>
          <p:cNvSpPr/>
          <p:nvPr/>
        </p:nvSpPr>
        <p:spPr>
          <a:xfrm>
            <a:off x="6903720" y="4160520"/>
            <a:ext cx="4617720" cy="1143000"/>
          </a:xfrm>
          <a:prstGeom prst="roundRect">
            <a:avLst>
              <a:gd name="adj" fmla="val 12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2" name="TextBox 21"/>
          <p:cNvSpPr txBox="1"/>
          <p:nvPr/>
        </p:nvSpPr>
        <p:spPr>
          <a:xfrm>
            <a:off x="7223760" y="4389120"/>
            <a:ext cx="2286000" cy="274320"/>
          </a:xfrm>
          <a:prstGeom prst="rect">
            <a:avLst/>
          </a:prstGeom>
          <a:noFill/>
        </p:spPr>
        <p:txBody>
          <a:bodyPr wrap="square" lIns="0" rIns="0" tIns="0" bIns="0">
            <a:spAutoFit/>
          </a:bodyPr>
          <a:lstStyle/>
          <a:p>
            <a:pPr algn="l"/>
            <a:r>
              <a:rPr sz="1300" b="1" i="0">
                <a:solidFill>
                  <a:srgbClr val="0B1020"/>
                </a:solidFill>
                <a:latin typeface="Inter"/>
                <a:ea typeface="Inter"/>
                <a:cs typeface="Inter"/>
              </a:rPr>
              <a:t>3 properties</a:t>
            </a:r>
          </a:p>
        </p:txBody>
      </p:sp>
      <p:sp>
        <p:nvSpPr>
          <p:cNvPr id="23" name="TextBox 22"/>
          <p:cNvSpPr txBox="1"/>
          <p:nvPr/>
        </p:nvSpPr>
        <p:spPr>
          <a:xfrm>
            <a:off x="7223760" y="4709159"/>
            <a:ext cx="2286000" cy="274320"/>
          </a:xfrm>
          <a:prstGeom prst="rect">
            <a:avLst/>
          </a:prstGeom>
          <a:noFill/>
        </p:spPr>
        <p:txBody>
          <a:bodyPr wrap="square" lIns="0" rIns="0" tIns="0" bIns="0">
            <a:spAutoFit/>
          </a:bodyPr>
          <a:lstStyle/>
          <a:p>
            <a:pPr algn="l"/>
            <a:r>
              <a:rPr sz="1000" b="0" i="0">
                <a:solidFill>
                  <a:srgbClr val="7D8296"/>
                </a:solidFill>
                <a:latin typeface="Inter"/>
                <a:ea typeface="Inter"/>
                <a:cs typeface="Inter"/>
              </a:rPr>
              <a:t>324 nights</a:t>
            </a:r>
          </a:p>
        </p:txBody>
      </p:sp>
      <p:sp>
        <p:nvSpPr>
          <p:cNvPr id="24" name="TextBox 23"/>
          <p:cNvSpPr txBox="1"/>
          <p:nvPr/>
        </p:nvSpPr>
        <p:spPr>
          <a:xfrm>
            <a:off x="9326880" y="4389120"/>
            <a:ext cx="1920240" cy="640080"/>
          </a:xfrm>
          <a:prstGeom prst="rect">
            <a:avLst/>
          </a:prstGeom>
          <a:noFill/>
        </p:spPr>
        <p:txBody>
          <a:bodyPr wrap="square" lIns="0" rIns="0" tIns="0" bIns="0">
            <a:spAutoFit/>
          </a:bodyPr>
          <a:lstStyle/>
          <a:p>
            <a:pPr algn="r">
              <a:lnSpc>
                <a:spcPct val="95000"/>
              </a:lnSpc>
            </a:pPr>
            <a:r>
              <a:rPr sz="3400" b="1" i="0" spc="-150">
                <a:solidFill>
                  <a:srgbClr val="FF5C4D"/>
                </a:solidFill>
                <a:latin typeface="Bricolage Grotesque"/>
                <a:ea typeface="Inter"/>
                <a:cs typeface="Inter"/>
              </a:rPr>
              <a:t>$2.16</a:t>
            </a:r>
          </a:p>
        </p:txBody>
      </p:sp>
      <p:sp>
        <p:nvSpPr>
          <p:cNvPr id="25" name="Rounded Rectangle 24"/>
          <p:cNvSpPr/>
          <p:nvPr/>
        </p:nvSpPr>
        <p:spPr>
          <a:xfrm>
            <a:off x="7223760" y="5001768"/>
            <a:ext cx="1280160" cy="219456"/>
          </a:xfrm>
          <a:prstGeom prst="roundRect">
            <a:avLst>
              <a:gd name="adj" fmla="val 50000"/>
            </a:avLst>
          </a:prstGeom>
          <a:solidFill>
            <a:srgbClr val="0B1020"/>
          </a:solidFill>
          <a:ln>
            <a:noFill/>
          </a:ln>
        </p:spPr>
        <p:txBody>
          <a:bodyPr rtlCol="0" anchor="ctr"/>
          <a:lstStyle/>
          <a:p>
            <a:pPr algn="ctr"/>
          </a:p>
        </p:txBody>
      </p:sp>
      <p:sp>
        <p:nvSpPr>
          <p:cNvPr id="26" name="TextBox 25"/>
          <p:cNvSpPr txBox="1"/>
          <p:nvPr/>
        </p:nvSpPr>
        <p:spPr>
          <a:xfrm>
            <a:off x="7223760" y="5055933"/>
            <a:ext cx="1280160" cy="219456"/>
          </a:xfrm>
          <a:prstGeom prst="rect">
            <a:avLst/>
          </a:prstGeom>
          <a:noFill/>
        </p:spPr>
        <p:txBody>
          <a:bodyPr wrap="square" lIns="0" rIns="0" tIns="0" bIns="0">
            <a:spAutoFit/>
          </a:bodyPr>
          <a:lstStyle/>
          <a:p>
            <a:pPr algn="ctr"/>
            <a:r>
              <a:rPr sz="700" b="1" i="0">
                <a:solidFill>
                  <a:srgbClr val="FFFFFF"/>
                </a:solidFill>
                <a:latin typeface="Inter"/>
                <a:ea typeface="Inter"/>
                <a:cs typeface="Inter"/>
              </a:rPr>
              <a:t>BEST VALUE</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700"/>
                                        <p:tgtEl>
                                          <p:spTgt spid="13"/>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700"/>
                                        <p:tgtEl>
                                          <p:spTgt spid="14"/>
                                        </p:tgtEl>
                                      </p:cBhvr>
                                    </p:animEffect>
                                  </p:childTnLst>
                                </p:cTn>
                              </p:par>
                              <p:par>
                                <p:cTn id="19" presetID="42" presetClass="entr" presetSubtype="0" fill="hold" grpId="0" nodeType="withEffect">
                                  <p:stCondLst>
                                    <p:cond delay="61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900"/>
                                        <p:tgtEl>
                                          <p:spTgt spid="16"/>
                                        </p:tgtEl>
                                      </p:cBhvr>
                                    </p:animEffect>
                                    <p:anim calcmode="lin" valueType="num">
                                      <p:cBhvr>
                                        <p:cTn id="22" dur="900" decel="100000"/>
                                        <p:tgtEl>
                                          <p:spTgt spid="16"/>
                                        </p:tgtEl>
                                        <p:attrNameLst>
                                          <p:attrName>ppt_x</p:attrName>
                                        </p:attrNameLst>
                                      </p:cBhvr>
                                      <p:tavLst>
                                        <p:tav tm="0">
                                          <p:val>
                                            <p:strVal val="#ppt_x"/>
                                          </p:val>
                                        </p:tav>
                                        <p:tav tm="100000">
                                          <p:val>
                                            <p:strVal val="#ppt_x"/>
                                          </p:val>
                                        </p:tav>
                                      </p:tavLst>
                                    </p:anim>
                                    <p:anim calcmode="lin" valueType="num">
                                      <p:cBhvr>
                                        <p:cTn id="23" dur="900" decel="100000"/>
                                        <p:tgtEl>
                                          <p:spTgt spid="16"/>
                                        </p:tgtEl>
                                        <p:attrNameLst>
                                          <p:attrName>ppt_y</p:attrName>
                                        </p:attrNameLst>
                                      </p:cBhvr>
                                      <p:tavLst>
                                        <p:tav tm="0">
                                          <p:val>
                                            <p:strVal val="#ppt_y+.035"/>
                                          </p:val>
                                        </p:tav>
                                        <p:tav tm="100000">
                                          <p:val>
                                            <p:strVal val="#ppt_y"/>
                                          </p:val>
                                        </p:tav>
                                      </p:tavLst>
                                    </p:anim>
                                  </p:childTnLst>
                                </p:cTn>
                              </p:par>
                              <p:par>
                                <p:cTn id="24" presetID="10" presetClass="entr" presetSubtype="0" fill="hold" grpId="0" nodeType="withEffect">
                                  <p:stCondLst>
                                    <p:cond delay="7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700"/>
                                        <p:tgtEl>
                                          <p:spTgt spid="15"/>
                                        </p:tgtEl>
                                      </p:cBhvr>
                                    </p:animEffect>
                                  </p:childTnLst>
                                </p:cTn>
                              </p:par>
                              <p:par>
                                <p:cTn id="27" presetID="42" presetClass="entr" presetSubtype="0" fill="hold" grpId="0" nodeType="withEffect">
                                  <p:stCondLst>
                                    <p:cond delay="79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900"/>
                                        <p:tgtEl>
                                          <p:spTgt spid="9"/>
                                        </p:tgtEl>
                                      </p:cBhvr>
                                    </p:animEffect>
                                    <p:anim calcmode="lin" valueType="num">
                                      <p:cBhvr>
                                        <p:cTn id="30" dur="900" decel="100000"/>
                                        <p:tgtEl>
                                          <p:spTgt spid="9"/>
                                        </p:tgtEl>
                                        <p:attrNameLst>
                                          <p:attrName>ppt_x</p:attrName>
                                        </p:attrNameLst>
                                      </p:cBhvr>
                                      <p:tavLst>
                                        <p:tav tm="0">
                                          <p:val>
                                            <p:strVal val="#ppt_x"/>
                                          </p:val>
                                        </p:tav>
                                        <p:tav tm="100000">
                                          <p:val>
                                            <p:strVal val="#ppt_x"/>
                                          </p:val>
                                        </p:tav>
                                      </p:tavLst>
                                    </p:anim>
                                    <p:anim calcmode="lin" valueType="num">
                                      <p:cBhvr>
                                        <p:cTn id="31" dur="900" decel="100000"/>
                                        <p:tgtEl>
                                          <p:spTgt spid="9"/>
                                        </p:tgtEl>
                                        <p:attrNameLst>
                                          <p:attrName>ppt_y</p:attrName>
                                        </p:attrNameLst>
                                      </p:cBhvr>
                                      <p:tavLst>
                                        <p:tav tm="0">
                                          <p:val>
                                            <p:strVal val="#ppt_y+.035"/>
                                          </p:val>
                                        </p:tav>
                                        <p:tav tm="100000">
                                          <p:val>
                                            <p:strVal val="#ppt_y"/>
                                          </p:val>
                                        </p:tav>
                                      </p:tavLst>
                                    </p:anim>
                                  </p:childTnLst>
                                </p:cTn>
                              </p:par>
                              <p:par>
                                <p:cTn id="32" presetID="10" presetClass="entr" presetSubtype="0" fill="hold" grpId="0" nodeType="withEffect">
                                  <p:stCondLst>
                                    <p:cond delay="88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700"/>
                                        <p:tgtEl>
                                          <p:spTgt spid="17"/>
                                        </p:tgtEl>
                                      </p:cBhvr>
                                    </p:animEffect>
                                  </p:childTnLst>
                                </p:cTn>
                              </p:par>
                              <p:par>
                                <p:cTn id="35" presetID="10" presetClass="entr" presetSubtype="0" fill="hold" grpId="0" nodeType="withEffect">
                                  <p:stCondLst>
                                    <p:cond delay="97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700"/>
                                        <p:tgtEl>
                                          <p:spTgt spid="18"/>
                                        </p:tgtEl>
                                      </p:cBhvr>
                                    </p:animEffect>
                                  </p:childTnLst>
                                </p:cTn>
                              </p:par>
                              <p:par>
                                <p:cTn id="38" presetID="42" presetClass="entr" presetSubtype="0" fill="hold" grpId="0" nodeType="withEffect">
                                  <p:stCondLst>
                                    <p:cond delay="106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900"/>
                                        <p:tgtEl>
                                          <p:spTgt spid="20"/>
                                        </p:tgtEl>
                                      </p:cBhvr>
                                    </p:animEffect>
                                    <p:anim calcmode="lin" valueType="num">
                                      <p:cBhvr>
                                        <p:cTn id="41" dur="900" decel="100000"/>
                                        <p:tgtEl>
                                          <p:spTgt spid="20"/>
                                        </p:tgtEl>
                                        <p:attrNameLst>
                                          <p:attrName>ppt_x</p:attrName>
                                        </p:attrNameLst>
                                      </p:cBhvr>
                                      <p:tavLst>
                                        <p:tav tm="0">
                                          <p:val>
                                            <p:strVal val="#ppt_x"/>
                                          </p:val>
                                        </p:tav>
                                        <p:tav tm="100000">
                                          <p:val>
                                            <p:strVal val="#ppt_x"/>
                                          </p:val>
                                        </p:tav>
                                      </p:tavLst>
                                    </p:anim>
                                    <p:anim calcmode="lin" valueType="num">
                                      <p:cBhvr>
                                        <p:cTn id="42" dur="900" decel="100000"/>
                                        <p:tgtEl>
                                          <p:spTgt spid="20"/>
                                        </p:tgtEl>
                                        <p:attrNameLst>
                                          <p:attrName>ppt_y</p:attrName>
                                        </p:attrNameLst>
                                      </p:cBhvr>
                                      <p:tavLst>
                                        <p:tav tm="0">
                                          <p:val>
                                            <p:strVal val="#ppt_y+.035"/>
                                          </p:val>
                                        </p:tav>
                                        <p:tav tm="100000">
                                          <p:val>
                                            <p:strVal val="#ppt_y"/>
                                          </p:val>
                                        </p:tav>
                                      </p:tavLst>
                                    </p:anim>
                                  </p:childTnLst>
                                </p:cTn>
                              </p:par>
                              <p:par>
                                <p:cTn id="43" presetID="10" presetClass="entr" presetSubtype="0" fill="hold" grpId="0" nodeType="withEffect">
                                  <p:stCondLst>
                                    <p:cond delay="115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700"/>
                                        <p:tgtEl>
                                          <p:spTgt spid="19"/>
                                        </p:tgtEl>
                                      </p:cBhvr>
                                    </p:animEffect>
                                  </p:childTnLst>
                                </p:cTn>
                              </p:par>
                              <p:par>
                                <p:cTn id="46" presetID="10" presetClass="entr" presetSubtype="0" fill="hold" grpId="0" nodeType="withEffect">
                                  <p:stCondLst>
                                    <p:cond delay="124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700"/>
                                        <p:tgtEl>
                                          <p:spTgt spid="10"/>
                                        </p:tgtEl>
                                      </p:cBhvr>
                                    </p:animEffect>
                                  </p:childTnLst>
                                </p:cTn>
                              </p:par>
                              <p:par>
                                <p:cTn id="49" presetID="10" presetClass="entr" presetSubtype="0" fill="hold" grpId="0" nodeType="withEffect">
                                  <p:stCondLst>
                                    <p:cond delay="133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700"/>
                                        <p:tgtEl>
                                          <p:spTgt spid="11"/>
                                        </p:tgtEl>
                                      </p:cBhvr>
                                    </p:animEffect>
                                  </p:childTnLst>
                                </p:cTn>
                              </p:par>
                              <p:par>
                                <p:cTn id="52" presetID="10" presetClass="entr" presetSubtype="0" fill="hold" grpId="0" nodeType="withEffect">
                                  <p:stCondLst>
                                    <p:cond delay="142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par>
                                <p:cTn id="55" presetID="10" presetClass="entr" presetSubtype="0" fill="hold" grpId="0" nodeType="withEffect">
                                  <p:stCondLst>
                                    <p:cond delay="151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700"/>
                                        <p:tgtEl>
                                          <p:spTgt spid="22"/>
                                        </p:tgtEl>
                                      </p:cBhvr>
                                    </p:animEffect>
                                  </p:childTnLst>
                                </p:cTn>
                              </p:par>
                              <p:par>
                                <p:cTn id="58" presetID="42" presetClass="entr" presetSubtype="0" fill="hold" grpId="0" nodeType="withEffect">
                                  <p:stCondLst>
                                    <p:cond delay="160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900"/>
                                        <p:tgtEl>
                                          <p:spTgt spid="24"/>
                                        </p:tgtEl>
                                      </p:cBhvr>
                                    </p:animEffect>
                                    <p:anim calcmode="lin" valueType="num">
                                      <p:cBhvr>
                                        <p:cTn id="61" dur="900" decel="100000"/>
                                        <p:tgtEl>
                                          <p:spTgt spid="24"/>
                                        </p:tgtEl>
                                        <p:attrNameLst>
                                          <p:attrName>ppt_x</p:attrName>
                                        </p:attrNameLst>
                                      </p:cBhvr>
                                      <p:tavLst>
                                        <p:tav tm="0">
                                          <p:val>
                                            <p:strVal val="#ppt_x"/>
                                          </p:val>
                                        </p:tav>
                                        <p:tav tm="100000">
                                          <p:val>
                                            <p:strVal val="#ppt_x"/>
                                          </p:val>
                                        </p:tav>
                                      </p:tavLst>
                                    </p:anim>
                                    <p:anim calcmode="lin" valueType="num">
                                      <p:cBhvr>
                                        <p:cTn id="62" dur="900" decel="100000"/>
                                        <p:tgtEl>
                                          <p:spTgt spid="24"/>
                                        </p:tgtEl>
                                        <p:attrNameLst>
                                          <p:attrName>ppt_y</p:attrName>
                                        </p:attrNameLst>
                                      </p:cBhvr>
                                      <p:tavLst>
                                        <p:tav tm="0">
                                          <p:val>
                                            <p:strVal val="#ppt_y+.035"/>
                                          </p:val>
                                        </p:tav>
                                        <p:tav tm="100000">
                                          <p:val>
                                            <p:strVal val="#ppt_y"/>
                                          </p:val>
                                        </p:tav>
                                      </p:tavLst>
                                    </p:anim>
                                  </p:childTnLst>
                                </p:cTn>
                              </p:par>
                              <p:par>
                                <p:cTn id="63" presetID="10" presetClass="entr" presetSubtype="0" fill="hold" grpId="0" nodeType="withEffect">
                                  <p:stCondLst>
                                    <p:cond delay="169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700"/>
                                        <p:tgtEl>
                                          <p:spTgt spid="23"/>
                                        </p:tgtEl>
                                      </p:cBhvr>
                                    </p:animEffect>
                                  </p:childTnLst>
                                </p:cTn>
                              </p:par>
                              <p:par>
                                <p:cTn id="66" presetID="10" presetClass="entr" presetSubtype="0" fill="hold" grpId="0" nodeType="withEffect">
                                  <p:stCondLst>
                                    <p:cond delay="1780"/>
                                  </p:stCondLst>
                                  <p:childTnLst>
                                    <p:set>
                                      <p:cBhvr>
                                        <p:cTn id="67" dur="1" fill="hold">
                                          <p:stCondLst>
                                            <p:cond delay="0"/>
                                          </p:stCondLst>
                                        </p:cTn>
                                        <p:tgtEl>
                                          <p:spTgt spid="12"/>
                                        </p:tgtEl>
                                        <p:attrNameLst>
                                          <p:attrName>style.visibility</p:attrName>
                                        </p:attrNameLst>
                                      </p:cBhvr>
                                      <p:to>
                                        <p:strVal val="visible"/>
                                      </p:to>
                                    </p:set>
                                    <p:animEffect transition="in" filter="fade">
                                      <p:cBhvr>
                                        <p:cTn id="68" dur="700"/>
                                        <p:tgtEl>
                                          <p:spTgt spid="12"/>
                                        </p:tgtEl>
                                      </p:cBhvr>
                                    </p:animEffect>
                                  </p:childTnLst>
                                </p:cTn>
                              </p:par>
                              <p:par>
                                <p:cTn id="69" presetID="10" presetClass="entr" presetSubtype="0" fill="hold" grpId="0" nodeType="withEffect">
                                  <p:stCondLst>
                                    <p:cond delay="187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700"/>
                                        <p:tgtEl>
                                          <p:spTgt spid="25"/>
                                        </p:tgtEl>
                                      </p:cBhvr>
                                    </p:animEffect>
                                  </p:childTnLst>
                                </p:cTn>
                              </p:par>
                              <p:par>
                                <p:cTn id="72" presetID="10" presetClass="entr" presetSubtype="0" fill="hold" grpId="0" nodeType="withEffect">
                                  <p:stCondLst>
                                    <p:cond delay="196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7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animBg="1"/>
      <p:bldP spid="14" grpId="0" animBg="1"/>
      <p:bldP spid="16" grpId="0" animBg="1"/>
      <p:bldP spid="15" grpId="0" animBg="1"/>
      <p:bldP spid="9" grpId="0" animBg="1"/>
      <p:bldP spid="17" grpId="0" animBg="1"/>
      <p:bldP spid="18" grpId="0" animBg="1"/>
      <p:bldP spid="20" grpId="0" animBg="1"/>
      <p:bldP spid="19" grpId="0" animBg="1"/>
      <p:bldP spid="10" grpId="0" animBg="1"/>
      <p:bldP spid="11" grpId="0" animBg="1"/>
      <p:bldP spid="21" grpId="0" animBg="1"/>
      <p:bldP spid="22" grpId="0" animBg="1"/>
      <p:bldP spid="24" grpId="0" animBg="1"/>
      <p:bldP spid="23" grpId="0" animBg="1"/>
      <p:bldP spid="12" grpId="0" animBg="1"/>
      <p:bldP spid="25" grpId="0" animBg="1"/>
      <p:bldP spid="2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dawn.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06</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WHAT YOU KEEP PER NIGHT</a:t>
            </a:r>
          </a:p>
        </p:txBody>
      </p:sp>
      <p:sp>
        <p:nvSpPr>
          <p:cNvPr id="7" name="TextBox 6"/>
          <p:cNvSpPr txBox="1"/>
          <p:nvPr/>
        </p:nvSpPr>
        <p:spPr>
          <a:xfrm>
            <a:off x="685800" y="1325880"/>
            <a:ext cx="5486400" cy="1828800"/>
          </a:xfrm>
          <a:prstGeom prst="rect">
            <a:avLst/>
          </a:prstGeom>
          <a:noFill/>
        </p:spPr>
        <p:txBody>
          <a:bodyPr wrap="square" lIns="0" rIns="0" tIns="0" bIns="0">
            <a:spAutoFit/>
          </a:bodyPr>
          <a:lstStyle/>
          <a:p>
            <a:pPr algn="l">
              <a:lnSpc>
                <a:spcPct val="95000"/>
              </a:lnSpc>
            </a:pPr>
            <a:r>
              <a:rPr sz="4600" b="1" i="0" spc="-100">
                <a:solidFill>
                  <a:srgbClr val="0B1020"/>
                </a:solidFill>
                <a:latin typeface="Bricolage Grotesque"/>
                <a:ea typeface="Inter"/>
                <a:cs typeface="Inter"/>
              </a:rPr>
              <a:t>You pay $2.16
for the night.</a:t>
            </a:r>
          </a:p>
        </p:txBody>
      </p:sp>
      <p:sp>
        <p:nvSpPr>
          <p:cNvPr id="8" name="TextBox 7"/>
          <p:cNvSpPr txBox="1"/>
          <p:nvPr/>
        </p:nvSpPr>
        <p:spPr>
          <a:xfrm>
            <a:off x="685800" y="2834640"/>
            <a:ext cx="5486400" cy="274320"/>
          </a:xfrm>
          <a:prstGeom prst="rect">
            <a:avLst/>
          </a:prstGeom>
          <a:noFill/>
        </p:spPr>
        <p:txBody>
          <a:bodyPr wrap="square" lIns="0" rIns="0" tIns="0" bIns="0">
            <a:spAutoFit/>
          </a:bodyPr>
          <a:lstStyle/>
          <a:p>
            <a:pPr algn="l"/>
            <a:r>
              <a:rPr sz="1200" b="1" i="0" spc="150">
                <a:solidFill>
                  <a:srgbClr val="7D8296"/>
                </a:solidFill>
                <a:latin typeface="Inter"/>
                <a:ea typeface="Inter"/>
                <a:cs typeface="Inter"/>
              </a:rPr>
              <a:t>WITH THREE PROPERTIES</a:t>
            </a:r>
          </a:p>
        </p:txBody>
      </p:sp>
      <p:sp>
        <p:nvSpPr>
          <p:cNvPr id="9" name="TextBox 8"/>
          <p:cNvSpPr txBox="1"/>
          <p:nvPr/>
        </p:nvSpPr>
        <p:spPr>
          <a:xfrm>
            <a:off x="685800" y="3383280"/>
            <a:ext cx="5486400" cy="1280160"/>
          </a:xfrm>
          <a:prstGeom prst="rect">
            <a:avLst/>
          </a:prstGeom>
          <a:noFill/>
        </p:spPr>
        <p:txBody>
          <a:bodyPr wrap="square" lIns="0" rIns="0" tIns="0" bIns="0">
            <a:spAutoFit/>
          </a:bodyPr>
          <a:lstStyle/>
          <a:p>
            <a:pPr algn="l">
              <a:lnSpc>
                <a:spcPct val="95000"/>
              </a:lnSpc>
            </a:pPr>
            <a:r>
              <a:rPr sz="3800" b="1" i="0" spc="-100">
                <a:solidFill>
                  <a:srgbClr val="FF5C4D"/>
                </a:solidFill>
                <a:latin typeface="Bricolage Grotesque"/>
                <a:ea typeface="Inter"/>
                <a:cs typeface="Inter"/>
              </a:rPr>
              <a:t>About $138 of it
lands with you.</a:t>
            </a:r>
          </a:p>
        </p:txBody>
      </p:sp>
      <p:sp>
        <p:nvSpPr>
          <p:cNvPr id="10" name="TextBox 9"/>
          <p:cNvSpPr txBox="1"/>
          <p:nvPr/>
        </p:nvSpPr>
        <p:spPr>
          <a:xfrm>
            <a:off x="685800" y="4846320"/>
            <a:ext cx="5120640" cy="822960"/>
          </a:xfrm>
          <a:prstGeom prst="rect">
            <a:avLst/>
          </a:prstGeom>
          <a:noFill/>
        </p:spPr>
        <p:txBody>
          <a:bodyPr wrap="square" lIns="0" rIns="0" tIns="0" bIns="0">
            <a:spAutoFit/>
          </a:bodyPr>
          <a:lstStyle/>
          <a:p>
            <a:pPr algn="l">
              <a:lnSpc>
                <a:spcPct val="140000"/>
              </a:lnSpc>
            </a:pPr>
            <a:r>
              <a:rPr sz="1000" b="0" i="0">
                <a:solidFill>
                  <a:srgbClr val="7D8296"/>
                </a:solidFill>
                <a:latin typeface="Inter"/>
                <a:ea typeface="Inter"/>
                <a:cs typeface="Inter"/>
              </a:rPr>
              <a:t>Illustrative. Your rate, your market, your own costs — utilities, supplies, taxes and insurance — will change this. We’ll run your real numbers at assessment.</a:t>
            </a:r>
          </a:p>
        </p:txBody>
      </p:sp>
      <p:sp>
        <p:nvSpPr>
          <p:cNvPr id="11" name="Rounded Rectangle 10"/>
          <p:cNvSpPr/>
          <p:nvPr/>
        </p:nvSpPr>
        <p:spPr>
          <a:xfrm>
            <a:off x="6949440" y="1051560"/>
            <a:ext cx="4572000" cy="4937760"/>
          </a:xfrm>
          <a:prstGeom prst="roundRect">
            <a:avLst>
              <a:gd name="adj" fmla="val 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7360919" y="1417319"/>
            <a:ext cx="2743200" cy="228600"/>
          </a:xfrm>
          <a:prstGeom prst="rect">
            <a:avLst/>
          </a:prstGeom>
          <a:noFill/>
        </p:spPr>
        <p:txBody>
          <a:bodyPr wrap="square" lIns="0" rIns="0" tIns="0" bIns="0">
            <a:spAutoFit/>
          </a:bodyPr>
          <a:lstStyle/>
          <a:p>
            <a:pPr algn="l"/>
            <a:r>
              <a:rPr sz="850" b="1" i="0" spc="200">
                <a:solidFill>
                  <a:srgbClr val="7D8296"/>
                </a:solidFill>
                <a:latin typeface="Inter"/>
                <a:ea typeface="Inter"/>
                <a:cs typeface="Inter"/>
              </a:rPr>
              <a:t>PER NIGHT · EXAMPLE</a:t>
            </a:r>
          </a:p>
        </p:txBody>
      </p:sp>
      <p:sp>
        <p:nvSpPr>
          <p:cNvPr id="13" name="TextBox 12"/>
          <p:cNvSpPr txBox="1"/>
          <p:nvPr/>
        </p:nvSpPr>
        <p:spPr>
          <a:xfrm>
            <a:off x="7360919" y="1920239"/>
            <a:ext cx="2560320" cy="320040"/>
          </a:xfrm>
          <a:prstGeom prst="rect">
            <a:avLst/>
          </a:prstGeom>
          <a:noFill/>
        </p:spPr>
        <p:txBody>
          <a:bodyPr wrap="square" lIns="0" rIns="0" tIns="0" bIns="0">
            <a:spAutoFit/>
          </a:bodyPr>
          <a:lstStyle/>
          <a:p>
            <a:pPr algn="l"/>
            <a:r>
              <a:rPr sz="1300" b="0" i="0">
                <a:solidFill>
                  <a:srgbClr val="41465A"/>
                </a:solidFill>
                <a:latin typeface="Inter"/>
                <a:ea typeface="Inter"/>
                <a:cs typeface="Inter"/>
              </a:rPr>
              <a:t>Typical nightly rate</a:t>
            </a:r>
          </a:p>
        </p:txBody>
      </p:sp>
      <p:sp>
        <p:nvSpPr>
          <p:cNvPr id="14" name="TextBox 13"/>
          <p:cNvSpPr txBox="1"/>
          <p:nvPr/>
        </p:nvSpPr>
        <p:spPr>
          <a:xfrm>
            <a:off x="9326880" y="1920239"/>
            <a:ext cx="1783080" cy="320040"/>
          </a:xfrm>
          <a:prstGeom prst="rect">
            <a:avLst/>
          </a:prstGeom>
          <a:noFill/>
        </p:spPr>
        <p:txBody>
          <a:bodyPr wrap="square" lIns="0" rIns="0" tIns="0" bIns="0">
            <a:spAutoFit/>
          </a:bodyPr>
          <a:lstStyle/>
          <a:p>
            <a:pPr algn="r"/>
            <a:r>
              <a:rPr sz="1400" b="1" i="0">
                <a:solidFill>
                  <a:srgbClr val="0B1020"/>
                </a:solidFill>
                <a:latin typeface="Inter"/>
                <a:ea typeface="Inter"/>
                <a:cs typeface="Inter"/>
              </a:rPr>
              <a:t>$150</a:t>
            </a:r>
          </a:p>
        </p:txBody>
      </p:sp>
      <p:sp>
        <p:nvSpPr>
          <p:cNvPr id="15" name="Rectangle 14"/>
          <p:cNvSpPr/>
          <p:nvPr/>
        </p:nvSpPr>
        <p:spPr>
          <a:xfrm>
            <a:off x="7360919" y="2395727"/>
            <a:ext cx="3749039" cy="10972"/>
          </a:xfrm>
          <a:prstGeom prst="rect">
            <a:avLst/>
          </a:prstGeom>
          <a:solidFill>
            <a:srgbClr val="ECEAE4"/>
          </a:solidFill>
          <a:ln>
            <a:noFill/>
          </a:ln>
        </p:spPr>
        <p:txBody>
          <a:bodyPr rtlCol="0" anchor="ctr"/>
          <a:lstStyle/>
          <a:p>
            <a:pPr algn="ctr"/>
          </a:p>
        </p:txBody>
      </p:sp>
      <p:sp>
        <p:nvSpPr>
          <p:cNvPr id="16" name="TextBox 15"/>
          <p:cNvSpPr txBox="1"/>
          <p:nvPr/>
        </p:nvSpPr>
        <p:spPr>
          <a:xfrm>
            <a:off x="7360919" y="2606039"/>
            <a:ext cx="2560320" cy="320040"/>
          </a:xfrm>
          <a:prstGeom prst="rect">
            <a:avLst/>
          </a:prstGeom>
          <a:noFill/>
        </p:spPr>
        <p:txBody>
          <a:bodyPr wrap="square" lIns="0" rIns="0" tIns="0" bIns="0">
            <a:spAutoFit/>
          </a:bodyPr>
          <a:lstStyle/>
          <a:p>
            <a:pPr algn="l"/>
            <a:r>
              <a:rPr sz="1300" b="0" i="0">
                <a:solidFill>
                  <a:srgbClr val="41465A"/>
                </a:solidFill>
                <a:latin typeface="Inter"/>
                <a:ea typeface="Inter"/>
                <a:cs typeface="Inter"/>
              </a:rPr>
              <a:t>Management fee at 8%</a:t>
            </a:r>
          </a:p>
        </p:txBody>
      </p:sp>
      <p:sp>
        <p:nvSpPr>
          <p:cNvPr id="17" name="TextBox 16"/>
          <p:cNvSpPr txBox="1"/>
          <p:nvPr/>
        </p:nvSpPr>
        <p:spPr>
          <a:xfrm>
            <a:off x="9326880" y="2606039"/>
            <a:ext cx="1783080" cy="320040"/>
          </a:xfrm>
          <a:prstGeom prst="rect">
            <a:avLst/>
          </a:prstGeom>
          <a:noFill/>
        </p:spPr>
        <p:txBody>
          <a:bodyPr wrap="square" lIns="0" rIns="0" tIns="0" bIns="0">
            <a:spAutoFit/>
          </a:bodyPr>
          <a:lstStyle/>
          <a:p>
            <a:pPr algn="r"/>
            <a:r>
              <a:rPr sz="1400" b="1" i="0">
                <a:solidFill>
                  <a:srgbClr val="FF5C4D"/>
                </a:solidFill>
                <a:latin typeface="Inter"/>
                <a:ea typeface="Inter"/>
                <a:cs typeface="Inter"/>
              </a:rPr>
              <a:t>−$12</a:t>
            </a:r>
          </a:p>
        </p:txBody>
      </p:sp>
      <p:sp>
        <p:nvSpPr>
          <p:cNvPr id="18" name="Rectangle 17"/>
          <p:cNvSpPr/>
          <p:nvPr/>
        </p:nvSpPr>
        <p:spPr>
          <a:xfrm>
            <a:off x="7360919" y="3081527"/>
            <a:ext cx="3749039" cy="10972"/>
          </a:xfrm>
          <a:prstGeom prst="rect">
            <a:avLst/>
          </a:prstGeom>
          <a:solidFill>
            <a:srgbClr val="ECEAE4"/>
          </a:solidFill>
          <a:ln>
            <a:noFill/>
          </a:ln>
        </p:spPr>
        <p:txBody>
          <a:bodyPr rtlCol="0" anchor="ctr"/>
          <a:lstStyle/>
          <a:p>
            <a:pPr algn="ctr"/>
          </a:p>
        </p:txBody>
      </p:sp>
      <p:sp>
        <p:nvSpPr>
          <p:cNvPr id="19" name="TextBox 18"/>
          <p:cNvSpPr txBox="1"/>
          <p:nvPr/>
        </p:nvSpPr>
        <p:spPr>
          <a:xfrm>
            <a:off x="7360919" y="3291839"/>
            <a:ext cx="2560320" cy="320040"/>
          </a:xfrm>
          <a:prstGeom prst="rect">
            <a:avLst/>
          </a:prstGeom>
          <a:noFill/>
        </p:spPr>
        <p:txBody>
          <a:bodyPr wrap="square" lIns="0" rIns="0" tIns="0" bIns="0">
            <a:spAutoFit/>
          </a:bodyPr>
          <a:lstStyle/>
          <a:p>
            <a:pPr algn="l"/>
            <a:r>
              <a:rPr sz="1300" b="0" i="0">
                <a:solidFill>
                  <a:srgbClr val="41465A"/>
                </a:solidFill>
                <a:latin typeface="Inter"/>
                <a:ea typeface="Inter"/>
                <a:cs typeface="Inter"/>
              </a:rPr>
              <a:t>Cleaning</a:t>
            </a:r>
          </a:p>
        </p:txBody>
      </p:sp>
      <p:sp>
        <p:nvSpPr>
          <p:cNvPr id="20" name="TextBox 19"/>
          <p:cNvSpPr txBox="1"/>
          <p:nvPr/>
        </p:nvSpPr>
        <p:spPr>
          <a:xfrm>
            <a:off x="9326880" y="3291839"/>
            <a:ext cx="1783080" cy="320040"/>
          </a:xfrm>
          <a:prstGeom prst="rect">
            <a:avLst/>
          </a:prstGeom>
          <a:noFill/>
        </p:spPr>
        <p:txBody>
          <a:bodyPr wrap="square" lIns="0" rIns="0" tIns="0" bIns="0">
            <a:spAutoFit/>
          </a:bodyPr>
          <a:lstStyle/>
          <a:p>
            <a:pPr algn="r"/>
            <a:r>
              <a:rPr sz="1150" b="1" i="0">
                <a:solidFill>
                  <a:srgbClr val="13843D"/>
                </a:solidFill>
                <a:latin typeface="Inter"/>
                <a:ea typeface="Inter"/>
                <a:cs typeface="Inter"/>
              </a:rPr>
              <a:t>Paid by the guest</a:t>
            </a:r>
          </a:p>
        </p:txBody>
      </p:sp>
      <p:sp>
        <p:nvSpPr>
          <p:cNvPr id="21" name="Rectangle 20"/>
          <p:cNvSpPr/>
          <p:nvPr/>
        </p:nvSpPr>
        <p:spPr>
          <a:xfrm>
            <a:off x="7360919" y="3767327"/>
            <a:ext cx="3749039" cy="10972"/>
          </a:xfrm>
          <a:prstGeom prst="rect">
            <a:avLst/>
          </a:prstGeom>
          <a:solidFill>
            <a:srgbClr val="ECEAE4"/>
          </a:solidFill>
          <a:ln>
            <a:noFill/>
          </a:ln>
        </p:spPr>
        <p:txBody>
          <a:bodyPr rtlCol="0" anchor="ctr"/>
          <a:lstStyle/>
          <a:p>
            <a:pPr algn="ctr"/>
          </a:p>
        </p:txBody>
      </p:sp>
      <p:sp>
        <p:nvSpPr>
          <p:cNvPr id="22" name="Oval 21"/>
          <p:cNvSpPr/>
          <p:nvPr/>
        </p:nvSpPr>
        <p:spPr>
          <a:xfrm>
            <a:off x="7360919" y="4114800"/>
            <a:ext cx="54864" cy="54864"/>
          </a:xfrm>
          <a:prstGeom prst="ellipse">
            <a:avLst/>
          </a:prstGeom>
          <a:solidFill>
            <a:srgbClr val="DDD9CF"/>
          </a:solidFill>
          <a:ln>
            <a:noFill/>
          </a:ln>
        </p:spPr>
        <p:txBody>
          <a:bodyPr rtlCol="0" anchor="ctr"/>
          <a:lstStyle/>
          <a:p>
            <a:pPr algn="ctr"/>
          </a:p>
        </p:txBody>
      </p:sp>
      <p:sp>
        <p:nvSpPr>
          <p:cNvPr id="23" name="Oval 22"/>
          <p:cNvSpPr/>
          <p:nvPr/>
        </p:nvSpPr>
        <p:spPr>
          <a:xfrm>
            <a:off x="7573933" y="4114800"/>
            <a:ext cx="54864" cy="54864"/>
          </a:xfrm>
          <a:prstGeom prst="ellipse">
            <a:avLst/>
          </a:prstGeom>
          <a:solidFill>
            <a:srgbClr val="DDD9CF"/>
          </a:solidFill>
          <a:ln>
            <a:noFill/>
          </a:ln>
        </p:spPr>
        <p:txBody>
          <a:bodyPr rtlCol="0" anchor="ctr"/>
          <a:lstStyle/>
          <a:p>
            <a:pPr algn="ctr"/>
          </a:p>
        </p:txBody>
      </p:sp>
      <p:sp>
        <p:nvSpPr>
          <p:cNvPr id="24" name="Oval 23"/>
          <p:cNvSpPr/>
          <p:nvPr/>
        </p:nvSpPr>
        <p:spPr>
          <a:xfrm>
            <a:off x="7786947" y="4114800"/>
            <a:ext cx="54864" cy="54864"/>
          </a:xfrm>
          <a:prstGeom prst="ellipse">
            <a:avLst/>
          </a:prstGeom>
          <a:solidFill>
            <a:srgbClr val="DDD9CF"/>
          </a:solidFill>
          <a:ln>
            <a:noFill/>
          </a:ln>
        </p:spPr>
        <p:txBody>
          <a:bodyPr rtlCol="0" anchor="ctr"/>
          <a:lstStyle/>
          <a:p>
            <a:pPr algn="ctr"/>
          </a:p>
        </p:txBody>
      </p:sp>
      <p:sp>
        <p:nvSpPr>
          <p:cNvPr id="25" name="Oval 24"/>
          <p:cNvSpPr/>
          <p:nvPr/>
        </p:nvSpPr>
        <p:spPr>
          <a:xfrm>
            <a:off x="7999960" y="4114800"/>
            <a:ext cx="54864" cy="54864"/>
          </a:xfrm>
          <a:prstGeom prst="ellipse">
            <a:avLst/>
          </a:prstGeom>
          <a:solidFill>
            <a:srgbClr val="DDD9CF"/>
          </a:solidFill>
          <a:ln>
            <a:noFill/>
          </a:ln>
        </p:spPr>
        <p:txBody>
          <a:bodyPr rtlCol="0" anchor="ctr"/>
          <a:lstStyle/>
          <a:p>
            <a:pPr algn="ctr"/>
          </a:p>
        </p:txBody>
      </p:sp>
      <p:sp>
        <p:nvSpPr>
          <p:cNvPr id="26" name="Oval 25"/>
          <p:cNvSpPr/>
          <p:nvPr/>
        </p:nvSpPr>
        <p:spPr>
          <a:xfrm>
            <a:off x="8212974" y="4114800"/>
            <a:ext cx="54864" cy="54864"/>
          </a:xfrm>
          <a:prstGeom prst="ellipse">
            <a:avLst/>
          </a:prstGeom>
          <a:solidFill>
            <a:srgbClr val="DDD9CF"/>
          </a:solidFill>
          <a:ln>
            <a:noFill/>
          </a:ln>
        </p:spPr>
        <p:txBody>
          <a:bodyPr rtlCol="0" anchor="ctr"/>
          <a:lstStyle/>
          <a:p>
            <a:pPr algn="ctr"/>
          </a:p>
        </p:txBody>
      </p:sp>
      <p:sp>
        <p:nvSpPr>
          <p:cNvPr id="27" name="Oval 26"/>
          <p:cNvSpPr/>
          <p:nvPr/>
        </p:nvSpPr>
        <p:spPr>
          <a:xfrm>
            <a:off x="8425988" y="4114800"/>
            <a:ext cx="54864" cy="54864"/>
          </a:xfrm>
          <a:prstGeom prst="ellipse">
            <a:avLst/>
          </a:prstGeom>
          <a:solidFill>
            <a:srgbClr val="DDD9CF"/>
          </a:solidFill>
          <a:ln>
            <a:noFill/>
          </a:ln>
        </p:spPr>
        <p:txBody>
          <a:bodyPr rtlCol="0" anchor="ctr"/>
          <a:lstStyle/>
          <a:p>
            <a:pPr algn="ctr"/>
          </a:p>
        </p:txBody>
      </p:sp>
      <p:sp>
        <p:nvSpPr>
          <p:cNvPr id="28" name="Oval 27"/>
          <p:cNvSpPr/>
          <p:nvPr/>
        </p:nvSpPr>
        <p:spPr>
          <a:xfrm>
            <a:off x="8639001" y="4114800"/>
            <a:ext cx="54864" cy="54864"/>
          </a:xfrm>
          <a:prstGeom prst="ellipse">
            <a:avLst/>
          </a:prstGeom>
          <a:solidFill>
            <a:srgbClr val="DDD9CF"/>
          </a:solidFill>
          <a:ln>
            <a:noFill/>
          </a:ln>
        </p:spPr>
        <p:txBody>
          <a:bodyPr rtlCol="0" anchor="ctr"/>
          <a:lstStyle/>
          <a:p>
            <a:pPr algn="ctr"/>
          </a:p>
        </p:txBody>
      </p:sp>
      <p:sp>
        <p:nvSpPr>
          <p:cNvPr id="29" name="Oval 28"/>
          <p:cNvSpPr/>
          <p:nvPr/>
        </p:nvSpPr>
        <p:spPr>
          <a:xfrm>
            <a:off x="8852015" y="4114800"/>
            <a:ext cx="54864" cy="54864"/>
          </a:xfrm>
          <a:prstGeom prst="ellipse">
            <a:avLst/>
          </a:prstGeom>
          <a:solidFill>
            <a:srgbClr val="DDD9CF"/>
          </a:solidFill>
          <a:ln>
            <a:noFill/>
          </a:ln>
        </p:spPr>
        <p:txBody>
          <a:bodyPr rtlCol="0" anchor="ctr"/>
          <a:lstStyle/>
          <a:p>
            <a:pPr algn="ctr"/>
          </a:p>
        </p:txBody>
      </p:sp>
      <p:sp>
        <p:nvSpPr>
          <p:cNvPr id="30" name="Oval 29"/>
          <p:cNvSpPr/>
          <p:nvPr/>
        </p:nvSpPr>
        <p:spPr>
          <a:xfrm>
            <a:off x="9065029" y="4114800"/>
            <a:ext cx="54864" cy="54864"/>
          </a:xfrm>
          <a:prstGeom prst="ellipse">
            <a:avLst/>
          </a:prstGeom>
          <a:solidFill>
            <a:srgbClr val="DDD9CF"/>
          </a:solidFill>
          <a:ln>
            <a:noFill/>
          </a:ln>
        </p:spPr>
        <p:txBody>
          <a:bodyPr rtlCol="0" anchor="ctr"/>
          <a:lstStyle/>
          <a:p>
            <a:pPr algn="ctr"/>
          </a:p>
        </p:txBody>
      </p:sp>
      <p:sp>
        <p:nvSpPr>
          <p:cNvPr id="31" name="Oval 30"/>
          <p:cNvSpPr/>
          <p:nvPr/>
        </p:nvSpPr>
        <p:spPr>
          <a:xfrm>
            <a:off x="9278042" y="4114800"/>
            <a:ext cx="54864" cy="54864"/>
          </a:xfrm>
          <a:prstGeom prst="ellipse">
            <a:avLst/>
          </a:prstGeom>
          <a:solidFill>
            <a:srgbClr val="DDD9CF"/>
          </a:solidFill>
          <a:ln>
            <a:noFill/>
          </a:ln>
        </p:spPr>
        <p:txBody>
          <a:bodyPr rtlCol="0" anchor="ctr"/>
          <a:lstStyle/>
          <a:p>
            <a:pPr algn="ctr"/>
          </a:p>
        </p:txBody>
      </p:sp>
      <p:sp>
        <p:nvSpPr>
          <p:cNvPr id="32" name="Oval 31"/>
          <p:cNvSpPr/>
          <p:nvPr/>
        </p:nvSpPr>
        <p:spPr>
          <a:xfrm>
            <a:off x="9491056" y="4114800"/>
            <a:ext cx="54864" cy="54864"/>
          </a:xfrm>
          <a:prstGeom prst="ellipse">
            <a:avLst/>
          </a:prstGeom>
          <a:solidFill>
            <a:srgbClr val="DDD9CF"/>
          </a:solidFill>
          <a:ln>
            <a:noFill/>
          </a:ln>
        </p:spPr>
        <p:txBody>
          <a:bodyPr rtlCol="0" anchor="ctr"/>
          <a:lstStyle/>
          <a:p>
            <a:pPr algn="ctr"/>
          </a:p>
        </p:txBody>
      </p:sp>
      <p:sp>
        <p:nvSpPr>
          <p:cNvPr id="33" name="Oval 32"/>
          <p:cNvSpPr/>
          <p:nvPr/>
        </p:nvSpPr>
        <p:spPr>
          <a:xfrm>
            <a:off x="9704069" y="4114800"/>
            <a:ext cx="54864" cy="54864"/>
          </a:xfrm>
          <a:prstGeom prst="ellipse">
            <a:avLst/>
          </a:prstGeom>
          <a:solidFill>
            <a:srgbClr val="DDD9CF"/>
          </a:solidFill>
          <a:ln>
            <a:noFill/>
          </a:ln>
        </p:spPr>
        <p:txBody>
          <a:bodyPr rtlCol="0" anchor="ctr"/>
          <a:lstStyle/>
          <a:p>
            <a:pPr algn="ctr"/>
          </a:p>
        </p:txBody>
      </p:sp>
      <p:sp>
        <p:nvSpPr>
          <p:cNvPr id="34" name="Oval 33"/>
          <p:cNvSpPr/>
          <p:nvPr/>
        </p:nvSpPr>
        <p:spPr>
          <a:xfrm>
            <a:off x="9917083" y="4114800"/>
            <a:ext cx="54864" cy="54864"/>
          </a:xfrm>
          <a:prstGeom prst="ellipse">
            <a:avLst/>
          </a:prstGeom>
          <a:solidFill>
            <a:srgbClr val="DDD9CF"/>
          </a:solidFill>
          <a:ln>
            <a:noFill/>
          </a:ln>
        </p:spPr>
        <p:txBody>
          <a:bodyPr rtlCol="0" anchor="ctr"/>
          <a:lstStyle/>
          <a:p>
            <a:pPr algn="ctr"/>
          </a:p>
        </p:txBody>
      </p:sp>
      <p:sp>
        <p:nvSpPr>
          <p:cNvPr id="35" name="Oval 34"/>
          <p:cNvSpPr/>
          <p:nvPr/>
        </p:nvSpPr>
        <p:spPr>
          <a:xfrm>
            <a:off x="10130097" y="4114800"/>
            <a:ext cx="54864" cy="54864"/>
          </a:xfrm>
          <a:prstGeom prst="ellipse">
            <a:avLst/>
          </a:prstGeom>
          <a:solidFill>
            <a:srgbClr val="DDD9CF"/>
          </a:solidFill>
          <a:ln>
            <a:noFill/>
          </a:ln>
        </p:spPr>
        <p:txBody>
          <a:bodyPr rtlCol="0" anchor="ctr"/>
          <a:lstStyle/>
          <a:p>
            <a:pPr algn="ctr"/>
          </a:p>
        </p:txBody>
      </p:sp>
      <p:sp>
        <p:nvSpPr>
          <p:cNvPr id="36" name="Oval 35"/>
          <p:cNvSpPr/>
          <p:nvPr/>
        </p:nvSpPr>
        <p:spPr>
          <a:xfrm>
            <a:off x="10343110" y="4114800"/>
            <a:ext cx="54864" cy="54864"/>
          </a:xfrm>
          <a:prstGeom prst="ellipse">
            <a:avLst/>
          </a:prstGeom>
          <a:solidFill>
            <a:srgbClr val="DDD9CF"/>
          </a:solidFill>
          <a:ln>
            <a:noFill/>
          </a:ln>
        </p:spPr>
        <p:txBody>
          <a:bodyPr rtlCol="0" anchor="ctr"/>
          <a:lstStyle/>
          <a:p>
            <a:pPr algn="ctr"/>
          </a:p>
        </p:txBody>
      </p:sp>
      <p:sp>
        <p:nvSpPr>
          <p:cNvPr id="37" name="Oval 36"/>
          <p:cNvSpPr/>
          <p:nvPr/>
        </p:nvSpPr>
        <p:spPr>
          <a:xfrm>
            <a:off x="10556124" y="4114800"/>
            <a:ext cx="54864" cy="54864"/>
          </a:xfrm>
          <a:prstGeom prst="ellipse">
            <a:avLst/>
          </a:prstGeom>
          <a:solidFill>
            <a:srgbClr val="DDD9CF"/>
          </a:solidFill>
          <a:ln>
            <a:noFill/>
          </a:ln>
        </p:spPr>
        <p:txBody>
          <a:bodyPr rtlCol="0" anchor="ctr"/>
          <a:lstStyle/>
          <a:p>
            <a:pPr algn="ctr"/>
          </a:p>
        </p:txBody>
      </p:sp>
      <p:sp>
        <p:nvSpPr>
          <p:cNvPr id="38" name="Oval 37"/>
          <p:cNvSpPr/>
          <p:nvPr/>
        </p:nvSpPr>
        <p:spPr>
          <a:xfrm>
            <a:off x="10769138" y="4114800"/>
            <a:ext cx="54864" cy="54864"/>
          </a:xfrm>
          <a:prstGeom prst="ellipse">
            <a:avLst/>
          </a:prstGeom>
          <a:solidFill>
            <a:srgbClr val="DDD9CF"/>
          </a:solidFill>
          <a:ln>
            <a:noFill/>
          </a:ln>
        </p:spPr>
        <p:txBody>
          <a:bodyPr rtlCol="0" anchor="ctr"/>
          <a:lstStyle/>
          <a:p>
            <a:pPr algn="ctr"/>
          </a:p>
        </p:txBody>
      </p:sp>
      <p:sp>
        <p:nvSpPr>
          <p:cNvPr id="39" name="Oval 38"/>
          <p:cNvSpPr/>
          <p:nvPr/>
        </p:nvSpPr>
        <p:spPr>
          <a:xfrm>
            <a:off x="10982151" y="4114800"/>
            <a:ext cx="54864" cy="54864"/>
          </a:xfrm>
          <a:prstGeom prst="ellipse">
            <a:avLst/>
          </a:prstGeom>
          <a:solidFill>
            <a:srgbClr val="DDD9CF"/>
          </a:solidFill>
          <a:ln>
            <a:noFill/>
          </a:ln>
        </p:spPr>
        <p:txBody>
          <a:bodyPr rtlCol="0" anchor="ctr"/>
          <a:lstStyle/>
          <a:p>
            <a:pPr algn="ctr"/>
          </a:p>
        </p:txBody>
      </p:sp>
      <p:sp>
        <p:nvSpPr>
          <p:cNvPr id="40" name="TextBox 39"/>
          <p:cNvSpPr txBox="1"/>
          <p:nvPr/>
        </p:nvSpPr>
        <p:spPr>
          <a:xfrm>
            <a:off x="7360919" y="4434840"/>
            <a:ext cx="2286000" cy="320040"/>
          </a:xfrm>
          <a:prstGeom prst="rect">
            <a:avLst/>
          </a:prstGeom>
          <a:noFill/>
        </p:spPr>
        <p:txBody>
          <a:bodyPr wrap="square" lIns="0" rIns="0" tIns="0" bIns="0">
            <a:spAutoFit/>
          </a:bodyPr>
          <a:lstStyle/>
          <a:p>
            <a:pPr algn="l"/>
            <a:r>
              <a:rPr sz="1400" b="1" i="0">
                <a:solidFill>
                  <a:srgbClr val="0B1020"/>
                </a:solidFill>
                <a:latin typeface="Inter"/>
                <a:ea typeface="Inter"/>
                <a:cs typeface="Inter"/>
              </a:rPr>
              <a:t>Lands with you</a:t>
            </a:r>
          </a:p>
        </p:txBody>
      </p:sp>
      <p:sp>
        <p:nvSpPr>
          <p:cNvPr id="41" name="TextBox 40"/>
          <p:cNvSpPr txBox="1"/>
          <p:nvPr/>
        </p:nvSpPr>
        <p:spPr>
          <a:xfrm>
            <a:off x="9144000" y="4251960"/>
            <a:ext cx="1965960" cy="822960"/>
          </a:xfrm>
          <a:prstGeom prst="rect">
            <a:avLst/>
          </a:prstGeom>
          <a:noFill/>
        </p:spPr>
        <p:txBody>
          <a:bodyPr wrap="square" lIns="0" rIns="0" tIns="0" bIns="0">
            <a:spAutoFit/>
          </a:bodyPr>
          <a:lstStyle/>
          <a:p>
            <a:pPr algn="r">
              <a:lnSpc>
                <a:spcPct val="95000"/>
              </a:lnSpc>
            </a:pPr>
            <a:r>
              <a:rPr sz="5400" b="1" i="0" spc="-200">
                <a:solidFill>
                  <a:srgbClr val="0B1020"/>
                </a:solidFill>
                <a:latin typeface="Bricolage Grotesque"/>
                <a:ea typeface="Inter"/>
                <a:cs typeface="Inter"/>
              </a:rPr>
              <a:t>$138</a:t>
            </a:r>
          </a:p>
        </p:txBody>
      </p:sp>
      <p:sp>
        <p:nvSpPr>
          <p:cNvPr id="42" name="TextBox 41"/>
          <p:cNvSpPr txBox="1"/>
          <p:nvPr/>
        </p:nvSpPr>
        <p:spPr>
          <a:xfrm>
            <a:off x="7360919" y="5394960"/>
            <a:ext cx="3749039" cy="274320"/>
          </a:xfrm>
          <a:prstGeom prst="rect">
            <a:avLst/>
          </a:prstGeom>
          <a:noFill/>
        </p:spPr>
        <p:txBody>
          <a:bodyPr wrap="square" lIns="0" rIns="0" tIns="0" bIns="0">
            <a:spAutoFit/>
          </a:bodyPr>
          <a:lstStyle/>
          <a:p>
            <a:pPr algn="l"/>
            <a:r>
              <a:rPr sz="850" b="0" i="0">
                <a:solidFill>
                  <a:srgbClr val="7D8296"/>
                </a:solidFill>
                <a:latin typeface="Inter"/>
                <a:ea typeface="Inter"/>
                <a:cs typeface="Inter"/>
              </a:rPr>
              <a:t>Illustrative, before your own operating costs and taxes.</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10" presetClass="entr" presetSubtype="0" fill="hold" grpId="0" nodeType="withEffect">
                                  <p:stCondLst>
                                    <p:cond delay="304"/>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700"/>
                                        <p:tgtEl>
                                          <p:spTgt spid="11"/>
                                        </p:tgtEl>
                                      </p:cBhvr>
                                    </p:animEffect>
                                  </p:childTnLst>
                                </p:cTn>
                              </p:par>
                              <p:par>
                                <p:cTn id="11" presetID="42" presetClass="entr" presetSubtype="0" fill="hold" grpId="0" nodeType="withEffect">
                                  <p:stCondLst>
                                    <p:cond delay="358"/>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900"/>
                                        <p:tgtEl>
                                          <p:spTgt spid="7"/>
                                        </p:tgtEl>
                                      </p:cBhvr>
                                    </p:animEffect>
                                    <p:anim calcmode="lin" valueType="num">
                                      <p:cBhvr>
                                        <p:cTn id="14" dur="900" decel="100000"/>
                                        <p:tgtEl>
                                          <p:spTgt spid="7"/>
                                        </p:tgtEl>
                                        <p:attrNameLst>
                                          <p:attrName>ppt_x</p:attrName>
                                        </p:attrNameLst>
                                      </p:cBhvr>
                                      <p:tavLst>
                                        <p:tav tm="0">
                                          <p:val>
                                            <p:strVal val="#ppt_x"/>
                                          </p:val>
                                        </p:tav>
                                        <p:tav tm="100000">
                                          <p:val>
                                            <p:strVal val="#ppt_x"/>
                                          </p:val>
                                        </p:tav>
                                      </p:tavLst>
                                    </p:anim>
                                    <p:anim calcmode="lin" valueType="num">
                                      <p:cBhvr>
                                        <p:cTn id="15" dur="900" decel="100000"/>
                                        <p:tgtEl>
                                          <p:spTgt spid="7"/>
                                        </p:tgtEl>
                                        <p:attrNameLst>
                                          <p:attrName>ppt_y</p:attrName>
                                        </p:attrNameLst>
                                      </p:cBhvr>
                                      <p:tavLst>
                                        <p:tav tm="0">
                                          <p:val>
                                            <p:strVal val="#ppt_y+.035"/>
                                          </p:val>
                                        </p:tav>
                                        <p:tav tm="100000">
                                          <p:val>
                                            <p:strVal val="#ppt_y"/>
                                          </p:val>
                                        </p:tav>
                                      </p:tavLst>
                                    </p:anim>
                                  </p:childTnLst>
                                </p:cTn>
                              </p:par>
                              <p:par>
                                <p:cTn id="16" presetID="10" presetClass="entr" presetSubtype="0" fill="hold" grpId="0" nodeType="withEffect">
                                  <p:stCondLst>
                                    <p:cond delay="412"/>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700"/>
                                        <p:tgtEl>
                                          <p:spTgt spid="12"/>
                                        </p:tgtEl>
                                      </p:cBhvr>
                                    </p:animEffect>
                                  </p:childTnLst>
                                </p:cTn>
                              </p:par>
                              <p:par>
                                <p:cTn id="19" presetID="10" presetClass="entr" presetSubtype="0" fill="hold" grpId="0" nodeType="withEffect">
                                  <p:stCondLst>
                                    <p:cond delay="466"/>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700"/>
                                        <p:tgtEl>
                                          <p:spTgt spid="13"/>
                                        </p:tgtEl>
                                      </p:cBhvr>
                                    </p:animEffect>
                                  </p:childTnLst>
                                </p:cTn>
                              </p:par>
                              <p:par>
                                <p:cTn id="22" presetID="10" presetClass="entr" presetSubtype="0" fill="hold" grpId="0" nodeType="withEffect">
                                  <p:stCondLst>
                                    <p:cond delay="52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700"/>
                                        <p:tgtEl>
                                          <p:spTgt spid="14"/>
                                        </p:tgtEl>
                                      </p:cBhvr>
                                    </p:animEffect>
                                  </p:childTnLst>
                                </p:cTn>
                              </p:par>
                              <p:par>
                                <p:cTn id="25" presetID="22" presetClass="entr" presetSubtype="8" fill="hold" grpId="0" nodeType="withEffect">
                                  <p:stCondLst>
                                    <p:cond delay="574"/>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700"/>
                                        <p:tgtEl>
                                          <p:spTgt spid="15"/>
                                        </p:tgtEl>
                                      </p:cBhvr>
                                    </p:animEffect>
                                  </p:childTnLst>
                                </p:cTn>
                              </p:par>
                              <p:par>
                                <p:cTn id="28" presetID="10" presetClass="entr" presetSubtype="0" fill="hold" grpId="0" nodeType="withEffect">
                                  <p:stCondLst>
                                    <p:cond delay="628"/>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700"/>
                                        <p:tgtEl>
                                          <p:spTgt spid="16"/>
                                        </p:tgtEl>
                                      </p:cBhvr>
                                    </p:animEffect>
                                  </p:childTnLst>
                                </p:cTn>
                              </p:par>
                              <p:par>
                                <p:cTn id="31" presetID="10" presetClass="entr" presetSubtype="0" fill="hold" grpId="0" nodeType="withEffect">
                                  <p:stCondLst>
                                    <p:cond delay="682"/>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700"/>
                                        <p:tgtEl>
                                          <p:spTgt spid="17"/>
                                        </p:tgtEl>
                                      </p:cBhvr>
                                    </p:animEffect>
                                  </p:childTnLst>
                                </p:cTn>
                              </p:par>
                              <p:par>
                                <p:cTn id="34" presetID="10" presetClass="entr" presetSubtype="0" fill="hold" grpId="0" nodeType="withEffect">
                                  <p:stCondLst>
                                    <p:cond delay="736"/>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700"/>
                                        <p:tgtEl>
                                          <p:spTgt spid="8"/>
                                        </p:tgtEl>
                                      </p:cBhvr>
                                    </p:animEffect>
                                  </p:childTnLst>
                                </p:cTn>
                              </p:par>
                              <p:par>
                                <p:cTn id="37" presetID="22" presetClass="entr" presetSubtype="8" fill="hold" grpId="0" nodeType="withEffect">
                                  <p:stCondLst>
                                    <p:cond delay="79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700"/>
                                        <p:tgtEl>
                                          <p:spTgt spid="18"/>
                                        </p:tgtEl>
                                      </p:cBhvr>
                                    </p:animEffect>
                                  </p:childTnLst>
                                </p:cTn>
                              </p:par>
                              <p:par>
                                <p:cTn id="40" presetID="10" presetClass="entr" presetSubtype="0" fill="hold" grpId="0" nodeType="withEffect">
                                  <p:stCondLst>
                                    <p:cond delay="844"/>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700"/>
                                        <p:tgtEl>
                                          <p:spTgt spid="19"/>
                                        </p:tgtEl>
                                      </p:cBhvr>
                                    </p:animEffect>
                                  </p:childTnLst>
                                </p:cTn>
                              </p:par>
                              <p:par>
                                <p:cTn id="43" presetID="10" presetClass="entr" presetSubtype="0" fill="hold" grpId="0" nodeType="withEffect">
                                  <p:stCondLst>
                                    <p:cond delay="898"/>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700"/>
                                        <p:tgtEl>
                                          <p:spTgt spid="20"/>
                                        </p:tgtEl>
                                      </p:cBhvr>
                                    </p:animEffect>
                                  </p:childTnLst>
                                </p:cTn>
                              </p:par>
                              <p:par>
                                <p:cTn id="46" presetID="42" presetClass="entr" presetSubtype="0" fill="hold" grpId="0" nodeType="withEffect">
                                  <p:stCondLst>
                                    <p:cond delay="952"/>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900"/>
                                        <p:tgtEl>
                                          <p:spTgt spid="9"/>
                                        </p:tgtEl>
                                      </p:cBhvr>
                                    </p:animEffect>
                                    <p:anim calcmode="lin" valueType="num">
                                      <p:cBhvr>
                                        <p:cTn id="49" dur="900" decel="100000"/>
                                        <p:tgtEl>
                                          <p:spTgt spid="9"/>
                                        </p:tgtEl>
                                        <p:attrNameLst>
                                          <p:attrName>ppt_x</p:attrName>
                                        </p:attrNameLst>
                                      </p:cBhvr>
                                      <p:tavLst>
                                        <p:tav tm="0">
                                          <p:val>
                                            <p:strVal val="#ppt_x"/>
                                          </p:val>
                                        </p:tav>
                                        <p:tav tm="100000">
                                          <p:val>
                                            <p:strVal val="#ppt_x"/>
                                          </p:val>
                                        </p:tav>
                                      </p:tavLst>
                                    </p:anim>
                                    <p:anim calcmode="lin" valueType="num">
                                      <p:cBhvr>
                                        <p:cTn id="50" dur="900" decel="100000"/>
                                        <p:tgtEl>
                                          <p:spTgt spid="9"/>
                                        </p:tgtEl>
                                        <p:attrNameLst>
                                          <p:attrName>ppt_y</p:attrName>
                                        </p:attrNameLst>
                                      </p:cBhvr>
                                      <p:tavLst>
                                        <p:tav tm="0">
                                          <p:val>
                                            <p:strVal val="#ppt_y+.035"/>
                                          </p:val>
                                        </p:tav>
                                        <p:tav tm="100000">
                                          <p:val>
                                            <p:strVal val="#ppt_y"/>
                                          </p:val>
                                        </p:tav>
                                      </p:tavLst>
                                    </p:anim>
                                  </p:childTnLst>
                                </p:cTn>
                              </p:par>
                              <p:par>
                                <p:cTn id="51" presetID="22" presetClass="entr" presetSubtype="8" fill="hold" grpId="0" nodeType="withEffect">
                                  <p:stCondLst>
                                    <p:cond delay="1006"/>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700"/>
                                        <p:tgtEl>
                                          <p:spTgt spid="21"/>
                                        </p:tgtEl>
                                      </p:cBhvr>
                                    </p:animEffect>
                                  </p:childTnLst>
                                </p:cTn>
                              </p:par>
                              <p:par>
                                <p:cTn id="54" presetID="10" presetClass="entr" presetSubtype="0" fill="hold" grpId="0" nodeType="withEffect">
                                  <p:stCondLst>
                                    <p:cond delay="106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700"/>
                                        <p:tgtEl>
                                          <p:spTgt spid="22"/>
                                        </p:tgtEl>
                                      </p:cBhvr>
                                    </p:animEffect>
                                  </p:childTnLst>
                                </p:cTn>
                              </p:par>
                              <p:par>
                                <p:cTn id="57" presetID="10" presetClass="entr" presetSubtype="0" fill="hold" grpId="0" nodeType="withEffect">
                                  <p:stCondLst>
                                    <p:cond delay="1114"/>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700"/>
                                        <p:tgtEl>
                                          <p:spTgt spid="23"/>
                                        </p:tgtEl>
                                      </p:cBhvr>
                                    </p:animEffect>
                                  </p:childTnLst>
                                </p:cTn>
                              </p:par>
                              <p:par>
                                <p:cTn id="60" presetID="10" presetClass="entr" presetSubtype="0" fill="hold" grpId="0" nodeType="withEffect">
                                  <p:stCondLst>
                                    <p:cond delay="1168"/>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700"/>
                                        <p:tgtEl>
                                          <p:spTgt spid="24"/>
                                        </p:tgtEl>
                                      </p:cBhvr>
                                    </p:animEffect>
                                  </p:childTnLst>
                                </p:cTn>
                              </p:par>
                              <p:par>
                                <p:cTn id="63" presetID="10" presetClass="entr" presetSubtype="0" fill="hold" grpId="0" nodeType="withEffect">
                                  <p:stCondLst>
                                    <p:cond delay="1222"/>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700"/>
                                        <p:tgtEl>
                                          <p:spTgt spid="25"/>
                                        </p:tgtEl>
                                      </p:cBhvr>
                                    </p:animEffect>
                                  </p:childTnLst>
                                </p:cTn>
                              </p:par>
                              <p:par>
                                <p:cTn id="66" presetID="10" presetClass="entr" presetSubtype="0" fill="hold" grpId="0" nodeType="withEffect">
                                  <p:stCondLst>
                                    <p:cond delay="1276"/>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700"/>
                                        <p:tgtEl>
                                          <p:spTgt spid="26"/>
                                        </p:tgtEl>
                                      </p:cBhvr>
                                    </p:animEffect>
                                  </p:childTnLst>
                                </p:cTn>
                              </p:par>
                              <p:par>
                                <p:cTn id="69" presetID="10" presetClass="entr" presetSubtype="0" fill="hold" grpId="0" nodeType="withEffect">
                                  <p:stCondLst>
                                    <p:cond delay="133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700"/>
                                        <p:tgtEl>
                                          <p:spTgt spid="27"/>
                                        </p:tgtEl>
                                      </p:cBhvr>
                                    </p:animEffect>
                                  </p:childTnLst>
                                </p:cTn>
                              </p:par>
                              <p:par>
                                <p:cTn id="72" presetID="10" presetClass="entr" presetSubtype="0" fill="hold" grpId="0" nodeType="withEffect">
                                  <p:stCondLst>
                                    <p:cond delay="1384"/>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700"/>
                                        <p:tgtEl>
                                          <p:spTgt spid="28"/>
                                        </p:tgtEl>
                                      </p:cBhvr>
                                    </p:animEffect>
                                  </p:childTnLst>
                                </p:cTn>
                              </p:par>
                              <p:par>
                                <p:cTn id="75" presetID="10" presetClass="entr" presetSubtype="0" fill="hold" grpId="0" nodeType="withEffect">
                                  <p:stCondLst>
                                    <p:cond delay="1438"/>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700"/>
                                        <p:tgtEl>
                                          <p:spTgt spid="29"/>
                                        </p:tgtEl>
                                      </p:cBhvr>
                                    </p:animEffect>
                                  </p:childTnLst>
                                </p:cTn>
                              </p:par>
                              <p:par>
                                <p:cTn id="78" presetID="10" presetClass="entr" presetSubtype="0" fill="hold" grpId="0" nodeType="withEffect">
                                  <p:stCondLst>
                                    <p:cond delay="1492"/>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700"/>
                                        <p:tgtEl>
                                          <p:spTgt spid="30"/>
                                        </p:tgtEl>
                                      </p:cBhvr>
                                    </p:animEffect>
                                  </p:childTnLst>
                                </p:cTn>
                              </p:par>
                              <p:par>
                                <p:cTn id="81" presetID="42" presetClass="entr" presetSubtype="0" fill="hold" grpId="0" nodeType="withEffect">
                                  <p:stCondLst>
                                    <p:cond delay="1546"/>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900"/>
                                        <p:tgtEl>
                                          <p:spTgt spid="41"/>
                                        </p:tgtEl>
                                      </p:cBhvr>
                                    </p:animEffect>
                                    <p:anim calcmode="lin" valueType="num">
                                      <p:cBhvr>
                                        <p:cTn id="84" dur="900" decel="100000"/>
                                        <p:tgtEl>
                                          <p:spTgt spid="41"/>
                                        </p:tgtEl>
                                        <p:attrNameLst>
                                          <p:attrName>ppt_x</p:attrName>
                                        </p:attrNameLst>
                                      </p:cBhvr>
                                      <p:tavLst>
                                        <p:tav tm="0">
                                          <p:val>
                                            <p:strVal val="#ppt_x"/>
                                          </p:val>
                                        </p:tav>
                                        <p:tav tm="100000">
                                          <p:val>
                                            <p:strVal val="#ppt_x"/>
                                          </p:val>
                                        </p:tav>
                                      </p:tavLst>
                                    </p:anim>
                                    <p:anim calcmode="lin" valueType="num">
                                      <p:cBhvr>
                                        <p:cTn id="85" dur="900" decel="100000"/>
                                        <p:tgtEl>
                                          <p:spTgt spid="41"/>
                                        </p:tgtEl>
                                        <p:attrNameLst>
                                          <p:attrName>ppt_y</p:attrName>
                                        </p:attrNameLst>
                                      </p:cBhvr>
                                      <p:tavLst>
                                        <p:tav tm="0">
                                          <p:val>
                                            <p:strVal val="#ppt_y+.035"/>
                                          </p:val>
                                        </p:tav>
                                        <p:tav tm="100000">
                                          <p:val>
                                            <p:strVal val="#ppt_y"/>
                                          </p:val>
                                        </p:tav>
                                      </p:tavLst>
                                    </p:anim>
                                  </p:childTnLst>
                                </p:cTn>
                              </p:par>
                              <p:par>
                                <p:cTn id="86" presetID="10" presetClass="entr" presetSubtype="0" fill="hold" grpId="0" nodeType="withEffect">
                                  <p:stCondLst>
                                    <p:cond delay="160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700"/>
                                        <p:tgtEl>
                                          <p:spTgt spid="31"/>
                                        </p:tgtEl>
                                      </p:cBhvr>
                                    </p:animEffect>
                                  </p:childTnLst>
                                </p:cTn>
                              </p:par>
                              <p:par>
                                <p:cTn id="89" presetID="10" presetClass="entr" presetSubtype="0" fill="hold" grpId="0" nodeType="withEffect">
                                  <p:stCondLst>
                                    <p:cond delay="1654"/>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700"/>
                                        <p:tgtEl>
                                          <p:spTgt spid="32"/>
                                        </p:tgtEl>
                                      </p:cBhvr>
                                    </p:animEffect>
                                  </p:childTnLst>
                                </p:cTn>
                              </p:par>
                              <p:par>
                                <p:cTn id="92" presetID="10" presetClass="entr" presetSubtype="0" fill="hold" grpId="0" nodeType="withEffect">
                                  <p:stCondLst>
                                    <p:cond delay="1708"/>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700"/>
                                        <p:tgtEl>
                                          <p:spTgt spid="33"/>
                                        </p:tgtEl>
                                      </p:cBhvr>
                                    </p:animEffect>
                                  </p:childTnLst>
                                </p:cTn>
                              </p:par>
                              <p:par>
                                <p:cTn id="95" presetID="10" presetClass="entr" presetSubtype="0" fill="hold" grpId="0" nodeType="withEffect">
                                  <p:stCondLst>
                                    <p:cond delay="1762"/>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700"/>
                                        <p:tgtEl>
                                          <p:spTgt spid="34"/>
                                        </p:tgtEl>
                                      </p:cBhvr>
                                    </p:animEffect>
                                  </p:childTnLst>
                                </p:cTn>
                              </p:par>
                              <p:par>
                                <p:cTn id="98" presetID="10" presetClass="entr" presetSubtype="0" fill="hold" grpId="0" nodeType="withEffect">
                                  <p:stCondLst>
                                    <p:cond delay="1816"/>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700"/>
                                        <p:tgtEl>
                                          <p:spTgt spid="35"/>
                                        </p:tgtEl>
                                      </p:cBhvr>
                                    </p:animEffect>
                                  </p:childTnLst>
                                </p:cTn>
                              </p:par>
                              <p:par>
                                <p:cTn id="101" presetID="10" presetClass="entr" presetSubtype="0" fill="hold" grpId="0" nodeType="withEffect">
                                  <p:stCondLst>
                                    <p:cond delay="187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700"/>
                                        <p:tgtEl>
                                          <p:spTgt spid="36"/>
                                        </p:tgtEl>
                                      </p:cBhvr>
                                    </p:animEffect>
                                  </p:childTnLst>
                                </p:cTn>
                              </p:par>
                              <p:par>
                                <p:cTn id="104" presetID="10" presetClass="entr" presetSubtype="0" fill="hold" grpId="0" nodeType="withEffect">
                                  <p:stCondLst>
                                    <p:cond delay="1924"/>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700"/>
                                        <p:tgtEl>
                                          <p:spTgt spid="37"/>
                                        </p:tgtEl>
                                      </p:cBhvr>
                                    </p:animEffect>
                                  </p:childTnLst>
                                </p:cTn>
                              </p:par>
                              <p:par>
                                <p:cTn id="107" presetID="10" presetClass="entr" presetSubtype="0" fill="hold" grpId="0" nodeType="withEffect">
                                  <p:stCondLst>
                                    <p:cond delay="1978"/>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700"/>
                                        <p:tgtEl>
                                          <p:spTgt spid="38"/>
                                        </p:tgtEl>
                                      </p:cBhvr>
                                    </p:animEffect>
                                  </p:childTnLst>
                                </p:cTn>
                              </p:par>
                              <p:par>
                                <p:cTn id="110" presetID="10" presetClass="entr" presetSubtype="0" fill="hold" grpId="0" nodeType="withEffect">
                                  <p:stCondLst>
                                    <p:cond delay="2032"/>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700"/>
                                        <p:tgtEl>
                                          <p:spTgt spid="39"/>
                                        </p:tgtEl>
                                      </p:cBhvr>
                                    </p:animEffect>
                                  </p:childTnLst>
                                </p:cTn>
                              </p:par>
                              <p:par>
                                <p:cTn id="113" presetID="10" presetClass="entr" presetSubtype="0" fill="hold" grpId="0" nodeType="withEffect">
                                  <p:stCondLst>
                                    <p:cond delay="2086"/>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700"/>
                                        <p:tgtEl>
                                          <p:spTgt spid="40"/>
                                        </p:tgtEl>
                                      </p:cBhvr>
                                    </p:animEffect>
                                  </p:childTnLst>
                                </p:cTn>
                              </p:par>
                              <p:par>
                                <p:cTn id="116" presetID="10" presetClass="entr" presetSubtype="0" fill="hold" grpId="0" nodeType="withEffect">
                                  <p:stCondLst>
                                    <p:cond delay="2140"/>
                                  </p:stCondLst>
                                  <p:childTnLst>
                                    <p:set>
                                      <p:cBhvr>
                                        <p:cTn id="117" dur="1" fill="hold">
                                          <p:stCondLst>
                                            <p:cond delay="0"/>
                                          </p:stCondLst>
                                        </p:cTn>
                                        <p:tgtEl>
                                          <p:spTgt spid="10"/>
                                        </p:tgtEl>
                                        <p:attrNameLst>
                                          <p:attrName>style.visibility</p:attrName>
                                        </p:attrNameLst>
                                      </p:cBhvr>
                                      <p:to>
                                        <p:strVal val="visible"/>
                                      </p:to>
                                    </p:set>
                                    <p:animEffect transition="in" filter="fade">
                                      <p:cBhvr>
                                        <p:cTn id="118" dur="700"/>
                                        <p:tgtEl>
                                          <p:spTgt spid="10"/>
                                        </p:tgtEl>
                                      </p:cBhvr>
                                    </p:animEffect>
                                  </p:childTnLst>
                                </p:cTn>
                              </p:par>
                              <p:par>
                                <p:cTn id="119" presetID="10" presetClass="entr" presetSubtype="0" fill="hold" grpId="0" nodeType="withEffect">
                                  <p:stCondLst>
                                    <p:cond delay="2194"/>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7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7" grpId="0" animBg="1"/>
      <p:bldP spid="12" grpId="0" animBg="1"/>
      <p:bldP spid="13" grpId="0" animBg="1"/>
      <p:bldP spid="14" grpId="0" animBg="1"/>
      <p:bldP spid="15" grpId="0" animBg="1"/>
      <p:bldP spid="16" grpId="0" animBg="1"/>
      <p:bldP spid="17" grpId="0" animBg="1"/>
      <p:bldP spid="8" grpId="0" animBg="1"/>
      <p:bldP spid="18" grpId="0" animBg="1"/>
      <p:bldP spid="19" grpId="0" animBg="1"/>
      <p:bldP spid="20" grpId="0" animBg="1"/>
      <p:bldP spid="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41"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10" grpId="0" animBg="1"/>
      <p:bldP spid="42"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07</a:t>
            </a:r>
          </a:p>
        </p:txBody>
      </p:sp>
      <p:sp>
        <p:nvSpPr>
          <p:cNvPr id="6" name="static-mask"/>
          <p:cNvSpPr/>
          <p:nvPr/>
        </p:nvSpPr>
        <p:spPr>
          <a:xfrm>
            <a:off x="0" y="0"/>
            <a:ext cx="12191695" cy="6858000"/>
          </a:xfrm>
          <a:prstGeom prst="rect">
            <a:avLst/>
          </a:prstGeom>
          <a:gradFill rotWithShape="1" flip="none">
            <a:gsLst>
              <a:gs pos="0">
                <a:srgbClr val="090C1C">
                  <a:alpha val="80000"/>
                </a:srgbClr>
              </a:gs>
              <a:gs pos="100000">
                <a:srgbClr val="090C1C">
                  <a:alpha val="20000"/>
                </a:srgbClr>
              </a:gs>
            </a:gsLst>
            <a:lin ang="0" scaled="1"/>
          </a:gradFill>
          <a:ln>
            <a:noFill/>
          </a:ln>
        </p:spPr>
        <p:txBody>
          <a:bodyPr rtlCol="0" anchor="ctr"/>
          <a:lstStyle/>
          <a:p>
            <a:pPr algn="ctr"/>
          </a:p>
        </p:txBody>
      </p:sp>
      <p:sp>
        <p:nvSpPr>
          <p:cNvPr id="7" name="TextBox 6"/>
          <p:cNvSpPr txBox="1"/>
          <p:nvPr/>
        </p:nvSpPr>
        <p:spPr>
          <a:xfrm>
            <a:off x="0" y="1005840"/>
            <a:ext cx="12191695" cy="228600"/>
          </a:xfrm>
          <a:prstGeom prst="rect">
            <a:avLst/>
          </a:prstGeom>
          <a:noFill/>
        </p:spPr>
        <p:txBody>
          <a:bodyPr wrap="square" lIns="0" rIns="0" tIns="0" bIns="0">
            <a:spAutoFit/>
          </a:bodyPr>
          <a:lstStyle/>
          <a:p>
            <a:pPr algn="ctr"/>
            <a:r>
              <a:rPr sz="900" b="1" i="0" spc="200">
                <a:solidFill>
                  <a:srgbClr val="FFB547"/>
                </a:solidFill>
                <a:latin typeface="Inter"/>
                <a:ea typeface="Inter"/>
                <a:cs typeface="Inter"/>
              </a:rPr>
              <a:t>ACROSS THREE PROPERTIES, SIX MONTHS</a:t>
            </a:r>
          </a:p>
        </p:txBody>
      </p:sp>
      <p:sp>
        <p:nvSpPr>
          <p:cNvPr id="8" name="TextBox 7"/>
          <p:cNvSpPr txBox="1"/>
          <p:nvPr/>
        </p:nvSpPr>
        <p:spPr>
          <a:xfrm>
            <a:off x="0" y="1417320"/>
            <a:ext cx="12191695" cy="1645920"/>
          </a:xfrm>
          <a:prstGeom prst="rect">
            <a:avLst/>
          </a:prstGeom>
          <a:noFill/>
        </p:spPr>
        <p:txBody>
          <a:bodyPr wrap="square" lIns="0" rIns="0" tIns="0" bIns="0">
            <a:spAutoFit/>
          </a:bodyPr>
          <a:lstStyle/>
          <a:p>
            <a:pPr algn="ctr">
              <a:lnSpc>
                <a:spcPct val="95000"/>
              </a:lnSpc>
            </a:pPr>
            <a:r>
              <a:rPr sz="12800" b="1" i="0" spc="-400">
                <a:solidFill>
                  <a:srgbClr val="FFFFFF"/>
                </a:solidFill>
                <a:latin typeface="Bricolage Grotesque"/>
                <a:ea typeface="Inter"/>
                <a:cs typeface="Inter"/>
              </a:rPr>
              <a:t>$44,700</a:t>
            </a:r>
          </a:p>
        </p:txBody>
      </p:sp>
      <p:sp>
        <p:nvSpPr>
          <p:cNvPr id="9" name="TextBox 8"/>
          <p:cNvSpPr txBox="1"/>
          <p:nvPr/>
        </p:nvSpPr>
        <p:spPr>
          <a:xfrm>
            <a:off x="0" y="3154680"/>
            <a:ext cx="12191695" cy="320040"/>
          </a:xfrm>
          <a:prstGeom prst="rect">
            <a:avLst/>
          </a:prstGeom>
          <a:noFill/>
        </p:spPr>
        <p:txBody>
          <a:bodyPr wrap="square" lIns="0" rIns="0" tIns="0" bIns="0">
            <a:spAutoFit/>
          </a:bodyPr>
          <a:lstStyle/>
          <a:p>
            <a:pPr algn="ctr"/>
            <a:r>
              <a:rPr sz="1600" b="1" i="0">
                <a:solidFill>
                  <a:srgbClr val="FFFFFF"/>
                </a:solidFill>
                <a:latin typeface="Inter"/>
                <a:ea typeface="Inter"/>
                <a:cs typeface="Inter"/>
              </a:rPr>
              <a:t>324 nights at about $138 to you</a:t>
            </a:r>
          </a:p>
        </p:txBody>
      </p:sp>
      <p:sp>
        <p:nvSpPr>
          <p:cNvPr id="10" name="Rounded Rectangle 9"/>
          <p:cNvSpPr/>
          <p:nvPr/>
        </p:nvSpPr>
        <p:spPr>
          <a:xfrm>
            <a:off x="1889607" y="3886200"/>
            <a:ext cx="4023360" cy="1097280"/>
          </a:xfrm>
          <a:prstGeom prst="roundRect">
            <a:avLst>
              <a:gd name="adj" fmla="val 12000"/>
            </a:avLst>
          </a:prstGeom>
          <a:solidFill>
            <a:srgbClr val="151A33">
              <a:alpha val="10000"/>
            </a:srgbClr>
          </a:solidFill>
          <a:ln w="9525">
            <a:solidFill>
              <a:srgbClr val="FFFFFF">
                <a:alpha val="25000"/>
              </a:srgbClr>
            </a:solidFill>
          </a:ln>
        </p:spPr>
        <p:txBody>
          <a:bodyPr rtlCol="0" anchor="ctr"/>
          <a:lstStyle/>
          <a:p>
            <a:pPr algn="ctr"/>
          </a:p>
        </p:txBody>
      </p:sp>
      <p:sp>
        <p:nvSpPr>
          <p:cNvPr id="11" name="TextBox 10"/>
          <p:cNvSpPr txBox="1"/>
          <p:nvPr/>
        </p:nvSpPr>
        <p:spPr>
          <a:xfrm>
            <a:off x="2209647" y="4023360"/>
            <a:ext cx="1737360" cy="640080"/>
          </a:xfrm>
          <a:prstGeom prst="rect">
            <a:avLst/>
          </a:prstGeom>
          <a:noFill/>
        </p:spPr>
        <p:txBody>
          <a:bodyPr wrap="square" lIns="0" rIns="0" tIns="0" bIns="0">
            <a:spAutoFit/>
          </a:bodyPr>
          <a:lstStyle/>
          <a:p>
            <a:pPr algn="l">
              <a:lnSpc>
                <a:spcPct val="95000"/>
              </a:lnSpc>
            </a:pPr>
            <a:r>
              <a:rPr sz="3200" b="1" i="0" spc="-100">
                <a:solidFill>
                  <a:srgbClr val="FFFFFF"/>
                </a:solidFill>
                <a:latin typeface="Bricolage Grotesque"/>
                <a:ea typeface="Inter"/>
                <a:cs typeface="Inter"/>
              </a:rPr>
              <a:t>−$699</a:t>
            </a:r>
          </a:p>
        </p:txBody>
      </p:sp>
      <p:sp>
        <p:nvSpPr>
          <p:cNvPr id="12" name="TextBox 11"/>
          <p:cNvSpPr txBox="1"/>
          <p:nvPr/>
        </p:nvSpPr>
        <p:spPr>
          <a:xfrm>
            <a:off x="3901287" y="4224528"/>
            <a:ext cx="1828800" cy="640080"/>
          </a:xfrm>
          <a:prstGeom prst="rect">
            <a:avLst/>
          </a:prstGeom>
          <a:noFill/>
        </p:spPr>
        <p:txBody>
          <a:bodyPr wrap="square" lIns="0" rIns="0" tIns="0" bIns="0">
            <a:spAutoFit/>
          </a:bodyPr>
          <a:lstStyle/>
          <a:p>
            <a:pPr algn="l">
              <a:lnSpc>
                <a:spcPct val="130000"/>
              </a:lnSpc>
            </a:pPr>
            <a:r>
              <a:rPr sz="1050" b="0" i="0">
                <a:solidFill>
                  <a:srgbClr val="C5C9DA"/>
                </a:solidFill>
                <a:latin typeface="Inter"/>
                <a:ea typeface="Inter"/>
                <a:cs typeface="Inter"/>
              </a:rPr>
              <a:t>your onboarding fee</a:t>
            </a:r>
          </a:p>
        </p:txBody>
      </p:sp>
      <p:sp>
        <p:nvSpPr>
          <p:cNvPr id="13" name="Rounded Rectangle 12"/>
          <p:cNvSpPr/>
          <p:nvPr/>
        </p:nvSpPr>
        <p:spPr>
          <a:xfrm>
            <a:off x="6278727" y="3886200"/>
            <a:ext cx="4023360" cy="1097280"/>
          </a:xfrm>
          <a:prstGeom prst="roundRect">
            <a:avLst>
              <a:gd name="adj" fmla="val 12000"/>
            </a:avLst>
          </a:prstGeom>
          <a:solidFill>
            <a:srgbClr val="151A33">
              <a:alpha val="10000"/>
            </a:srgbClr>
          </a:solidFill>
          <a:ln w="9525">
            <a:solidFill>
              <a:srgbClr val="FFFFFF">
                <a:alpha val="25000"/>
              </a:srgbClr>
            </a:solidFill>
          </a:ln>
        </p:spPr>
        <p:txBody>
          <a:bodyPr rtlCol="0" anchor="ctr"/>
          <a:lstStyle/>
          <a:p>
            <a:pPr algn="ctr"/>
          </a:p>
        </p:txBody>
      </p:sp>
      <p:sp>
        <p:nvSpPr>
          <p:cNvPr id="14" name="TextBox 13"/>
          <p:cNvSpPr txBox="1"/>
          <p:nvPr/>
        </p:nvSpPr>
        <p:spPr>
          <a:xfrm>
            <a:off x="6598767" y="4023360"/>
            <a:ext cx="1737360" cy="640080"/>
          </a:xfrm>
          <a:prstGeom prst="rect">
            <a:avLst/>
          </a:prstGeom>
          <a:noFill/>
        </p:spPr>
        <p:txBody>
          <a:bodyPr wrap="square" lIns="0" rIns="0" tIns="0" bIns="0">
            <a:spAutoFit/>
          </a:bodyPr>
          <a:lstStyle/>
          <a:p>
            <a:pPr algn="l">
              <a:lnSpc>
                <a:spcPct val="95000"/>
              </a:lnSpc>
            </a:pPr>
            <a:r>
              <a:rPr sz="3200" b="1" i="0" spc="-100">
                <a:solidFill>
                  <a:srgbClr val="FFB547"/>
                </a:solidFill>
                <a:latin typeface="Bricolage Grotesque"/>
                <a:ea typeface="Inter"/>
                <a:cs typeface="Inter"/>
              </a:rPr>
              <a:t>Never</a:t>
            </a:r>
          </a:p>
        </p:txBody>
      </p:sp>
      <p:sp>
        <p:nvSpPr>
          <p:cNvPr id="15" name="TextBox 14"/>
          <p:cNvSpPr txBox="1"/>
          <p:nvPr/>
        </p:nvSpPr>
        <p:spPr>
          <a:xfrm>
            <a:off x="8290407" y="4224528"/>
            <a:ext cx="1828800" cy="640080"/>
          </a:xfrm>
          <a:prstGeom prst="rect">
            <a:avLst/>
          </a:prstGeom>
          <a:noFill/>
        </p:spPr>
        <p:txBody>
          <a:bodyPr wrap="square" lIns="0" rIns="0" tIns="0" bIns="0">
            <a:spAutoFit/>
          </a:bodyPr>
          <a:lstStyle/>
          <a:p>
            <a:pPr algn="l">
              <a:lnSpc>
                <a:spcPct val="130000"/>
              </a:lnSpc>
            </a:pPr>
            <a:r>
              <a:rPr sz="1050" b="0" i="0">
                <a:solidFill>
                  <a:srgbClr val="C5C9DA"/>
                </a:solidFill>
                <a:latin typeface="Inter"/>
                <a:ea typeface="Inter"/>
                <a:cs typeface="Inter"/>
              </a:rPr>
              <a:t>And the fee never repeats</a:t>
            </a:r>
          </a:p>
        </p:txBody>
      </p:sp>
      <p:sp>
        <p:nvSpPr>
          <p:cNvPr id="16" name="TextBox 15"/>
          <p:cNvSpPr txBox="1"/>
          <p:nvPr/>
        </p:nvSpPr>
        <p:spPr>
          <a:xfrm>
            <a:off x="0" y="5349240"/>
            <a:ext cx="12191695" cy="274320"/>
          </a:xfrm>
          <a:prstGeom prst="rect">
            <a:avLst/>
          </a:prstGeom>
          <a:noFill/>
        </p:spPr>
        <p:txBody>
          <a:bodyPr wrap="square" lIns="0" rIns="0" tIns="0" bIns="0">
            <a:spAutoFit/>
          </a:bodyPr>
          <a:lstStyle/>
          <a:p>
            <a:pPr algn="ctr"/>
            <a:r>
              <a:rPr sz="1000" b="0" i="0">
                <a:solidFill>
                  <a:srgbClr val="8A90AA"/>
                </a:solidFill>
                <a:latin typeface="Inter"/>
                <a:ea typeface="Inter"/>
                <a:cs typeface="Inter"/>
              </a:rPr>
              <a:t>Illustrative, before your own operating costs and taxes. We guarantee nights, not income.</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700"/>
                                        <p:tgtEl>
                                          <p:spTgt spid="13"/>
                                        </p:tgtEl>
                                      </p:cBhvr>
                                    </p:animEffect>
                                  </p:childTnLst>
                                </p:cTn>
                              </p:par>
                              <p:par>
                                <p:cTn id="22" presetID="42" presetClass="entr" presetSubtype="0" fill="hold" grpId="0" nodeType="withEffect">
                                  <p:stCondLst>
                                    <p:cond delay="7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900"/>
                                        <p:tgtEl>
                                          <p:spTgt spid="11"/>
                                        </p:tgtEl>
                                      </p:cBhvr>
                                    </p:animEffect>
                                    <p:anim calcmode="lin" valueType="num">
                                      <p:cBhvr>
                                        <p:cTn id="25" dur="900" decel="100000"/>
                                        <p:tgtEl>
                                          <p:spTgt spid="11"/>
                                        </p:tgtEl>
                                        <p:attrNameLst>
                                          <p:attrName>ppt_x</p:attrName>
                                        </p:attrNameLst>
                                      </p:cBhvr>
                                      <p:tavLst>
                                        <p:tav tm="0">
                                          <p:val>
                                            <p:strVal val="#ppt_x"/>
                                          </p:val>
                                        </p:tav>
                                        <p:tav tm="100000">
                                          <p:val>
                                            <p:strVal val="#ppt_x"/>
                                          </p:val>
                                        </p:tav>
                                      </p:tavLst>
                                    </p:anim>
                                    <p:anim calcmode="lin" valueType="num">
                                      <p:cBhvr>
                                        <p:cTn id="26" dur="900" decel="100000"/>
                                        <p:tgtEl>
                                          <p:spTgt spid="11"/>
                                        </p:tgtEl>
                                        <p:attrNameLst>
                                          <p:attrName>ppt_y</p:attrName>
                                        </p:attrNameLst>
                                      </p:cBhvr>
                                      <p:tavLst>
                                        <p:tav tm="0">
                                          <p:val>
                                            <p:strVal val="#ppt_y+.035"/>
                                          </p:val>
                                        </p:tav>
                                        <p:tav tm="100000">
                                          <p:val>
                                            <p:strVal val="#ppt_y"/>
                                          </p:val>
                                        </p:tav>
                                      </p:tavLst>
                                    </p:anim>
                                  </p:childTnLst>
                                </p:cTn>
                              </p:par>
                              <p:par>
                                <p:cTn id="27" presetID="10" presetClass="entr" presetSubtype="0" fill="hold" grpId="0" nodeType="withEffect">
                                  <p:stCondLst>
                                    <p:cond delay="79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700"/>
                                        <p:tgtEl>
                                          <p:spTgt spid="12"/>
                                        </p:tgtEl>
                                      </p:cBhvr>
                                    </p:animEffect>
                                  </p:childTnLst>
                                </p:cTn>
                              </p:par>
                              <p:par>
                                <p:cTn id="30" presetID="42" presetClass="entr" presetSubtype="0" fill="hold" grpId="0" nodeType="withEffect">
                                  <p:stCondLst>
                                    <p:cond delay="88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900"/>
                                        <p:tgtEl>
                                          <p:spTgt spid="14"/>
                                        </p:tgtEl>
                                      </p:cBhvr>
                                    </p:animEffect>
                                    <p:anim calcmode="lin" valueType="num">
                                      <p:cBhvr>
                                        <p:cTn id="33" dur="900" decel="100000"/>
                                        <p:tgtEl>
                                          <p:spTgt spid="14"/>
                                        </p:tgtEl>
                                        <p:attrNameLst>
                                          <p:attrName>ppt_x</p:attrName>
                                        </p:attrNameLst>
                                      </p:cBhvr>
                                      <p:tavLst>
                                        <p:tav tm="0">
                                          <p:val>
                                            <p:strVal val="#ppt_x"/>
                                          </p:val>
                                        </p:tav>
                                        <p:tav tm="100000">
                                          <p:val>
                                            <p:strVal val="#ppt_x"/>
                                          </p:val>
                                        </p:tav>
                                      </p:tavLst>
                                    </p:anim>
                                    <p:anim calcmode="lin" valueType="num">
                                      <p:cBhvr>
                                        <p:cTn id="34" dur="900" decel="100000"/>
                                        <p:tgtEl>
                                          <p:spTgt spid="14"/>
                                        </p:tgtEl>
                                        <p:attrNameLst>
                                          <p:attrName>ppt_y</p:attrName>
                                        </p:attrNameLst>
                                      </p:cBhvr>
                                      <p:tavLst>
                                        <p:tav tm="0">
                                          <p:val>
                                            <p:strVal val="#ppt_y+.035"/>
                                          </p:val>
                                        </p:tav>
                                        <p:tav tm="100000">
                                          <p:val>
                                            <p:strVal val="#ppt_y"/>
                                          </p:val>
                                        </p:tav>
                                      </p:tavLst>
                                    </p:anim>
                                  </p:childTnLst>
                                </p:cTn>
                              </p:par>
                              <p:par>
                                <p:cTn id="35" presetID="10" presetClass="entr" presetSubtype="0" fill="hold" grpId="0" nodeType="withEffect">
                                  <p:stCondLst>
                                    <p:cond delay="97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700"/>
                                        <p:tgtEl>
                                          <p:spTgt spid="15"/>
                                        </p:tgtEl>
                                      </p:cBhvr>
                                    </p:animEffect>
                                  </p:childTnLst>
                                </p:cTn>
                              </p:par>
                              <p:par>
                                <p:cTn id="38" presetID="10" presetClass="entr" presetSubtype="0" fill="hold" grpId="0" nodeType="withEffect">
                                  <p:stCondLst>
                                    <p:cond delay="10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7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animBg="1"/>
      <p:bldP spid="11" grpId="0" animBg="1"/>
      <p:bldP spid="12" grpId="0" animBg="1"/>
      <p:bldP spid="14" grpId="0" animBg="1"/>
      <p:bldP spid="15" grpId="0" animBg="1"/>
      <p:bldP spid="1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090C1C"/>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08</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IF WE MISS, YOU DON’T CHASE US</a:t>
            </a:r>
          </a:p>
        </p:txBody>
      </p:sp>
      <p:sp>
        <p:nvSpPr>
          <p:cNvPr id="7" name="TextBox 6"/>
          <p:cNvSpPr txBox="1"/>
          <p:nvPr/>
        </p:nvSpPr>
        <p:spPr>
          <a:xfrm>
            <a:off x="685800" y="1325880"/>
            <a:ext cx="5943600" cy="731520"/>
          </a:xfrm>
          <a:prstGeom prst="rect">
            <a:avLst/>
          </a:prstGeom>
          <a:noFill/>
        </p:spPr>
        <p:txBody>
          <a:bodyPr wrap="square" lIns="0" rIns="0" tIns="0" bIns="0">
            <a:spAutoFit/>
          </a:bodyPr>
          <a:lstStyle/>
          <a:p>
            <a:pPr algn="l">
              <a:lnSpc>
                <a:spcPct val="95000"/>
              </a:lnSpc>
            </a:pPr>
            <a:r>
              <a:rPr sz="5000" b="1" i="0" spc="-100">
                <a:solidFill>
                  <a:srgbClr val="FFFFFF"/>
                </a:solidFill>
                <a:latin typeface="Bricolage Grotesque"/>
                <a:ea typeface="Inter"/>
                <a:cs typeface="Inter"/>
              </a:rPr>
              <a:t>No claim form.</a:t>
            </a:r>
          </a:p>
        </p:txBody>
      </p:sp>
      <p:sp>
        <p:nvSpPr>
          <p:cNvPr id="8" name="TextBox 7"/>
          <p:cNvSpPr txBox="1"/>
          <p:nvPr/>
        </p:nvSpPr>
        <p:spPr>
          <a:xfrm>
            <a:off x="685800" y="2103120"/>
            <a:ext cx="5943600" cy="731520"/>
          </a:xfrm>
          <a:prstGeom prst="rect">
            <a:avLst/>
          </a:prstGeom>
          <a:noFill/>
        </p:spPr>
        <p:txBody>
          <a:bodyPr wrap="square" lIns="0" rIns="0" tIns="0" bIns="0">
            <a:spAutoFit/>
          </a:bodyPr>
          <a:lstStyle/>
          <a:p>
            <a:pPr algn="l">
              <a:lnSpc>
                <a:spcPct val="95000"/>
              </a:lnSpc>
            </a:pPr>
            <a:r>
              <a:rPr sz="5000" b="1" i="0" spc="-100">
                <a:solidFill>
                  <a:srgbClr val="FFFFFF"/>
                </a:solidFill>
                <a:latin typeface="Bricolage Grotesque"/>
                <a:ea typeface="Inter"/>
                <a:cs typeface="Inter"/>
              </a:rPr>
              <a:t>No proof.</a:t>
            </a:r>
          </a:p>
        </p:txBody>
      </p:sp>
      <p:sp>
        <p:nvSpPr>
          <p:cNvPr id="9" name="TextBox 8"/>
          <p:cNvSpPr txBox="1"/>
          <p:nvPr/>
        </p:nvSpPr>
        <p:spPr>
          <a:xfrm>
            <a:off x="685800" y="2880360"/>
            <a:ext cx="5943600" cy="731520"/>
          </a:xfrm>
          <a:prstGeom prst="rect">
            <a:avLst/>
          </a:prstGeom>
          <a:noFill/>
        </p:spPr>
        <p:txBody>
          <a:bodyPr wrap="square" lIns="0" rIns="0" tIns="0" bIns="0">
            <a:spAutoFit/>
          </a:bodyPr>
          <a:lstStyle/>
          <a:p>
            <a:pPr algn="l">
              <a:lnSpc>
                <a:spcPct val="95000"/>
              </a:lnSpc>
            </a:pPr>
            <a:r>
              <a:rPr sz="5000" b="1" i="0" spc="-100">
                <a:solidFill>
                  <a:srgbClr val="FF5C4D"/>
                </a:solidFill>
                <a:latin typeface="Bricolage Grotesque"/>
                <a:ea typeface="Inter"/>
                <a:cs typeface="Inter"/>
              </a:rPr>
              <a:t>No chasing.</a:t>
            </a:r>
          </a:p>
        </p:txBody>
      </p:sp>
      <p:sp>
        <p:nvSpPr>
          <p:cNvPr id="10" name="Oval 9"/>
          <p:cNvSpPr/>
          <p:nvPr/>
        </p:nvSpPr>
        <p:spPr>
          <a:xfrm>
            <a:off x="685800" y="4041648"/>
            <a:ext cx="128016" cy="128016"/>
          </a:xfrm>
          <a:prstGeom prst="ellipse">
            <a:avLst/>
          </a:prstGeom>
          <a:solidFill>
            <a:srgbClr val="FF5C4D"/>
          </a:solidFill>
          <a:ln>
            <a:noFill/>
          </a:ln>
        </p:spPr>
        <p:txBody>
          <a:bodyPr rtlCol="0" anchor="ctr"/>
          <a:lstStyle/>
          <a:p>
            <a:pPr algn="ctr"/>
          </a:p>
        </p:txBody>
      </p:sp>
      <p:sp>
        <p:nvSpPr>
          <p:cNvPr id="11" name="TextBox 10"/>
          <p:cNvSpPr txBox="1"/>
          <p:nvPr/>
        </p:nvSpPr>
        <p:spPr>
          <a:xfrm>
            <a:off x="1005840" y="3977639"/>
            <a:ext cx="5669280" cy="365760"/>
          </a:xfrm>
          <a:prstGeom prst="rect">
            <a:avLst/>
          </a:prstGeom>
          <a:noFill/>
        </p:spPr>
        <p:txBody>
          <a:bodyPr wrap="square" lIns="0" rIns="0" tIns="0" bIns="0">
            <a:spAutoFit/>
          </a:bodyPr>
          <a:lstStyle/>
          <a:p>
            <a:pPr algn="l"/>
            <a:r>
              <a:rPr sz="1200" b="0" i="0">
                <a:solidFill>
                  <a:srgbClr val="C5C9DA"/>
                </a:solidFill>
                <a:latin typeface="Inter"/>
                <a:ea typeface="Inter"/>
                <a:cs typeface="Inter"/>
              </a:rPr>
              <a:t>We count the nights from our own booking records, not yours</a:t>
            </a:r>
          </a:p>
        </p:txBody>
      </p:sp>
      <p:sp>
        <p:nvSpPr>
          <p:cNvPr id="12" name="Oval 11"/>
          <p:cNvSpPr/>
          <p:nvPr/>
        </p:nvSpPr>
        <p:spPr>
          <a:xfrm>
            <a:off x="685800" y="4517136"/>
            <a:ext cx="128016" cy="128016"/>
          </a:xfrm>
          <a:prstGeom prst="ellipse">
            <a:avLst/>
          </a:prstGeom>
          <a:solidFill>
            <a:srgbClr val="FF5C4D"/>
          </a:solidFill>
          <a:ln>
            <a:noFill/>
          </a:ln>
        </p:spPr>
        <p:txBody>
          <a:bodyPr rtlCol="0" anchor="ctr"/>
          <a:lstStyle/>
          <a:p>
            <a:pPr algn="ctr"/>
          </a:p>
        </p:txBody>
      </p:sp>
      <p:sp>
        <p:nvSpPr>
          <p:cNvPr id="13" name="TextBox 12"/>
          <p:cNvSpPr txBox="1"/>
          <p:nvPr/>
        </p:nvSpPr>
        <p:spPr>
          <a:xfrm>
            <a:off x="1005840" y="4453127"/>
            <a:ext cx="5669280" cy="365760"/>
          </a:xfrm>
          <a:prstGeom prst="rect">
            <a:avLst/>
          </a:prstGeom>
          <a:noFill/>
        </p:spPr>
        <p:txBody>
          <a:bodyPr wrap="square" lIns="0" rIns="0" tIns="0" bIns="0">
            <a:spAutoFit/>
          </a:bodyPr>
          <a:lstStyle/>
          <a:p>
            <a:pPr algn="l"/>
            <a:r>
              <a:rPr sz="1200" b="0" i="0">
                <a:solidFill>
                  <a:srgbClr val="C5C9DA"/>
                </a:solidFill>
                <a:latin typeface="Inter"/>
                <a:ea typeface="Inter"/>
                <a:cs typeface="Inter"/>
              </a:rPr>
              <a:t>We check at month six whether you ask or not</a:t>
            </a:r>
          </a:p>
        </p:txBody>
      </p:sp>
      <p:sp>
        <p:nvSpPr>
          <p:cNvPr id="14" name="Oval 13"/>
          <p:cNvSpPr/>
          <p:nvPr/>
        </p:nvSpPr>
        <p:spPr>
          <a:xfrm>
            <a:off x="685800" y="4992624"/>
            <a:ext cx="128016" cy="128016"/>
          </a:xfrm>
          <a:prstGeom prst="ellipse">
            <a:avLst/>
          </a:prstGeom>
          <a:solidFill>
            <a:srgbClr val="FF5C4D"/>
          </a:solidFill>
          <a:ln>
            <a:noFill/>
          </a:ln>
        </p:spPr>
        <p:txBody>
          <a:bodyPr rtlCol="0" anchor="ctr"/>
          <a:lstStyle/>
          <a:p>
            <a:pPr algn="ctr"/>
          </a:p>
        </p:txBody>
      </p:sp>
      <p:sp>
        <p:nvSpPr>
          <p:cNvPr id="15" name="TextBox 14"/>
          <p:cNvSpPr txBox="1"/>
          <p:nvPr/>
        </p:nvSpPr>
        <p:spPr>
          <a:xfrm>
            <a:off x="1005840" y="4928616"/>
            <a:ext cx="5669280" cy="365760"/>
          </a:xfrm>
          <a:prstGeom prst="rect">
            <a:avLst/>
          </a:prstGeom>
          <a:noFill/>
        </p:spPr>
        <p:txBody>
          <a:bodyPr wrap="square" lIns="0" rIns="0" tIns="0" bIns="0">
            <a:spAutoFit/>
          </a:bodyPr>
          <a:lstStyle/>
          <a:p>
            <a:pPr algn="l"/>
            <a:r>
              <a:rPr sz="1200" b="0" i="0">
                <a:solidFill>
                  <a:srgbClr val="C5C9DA"/>
                </a:solidFill>
                <a:latin typeface="Inter"/>
                <a:ea typeface="Inter"/>
                <a:cs typeface="Inter"/>
              </a:rPr>
              <a:t>If we’re short, the refund goes to your account within 30 days</a:t>
            </a:r>
          </a:p>
        </p:txBody>
      </p:sp>
      <p:sp>
        <p:nvSpPr>
          <p:cNvPr id="16" name="Oval 15"/>
          <p:cNvSpPr/>
          <p:nvPr/>
        </p:nvSpPr>
        <p:spPr>
          <a:xfrm>
            <a:off x="685800" y="5468112"/>
            <a:ext cx="128016" cy="128016"/>
          </a:xfrm>
          <a:prstGeom prst="ellipse">
            <a:avLst/>
          </a:prstGeom>
          <a:solidFill>
            <a:srgbClr val="FF5C4D"/>
          </a:solidFill>
          <a:ln>
            <a:noFill/>
          </a:ln>
        </p:spPr>
        <p:txBody>
          <a:bodyPr rtlCol="0" anchor="ctr"/>
          <a:lstStyle/>
          <a:p>
            <a:pPr algn="ctr"/>
          </a:p>
        </p:txBody>
      </p:sp>
      <p:sp>
        <p:nvSpPr>
          <p:cNvPr id="17" name="TextBox 16"/>
          <p:cNvSpPr txBox="1"/>
          <p:nvPr/>
        </p:nvSpPr>
        <p:spPr>
          <a:xfrm>
            <a:off x="1005840" y="5404104"/>
            <a:ext cx="5669280" cy="365760"/>
          </a:xfrm>
          <a:prstGeom prst="rect">
            <a:avLst/>
          </a:prstGeom>
          <a:noFill/>
        </p:spPr>
        <p:txBody>
          <a:bodyPr wrap="square" lIns="0" rIns="0" tIns="0" bIns="0">
            <a:spAutoFit/>
          </a:bodyPr>
          <a:lstStyle/>
          <a:p>
            <a:pPr algn="l"/>
            <a:r>
              <a:rPr sz="1200" b="0" i="0">
                <a:solidFill>
                  <a:srgbClr val="C5C9DA"/>
                </a:solidFill>
                <a:latin typeface="Inter"/>
                <a:ea typeface="Inter"/>
                <a:cs typeface="Inter"/>
              </a:rPr>
              <a:t>If you think our count is wrong, you have 30 days to tell us</a:t>
            </a:r>
          </a:p>
        </p:txBody>
      </p:sp>
      <p:sp>
        <p:nvSpPr>
          <p:cNvPr id="18" name="Rounded Rectangle 17"/>
          <p:cNvSpPr/>
          <p:nvPr/>
        </p:nvSpPr>
        <p:spPr>
          <a:xfrm>
            <a:off x="7680960" y="868680"/>
            <a:ext cx="3291840" cy="5394960"/>
          </a:xfrm>
          <a:prstGeom prst="roundRect">
            <a:avLst>
              <a:gd name="adj" fmla="val 12000"/>
            </a:avLst>
          </a:prstGeom>
          <a:solidFill>
            <a:srgbClr val="1B2140"/>
          </a:solidFill>
          <a:ln w="9525">
            <a:solidFill>
              <a:srgbClr val="3A4270"/>
            </a:solidFill>
          </a:ln>
          <a:effectLst>
            <a:outerShdw blurRad="355600" dist="101600" dir="5400000" algn="t" rotWithShape="0">
              <a:srgbClr val="0B1020">
                <a:alpha val="18000"/>
              </a:srgbClr>
            </a:outerShdw>
          </a:effectLst>
        </p:spPr>
        <p:txBody>
          <a:bodyPr rtlCol="0" anchor="ctr"/>
          <a:lstStyle/>
          <a:p>
            <a:pPr algn="ctr"/>
          </a:p>
        </p:txBody>
      </p:sp>
      <p:sp>
        <p:nvSpPr>
          <p:cNvPr id="19" name="Rounded Rectangle 18"/>
          <p:cNvSpPr/>
          <p:nvPr/>
        </p:nvSpPr>
        <p:spPr>
          <a:xfrm>
            <a:off x="7818120" y="1005839"/>
            <a:ext cx="3017520" cy="5120640"/>
          </a:xfrm>
          <a:prstGeom prst="roundRect">
            <a:avLst>
              <a:gd name="adj" fmla="val 10000"/>
            </a:avLst>
          </a:prstGeom>
          <a:solidFill>
            <a:srgbClr val="0E1330"/>
          </a:solidFill>
          <a:ln>
            <a:noFill/>
          </a:ln>
        </p:spPr>
        <p:txBody>
          <a:bodyPr rtlCol="0" anchor="ctr"/>
          <a:lstStyle/>
          <a:p>
            <a:pPr algn="ctr"/>
          </a:p>
        </p:txBody>
      </p:sp>
      <p:sp>
        <p:nvSpPr>
          <p:cNvPr id="20" name="Rounded Rectangle 19"/>
          <p:cNvSpPr/>
          <p:nvPr/>
        </p:nvSpPr>
        <p:spPr>
          <a:xfrm>
            <a:off x="8823960" y="1143000"/>
            <a:ext cx="1005840" cy="201168"/>
          </a:xfrm>
          <a:prstGeom prst="roundRect">
            <a:avLst>
              <a:gd name="adj" fmla="val 50000"/>
            </a:avLst>
          </a:prstGeom>
          <a:solidFill>
            <a:srgbClr val="000000"/>
          </a:solidFill>
          <a:ln>
            <a:noFill/>
          </a:ln>
        </p:spPr>
        <p:txBody>
          <a:bodyPr rtlCol="0" anchor="ctr"/>
          <a:lstStyle/>
          <a:p>
            <a:pPr algn="ctr"/>
          </a:p>
        </p:txBody>
      </p:sp>
      <p:sp>
        <p:nvSpPr>
          <p:cNvPr id="21" name="TextBox 20"/>
          <p:cNvSpPr txBox="1"/>
          <p:nvPr/>
        </p:nvSpPr>
        <p:spPr>
          <a:xfrm>
            <a:off x="8823960" y="1195959"/>
            <a:ext cx="1005840" cy="201168"/>
          </a:xfrm>
          <a:prstGeom prst="rect">
            <a:avLst/>
          </a:prstGeom>
          <a:noFill/>
        </p:spPr>
        <p:txBody>
          <a:bodyPr wrap="square" lIns="0" rIns="0" tIns="0" bIns="0">
            <a:spAutoFit/>
          </a:bodyPr>
          <a:lstStyle/>
          <a:p>
            <a:pPr algn="ctr"/>
            <a:r>
              <a:rPr sz="600" b="1" i="0">
                <a:solidFill>
                  <a:srgbClr val="FFFFFF"/>
                </a:solidFill>
                <a:latin typeface="Inter"/>
                <a:ea typeface="Inter"/>
                <a:cs typeface="Inter"/>
              </a:rPr>
              <a:t/>
            </a:r>
          </a:p>
        </p:txBody>
      </p:sp>
      <p:sp>
        <p:nvSpPr>
          <p:cNvPr id="22" name="TextBox 21"/>
          <p:cNvSpPr txBox="1"/>
          <p:nvPr/>
        </p:nvSpPr>
        <p:spPr>
          <a:xfrm>
            <a:off x="7680960" y="1554480"/>
            <a:ext cx="3291840" cy="457200"/>
          </a:xfrm>
          <a:prstGeom prst="rect">
            <a:avLst/>
          </a:prstGeom>
          <a:noFill/>
        </p:spPr>
        <p:txBody>
          <a:bodyPr wrap="square" lIns="0" rIns="0" tIns="0" bIns="0">
            <a:spAutoFit/>
          </a:bodyPr>
          <a:lstStyle/>
          <a:p>
            <a:pPr algn="ctr"/>
            <a:r>
              <a:rPr sz="3000" b="1" i="0">
                <a:solidFill>
                  <a:srgbClr val="FFFFFF"/>
                </a:solidFill>
                <a:latin typeface="Inter"/>
                <a:ea typeface="Inter"/>
                <a:cs typeface="Inter"/>
              </a:rPr>
              <a:t>9:41</a:t>
            </a:r>
          </a:p>
        </p:txBody>
      </p:sp>
      <p:sp>
        <p:nvSpPr>
          <p:cNvPr id="23" name="TextBox 22"/>
          <p:cNvSpPr txBox="1"/>
          <p:nvPr/>
        </p:nvSpPr>
        <p:spPr>
          <a:xfrm>
            <a:off x="7680960" y="2103120"/>
            <a:ext cx="3291840" cy="274320"/>
          </a:xfrm>
          <a:prstGeom prst="rect">
            <a:avLst/>
          </a:prstGeom>
          <a:noFill/>
        </p:spPr>
        <p:txBody>
          <a:bodyPr wrap="square" lIns="0" rIns="0" tIns="0" bIns="0">
            <a:spAutoFit/>
          </a:bodyPr>
          <a:lstStyle/>
          <a:p>
            <a:pPr algn="ctr"/>
            <a:r>
              <a:rPr sz="1000" b="0" i="0">
                <a:solidFill>
                  <a:srgbClr val="C5C9DA"/>
                </a:solidFill>
                <a:latin typeface="Inter"/>
                <a:ea typeface="Inter"/>
                <a:cs typeface="Inter"/>
              </a:rPr>
              <a:t>Month six</a:t>
            </a:r>
          </a:p>
        </p:txBody>
      </p:sp>
      <p:sp>
        <p:nvSpPr>
          <p:cNvPr id="24" name="Rounded Rectangle 23"/>
          <p:cNvSpPr/>
          <p:nvPr/>
        </p:nvSpPr>
        <p:spPr>
          <a:xfrm>
            <a:off x="7955280" y="2697480"/>
            <a:ext cx="2743200" cy="1143000"/>
          </a:xfrm>
          <a:prstGeom prst="roundRect">
            <a:avLst>
              <a:gd name="adj" fmla="val 12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5" name="Oval 24"/>
          <p:cNvSpPr/>
          <p:nvPr/>
        </p:nvSpPr>
        <p:spPr>
          <a:xfrm>
            <a:off x="8138160" y="2880360"/>
            <a:ext cx="310896" cy="310896"/>
          </a:xfrm>
          <a:prstGeom prst="ellipse">
            <a:avLst/>
          </a:prstGeom>
          <a:solidFill>
            <a:srgbClr val="FF5C4D"/>
          </a:solidFill>
          <a:ln>
            <a:noFill/>
          </a:ln>
        </p:spPr>
        <p:txBody>
          <a:bodyPr rtlCol="0" anchor="ctr"/>
          <a:lstStyle/>
          <a:p>
            <a:pPr algn="ctr"/>
          </a:p>
        </p:txBody>
      </p:sp>
      <p:sp>
        <p:nvSpPr>
          <p:cNvPr id="26" name="TextBox 25"/>
          <p:cNvSpPr txBox="1"/>
          <p:nvPr/>
        </p:nvSpPr>
        <p:spPr>
          <a:xfrm>
            <a:off x="8549640" y="2880360"/>
            <a:ext cx="2011680" cy="228600"/>
          </a:xfrm>
          <a:prstGeom prst="rect">
            <a:avLst/>
          </a:prstGeom>
          <a:noFill/>
        </p:spPr>
        <p:txBody>
          <a:bodyPr wrap="square" lIns="0" rIns="0" tIns="0" bIns="0">
            <a:spAutoFit/>
          </a:bodyPr>
          <a:lstStyle/>
          <a:p>
            <a:pPr algn="l"/>
            <a:r>
              <a:rPr sz="850" b="1" i="0">
                <a:solidFill>
                  <a:srgbClr val="7D8296"/>
                </a:solidFill>
                <a:latin typeface="Inter"/>
                <a:ea typeface="Inter"/>
                <a:cs typeface="Inter"/>
              </a:rPr>
              <a:t>Red Flag Managed</a:t>
            </a:r>
          </a:p>
        </p:txBody>
      </p:sp>
      <p:sp>
        <p:nvSpPr>
          <p:cNvPr id="27" name="TextBox 26"/>
          <p:cNvSpPr txBox="1"/>
          <p:nvPr/>
        </p:nvSpPr>
        <p:spPr>
          <a:xfrm>
            <a:off x="8549640" y="3108960"/>
            <a:ext cx="2103120" cy="274320"/>
          </a:xfrm>
          <a:prstGeom prst="rect">
            <a:avLst/>
          </a:prstGeom>
          <a:noFill/>
        </p:spPr>
        <p:txBody>
          <a:bodyPr wrap="square" lIns="0" rIns="0" tIns="0" bIns="0">
            <a:spAutoFit/>
          </a:bodyPr>
          <a:lstStyle/>
          <a:p>
            <a:pPr algn="l"/>
            <a:r>
              <a:rPr sz="1200" b="1" i="0">
                <a:solidFill>
                  <a:srgbClr val="0B1020"/>
                </a:solidFill>
                <a:latin typeface="Inter"/>
                <a:ea typeface="Inter"/>
                <a:cs typeface="Inter"/>
              </a:rPr>
              <a:t>Refund sent: $233</a:t>
            </a:r>
          </a:p>
        </p:txBody>
      </p:sp>
      <p:sp>
        <p:nvSpPr>
          <p:cNvPr id="28" name="TextBox 27"/>
          <p:cNvSpPr txBox="1"/>
          <p:nvPr/>
        </p:nvSpPr>
        <p:spPr>
          <a:xfrm>
            <a:off x="8138160" y="3429000"/>
            <a:ext cx="2377440" cy="365760"/>
          </a:xfrm>
          <a:prstGeom prst="rect">
            <a:avLst/>
          </a:prstGeom>
          <a:noFill/>
        </p:spPr>
        <p:txBody>
          <a:bodyPr wrap="square" lIns="0" rIns="0" tIns="0" bIns="0">
            <a:spAutoFit/>
          </a:bodyPr>
          <a:lstStyle/>
          <a:p>
            <a:pPr algn="l"/>
            <a:r>
              <a:rPr sz="850" b="0" i="0">
                <a:solidFill>
                  <a:srgbClr val="41465A"/>
                </a:solidFill>
                <a:latin typeface="Inter"/>
                <a:ea typeface="Inter"/>
                <a:cs typeface="Inter"/>
              </a:rPr>
              <a:t>1 of 3 properties fell short. No claim needed.</a:t>
            </a:r>
          </a:p>
        </p:txBody>
      </p:sp>
      <p:sp>
        <p:nvSpPr>
          <p:cNvPr id="29" name="Rounded Rectangle 28"/>
          <p:cNvSpPr/>
          <p:nvPr/>
        </p:nvSpPr>
        <p:spPr>
          <a:xfrm>
            <a:off x="7955280" y="4023360"/>
            <a:ext cx="2743200" cy="822960"/>
          </a:xfrm>
          <a:prstGeom prst="roundRect">
            <a:avLst>
              <a:gd name="adj" fmla="val 14000"/>
            </a:avLst>
          </a:prstGeom>
          <a:solidFill>
            <a:srgbClr val="151A33">
              <a:alpha val="10000"/>
            </a:srgbClr>
          </a:solidFill>
          <a:ln w="9525">
            <a:solidFill>
              <a:srgbClr val="FFFFFF">
                <a:alpha val="25000"/>
              </a:srgbClr>
            </a:solidFill>
          </a:ln>
        </p:spPr>
        <p:txBody>
          <a:bodyPr rtlCol="0" anchor="ctr"/>
          <a:lstStyle/>
          <a:p>
            <a:pPr algn="ctr"/>
          </a:p>
        </p:txBody>
      </p:sp>
      <p:sp>
        <p:nvSpPr>
          <p:cNvPr id="30" name="TextBox 29"/>
          <p:cNvSpPr txBox="1"/>
          <p:nvPr/>
        </p:nvSpPr>
        <p:spPr>
          <a:xfrm>
            <a:off x="8138160" y="4178808"/>
            <a:ext cx="2377440" cy="548640"/>
          </a:xfrm>
          <a:prstGeom prst="rect">
            <a:avLst/>
          </a:prstGeom>
          <a:noFill/>
        </p:spPr>
        <p:txBody>
          <a:bodyPr wrap="square" lIns="0" rIns="0" tIns="0" bIns="0">
            <a:spAutoFit/>
          </a:bodyPr>
          <a:lstStyle/>
          <a:p>
            <a:pPr algn="l">
              <a:lnSpc>
                <a:spcPct val="130000"/>
              </a:lnSpc>
            </a:pPr>
            <a:r>
              <a:rPr sz="900" b="0" i="0">
                <a:solidFill>
                  <a:srgbClr val="C5C9DA"/>
                </a:solidFill>
                <a:latin typeface="Inter"/>
                <a:ea typeface="Inter"/>
                <a:cs typeface="Inter"/>
              </a:rPr>
              <a:t>Nights counted from our own booking records</a:t>
            </a:r>
          </a:p>
        </p:txBody>
      </p:sp>
      <p:sp>
        <p:nvSpPr>
          <p:cNvPr id="31" name="TextBox 30"/>
          <p:cNvSpPr txBox="1"/>
          <p:nvPr/>
        </p:nvSpPr>
        <p:spPr>
          <a:xfrm>
            <a:off x="7680960" y="5669280"/>
            <a:ext cx="3291840" cy="274320"/>
          </a:xfrm>
          <a:prstGeom prst="rect">
            <a:avLst/>
          </a:prstGeom>
          <a:noFill/>
        </p:spPr>
        <p:txBody>
          <a:bodyPr wrap="square" lIns="0" rIns="0" tIns="0" bIns="0">
            <a:spAutoFit/>
          </a:bodyPr>
          <a:lstStyle/>
          <a:p>
            <a:pPr algn="ctr"/>
            <a:r>
              <a:rPr sz="850" b="0" i="0">
                <a:solidFill>
                  <a:srgbClr val="8A90AA"/>
                </a:solidFill>
                <a:latin typeface="Inter"/>
                <a:ea typeface="Inter"/>
                <a:cs typeface="Inter"/>
              </a:rPr>
              <a:t>Example: $699 ÷ 3 properties</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10" presetClass="entr" presetSubtype="0" fill="hold" grpId="0" nodeType="withEffect">
                                  <p:stCondLst>
                                    <p:cond delay="326"/>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700"/>
                                        <p:tgtEl>
                                          <p:spTgt spid="18"/>
                                        </p:tgtEl>
                                      </p:cBhvr>
                                    </p:animEffect>
                                  </p:childTnLst>
                                </p:cTn>
                              </p:par>
                              <p:par>
                                <p:cTn id="11" presetID="10" presetClass="entr" presetSubtype="0" fill="hold" grpId="0" nodeType="withEffect">
                                  <p:stCondLst>
                                    <p:cond delay="402"/>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700"/>
                                        <p:tgtEl>
                                          <p:spTgt spid="19"/>
                                        </p:tgtEl>
                                      </p:cBhvr>
                                    </p:animEffect>
                                  </p:childTnLst>
                                </p:cTn>
                              </p:par>
                              <p:par>
                                <p:cTn id="14" presetID="42" presetClass="entr" presetSubtype="0" fill="hold" grpId="0" nodeType="withEffect">
                                  <p:stCondLst>
                                    <p:cond delay="478"/>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900"/>
                                        <p:tgtEl>
                                          <p:spTgt spid="7"/>
                                        </p:tgtEl>
                                      </p:cBhvr>
                                    </p:animEffect>
                                    <p:anim calcmode="lin" valueType="num">
                                      <p:cBhvr>
                                        <p:cTn id="17" dur="900" decel="100000"/>
                                        <p:tgtEl>
                                          <p:spTgt spid="7"/>
                                        </p:tgtEl>
                                        <p:attrNameLst>
                                          <p:attrName>ppt_x</p:attrName>
                                        </p:attrNameLst>
                                      </p:cBhvr>
                                      <p:tavLst>
                                        <p:tav tm="0">
                                          <p:val>
                                            <p:strVal val="#ppt_x"/>
                                          </p:val>
                                        </p:tav>
                                        <p:tav tm="100000">
                                          <p:val>
                                            <p:strVal val="#ppt_x"/>
                                          </p:val>
                                        </p:tav>
                                      </p:tavLst>
                                    </p:anim>
                                    <p:anim calcmode="lin" valueType="num">
                                      <p:cBhvr>
                                        <p:cTn id="18" dur="900" decel="100000"/>
                                        <p:tgtEl>
                                          <p:spTgt spid="7"/>
                                        </p:tgtEl>
                                        <p:attrNameLst>
                                          <p:attrName>ppt_y</p:attrName>
                                        </p:attrNameLst>
                                      </p:cBhvr>
                                      <p:tavLst>
                                        <p:tav tm="0">
                                          <p:val>
                                            <p:strVal val="#ppt_y+.035"/>
                                          </p:val>
                                        </p:tav>
                                        <p:tav tm="100000">
                                          <p:val>
                                            <p:strVal val="#ppt_y"/>
                                          </p:val>
                                        </p:tav>
                                      </p:tavLst>
                                    </p:anim>
                                  </p:childTnLst>
                                </p:cTn>
                              </p:par>
                              <p:par>
                                <p:cTn id="19" presetID="10" presetClass="entr" presetSubtype="0" fill="hold" grpId="0" nodeType="withEffect">
                                  <p:stCondLst>
                                    <p:cond delay="554"/>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700"/>
                                        <p:tgtEl>
                                          <p:spTgt spid="20"/>
                                        </p:tgtEl>
                                      </p:cBhvr>
                                    </p:animEffect>
                                  </p:childTnLst>
                                </p:cTn>
                              </p:par>
                              <p:par>
                                <p:cTn id="22" presetID="10" presetClass="entr" presetSubtype="0" fill="hold" grpId="0" nodeType="withEffect">
                                  <p:stCondLst>
                                    <p:cond delay="63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700"/>
                                        <p:tgtEl>
                                          <p:spTgt spid="21"/>
                                        </p:tgtEl>
                                      </p:cBhvr>
                                    </p:animEffect>
                                  </p:childTnLst>
                                </p:cTn>
                              </p:par>
                              <p:par>
                                <p:cTn id="25" presetID="42" presetClass="entr" presetSubtype="0" fill="hold" grpId="0" nodeType="withEffect">
                                  <p:stCondLst>
                                    <p:cond delay="706"/>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900"/>
                                        <p:tgtEl>
                                          <p:spTgt spid="22"/>
                                        </p:tgtEl>
                                      </p:cBhvr>
                                    </p:animEffect>
                                    <p:anim calcmode="lin" valueType="num">
                                      <p:cBhvr>
                                        <p:cTn id="28" dur="900" decel="100000"/>
                                        <p:tgtEl>
                                          <p:spTgt spid="22"/>
                                        </p:tgtEl>
                                        <p:attrNameLst>
                                          <p:attrName>ppt_x</p:attrName>
                                        </p:attrNameLst>
                                      </p:cBhvr>
                                      <p:tavLst>
                                        <p:tav tm="0">
                                          <p:val>
                                            <p:strVal val="#ppt_x"/>
                                          </p:val>
                                        </p:tav>
                                        <p:tav tm="100000">
                                          <p:val>
                                            <p:strVal val="#ppt_x"/>
                                          </p:val>
                                        </p:tav>
                                      </p:tavLst>
                                    </p:anim>
                                    <p:anim calcmode="lin" valueType="num">
                                      <p:cBhvr>
                                        <p:cTn id="29" dur="900" decel="100000"/>
                                        <p:tgtEl>
                                          <p:spTgt spid="22"/>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782"/>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900"/>
                                        <p:tgtEl>
                                          <p:spTgt spid="8"/>
                                        </p:tgtEl>
                                      </p:cBhvr>
                                    </p:animEffect>
                                    <p:anim calcmode="lin" valueType="num">
                                      <p:cBhvr>
                                        <p:cTn id="33" dur="900" decel="100000"/>
                                        <p:tgtEl>
                                          <p:spTgt spid="8"/>
                                        </p:tgtEl>
                                        <p:attrNameLst>
                                          <p:attrName>ppt_x</p:attrName>
                                        </p:attrNameLst>
                                      </p:cBhvr>
                                      <p:tavLst>
                                        <p:tav tm="0">
                                          <p:val>
                                            <p:strVal val="#ppt_x"/>
                                          </p:val>
                                        </p:tav>
                                        <p:tav tm="100000">
                                          <p:val>
                                            <p:strVal val="#ppt_x"/>
                                          </p:val>
                                        </p:tav>
                                      </p:tavLst>
                                    </p:anim>
                                    <p:anim calcmode="lin" valueType="num">
                                      <p:cBhvr>
                                        <p:cTn id="34" dur="900" decel="100000"/>
                                        <p:tgtEl>
                                          <p:spTgt spid="8"/>
                                        </p:tgtEl>
                                        <p:attrNameLst>
                                          <p:attrName>ppt_y</p:attrName>
                                        </p:attrNameLst>
                                      </p:cBhvr>
                                      <p:tavLst>
                                        <p:tav tm="0">
                                          <p:val>
                                            <p:strVal val="#ppt_y+.035"/>
                                          </p:val>
                                        </p:tav>
                                        <p:tav tm="100000">
                                          <p:val>
                                            <p:strVal val="#ppt_y"/>
                                          </p:val>
                                        </p:tav>
                                      </p:tavLst>
                                    </p:anim>
                                  </p:childTnLst>
                                </p:cTn>
                              </p:par>
                              <p:par>
                                <p:cTn id="35" presetID="10" presetClass="entr" presetSubtype="0" fill="hold" grpId="0" nodeType="withEffect">
                                  <p:stCondLst>
                                    <p:cond delay="858"/>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700"/>
                                        <p:tgtEl>
                                          <p:spTgt spid="23"/>
                                        </p:tgtEl>
                                      </p:cBhvr>
                                    </p:animEffect>
                                  </p:childTnLst>
                                </p:cTn>
                              </p:par>
                              <p:par>
                                <p:cTn id="38" presetID="10" presetClass="entr" presetSubtype="0" fill="hold" grpId="0" nodeType="withEffect">
                                  <p:stCondLst>
                                    <p:cond delay="934"/>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700"/>
                                        <p:tgtEl>
                                          <p:spTgt spid="24"/>
                                        </p:tgtEl>
                                      </p:cBhvr>
                                    </p:animEffect>
                                  </p:childTnLst>
                                </p:cTn>
                              </p:par>
                              <p:par>
                                <p:cTn id="41" presetID="42" presetClass="entr" presetSubtype="0" fill="hold" grpId="0" nodeType="withEffect">
                                  <p:stCondLst>
                                    <p:cond delay="101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900"/>
                                        <p:tgtEl>
                                          <p:spTgt spid="9"/>
                                        </p:tgtEl>
                                      </p:cBhvr>
                                    </p:animEffect>
                                    <p:anim calcmode="lin" valueType="num">
                                      <p:cBhvr>
                                        <p:cTn id="44" dur="900" decel="100000"/>
                                        <p:tgtEl>
                                          <p:spTgt spid="9"/>
                                        </p:tgtEl>
                                        <p:attrNameLst>
                                          <p:attrName>ppt_x</p:attrName>
                                        </p:attrNameLst>
                                      </p:cBhvr>
                                      <p:tavLst>
                                        <p:tav tm="0">
                                          <p:val>
                                            <p:strVal val="#ppt_x"/>
                                          </p:val>
                                        </p:tav>
                                        <p:tav tm="100000">
                                          <p:val>
                                            <p:strVal val="#ppt_x"/>
                                          </p:val>
                                        </p:tav>
                                      </p:tavLst>
                                    </p:anim>
                                    <p:anim calcmode="lin" valueType="num">
                                      <p:cBhvr>
                                        <p:cTn id="45" dur="900" decel="100000"/>
                                        <p:tgtEl>
                                          <p:spTgt spid="9"/>
                                        </p:tgtEl>
                                        <p:attrNameLst>
                                          <p:attrName>ppt_y</p:attrName>
                                        </p:attrNameLst>
                                      </p:cBhvr>
                                      <p:tavLst>
                                        <p:tav tm="0">
                                          <p:val>
                                            <p:strVal val="#ppt_y+.035"/>
                                          </p:val>
                                        </p:tav>
                                        <p:tav tm="100000">
                                          <p:val>
                                            <p:strVal val="#ppt_y"/>
                                          </p:val>
                                        </p:tav>
                                      </p:tavLst>
                                    </p:anim>
                                  </p:childTnLst>
                                </p:cTn>
                              </p:par>
                              <p:par>
                                <p:cTn id="46" presetID="10" presetClass="entr" presetSubtype="0" fill="hold" grpId="0" nodeType="withEffect">
                                  <p:stCondLst>
                                    <p:cond delay="1086"/>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700"/>
                                        <p:tgtEl>
                                          <p:spTgt spid="25"/>
                                        </p:tgtEl>
                                      </p:cBhvr>
                                    </p:animEffect>
                                  </p:childTnLst>
                                </p:cTn>
                              </p:par>
                              <p:par>
                                <p:cTn id="49" presetID="10" presetClass="entr" presetSubtype="0" fill="hold" grpId="0" nodeType="withEffect">
                                  <p:stCondLst>
                                    <p:cond delay="1162"/>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700"/>
                                        <p:tgtEl>
                                          <p:spTgt spid="26"/>
                                        </p:tgtEl>
                                      </p:cBhvr>
                                    </p:animEffect>
                                  </p:childTnLst>
                                </p:cTn>
                              </p:par>
                              <p:par>
                                <p:cTn id="52" presetID="10" presetClass="entr" presetSubtype="0" fill="hold" grpId="0" nodeType="withEffect">
                                  <p:stCondLst>
                                    <p:cond delay="1238"/>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700"/>
                                        <p:tgtEl>
                                          <p:spTgt spid="27"/>
                                        </p:tgtEl>
                                      </p:cBhvr>
                                    </p:animEffect>
                                  </p:childTnLst>
                                </p:cTn>
                              </p:par>
                              <p:par>
                                <p:cTn id="55" presetID="10" presetClass="entr" presetSubtype="0" fill="hold" grpId="0" nodeType="withEffect">
                                  <p:stCondLst>
                                    <p:cond delay="1314"/>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700"/>
                                        <p:tgtEl>
                                          <p:spTgt spid="28"/>
                                        </p:tgtEl>
                                      </p:cBhvr>
                                    </p:animEffect>
                                  </p:childTnLst>
                                </p:cTn>
                              </p:par>
                              <p:par>
                                <p:cTn id="58" presetID="10" presetClass="entr" presetSubtype="0" fill="hold" grpId="0" nodeType="withEffect">
                                  <p:stCondLst>
                                    <p:cond delay="139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700"/>
                                        <p:tgtEl>
                                          <p:spTgt spid="11"/>
                                        </p:tgtEl>
                                      </p:cBhvr>
                                    </p:animEffect>
                                  </p:childTnLst>
                                </p:cTn>
                              </p:par>
                              <p:par>
                                <p:cTn id="61" presetID="10" presetClass="entr" presetSubtype="0" fill="hold" grpId="0" nodeType="withEffect">
                                  <p:stCondLst>
                                    <p:cond delay="1466"/>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700"/>
                                        <p:tgtEl>
                                          <p:spTgt spid="10"/>
                                        </p:tgtEl>
                                      </p:cBhvr>
                                    </p:animEffect>
                                  </p:childTnLst>
                                </p:cTn>
                              </p:par>
                              <p:par>
                                <p:cTn id="64" presetID="10" presetClass="entr" presetSubtype="0" fill="hold" grpId="0" nodeType="withEffect">
                                  <p:stCondLst>
                                    <p:cond delay="1542"/>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700"/>
                                        <p:tgtEl>
                                          <p:spTgt spid="29"/>
                                        </p:tgtEl>
                                      </p:cBhvr>
                                    </p:animEffect>
                                  </p:childTnLst>
                                </p:cTn>
                              </p:par>
                              <p:par>
                                <p:cTn id="67" presetID="10" presetClass="entr" presetSubtype="0" fill="hold" grpId="0" nodeType="withEffect">
                                  <p:stCondLst>
                                    <p:cond delay="1618"/>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700"/>
                                        <p:tgtEl>
                                          <p:spTgt spid="30"/>
                                        </p:tgtEl>
                                      </p:cBhvr>
                                    </p:animEffect>
                                  </p:childTnLst>
                                </p:cTn>
                              </p:par>
                              <p:par>
                                <p:cTn id="70" presetID="10" presetClass="entr" presetSubtype="0" fill="hold" grpId="0" nodeType="withEffect">
                                  <p:stCondLst>
                                    <p:cond delay="1694"/>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700"/>
                                        <p:tgtEl>
                                          <p:spTgt spid="12"/>
                                        </p:tgtEl>
                                      </p:cBhvr>
                                    </p:animEffect>
                                  </p:childTnLst>
                                </p:cTn>
                              </p:par>
                              <p:par>
                                <p:cTn id="73" presetID="10" presetClass="entr" presetSubtype="0" fill="hold" grpId="0" nodeType="withEffect">
                                  <p:stCondLst>
                                    <p:cond delay="177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700"/>
                                        <p:tgtEl>
                                          <p:spTgt spid="13"/>
                                        </p:tgtEl>
                                      </p:cBhvr>
                                    </p:animEffect>
                                  </p:childTnLst>
                                </p:cTn>
                              </p:par>
                              <p:par>
                                <p:cTn id="76" presetID="10" presetClass="entr" presetSubtype="0" fill="hold" grpId="0" nodeType="withEffect">
                                  <p:stCondLst>
                                    <p:cond delay="1846"/>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700"/>
                                        <p:tgtEl>
                                          <p:spTgt spid="15"/>
                                        </p:tgtEl>
                                      </p:cBhvr>
                                    </p:animEffect>
                                  </p:childTnLst>
                                </p:cTn>
                              </p:par>
                              <p:par>
                                <p:cTn id="79" presetID="10" presetClass="entr" presetSubtype="0" fill="hold" grpId="0" nodeType="withEffect">
                                  <p:stCondLst>
                                    <p:cond delay="1922"/>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700"/>
                                        <p:tgtEl>
                                          <p:spTgt spid="14"/>
                                        </p:tgtEl>
                                      </p:cBhvr>
                                    </p:animEffect>
                                  </p:childTnLst>
                                </p:cTn>
                              </p:par>
                              <p:par>
                                <p:cTn id="82" presetID="10" presetClass="entr" presetSubtype="0" fill="hold" grpId="0" nodeType="withEffect">
                                  <p:stCondLst>
                                    <p:cond delay="1998"/>
                                  </p:stCondLst>
                                  <p:childTnLst>
                                    <p:set>
                                      <p:cBhvr>
                                        <p:cTn id="83" dur="1" fill="hold">
                                          <p:stCondLst>
                                            <p:cond delay="0"/>
                                          </p:stCondLst>
                                        </p:cTn>
                                        <p:tgtEl>
                                          <p:spTgt spid="16"/>
                                        </p:tgtEl>
                                        <p:attrNameLst>
                                          <p:attrName>style.visibility</p:attrName>
                                        </p:attrNameLst>
                                      </p:cBhvr>
                                      <p:to>
                                        <p:strVal val="visible"/>
                                      </p:to>
                                    </p:set>
                                    <p:animEffect transition="in" filter="fade">
                                      <p:cBhvr>
                                        <p:cTn id="84" dur="700"/>
                                        <p:tgtEl>
                                          <p:spTgt spid="16"/>
                                        </p:tgtEl>
                                      </p:cBhvr>
                                    </p:animEffect>
                                  </p:childTnLst>
                                </p:cTn>
                              </p:par>
                              <p:par>
                                <p:cTn id="85" presetID="10" presetClass="entr" presetSubtype="0" fill="hold" grpId="0" nodeType="withEffect">
                                  <p:stCondLst>
                                    <p:cond delay="2074"/>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700"/>
                                        <p:tgtEl>
                                          <p:spTgt spid="17"/>
                                        </p:tgtEl>
                                      </p:cBhvr>
                                    </p:animEffect>
                                  </p:childTnLst>
                                </p:cTn>
                              </p:par>
                              <p:par>
                                <p:cTn id="88" presetID="10" presetClass="entr" presetSubtype="0" fill="hold" grpId="0" nodeType="withEffect">
                                  <p:stCondLst>
                                    <p:cond delay="215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7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animBg="1"/>
      <p:bldP spid="19" grpId="0" animBg="1"/>
      <p:bldP spid="7" grpId="0" animBg="1"/>
      <p:bldP spid="20" grpId="0" animBg="1"/>
      <p:bldP spid="21" grpId="0" animBg="1"/>
      <p:bldP spid="22" grpId="0" animBg="1"/>
      <p:bldP spid="8" grpId="0" animBg="1"/>
      <p:bldP spid="23" grpId="0" animBg="1"/>
      <p:bldP spid="24" grpId="0" animBg="1"/>
      <p:bldP spid="9" grpId="0" animBg="1"/>
      <p:bldP spid="25" grpId="0" animBg="1"/>
      <p:bldP spid="26" grpId="0" animBg="1"/>
      <p:bldP spid="27" grpId="0" animBg="1"/>
      <p:bldP spid="28" grpId="0" animBg="1"/>
      <p:bldP spid="11" grpId="0" animBg="1"/>
      <p:bldP spid="10" grpId="0" animBg="1"/>
      <p:bldP spid="29" grpId="0" animBg="1"/>
      <p:bldP spid="30" grpId="0" animBg="1"/>
      <p:bldP spid="12" grpId="0" animBg="1"/>
      <p:bldP spid="13" grpId="0" animBg="1"/>
      <p:bldP spid="15" grpId="0" animBg="1"/>
      <p:bldP spid="14" grpId="0" animBg="1"/>
      <p:bldP spid="16" grpId="0" animBg="1"/>
      <p:bldP spid="17" grpId="0" animBg="1"/>
      <p:bldP spid="3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09</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WHAT YOU DON’T PAY</a:t>
            </a:r>
          </a:p>
        </p:txBody>
      </p:sp>
      <p:sp>
        <p:nvSpPr>
          <p:cNvPr id="7" name="TextBox 6"/>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000" b="1" i="0" spc="-100">
                <a:solidFill>
                  <a:srgbClr val="0B1020"/>
                </a:solidFill>
                <a:latin typeface="Bricolage Grotesque"/>
                <a:ea typeface="Inter"/>
                <a:cs typeface="Inter"/>
              </a:rPr>
              <a:t>No setup. No retainer. No extras.</a:t>
            </a:r>
          </a:p>
        </p:txBody>
      </p:sp>
      <p:sp>
        <p:nvSpPr>
          <p:cNvPr id="8" name="Rounded Rectangle 7"/>
          <p:cNvSpPr/>
          <p:nvPr/>
        </p:nvSpPr>
        <p:spPr>
          <a:xfrm>
            <a:off x="685800" y="2423160"/>
            <a:ext cx="2533573" cy="32918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1005840" y="2697480"/>
            <a:ext cx="1893493" cy="1005840"/>
          </a:xfrm>
          <a:prstGeom prst="rect">
            <a:avLst/>
          </a:prstGeom>
          <a:noFill/>
        </p:spPr>
        <p:txBody>
          <a:bodyPr wrap="square" lIns="0" rIns="0" tIns="0" bIns="0">
            <a:spAutoFit/>
          </a:bodyPr>
          <a:lstStyle/>
          <a:p>
            <a:pPr algn="l">
              <a:lnSpc>
                <a:spcPct val="95000"/>
              </a:lnSpc>
            </a:pPr>
            <a:r>
              <a:rPr sz="7200" b="1" i="0" spc="-200">
                <a:solidFill>
                  <a:srgbClr val="FF5C4D"/>
                </a:solidFill>
                <a:latin typeface="Bricolage Grotesque"/>
                <a:ea typeface="Inter"/>
                <a:cs typeface="Inter"/>
              </a:rPr>
              <a:t>$0</a:t>
            </a:r>
          </a:p>
        </p:txBody>
      </p:sp>
      <p:sp>
        <p:nvSpPr>
          <p:cNvPr id="10" name="Rectangle 9"/>
          <p:cNvSpPr/>
          <p:nvPr/>
        </p:nvSpPr>
        <p:spPr>
          <a:xfrm>
            <a:off x="1005840" y="3977639"/>
            <a:ext cx="1893493" cy="10972"/>
          </a:xfrm>
          <a:prstGeom prst="rect">
            <a:avLst/>
          </a:prstGeom>
          <a:solidFill>
            <a:srgbClr val="E3E0D8"/>
          </a:solidFill>
          <a:ln>
            <a:noFill/>
          </a:ln>
        </p:spPr>
        <p:txBody>
          <a:bodyPr rtlCol="0" anchor="ctr"/>
          <a:lstStyle/>
          <a:p>
            <a:pPr algn="ctr"/>
          </a:p>
        </p:txBody>
      </p:sp>
      <p:sp>
        <p:nvSpPr>
          <p:cNvPr id="11" name="TextBox 10"/>
          <p:cNvSpPr txBox="1"/>
          <p:nvPr/>
        </p:nvSpPr>
        <p:spPr>
          <a:xfrm>
            <a:off x="1005840" y="4160520"/>
            <a:ext cx="1893493" cy="548640"/>
          </a:xfrm>
          <a:prstGeom prst="rect">
            <a:avLst/>
          </a:prstGeom>
          <a:noFill/>
        </p:spPr>
        <p:txBody>
          <a:bodyPr wrap="square" lIns="0" rIns="0" tIns="0" bIns="0">
            <a:spAutoFit/>
          </a:bodyPr>
          <a:lstStyle/>
          <a:p>
            <a:pPr algn="l">
              <a:lnSpc>
                <a:spcPct val="120000"/>
              </a:lnSpc>
            </a:pPr>
            <a:r>
              <a:rPr sz="1500" b="1" i="0">
                <a:solidFill>
                  <a:srgbClr val="0B1020"/>
                </a:solidFill>
                <a:latin typeface="Inter"/>
                <a:ea typeface="Inter"/>
                <a:cs typeface="Inter"/>
              </a:rPr>
              <a:t>Setup fee</a:t>
            </a:r>
          </a:p>
        </p:txBody>
      </p:sp>
      <p:sp>
        <p:nvSpPr>
          <p:cNvPr id="12" name="TextBox 11"/>
          <p:cNvSpPr txBox="1"/>
          <p:nvPr/>
        </p:nvSpPr>
        <p:spPr>
          <a:xfrm>
            <a:off x="1005840" y="4892040"/>
            <a:ext cx="1893493" cy="548640"/>
          </a:xfrm>
          <a:prstGeom prst="rect">
            <a:avLst/>
          </a:prstGeom>
          <a:noFill/>
        </p:spPr>
        <p:txBody>
          <a:bodyPr wrap="square" lIns="0" rIns="0" tIns="0" bIns="0">
            <a:spAutoFit/>
          </a:bodyPr>
          <a:lstStyle/>
          <a:p>
            <a:pPr algn="l">
              <a:lnSpc>
                <a:spcPct val="130000"/>
              </a:lnSpc>
            </a:pPr>
            <a:r>
              <a:rPr sz="1050" b="0" i="0">
                <a:solidFill>
                  <a:srgbClr val="7D8296"/>
                </a:solidFill>
                <a:latin typeface="Inter"/>
                <a:ea typeface="Inter"/>
                <a:cs typeface="Inter"/>
              </a:rPr>
              <a:t>Your property is already furnished</a:t>
            </a:r>
          </a:p>
        </p:txBody>
      </p:sp>
      <p:sp>
        <p:nvSpPr>
          <p:cNvPr id="13" name="Rounded Rectangle 12"/>
          <p:cNvSpPr/>
          <p:nvPr/>
        </p:nvSpPr>
        <p:spPr>
          <a:xfrm>
            <a:off x="3447973" y="2423160"/>
            <a:ext cx="2533573" cy="32918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4" name="TextBox 13"/>
          <p:cNvSpPr txBox="1"/>
          <p:nvPr/>
        </p:nvSpPr>
        <p:spPr>
          <a:xfrm>
            <a:off x="3768013" y="2697480"/>
            <a:ext cx="1893493" cy="1005840"/>
          </a:xfrm>
          <a:prstGeom prst="rect">
            <a:avLst/>
          </a:prstGeom>
          <a:noFill/>
        </p:spPr>
        <p:txBody>
          <a:bodyPr wrap="square" lIns="0" rIns="0" tIns="0" bIns="0">
            <a:spAutoFit/>
          </a:bodyPr>
          <a:lstStyle/>
          <a:p>
            <a:pPr algn="l">
              <a:lnSpc>
                <a:spcPct val="95000"/>
              </a:lnSpc>
            </a:pPr>
            <a:r>
              <a:rPr sz="7200" b="1" i="0" spc="-200">
                <a:solidFill>
                  <a:srgbClr val="FF5C4D"/>
                </a:solidFill>
                <a:latin typeface="Bricolage Grotesque"/>
                <a:ea typeface="Inter"/>
                <a:cs typeface="Inter"/>
              </a:rPr>
              <a:t>$0</a:t>
            </a:r>
          </a:p>
        </p:txBody>
      </p:sp>
      <p:sp>
        <p:nvSpPr>
          <p:cNvPr id="15" name="Rectangle 14"/>
          <p:cNvSpPr/>
          <p:nvPr/>
        </p:nvSpPr>
        <p:spPr>
          <a:xfrm>
            <a:off x="3768013" y="3977639"/>
            <a:ext cx="1893493" cy="10972"/>
          </a:xfrm>
          <a:prstGeom prst="rect">
            <a:avLst/>
          </a:prstGeom>
          <a:solidFill>
            <a:srgbClr val="E3E0D8"/>
          </a:solidFill>
          <a:ln>
            <a:noFill/>
          </a:ln>
        </p:spPr>
        <p:txBody>
          <a:bodyPr rtlCol="0" anchor="ctr"/>
          <a:lstStyle/>
          <a:p>
            <a:pPr algn="ctr"/>
          </a:p>
        </p:txBody>
      </p:sp>
      <p:sp>
        <p:nvSpPr>
          <p:cNvPr id="16" name="TextBox 15"/>
          <p:cNvSpPr txBox="1"/>
          <p:nvPr/>
        </p:nvSpPr>
        <p:spPr>
          <a:xfrm>
            <a:off x="3768013" y="4160520"/>
            <a:ext cx="1893493" cy="548640"/>
          </a:xfrm>
          <a:prstGeom prst="rect">
            <a:avLst/>
          </a:prstGeom>
          <a:noFill/>
        </p:spPr>
        <p:txBody>
          <a:bodyPr wrap="square" lIns="0" rIns="0" tIns="0" bIns="0">
            <a:spAutoFit/>
          </a:bodyPr>
          <a:lstStyle/>
          <a:p>
            <a:pPr algn="l">
              <a:lnSpc>
                <a:spcPct val="120000"/>
              </a:lnSpc>
            </a:pPr>
            <a:r>
              <a:rPr sz="1500" b="1" i="0">
                <a:solidFill>
                  <a:srgbClr val="0B1020"/>
                </a:solidFill>
                <a:latin typeface="Inter"/>
                <a:ea typeface="Inter"/>
                <a:cs typeface="Inter"/>
              </a:rPr>
              <a:t>Per-listing onboarding</a:t>
            </a:r>
          </a:p>
        </p:txBody>
      </p:sp>
      <p:sp>
        <p:nvSpPr>
          <p:cNvPr id="17" name="TextBox 16"/>
          <p:cNvSpPr txBox="1"/>
          <p:nvPr/>
        </p:nvSpPr>
        <p:spPr>
          <a:xfrm>
            <a:off x="3768013" y="4892040"/>
            <a:ext cx="1893493" cy="548640"/>
          </a:xfrm>
          <a:prstGeom prst="rect">
            <a:avLst/>
          </a:prstGeom>
          <a:noFill/>
        </p:spPr>
        <p:txBody>
          <a:bodyPr wrap="square" lIns="0" rIns="0" tIns="0" bIns="0">
            <a:spAutoFit/>
          </a:bodyPr>
          <a:lstStyle/>
          <a:p>
            <a:pPr algn="l">
              <a:lnSpc>
                <a:spcPct val="130000"/>
              </a:lnSpc>
            </a:pPr>
            <a:r>
              <a:rPr sz="1050" b="0" i="0">
                <a:solidFill>
                  <a:srgbClr val="7D8296"/>
                </a:solidFill>
                <a:latin typeface="Inter"/>
                <a:ea typeface="Inter"/>
                <a:cs typeface="Inter"/>
              </a:rPr>
              <a:t>No charge per listing</a:t>
            </a:r>
          </a:p>
        </p:txBody>
      </p:sp>
      <p:sp>
        <p:nvSpPr>
          <p:cNvPr id="18" name="Rounded Rectangle 17"/>
          <p:cNvSpPr/>
          <p:nvPr/>
        </p:nvSpPr>
        <p:spPr>
          <a:xfrm>
            <a:off x="6210147" y="2423160"/>
            <a:ext cx="2533573" cy="32918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9" name="TextBox 18"/>
          <p:cNvSpPr txBox="1"/>
          <p:nvPr/>
        </p:nvSpPr>
        <p:spPr>
          <a:xfrm>
            <a:off x="6530187" y="2697480"/>
            <a:ext cx="1893493" cy="1005840"/>
          </a:xfrm>
          <a:prstGeom prst="rect">
            <a:avLst/>
          </a:prstGeom>
          <a:noFill/>
        </p:spPr>
        <p:txBody>
          <a:bodyPr wrap="square" lIns="0" rIns="0" tIns="0" bIns="0">
            <a:spAutoFit/>
          </a:bodyPr>
          <a:lstStyle/>
          <a:p>
            <a:pPr algn="l">
              <a:lnSpc>
                <a:spcPct val="95000"/>
              </a:lnSpc>
            </a:pPr>
            <a:r>
              <a:rPr sz="7200" b="1" i="0" spc="-200">
                <a:solidFill>
                  <a:srgbClr val="FF5C4D"/>
                </a:solidFill>
                <a:latin typeface="Bricolage Grotesque"/>
                <a:ea typeface="Inter"/>
                <a:cs typeface="Inter"/>
              </a:rPr>
              <a:t>$0</a:t>
            </a:r>
          </a:p>
        </p:txBody>
      </p:sp>
      <p:sp>
        <p:nvSpPr>
          <p:cNvPr id="20" name="Rectangle 19"/>
          <p:cNvSpPr/>
          <p:nvPr/>
        </p:nvSpPr>
        <p:spPr>
          <a:xfrm>
            <a:off x="6530187" y="3977639"/>
            <a:ext cx="1893493" cy="10972"/>
          </a:xfrm>
          <a:prstGeom prst="rect">
            <a:avLst/>
          </a:prstGeom>
          <a:solidFill>
            <a:srgbClr val="E3E0D8"/>
          </a:solidFill>
          <a:ln>
            <a:noFill/>
          </a:ln>
        </p:spPr>
        <p:txBody>
          <a:bodyPr rtlCol="0" anchor="ctr"/>
          <a:lstStyle/>
          <a:p>
            <a:pPr algn="ctr"/>
          </a:p>
        </p:txBody>
      </p:sp>
      <p:sp>
        <p:nvSpPr>
          <p:cNvPr id="21" name="TextBox 20"/>
          <p:cNvSpPr txBox="1"/>
          <p:nvPr/>
        </p:nvSpPr>
        <p:spPr>
          <a:xfrm>
            <a:off x="6530187" y="4160520"/>
            <a:ext cx="1893493" cy="548640"/>
          </a:xfrm>
          <a:prstGeom prst="rect">
            <a:avLst/>
          </a:prstGeom>
          <a:noFill/>
        </p:spPr>
        <p:txBody>
          <a:bodyPr wrap="square" lIns="0" rIns="0" tIns="0" bIns="0">
            <a:spAutoFit/>
          </a:bodyPr>
          <a:lstStyle/>
          <a:p>
            <a:pPr algn="l">
              <a:lnSpc>
                <a:spcPct val="120000"/>
              </a:lnSpc>
            </a:pPr>
            <a:r>
              <a:rPr sz="1500" b="1" i="0">
                <a:solidFill>
                  <a:srgbClr val="0B1020"/>
                </a:solidFill>
                <a:latin typeface="Inter"/>
                <a:ea typeface="Inter"/>
                <a:cs typeface="Inter"/>
              </a:rPr>
              <a:t>Monthly retainer</a:t>
            </a:r>
          </a:p>
        </p:txBody>
      </p:sp>
      <p:sp>
        <p:nvSpPr>
          <p:cNvPr id="22" name="TextBox 21"/>
          <p:cNvSpPr txBox="1"/>
          <p:nvPr/>
        </p:nvSpPr>
        <p:spPr>
          <a:xfrm>
            <a:off x="6530187" y="4892040"/>
            <a:ext cx="1893493" cy="548640"/>
          </a:xfrm>
          <a:prstGeom prst="rect">
            <a:avLst/>
          </a:prstGeom>
          <a:noFill/>
        </p:spPr>
        <p:txBody>
          <a:bodyPr wrap="square" lIns="0" rIns="0" tIns="0" bIns="0">
            <a:spAutoFit/>
          </a:bodyPr>
          <a:lstStyle/>
          <a:p>
            <a:pPr algn="l">
              <a:lnSpc>
                <a:spcPct val="130000"/>
              </a:lnSpc>
            </a:pPr>
            <a:r>
              <a:rPr sz="1050" b="0" i="0">
                <a:solidFill>
                  <a:srgbClr val="7D8296"/>
                </a:solidFill>
                <a:latin typeface="Inter"/>
                <a:ea typeface="Inter"/>
                <a:cs typeface="Inter"/>
              </a:rPr>
              <a:t>None</a:t>
            </a:r>
          </a:p>
        </p:txBody>
      </p:sp>
      <p:sp>
        <p:nvSpPr>
          <p:cNvPr id="23" name="Rounded Rectangle 22"/>
          <p:cNvSpPr/>
          <p:nvPr/>
        </p:nvSpPr>
        <p:spPr>
          <a:xfrm>
            <a:off x="8972321" y="2423160"/>
            <a:ext cx="2533573" cy="3291840"/>
          </a:xfrm>
          <a:prstGeom prst="roundRect">
            <a:avLst>
              <a:gd name="adj" fmla="val 6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4" name="TextBox 23"/>
          <p:cNvSpPr txBox="1"/>
          <p:nvPr/>
        </p:nvSpPr>
        <p:spPr>
          <a:xfrm>
            <a:off x="9292361" y="2697480"/>
            <a:ext cx="1893493" cy="1005840"/>
          </a:xfrm>
          <a:prstGeom prst="rect">
            <a:avLst/>
          </a:prstGeom>
          <a:noFill/>
        </p:spPr>
        <p:txBody>
          <a:bodyPr wrap="square" lIns="0" rIns="0" tIns="0" bIns="0">
            <a:spAutoFit/>
          </a:bodyPr>
          <a:lstStyle/>
          <a:p>
            <a:pPr algn="l">
              <a:lnSpc>
                <a:spcPct val="95000"/>
              </a:lnSpc>
            </a:pPr>
            <a:r>
              <a:rPr sz="7200" b="1" i="0" spc="-200">
                <a:solidFill>
                  <a:srgbClr val="FF5C4D"/>
                </a:solidFill>
                <a:latin typeface="Bricolage Grotesque"/>
                <a:ea typeface="Inter"/>
                <a:cs typeface="Inter"/>
              </a:rPr>
              <a:t>$0</a:t>
            </a:r>
          </a:p>
        </p:txBody>
      </p:sp>
      <p:sp>
        <p:nvSpPr>
          <p:cNvPr id="25" name="Rectangle 24"/>
          <p:cNvSpPr/>
          <p:nvPr/>
        </p:nvSpPr>
        <p:spPr>
          <a:xfrm>
            <a:off x="9292361" y="3977639"/>
            <a:ext cx="1893493" cy="10972"/>
          </a:xfrm>
          <a:prstGeom prst="rect">
            <a:avLst/>
          </a:prstGeom>
          <a:solidFill>
            <a:srgbClr val="E3E0D8"/>
          </a:solidFill>
          <a:ln>
            <a:noFill/>
          </a:ln>
        </p:spPr>
        <p:txBody>
          <a:bodyPr rtlCol="0" anchor="ctr"/>
          <a:lstStyle/>
          <a:p>
            <a:pPr algn="ctr"/>
          </a:p>
        </p:txBody>
      </p:sp>
      <p:sp>
        <p:nvSpPr>
          <p:cNvPr id="26" name="TextBox 25"/>
          <p:cNvSpPr txBox="1"/>
          <p:nvPr/>
        </p:nvSpPr>
        <p:spPr>
          <a:xfrm>
            <a:off x="9292361" y="4160520"/>
            <a:ext cx="1893493" cy="548640"/>
          </a:xfrm>
          <a:prstGeom prst="rect">
            <a:avLst/>
          </a:prstGeom>
          <a:noFill/>
        </p:spPr>
        <p:txBody>
          <a:bodyPr wrap="square" lIns="0" rIns="0" tIns="0" bIns="0">
            <a:spAutoFit/>
          </a:bodyPr>
          <a:lstStyle/>
          <a:p>
            <a:pPr algn="l">
              <a:lnSpc>
                <a:spcPct val="120000"/>
              </a:lnSpc>
            </a:pPr>
            <a:r>
              <a:rPr sz="1500" b="1" i="0">
                <a:solidFill>
                  <a:srgbClr val="0B1020"/>
                </a:solidFill>
                <a:latin typeface="Inter"/>
                <a:ea typeface="Inter"/>
                <a:cs typeface="Inter"/>
              </a:rPr>
              <a:t>Photos, rewrites, pricing</a:t>
            </a:r>
          </a:p>
        </p:txBody>
      </p:sp>
      <p:sp>
        <p:nvSpPr>
          <p:cNvPr id="27" name="TextBox 26"/>
          <p:cNvSpPr txBox="1"/>
          <p:nvPr/>
        </p:nvSpPr>
        <p:spPr>
          <a:xfrm>
            <a:off x="9292361" y="4892040"/>
            <a:ext cx="1893493" cy="548640"/>
          </a:xfrm>
          <a:prstGeom prst="rect">
            <a:avLst/>
          </a:prstGeom>
          <a:noFill/>
        </p:spPr>
        <p:txBody>
          <a:bodyPr wrap="square" lIns="0" rIns="0" tIns="0" bIns="0">
            <a:spAutoFit/>
          </a:bodyPr>
          <a:lstStyle/>
          <a:p>
            <a:pPr algn="l">
              <a:lnSpc>
                <a:spcPct val="130000"/>
              </a:lnSpc>
            </a:pPr>
            <a:r>
              <a:rPr sz="1050" b="0" i="0">
                <a:solidFill>
                  <a:srgbClr val="7D8296"/>
                </a:solidFill>
                <a:latin typeface="Inter"/>
                <a:ea typeface="Inter"/>
                <a:cs typeface="Inter"/>
              </a:rPr>
              <a:t>All included</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42" presetClass="entr" presetSubtype="0" fill="hold" grpId="0" nodeType="withEffect">
                                  <p:stCondLst>
                                    <p:cond delay="5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900"/>
                                        <p:tgtEl>
                                          <p:spTgt spid="9"/>
                                        </p:tgtEl>
                                      </p:cBhvr>
                                    </p:animEffect>
                                    <p:anim calcmode="lin" valueType="num">
                                      <p:cBhvr>
                                        <p:cTn id="19" dur="900" decel="100000"/>
                                        <p:tgtEl>
                                          <p:spTgt spid="9"/>
                                        </p:tgtEl>
                                        <p:attrNameLst>
                                          <p:attrName>ppt_x</p:attrName>
                                        </p:attrNameLst>
                                      </p:cBhvr>
                                      <p:tavLst>
                                        <p:tav tm="0">
                                          <p:val>
                                            <p:strVal val="#ppt_x"/>
                                          </p:val>
                                        </p:tav>
                                        <p:tav tm="100000">
                                          <p:val>
                                            <p:strVal val="#ppt_x"/>
                                          </p:val>
                                        </p:tav>
                                      </p:tavLst>
                                    </p:anim>
                                    <p:anim calcmode="lin" valueType="num">
                                      <p:cBhvr>
                                        <p:cTn id="20" dur="900" decel="100000"/>
                                        <p:tgtEl>
                                          <p:spTgt spid="9"/>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withEffect">
                                  <p:stCondLst>
                                    <p:cond delay="61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700"/>
                                        <p:tgtEl>
                                          <p:spTgt spid="13"/>
                                        </p:tgtEl>
                                      </p:cBhvr>
                                    </p:animEffect>
                                  </p:childTnLst>
                                </p:cTn>
                              </p:par>
                              <p:par>
                                <p:cTn id="24" presetID="42" presetClass="entr" presetSubtype="0" fill="hold" grpId="0" nodeType="withEffect">
                                  <p:stCondLst>
                                    <p:cond delay="70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900"/>
                                        <p:tgtEl>
                                          <p:spTgt spid="14"/>
                                        </p:tgtEl>
                                      </p:cBhvr>
                                    </p:animEffect>
                                    <p:anim calcmode="lin" valueType="num">
                                      <p:cBhvr>
                                        <p:cTn id="27" dur="900" decel="100000"/>
                                        <p:tgtEl>
                                          <p:spTgt spid="14"/>
                                        </p:tgtEl>
                                        <p:attrNameLst>
                                          <p:attrName>ppt_x</p:attrName>
                                        </p:attrNameLst>
                                      </p:cBhvr>
                                      <p:tavLst>
                                        <p:tav tm="0">
                                          <p:val>
                                            <p:strVal val="#ppt_x"/>
                                          </p:val>
                                        </p:tav>
                                        <p:tav tm="100000">
                                          <p:val>
                                            <p:strVal val="#ppt_x"/>
                                          </p:val>
                                        </p:tav>
                                      </p:tavLst>
                                    </p:anim>
                                    <p:anim calcmode="lin" valueType="num">
                                      <p:cBhvr>
                                        <p:cTn id="28" dur="900" decel="100000"/>
                                        <p:tgtEl>
                                          <p:spTgt spid="14"/>
                                        </p:tgtEl>
                                        <p:attrNameLst>
                                          <p:attrName>ppt_y</p:attrName>
                                        </p:attrNameLst>
                                      </p:cBhvr>
                                      <p:tavLst>
                                        <p:tav tm="0">
                                          <p:val>
                                            <p:strVal val="#ppt_y+.035"/>
                                          </p:val>
                                        </p:tav>
                                        <p:tav tm="100000">
                                          <p:val>
                                            <p:strVal val="#ppt_y"/>
                                          </p:val>
                                        </p:tav>
                                      </p:tavLst>
                                    </p:anim>
                                  </p:childTnLst>
                                </p:cTn>
                              </p:par>
                              <p:par>
                                <p:cTn id="29" presetID="10" presetClass="entr" presetSubtype="0" fill="hold" grpId="0" nodeType="withEffect">
                                  <p:stCondLst>
                                    <p:cond delay="79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700"/>
                                        <p:tgtEl>
                                          <p:spTgt spid="18"/>
                                        </p:tgtEl>
                                      </p:cBhvr>
                                    </p:animEffect>
                                  </p:childTnLst>
                                </p:cTn>
                              </p:par>
                              <p:par>
                                <p:cTn id="32" presetID="42" presetClass="entr" presetSubtype="0" fill="hold" grpId="0" nodeType="withEffect">
                                  <p:stCondLst>
                                    <p:cond delay="88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900"/>
                                        <p:tgtEl>
                                          <p:spTgt spid="19"/>
                                        </p:tgtEl>
                                      </p:cBhvr>
                                    </p:animEffect>
                                    <p:anim calcmode="lin" valueType="num">
                                      <p:cBhvr>
                                        <p:cTn id="35" dur="900" decel="100000"/>
                                        <p:tgtEl>
                                          <p:spTgt spid="19"/>
                                        </p:tgtEl>
                                        <p:attrNameLst>
                                          <p:attrName>ppt_x</p:attrName>
                                        </p:attrNameLst>
                                      </p:cBhvr>
                                      <p:tavLst>
                                        <p:tav tm="0">
                                          <p:val>
                                            <p:strVal val="#ppt_x"/>
                                          </p:val>
                                        </p:tav>
                                        <p:tav tm="100000">
                                          <p:val>
                                            <p:strVal val="#ppt_x"/>
                                          </p:val>
                                        </p:tav>
                                      </p:tavLst>
                                    </p:anim>
                                    <p:anim calcmode="lin" valueType="num">
                                      <p:cBhvr>
                                        <p:cTn id="36" dur="900" decel="100000"/>
                                        <p:tgtEl>
                                          <p:spTgt spid="19"/>
                                        </p:tgtEl>
                                        <p:attrNameLst>
                                          <p:attrName>ppt_y</p:attrName>
                                        </p:attrNameLst>
                                      </p:cBhvr>
                                      <p:tavLst>
                                        <p:tav tm="0">
                                          <p:val>
                                            <p:strVal val="#ppt_y+.035"/>
                                          </p:val>
                                        </p:tav>
                                        <p:tav tm="100000">
                                          <p:val>
                                            <p:strVal val="#ppt_y"/>
                                          </p:val>
                                        </p:tav>
                                      </p:tavLst>
                                    </p:anim>
                                  </p:childTnLst>
                                </p:cTn>
                              </p:par>
                              <p:par>
                                <p:cTn id="37" presetID="10" presetClass="entr" presetSubtype="0" fill="hold" grpId="0" nodeType="withEffect">
                                  <p:stCondLst>
                                    <p:cond delay="97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700"/>
                                        <p:tgtEl>
                                          <p:spTgt spid="23"/>
                                        </p:tgtEl>
                                      </p:cBhvr>
                                    </p:animEffect>
                                  </p:childTnLst>
                                </p:cTn>
                              </p:par>
                              <p:par>
                                <p:cTn id="40" presetID="42" presetClass="entr" presetSubtype="0" fill="hold" grpId="0" nodeType="withEffect">
                                  <p:stCondLst>
                                    <p:cond delay="106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900"/>
                                        <p:tgtEl>
                                          <p:spTgt spid="24"/>
                                        </p:tgtEl>
                                      </p:cBhvr>
                                    </p:animEffect>
                                    <p:anim calcmode="lin" valueType="num">
                                      <p:cBhvr>
                                        <p:cTn id="43" dur="900" decel="100000"/>
                                        <p:tgtEl>
                                          <p:spTgt spid="24"/>
                                        </p:tgtEl>
                                        <p:attrNameLst>
                                          <p:attrName>ppt_x</p:attrName>
                                        </p:attrNameLst>
                                      </p:cBhvr>
                                      <p:tavLst>
                                        <p:tav tm="0">
                                          <p:val>
                                            <p:strVal val="#ppt_x"/>
                                          </p:val>
                                        </p:tav>
                                        <p:tav tm="100000">
                                          <p:val>
                                            <p:strVal val="#ppt_x"/>
                                          </p:val>
                                        </p:tav>
                                      </p:tavLst>
                                    </p:anim>
                                    <p:anim calcmode="lin" valueType="num">
                                      <p:cBhvr>
                                        <p:cTn id="44" dur="900" decel="100000"/>
                                        <p:tgtEl>
                                          <p:spTgt spid="24"/>
                                        </p:tgtEl>
                                        <p:attrNameLst>
                                          <p:attrName>ppt_y</p:attrName>
                                        </p:attrNameLst>
                                      </p:cBhvr>
                                      <p:tavLst>
                                        <p:tav tm="0">
                                          <p:val>
                                            <p:strVal val="#ppt_y+.035"/>
                                          </p:val>
                                        </p:tav>
                                        <p:tav tm="100000">
                                          <p:val>
                                            <p:strVal val="#ppt_y"/>
                                          </p:val>
                                        </p:tav>
                                      </p:tavLst>
                                    </p:anim>
                                  </p:childTnLst>
                                </p:cTn>
                              </p:par>
                              <p:par>
                                <p:cTn id="45" presetID="22" presetClass="entr" presetSubtype="8" fill="hold" grpId="0" nodeType="withEffect">
                                  <p:stCondLst>
                                    <p:cond delay="115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700"/>
                                        <p:tgtEl>
                                          <p:spTgt spid="10"/>
                                        </p:tgtEl>
                                      </p:cBhvr>
                                    </p:animEffect>
                                  </p:childTnLst>
                                </p:cTn>
                              </p:par>
                              <p:par>
                                <p:cTn id="48" presetID="22" presetClass="entr" presetSubtype="8" fill="hold" grpId="0" nodeType="withEffect">
                                  <p:stCondLst>
                                    <p:cond delay="124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700"/>
                                        <p:tgtEl>
                                          <p:spTgt spid="15"/>
                                        </p:tgtEl>
                                      </p:cBhvr>
                                    </p:animEffect>
                                  </p:childTnLst>
                                </p:cTn>
                              </p:par>
                              <p:par>
                                <p:cTn id="51" presetID="22" presetClass="entr" presetSubtype="8" fill="hold" grpId="0" nodeType="withEffect">
                                  <p:stCondLst>
                                    <p:cond delay="133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700"/>
                                        <p:tgtEl>
                                          <p:spTgt spid="20"/>
                                        </p:tgtEl>
                                      </p:cBhvr>
                                    </p:animEffect>
                                  </p:childTnLst>
                                </p:cTn>
                              </p:par>
                              <p:par>
                                <p:cTn id="54" presetID="22" presetClass="entr" presetSubtype="8" fill="hold" grpId="0" nodeType="withEffect">
                                  <p:stCondLst>
                                    <p:cond delay="1420"/>
                                  </p:stCondLst>
                                  <p:childTnLst>
                                    <p:set>
                                      <p:cBhvr>
                                        <p:cTn id="55" dur="1" fill="hold">
                                          <p:stCondLst>
                                            <p:cond delay="0"/>
                                          </p:stCondLst>
                                        </p:cTn>
                                        <p:tgtEl>
                                          <p:spTgt spid="25"/>
                                        </p:tgtEl>
                                        <p:attrNameLst>
                                          <p:attrName>style.visibility</p:attrName>
                                        </p:attrNameLst>
                                      </p:cBhvr>
                                      <p:to>
                                        <p:strVal val="visible"/>
                                      </p:to>
                                    </p:set>
                                    <p:animEffect transition="in" filter="wipe(left)">
                                      <p:cBhvr>
                                        <p:cTn id="56" dur="700"/>
                                        <p:tgtEl>
                                          <p:spTgt spid="25"/>
                                        </p:tgtEl>
                                      </p:cBhvr>
                                    </p:animEffect>
                                  </p:childTnLst>
                                </p:cTn>
                              </p:par>
                              <p:par>
                                <p:cTn id="57" presetID="10" presetClass="entr" presetSubtype="0" fill="hold" grpId="0" nodeType="withEffect">
                                  <p:stCondLst>
                                    <p:cond delay="151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700"/>
                                        <p:tgtEl>
                                          <p:spTgt spid="11"/>
                                        </p:tgtEl>
                                      </p:cBhvr>
                                    </p:animEffect>
                                  </p:childTnLst>
                                </p:cTn>
                              </p:par>
                              <p:par>
                                <p:cTn id="60" presetID="10" presetClass="entr" presetSubtype="0" fill="hold" grpId="0" nodeType="withEffect">
                                  <p:stCondLst>
                                    <p:cond delay="16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700"/>
                                        <p:tgtEl>
                                          <p:spTgt spid="16"/>
                                        </p:tgtEl>
                                      </p:cBhvr>
                                    </p:animEffect>
                                  </p:childTnLst>
                                </p:cTn>
                              </p:par>
                              <p:par>
                                <p:cTn id="63" presetID="10" presetClass="entr" presetSubtype="0" fill="hold" grpId="0" nodeType="withEffect">
                                  <p:stCondLst>
                                    <p:cond delay="169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700"/>
                                        <p:tgtEl>
                                          <p:spTgt spid="21"/>
                                        </p:tgtEl>
                                      </p:cBhvr>
                                    </p:animEffect>
                                  </p:childTnLst>
                                </p:cTn>
                              </p:par>
                              <p:par>
                                <p:cTn id="66" presetID="10" presetClass="entr" presetSubtype="0" fill="hold" grpId="0" nodeType="withEffect">
                                  <p:stCondLst>
                                    <p:cond delay="178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700"/>
                                        <p:tgtEl>
                                          <p:spTgt spid="26"/>
                                        </p:tgtEl>
                                      </p:cBhvr>
                                    </p:animEffect>
                                  </p:childTnLst>
                                </p:cTn>
                              </p:par>
                              <p:par>
                                <p:cTn id="69" presetID="10" presetClass="entr" presetSubtype="0" fill="hold" grpId="0" nodeType="withEffect">
                                  <p:stCondLst>
                                    <p:cond delay="187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700"/>
                                        <p:tgtEl>
                                          <p:spTgt spid="12"/>
                                        </p:tgtEl>
                                      </p:cBhvr>
                                    </p:animEffect>
                                  </p:childTnLst>
                                </p:cTn>
                              </p:par>
                              <p:par>
                                <p:cTn id="72" presetID="10" presetClass="entr" presetSubtype="0" fill="hold" grpId="0" nodeType="withEffect">
                                  <p:stCondLst>
                                    <p:cond delay="196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700"/>
                                        <p:tgtEl>
                                          <p:spTgt spid="17"/>
                                        </p:tgtEl>
                                      </p:cBhvr>
                                    </p:animEffect>
                                  </p:childTnLst>
                                </p:cTn>
                              </p:par>
                              <p:par>
                                <p:cTn id="75" presetID="10" presetClass="entr" presetSubtype="0" fill="hold" grpId="0" nodeType="withEffect">
                                  <p:stCondLst>
                                    <p:cond delay="205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700"/>
                                        <p:tgtEl>
                                          <p:spTgt spid="22"/>
                                        </p:tgtEl>
                                      </p:cBhvr>
                                    </p:animEffect>
                                  </p:childTnLst>
                                </p:cTn>
                              </p:par>
                              <p:par>
                                <p:cTn id="78" presetID="10" presetClass="entr" presetSubtype="0" fill="hold" grpId="0" nodeType="withEffect">
                                  <p:stCondLst>
                                    <p:cond delay="214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7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animBg="1"/>
      <p:bldP spid="14" grpId="0" animBg="1"/>
      <p:bldP spid="18" grpId="0" animBg="1"/>
      <p:bldP spid="19" grpId="0" animBg="1"/>
      <p:bldP spid="23" grpId="0" animBg="1"/>
      <p:bldP spid="24" grpId="0" animBg="1"/>
      <p:bldP spid="10" grpId="0" animBg="1"/>
      <p:bldP spid="15" grpId="0" animBg="1"/>
      <p:bldP spid="20" grpId="0" animBg="1"/>
      <p:bldP spid="25" grpId="0" animBg="1"/>
      <p:bldP spid="11" grpId="0" animBg="1"/>
      <p:bldP spid="16" grpId="0" animBg="1"/>
      <p:bldP spid="21" grpId="0" animBg="1"/>
      <p:bldP spid="26" grpId="0" animBg="1"/>
      <p:bldP spid="12" grpId="0" animBg="1"/>
      <p:bldP spid="17" grpId="0" animBg="1"/>
      <p:bldP spid="22" grpId="0" animBg="1"/>
      <p:bldP spid="2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2.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10</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WHAT WE DO, EVERY DAY</a:t>
            </a:r>
          </a:p>
        </p:txBody>
      </p:sp>
      <p:sp>
        <p:nvSpPr>
          <p:cNvPr id="7" name="TextBox 6"/>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000" b="1" i="0" spc="-100">
                <a:solidFill>
                  <a:srgbClr val="FFFFFF"/>
                </a:solidFill>
                <a:latin typeface="Bricolage Grotesque"/>
                <a:ea typeface="Inter"/>
                <a:cs typeface="Inter"/>
              </a:rPr>
              <a:t>We work the calendar. Every single day.</a:t>
            </a:r>
          </a:p>
        </p:txBody>
      </p:sp>
      <p:sp>
        <p:nvSpPr>
          <p:cNvPr id="8" name="Rounded Rectangle 7"/>
          <p:cNvSpPr/>
          <p:nvPr/>
        </p:nvSpPr>
        <p:spPr>
          <a:xfrm>
            <a:off x="685800" y="2377440"/>
            <a:ext cx="3454298" cy="160020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9" name="Oval 8"/>
          <p:cNvSpPr/>
          <p:nvPr/>
        </p:nvSpPr>
        <p:spPr>
          <a:xfrm>
            <a:off x="1005840" y="2697480"/>
            <a:ext cx="329184" cy="329184"/>
          </a:xfrm>
          <a:prstGeom prst="ellipse">
            <a:avLst/>
          </a:prstGeom>
          <a:solidFill>
            <a:srgbClr val="FF5C4D"/>
          </a:solidFill>
          <a:ln>
            <a:noFill/>
          </a:ln>
        </p:spPr>
        <p:txBody>
          <a:bodyPr rtlCol="0" anchor="ctr"/>
          <a:lstStyle/>
          <a:p>
            <a:pPr algn="ctr"/>
          </a:p>
        </p:txBody>
      </p:sp>
      <p:sp>
        <p:nvSpPr>
          <p:cNvPr id="10" name="TextBox 9"/>
          <p:cNvSpPr txBox="1"/>
          <p:nvPr/>
        </p:nvSpPr>
        <p:spPr>
          <a:xfrm>
            <a:off x="1005840" y="2761488"/>
            <a:ext cx="329184" cy="228600"/>
          </a:xfrm>
          <a:prstGeom prst="rect">
            <a:avLst/>
          </a:prstGeom>
          <a:noFill/>
        </p:spPr>
        <p:txBody>
          <a:bodyPr wrap="square" lIns="0" rIns="0" tIns="0" bIns="0">
            <a:spAutoFit/>
          </a:bodyPr>
          <a:lstStyle/>
          <a:p>
            <a:pPr algn="ctr"/>
            <a:r>
              <a:rPr sz="900" b="1" i="0">
                <a:solidFill>
                  <a:srgbClr val="FFFFFF"/>
                </a:solidFill>
                <a:latin typeface="Inter"/>
                <a:ea typeface="Inter"/>
                <a:cs typeface="Inter"/>
              </a:rPr>
              <a:t>1</a:t>
            </a:r>
          </a:p>
        </p:txBody>
      </p:sp>
      <p:sp>
        <p:nvSpPr>
          <p:cNvPr id="11" name="TextBox 10"/>
          <p:cNvSpPr txBox="1"/>
          <p:nvPr/>
        </p:nvSpPr>
        <p:spPr>
          <a:xfrm>
            <a:off x="1508760" y="2651760"/>
            <a:ext cx="2448458" cy="457200"/>
          </a:xfrm>
          <a:prstGeom prst="rect">
            <a:avLst/>
          </a:prstGeom>
          <a:noFill/>
        </p:spPr>
        <p:txBody>
          <a:bodyPr wrap="square" lIns="0" rIns="0" tIns="0" bIns="0">
            <a:spAutoFit/>
          </a:bodyPr>
          <a:lstStyle/>
          <a:p>
            <a:pPr algn="l">
              <a:lnSpc>
                <a:spcPct val="95000"/>
              </a:lnSpc>
            </a:pPr>
            <a:r>
              <a:rPr sz="2200" b="1" i="0" spc="-50">
                <a:solidFill>
                  <a:srgbClr val="FFFFFF"/>
                </a:solidFill>
                <a:latin typeface="Bricolage Grotesque"/>
                <a:ea typeface="Inter"/>
                <a:cs typeface="Inter"/>
              </a:rPr>
              <a:t>Reprice</a:t>
            </a:r>
          </a:p>
        </p:txBody>
      </p:sp>
      <p:sp>
        <p:nvSpPr>
          <p:cNvPr id="12" name="TextBox 11"/>
          <p:cNvSpPr txBox="1"/>
          <p:nvPr/>
        </p:nvSpPr>
        <p:spPr>
          <a:xfrm>
            <a:off x="1005840" y="3246120"/>
            <a:ext cx="2814218" cy="640080"/>
          </a:xfrm>
          <a:prstGeom prst="rect">
            <a:avLst/>
          </a:prstGeom>
          <a:noFill/>
        </p:spPr>
        <p:txBody>
          <a:bodyPr wrap="square" lIns="0" rIns="0" tIns="0" bIns="0">
            <a:spAutoFit/>
          </a:bodyPr>
          <a:lstStyle/>
          <a:p>
            <a:pPr algn="l">
              <a:lnSpc>
                <a:spcPct val="135000"/>
              </a:lnSpc>
            </a:pPr>
            <a:r>
              <a:rPr sz="1100" b="0" i="0">
                <a:solidFill>
                  <a:srgbClr val="C5C9DA"/>
                </a:solidFill>
                <a:latin typeface="Inter"/>
                <a:ea typeface="Inter"/>
                <a:cs typeface="Inter"/>
              </a:rPr>
              <a:t>Your calendar daily — weekends, events, season, local demand</a:t>
            </a:r>
          </a:p>
        </p:txBody>
      </p:sp>
      <p:sp>
        <p:nvSpPr>
          <p:cNvPr id="13" name="Rounded Rectangle 12"/>
          <p:cNvSpPr/>
          <p:nvPr/>
        </p:nvSpPr>
        <p:spPr>
          <a:xfrm>
            <a:off x="4368698" y="2377440"/>
            <a:ext cx="3454298" cy="160020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14" name="Oval 13"/>
          <p:cNvSpPr/>
          <p:nvPr/>
        </p:nvSpPr>
        <p:spPr>
          <a:xfrm>
            <a:off x="4688738" y="2697480"/>
            <a:ext cx="329184" cy="329184"/>
          </a:xfrm>
          <a:prstGeom prst="ellipse">
            <a:avLst/>
          </a:prstGeom>
          <a:solidFill>
            <a:srgbClr val="8B5CF6"/>
          </a:solidFill>
          <a:ln>
            <a:noFill/>
          </a:ln>
        </p:spPr>
        <p:txBody>
          <a:bodyPr rtlCol="0" anchor="ctr"/>
          <a:lstStyle/>
          <a:p>
            <a:pPr algn="ctr"/>
          </a:p>
        </p:txBody>
      </p:sp>
      <p:sp>
        <p:nvSpPr>
          <p:cNvPr id="15" name="TextBox 14"/>
          <p:cNvSpPr txBox="1"/>
          <p:nvPr/>
        </p:nvSpPr>
        <p:spPr>
          <a:xfrm>
            <a:off x="4688738" y="2761488"/>
            <a:ext cx="329184" cy="228600"/>
          </a:xfrm>
          <a:prstGeom prst="rect">
            <a:avLst/>
          </a:prstGeom>
          <a:noFill/>
        </p:spPr>
        <p:txBody>
          <a:bodyPr wrap="square" lIns="0" rIns="0" tIns="0" bIns="0">
            <a:spAutoFit/>
          </a:bodyPr>
          <a:lstStyle/>
          <a:p>
            <a:pPr algn="ctr"/>
            <a:r>
              <a:rPr sz="900" b="1" i="0">
                <a:solidFill>
                  <a:srgbClr val="FFFFFF"/>
                </a:solidFill>
                <a:latin typeface="Inter"/>
                <a:ea typeface="Inter"/>
                <a:cs typeface="Inter"/>
              </a:rPr>
              <a:t>2</a:t>
            </a:r>
          </a:p>
        </p:txBody>
      </p:sp>
      <p:sp>
        <p:nvSpPr>
          <p:cNvPr id="16" name="TextBox 15"/>
          <p:cNvSpPr txBox="1"/>
          <p:nvPr/>
        </p:nvSpPr>
        <p:spPr>
          <a:xfrm>
            <a:off x="5191658" y="2651760"/>
            <a:ext cx="2448458" cy="457200"/>
          </a:xfrm>
          <a:prstGeom prst="rect">
            <a:avLst/>
          </a:prstGeom>
          <a:noFill/>
        </p:spPr>
        <p:txBody>
          <a:bodyPr wrap="square" lIns="0" rIns="0" tIns="0" bIns="0">
            <a:spAutoFit/>
          </a:bodyPr>
          <a:lstStyle/>
          <a:p>
            <a:pPr algn="l">
              <a:lnSpc>
                <a:spcPct val="95000"/>
              </a:lnSpc>
            </a:pPr>
            <a:r>
              <a:rPr sz="2200" b="1" i="0" spc="-50">
                <a:solidFill>
                  <a:srgbClr val="FFFFFF"/>
                </a:solidFill>
                <a:latin typeface="Bricolage Grotesque"/>
                <a:ea typeface="Inter"/>
                <a:cs typeface="Inter"/>
              </a:rPr>
              <a:t>Rank</a:t>
            </a:r>
          </a:p>
        </p:txBody>
      </p:sp>
      <p:sp>
        <p:nvSpPr>
          <p:cNvPr id="17" name="TextBox 16"/>
          <p:cNvSpPr txBox="1"/>
          <p:nvPr/>
        </p:nvSpPr>
        <p:spPr>
          <a:xfrm>
            <a:off x="4688738" y="3246120"/>
            <a:ext cx="2814218" cy="640080"/>
          </a:xfrm>
          <a:prstGeom prst="rect">
            <a:avLst/>
          </a:prstGeom>
          <a:noFill/>
        </p:spPr>
        <p:txBody>
          <a:bodyPr wrap="square" lIns="0" rIns="0" tIns="0" bIns="0">
            <a:spAutoFit/>
          </a:bodyPr>
          <a:lstStyle/>
          <a:p>
            <a:pPr algn="l">
              <a:lnSpc>
                <a:spcPct val="135000"/>
              </a:lnSpc>
            </a:pPr>
            <a:r>
              <a:rPr sz="1100" b="0" i="0">
                <a:solidFill>
                  <a:srgbClr val="C5C9DA"/>
                </a:solidFill>
                <a:latin typeface="Inter"/>
                <a:ea typeface="Inter"/>
                <a:cs typeface="Inter"/>
              </a:rPr>
              <a:t>Rewrite and rank your listing on Airbnb, Vrbo, Booking.com and direct</a:t>
            </a:r>
          </a:p>
        </p:txBody>
      </p:sp>
      <p:sp>
        <p:nvSpPr>
          <p:cNvPr id="18" name="Rounded Rectangle 17"/>
          <p:cNvSpPr/>
          <p:nvPr/>
        </p:nvSpPr>
        <p:spPr>
          <a:xfrm>
            <a:off x="8051596" y="2377440"/>
            <a:ext cx="3454298" cy="160020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19" name="Oval 18"/>
          <p:cNvSpPr/>
          <p:nvPr/>
        </p:nvSpPr>
        <p:spPr>
          <a:xfrm>
            <a:off x="8371636" y="2697480"/>
            <a:ext cx="329184" cy="329184"/>
          </a:xfrm>
          <a:prstGeom prst="ellipse">
            <a:avLst/>
          </a:prstGeom>
          <a:solidFill>
            <a:srgbClr val="FFB547"/>
          </a:solidFill>
          <a:ln>
            <a:noFill/>
          </a:ln>
        </p:spPr>
        <p:txBody>
          <a:bodyPr rtlCol="0" anchor="ctr"/>
          <a:lstStyle/>
          <a:p>
            <a:pPr algn="ctr"/>
          </a:p>
        </p:txBody>
      </p:sp>
      <p:sp>
        <p:nvSpPr>
          <p:cNvPr id="20" name="TextBox 19"/>
          <p:cNvSpPr txBox="1"/>
          <p:nvPr/>
        </p:nvSpPr>
        <p:spPr>
          <a:xfrm>
            <a:off x="8371636" y="2761488"/>
            <a:ext cx="329184" cy="228600"/>
          </a:xfrm>
          <a:prstGeom prst="rect">
            <a:avLst/>
          </a:prstGeom>
          <a:noFill/>
        </p:spPr>
        <p:txBody>
          <a:bodyPr wrap="square" lIns="0" rIns="0" tIns="0" bIns="0">
            <a:spAutoFit/>
          </a:bodyPr>
          <a:lstStyle/>
          <a:p>
            <a:pPr algn="ctr"/>
            <a:r>
              <a:rPr sz="900" b="1" i="0">
                <a:solidFill>
                  <a:srgbClr val="FFFFFF"/>
                </a:solidFill>
                <a:latin typeface="Inter"/>
                <a:ea typeface="Inter"/>
                <a:cs typeface="Inter"/>
              </a:rPr>
              <a:t>3</a:t>
            </a:r>
          </a:p>
        </p:txBody>
      </p:sp>
      <p:sp>
        <p:nvSpPr>
          <p:cNvPr id="21" name="TextBox 20"/>
          <p:cNvSpPr txBox="1"/>
          <p:nvPr/>
        </p:nvSpPr>
        <p:spPr>
          <a:xfrm>
            <a:off x="8874556" y="2651760"/>
            <a:ext cx="2448458" cy="457200"/>
          </a:xfrm>
          <a:prstGeom prst="rect">
            <a:avLst/>
          </a:prstGeom>
          <a:noFill/>
        </p:spPr>
        <p:txBody>
          <a:bodyPr wrap="square" lIns="0" rIns="0" tIns="0" bIns="0">
            <a:spAutoFit/>
          </a:bodyPr>
          <a:lstStyle/>
          <a:p>
            <a:pPr algn="l">
              <a:lnSpc>
                <a:spcPct val="95000"/>
              </a:lnSpc>
            </a:pPr>
            <a:r>
              <a:rPr sz="2200" b="1" i="0" spc="-50">
                <a:solidFill>
                  <a:srgbClr val="FFFFFF"/>
                </a:solidFill>
                <a:latin typeface="Bricolage Grotesque"/>
                <a:ea typeface="Inter"/>
                <a:cs typeface="Inter"/>
              </a:rPr>
              <a:t>Answer</a:t>
            </a:r>
          </a:p>
        </p:txBody>
      </p:sp>
      <p:sp>
        <p:nvSpPr>
          <p:cNvPr id="22" name="TextBox 21"/>
          <p:cNvSpPr txBox="1"/>
          <p:nvPr/>
        </p:nvSpPr>
        <p:spPr>
          <a:xfrm>
            <a:off x="8371636" y="3246120"/>
            <a:ext cx="2814218" cy="640080"/>
          </a:xfrm>
          <a:prstGeom prst="rect">
            <a:avLst/>
          </a:prstGeom>
          <a:noFill/>
        </p:spPr>
        <p:txBody>
          <a:bodyPr wrap="square" lIns="0" rIns="0" tIns="0" bIns="0">
            <a:spAutoFit/>
          </a:bodyPr>
          <a:lstStyle/>
          <a:p>
            <a:pPr algn="l">
              <a:lnSpc>
                <a:spcPct val="135000"/>
              </a:lnSpc>
            </a:pPr>
            <a:r>
              <a:rPr sz="1100" b="0" i="0">
                <a:solidFill>
                  <a:srgbClr val="C5C9DA"/>
                </a:solidFill>
                <a:latin typeface="Inter"/>
                <a:ea typeface="Inter"/>
                <a:cs typeface="Inter"/>
              </a:rPr>
              <a:t>Every guest, 24/7, inquiry to checkout</a:t>
            </a:r>
          </a:p>
        </p:txBody>
      </p:sp>
      <p:sp>
        <p:nvSpPr>
          <p:cNvPr id="23" name="Rounded Rectangle 22"/>
          <p:cNvSpPr/>
          <p:nvPr/>
        </p:nvSpPr>
        <p:spPr>
          <a:xfrm>
            <a:off x="685800" y="4160520"/>
            <a:ext cx="3454298" cy="160020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24" name="Oval 23"/>
          <p:cNvSpPr/>
          <p:nvPr/>
        </p:nvSpPr>
        <p:spPr>
          <a:xfrm>
            <a:off x="1005840" y="4480559"/>
            <a:ext cx="329184" cy="329184"/>
          </a:xfrm>
          <a:prstGeom prst="ellipse">
            <a:avLst/>
          </a:prstGeom>
          <a:solidFill>
            <a:srgbClr val="1DB954"/>
          </a:solidFill>
          <a:ln>
            <a:noFill/>
          </a:ln>
        </p:spPr>
        <p:txBody>
          <a:bodyPr rtlCol="0" anchor="ctr"/>
          <a:lstStyle/>
          <a:p>
            <a:pPr algn="ctr"/>
          </a:p>
        </p:txBody>
      </p:sp>
      <p:sp>
        <p:nvSpPr>
          <p:cNvPr id="25" name="TextBox 24"/>
          <p:cNvSpPr txBox="1"/>
          <p:nvPr/>
        </p:nvSpPr>
        <p:spPr>
          <a:xfrm>
            <a:off x="1005840" y="4544568"/>
            <a:ext cx="329184" cy="228600"/>
          </a:xfrm>
          <a:prstGeom prst="rect">
            <a:avLst/>
          </a:prstGeom>
          <a:noFill/>
        </p:spPr>
        <p:txBody>
          <a:bodyPr wrap="square" lIns="0" rIns="0" tIns="0" bIns="0">
            <a:spAutoFit/>
          </a:bodyPr>
          <a:lstStyle/>
          <a:p>
            <a:pPr algn="ctr"/>
            <a:r>
              <a:rPr sz="900" b="1" i="0">
                <a:solidFill>
                  <a:srgbClr val="FFFFFF"/>
                </a:solidFill>
                <a:latin typeface="Inter"/>
                <a:ea typeface="Inter"/>
                <a:cs typeface="Inter"/>
              </a:rPr>
              <a:t>4</a:t>
            </a:r>
          </a:p>
        </p:txBody>
      </p:sp>
      <p:sp>
        <p:nvSpPr>
          <p:cNvPr id="26" name="TextBox 25"/>
          <p:cNvSpPr txBox="1"/>
          <p:nvPr/>
        </p:nvSpPr>
        <p:spPr>
          <a:xfrm>
            <a:off x="1508760" y="4434840"/>
            <a:ext cx="2448458" cy="457200"/>
          </a:xfrm>
          <a:prstGeom prst="rect">
            <a:avLst/>
          </a:prstGeom>
          <a:noFill/>
        </p:spPr>
        <p:txBody>
          <a:bodyPr wrap="square" lIns="0" rIns="0" tIns="0" bIns="0">
            <a:spAutoFit/>
          </a:bodyPr>
          <a:lstStyle/>
          <a:p>
            <a:pPr algn="l">
              <a:lnSpc>
                <a:spcPct val="95000"/>
              </a:lnSpc>
            </a:pPr>
            <a:r>
              <a:rPr sz="2200" b="1" i="0" spc="-50">
                <a:solidFill>
                  <a:srgbClr val="FFFFFF"/>
                </a:solidFill>
                <a:latin typeface="Bricolage Grotesque"/>
                <a:ea typeface="Inter"/>
                <a:cs typeface="Inter"/>
              </a:rPr>
              <a:t>Clean</a:t>
            </a:r>
          </a:p>
        </p:txBody>
      </p:sp>
      <p:sp>
        <p:nvSpPr>
          <p:cNvPr id="27" name="TextBox 26"/>
          <p:cNvSpPr txBox="1"/>
          <p:nvPr/>
        </p:nvSpPr>
        <p:spPr>
          <a:xfrm>
            <a:off x="1005840" y="5029200"/>
            <a:ext cx="2814218" cy="640080"/>
          </a:xfrm>
          <a:prstGeom prst="rect">
            <a:avLst/>
          </a:prstGeom>
          <a:noFill/>
        </p:spPr>
        <p:txBody>
          <a:bodyPr wrap="square" lIns="0" rIns="0" tIns="0" bIns="0">
            <a:spAutoFit/>
          </a:bodyPr>
          <a:lstStyle/>
          <a:p>
            <a:pPr algn="l">
              <a:lnSpc>
                <a:spcPct val="135000"/>
              </a:lnSpc>
            </a:pPr>
            <a:r>
              <a:rPr sz="1100" b="0" i="0">
                <a:solidFill>
                  <a:srgbClr val="C5C9DA"/>
                </a:solidFill>
                <a:latin typeface="Inter"/>
                <a:ea typeface="Inter"/>
                <a:cs typeface="Inter"/>
              </a:rPr>
              <a:t>Schedule every clean, turnover and linen change</a:t>
            </a:r>
          </a:p>
        </p:txBody>
      </p:sp>
      <p:sp>
        <p:nvSpPr>
          <p:cNvPr id="28" name="Rounded Rectangle 27"/>
          <p:cNvSpPr/>
          <p:nvPr/>
        </p:nvSpPr>
        <p:spPr>
          <a:xfrm>
            <a:off x="4368698" y="4160520"/>
            <a:ext cx="3454298" cy="160020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29" name="Oval 28"/>
          <p:cNvSpPr/>
          <p:nvPr/>
        </p:nvSpPr>
        <p:spPr>
          <a:xfrm>
            <a:off x="4688738" y="4480559"/>
            <a:ext cx="329184" cy="329184"/>
          </a:xfrm>
          <a:prstGeom prst="ellipse">
            <a:avLst/>
          </a:prstGeom>
          <a:solidFill>
            <a:srgbClr val="5846E5"/>
          </a:solidFill>
          <a:ln>
            <a:noFill/>
          </a:ln>
        </p:spPr>
        <p:txBody>
          <a:bodyPr rtlCol="0" anchor="ctr"/>
          <a:lstStyle/>
          <a:p>
            <a:pPr algn="ctr"/>
          </a:p>
        </p:txBody>
      </p:sp>
      <p:sp>
        <p:nvSpPr>
          <p:cNvPr id="30" name="TextBox 29"/>
          <p:cNvSpPr txBox="1"/>
          <p:nvPr/>
        </p:nvSpPr>
        <p:spPr>
          <a:xfrm>
            <a:off x="4688738" y="4544568"/>
            <a:ext cx="329184" cy="228600"/>
          </a:xfrm>
          <a:prstGeom prst="rect">
            <a:avLst/>
          </a:prstGeom>
          <a:noFill/>
        </p:spPr>
        <p:txBody>
          <a:bodyPr wrap="square" lIns="0" rIns="0" tIns="0" bIns="0">
            <a:spAutoFit/>
          </a:bodyPr>
          <a:lstStyle/>
          <a:p>
            <a:pPr algn="ctr"/>
            <a:r>
              <a:rPr sz="900" b="1" i="0">
                <a:solidFill>
                  <a:srgbClr val="FFFFFF"/>
                </a:solidFill>
                <a:latin typeface="Inter"/>
                <a:ea typeface="Inter"/>
                <a:cs typeface="Inter"/>
              </a:rPr>
              <a:t>5</a:t>
            </a:r>
          </a:p>
        </p:txBody>
      </p:sp>
      <p:sp>
        <p:nvSpPr>
          <p:cNvPr id="31" name="TextBox 30"/>
          <p:cNvSpPr txBox="1"/>
          <p:nvPr/>
        </p:nvSpPr>
        <p:spPr>
          <a:xfrm>
            <a:off x="5191658" y="4434840"/>
            <a:ext cx="2448458" cy="457200"/>
          </a:xfrm>
          <a:prstGeom prst="rect">
            <a:avLst/>
          </a:prstGeom>
          <a:noFill/>
        </p:spPr>
        <p:txBody>
          <a:bodyPr wrap="square" lIns="0" rIns="0" tIns="0" bIns="0">
            <a:spAutoFit/>
          </a:bodyPr>
          <a:lstStyle/>
          <a:p>
            <a:pPr algn="l">
              <a:lnSpc>
                <a:spcPct val="95000"/>
              </a:lnSpc>
            </a:pPr>
            <a:r>
              <a:rPr sz="2200" b="1" i="0" spc="-50">
                <a:solidFill>
                  <a:srgbClr val="FFFFFF"/>
                </a:solidFill>
                <a:latin typeface="Bricolage Grotesque"/>
                <a:ea typeface="Inter"/>
                <a:cs typeface="Inter"/>
              </a:rPr>
              <a:t>Maintain</a:t>
            </a:r>
          </a:p>
        </p:txBody>
      </p:sp>
      <p:sp>
        <p:nvSpPr>
          <p:cNvPr id="32" name="TextBox 31"/>
          <p:cNvSpPr txBox="1"/>
          <p:nvPr/>
        </p:nvSpPr>
        <p:spPr>
          <a:xfrm>
            <a:off x="4688738" y="5029200"/>
            <a:ext cx="2814218" cy="640080"/>
          </a:xfrm>
          <a:prstGeom prst="rect">
            <a:avLst/>
          </a:prstGeom>
          <a:noFill/>
        </p:spPr>
        <p:txBody>
          <a:bodyPr wrap="square" lIns="0" rIns="0" tIns="0" bIns="0">
            <a:spAutoFit/>
          </a:bodyPr>
          <a:lstStyle/>
          <a:p>
            <a:pPr algn="l">
              <a:lnSpc>
                <a:spcPct val="135000"/>
              </a:lnSpc>
            </a:pPr>
            <a:r>
              <a:rPr sz="1100" b="0" i="0">
                <a:solidFill>
                  <a:srgbClr val="C5C9DA"/>
                </a:solidFill>
                <a:latin typeface="Inter"/>
                <a:ea typeface="Inter"/>
                <a:cs typeface="Inter"/>
              </a:rPr>
              <a:t>Coordinate maintenance and vendors</a:t>
            </a:r>
          </a:p>
        </p:txBody>
      </p:sp>
      <p:sp>
        <p:nvSpPr>
          <p:cNvPr id="33" name="Rounded Rectangle 32"/>
          <p:cNvSpPr/>
          <p:nvPr/>
        </p:nvSpPr>
        <p:spPr>
          <a:xfrm>
            <a:off x="8051596" y="4160520"/>
            <a:ext cx="3454298" cy="160020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34" name="Oval 33"/>
          <p:cNvSpPr/>
          <p:nvPr/>
        </p:nvSpPr>
        <p:spPr>
          <a:xfrm>
            <a:off x="8371636" y="4480559"/>
            <a:ext cx="329184" cy="329184"/>
          </a:xfrm>
          <a:prstGeom prst="ellipse">
            <a:avLst/>
          </a:prstGeom>
          <a:solidFill>
            <a:srgbClr val="FF5C4D"/>
          </a:solidFill>
          <a:ln>
            <a:noFill/>
          </a:ln>
        </p:spPr>
        <p:txBody>
          <a:bodyPr rtlCol="0" anchor="ctr"/>
          <a:lstStyle/>
          <a:p>
            <a:pPr algn="ctr"/>
          </a:p>
        </p:txBody>
      </p:sp>
      <p:sp>
        <p:nvSpPr>
          <p:cNvPr id="35" name="TextBox 34"/>
          <p:cNvSpPr txBox="1"/>
          <p:nvPr/>
        </p:nvSpPr>
        <p:spPr>
          <a:xfrm>
            <a:off x="8371636" y="4544568"/>
            <a:ext cx="329184" cy="228600"/>
          </a:xfrm>
          <a:prstGeom prst="rect">
            <a:avLst/>
          </a:prstGeom>
          <a:noFill/>
        </p:spPr>
        <p:txBody>
          <a:bodyPr wrap="square" lIns="0" rIns="0" tIns="0" bIns="0">
            <a:spAutoFit/>
          </a:bodyPr>
          <a:lstStyle/>
          <a:p>
            <a:pPr algn="ctr"/>
            <a:r>
              <a:rPr sz="900" b="1" i="0">
                <a:solidFill>
                  <a:srgbClr val="FFFFFF"/>
                </a:solidFill>
                <a:latin typeface="Inter"/>
                <a:ea typeface="Inter"/>
                <a:cs typeface="Inter"/>
              </a:rPr>
              <a:t>6</a:t>
            </a:r>
          </a:p>
        </p:txBody>
      </p:sp>
      <p:sp>
        <p:nvSpPr>
          <p:cNvPr id="36" name="TextBox 35"/>
          <p:cNvSpPr txBox="1"/>
          <p:nvPr/>
        </p:nvSpPr>
        <p:spPr>
          <a:xfrm>
            <a:off x="8874556" y="4434840"/>
            <a:ext cx="2448458" cy="457200"/>
          </a:xfrm>
          <a:prstGeom prst="rect">
            <a:avLst/>
          </a:prstGeom>
          <a:noFill/>
        </p:spPr>
        <p:txBody>
          <a:bodyPr wrap="square" lIns="0" rIns="0" tIns="0" bIns="0">
            <a:spAutoFit/>
          </a:bodyPr>
          <a:lstStyle/>
          <a:p>
            <a:pPr algn="l">
              <a:lnSpc>
                <a:spcPct val="95000"/>
              </a:lnSpc>
            </a:pPr>
            <a:r>
              <a:rPr sz="2200" b="1" i="0" spc="-50">
                <a:solidFill>
                  <a:srgbClr val="FFFFFF"/>
                </a:solidFill>
                <a:latin typeface="Bricolage Grotesque"/>
                <a:ea typeface="Inter"/>
                <a:cs typeface="Inter"/>
              </a:rPr>
              <a:t>Pay</a:t>
            </a:r>
          </a:p>
        </p:txBody>
      </p:sp>
      <p:sp>
        <p:nvSpPr>
          <p:cNvPr id="37" name="TextBox 36"/>
          <p:cNvSpPr txBox="1"/>
          <p:nvPr/>
        </p:nvSpPr>
        <p:spPr>
          <a:xfrm>
            <a:off x="8371636" y="5029200"/>
            <a:ext cx="2814218" cy="640080"/>
          </a:xfrm>
          <a:prstGeom prst="rect">
            <a:avLst/>
          </a:prstGeom>
          <a:noFill/>
        </p:spPr>
        <p:txBody>
          <a:bodyPr wrap="square" lIns="0" rIns="0" tIns="0" bIns="0">
            <a:spAutoFit/>
          </a:bodyPr>
          <a:lstStyle/>
          <a:p>
            <a:pPr algn="l">
              <a:lnSpc>
                <a:spcPct val="135000"/>
              </a:lnSpc>
            </a:pPr>
            <a:r>
              <a:rPr sz="1100" b="0" i="0">
                <a:solidFill>
                  <a:srgbClr val="C5C9DA"/>
                </a:solidFill>
                <a:latin typeface="Inter"/>
                <a:ea typeface="Inter"/>
                <a:cs typeface="Inter"/>
              </a:rPr>
              <a:t>You, twice a month, with an itemized statement</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12"/>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374"/>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436"/>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700"/>
                                        <p:tgtEl>
                                          <p:spTgt spid="13"/>
                                        </p:tgtEl>
                                      </p:cBhvr>
                                    </p:animEffect>
                                  </p:childTnLst>
                                </p:cTn>
                              </p:par>
                              <p:par>
                                <p:cTn id="19" presetID="10" presetClass="entr" presetSubtype="0" fill="hold" grpId="0" nodeType="withEffect">
                                  <p:stCondLst>
                                    <p:cond delay="498"/>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00"/>
                                        <p:tgtEl>
                                          <p:spTgt spid="18"/>
                                        </p:tgtEl>
                                      </p:cBhvr>
                                    </p:animEffect>
                                  </p:childTnLst>
                                </p:cTn>
                              </p:par>
                              <p:par>
                                <p:cTn id="22" presetID="10" presetClass="entr" presetSubtype="0" fill="hold" grpId="0" nodeType="withEffect">
                                  <p:stCondLst>
                                    <p:cond delay="56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childTnLst>
                                </p:cTn>
                              </p:par>
                              <p:par>
                                <p:cTn id="25" presetID="42" presetClass="entr" presetSubtype="0" fill="hold" grpId="0" nodeType="withEffect">
                                  <p:stCondLst>
                                    <p:cond delay="622"/>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900"/>
                                        <p:tgtEl>
                                          <p:spTgt spid="11"/>
                                        </p:tgtEl>
                                      </p:cBhvr>
                                    </p:animEffect>
                                    <p:anim calcmode="lin" valueType="num">
                                      <p:cBhvr>
                                        <p:cTn id="28" dur="900" decel="100000"/>
                                        <p:tgtEl>
                                          <p:spTgt spid="11"/>
                                        </p:tgtEl>
                                        <p:attrNameLst>
                                          <p:attrName>ppt_x</p:attrName>
                                        </p:attrNameLst>
                                      </p:cBhvr>
                                      <p:tavLst>
                                        <p:tav tm="0">
                                          <p:val>
                                            <p:strVal val="#ppt_x"/>
                                          </p:val>
                                        </p:tav>
                                        <p:tav tm="100000">
                                          <p:val>
                                            <p:strVal val="#ppt_x"/>
                                          </p:val>
                                        </p:tav>
                                      </p:tavLst>
                                    </p:anim>
                                    <p:anim calcmode="lin" valueType="num">
                                      <p:cBhvr>
                                        <p:cTn id="29" dur="900" decel="100000"/>
                                        <p:tgtEl>
                                          <p:spTgt spid="11"/>
                                        </p:tgtEl>
                                        <p:attrNameLst>
                                          <p:attrName>ppt_y</p:attrName>
                                        </p:attrNameLst>
                                      </p:cBhvr>
                                      <p:tavLst>
                                        <p:tav tm="0">
                                          <p:val>
                                            <p:strVal val="#ppt_y+.035"/>
                                          </p:val>
                                        </p:tav>
                                        <p:tav tm="100000">
                                          <p:val>
                                            <p:strVal val="#ppt_y"/>
                                          </p:val>
                                        </p:tav>
                                      </p:tavLst>
                                    </p:anim>
                                  </p:childTnLst>
                                </p:cTn>
                              </p:par>
                              <p:par>
                                <p:cTn id="30" presetID="10" presetClass="entr" presetSubtype="0" fill="hold" grpId="0" nodeType="withEffect">
                                  <p:stCondLst>
                                    <p:cond delay="684"/>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00"/>
                                        <p:tgtEl>
                                          <p:spTgt spid="14"/>
                                        </p:tgtEl>
                                      </p:cBhvr>
                                    </p:animEffect>
                                  </p:childTnLst>
                                </p:cTn>
                              </p:par>
                              <p:par>
                                <p:cTn id="33" presetID="42" presetClass="entr" presetSubtype="0" fill="hold" grpId="0" nodeType="withEffect">
                                  <p:stCondLst>
                                    <p:cond delay="746"/>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900"/>
                                        <p:tgtEl>
                                          <p:spTgt spid="16"/>
                                        </p:tgtEl>
                                      </p:cBhvr>
                                    </p:animEffect>
                                    <p:anim calcmode="lin" valueType="num">
                                      <p:cBhvr>
                                        <p:cTn id="36" dur="900" decel="100000"/>
                                        <p:tgtEl>
                                          <p:spTgt spid="16"/>
                                        </p:tgtEl>
                                        <p:attrNameLst>
                                          <p:attrName>ppt_x</p:attrName>
                                        </p:attrNameLst>
                                      </p:cBhvr>
                                      <p:tavLst>
                                        <p:tav tm="0">
                                          <p:val>
                                            <p:strVal val="#ppt_x"/>
                                          </p:val>
                                        </p:tav>
                                        <p:tav tm="100000">
                                          <p:val>
                                            <p:strVal val="#ppt_x"/>
                                          </p:val>
                                        </p:tav>
                                      </p:tavLst>
                                    </p:anim>
                                    <p:anim calcmode="lin" valueType="num">
                                      <p:cBhvr>
                                        <p:cTn id="37" dur="900" decel="100000"/>
                                        <p:tgtEl>
                                          <p:spTgt spid="16"/>
                                        </p:tgtEl>
                                        <p:attrNameLst>
                                          <p:attrName>ppt_y</p:attrName>
                                        </p:attrNameLst>
                                      </p:cBhvr>
                                      <p:tavLst>
                                        <p:tav tm="0">
                                          <p:val>
                                            <p:strVal val="#ppt_y+.035"/>
                                          </p:val>
                                        </p:tav>
                                        <p:tav tm="100000">
                                          <p:val>
                                            <p:strVal val="#ppt_y"/>
                                          </p:val>
                                        </p:tav>
                                      </p:tavLst>
                                    </p:anim>
                                  </p:childTnLst>
                                </p:cTn>
                              </p:par>
                              <p:par>
                                <p:cTn id="38" presetID="10" presetClass="entr" presetSubtype="0" fill="hold" grpId="0" nodeType="withEffect">
                                  <p:stCondLst>
                                    <p:cond delay="808"/>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700"/>
                                        <p:tgtEl>
                                          <p:spTgt spid="19"/>
                                        </p:tgtEl>
                                      </p:cBhvr>
                                    </p:animEffect>
                                  </p:childTnLst>
                                </p:cTn>
                              </p:par>
                              <p:par>
                                <p:cTn id="41" presetID="42" presetClass="entr" presetSubtype="0" fill="hold" grpId="0" nodeType="withEffect">
                                  <p:stCondLst>
                                    <p:cond delay="87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900"/>
                                        <p:tgtEl>
                                          <p:spTgt spid="21"/>
                                        </p:tgtEl>
                                      </p:cBhvr>
                                    </p:animEffect>
                                    <p:anim calcmode="lin" valueType="num">
                                      <p:cBhvr>
                                        <p:cTn id="44" dur="900" decel="100000"/>
                                        <p:tgtEl>
                                          <p:spTgt spid="21"/>
                                        </p:tgtEl>
                                        <p:attrNameLst>
                                          <p:attrName>ppt_x</p:attrName>
                                        </p:attrNameLst>
                                      </p:cBhvr>
                                      <p:tavLst>
                                        <p:tav tm="0">
                                          <p:val>
                                            <p:strVal val="#ppt_x"/>
                                          </p:val>
                                        </p:tav>
                                        <p:tav tm="100000">
                                          <p:val>
                                            <p:strVal val="#ppt_x"/>
                                          </p:val>
                                        </p:tav>
                                      </p:tavLst>
                                    </p:anim>
                                    <p:anim calcmode="lin" valueType="num">
                                      <p:cBhvr>
                                        <p:cTn id="45" dur="900" decel="100000"/>
                                        <p:tgtEl>
                                          <p:spTgt spid="21"/>
                                        </p:tgtEl>
                                        <p:attrNameLst>
                                          <p:attrName>ppt_y</p:attrName>
                                        </p:attrNameLst>
                                      </p:cBhvr>
                                      <p:tavLst>
                                        <p:tav tm="0">
                                          <p:val>
                                            <p:strVal val="#ppt_y+.035"/>
                                          </p:val>
                                        </p:tav>
                                        <p:tav tm="100000">
                                          <p:val>
                                            <p:strVal val="#ppt_y"/>
                                          </p:val>
                                        </p:tav>
                                      </p:tavLst>
                                    </p:anim>
                                  </p:childTnLst>
                                </p:cTn>
                              </p:par>
                              <p:par>
                                <p:cTn id="46" presetID="10" presetClass="entr" presetSubtype="0" fill="hold" grpId="0" nodeType="withEffect">
                                  <p:stCondLst>
                                    <p:cond delay="932"/>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700"/>
                                        <p:tgtEl>
                                          <p:spTgt spid="10"/>
                                        </p:tgtEl>
                                      </p:cBhvr>
                                    </p:animEffect>
                                  </p:childTnLst>
                                </p:cTn>
                              </p:par>
                              <p:par>
                                <p:cTn id="49" presetID="10" presetClass="entr" presetSubtype="0" fill="hold" grpId="0" nodeType="withEffect">
                                  <p:stCondLst>
                                    <p:cond delay="994"/>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700"/>
                                        <p:tgtEl>
                                          <p:spTgt spid="15"/>
                                        </p:tgtEl>
                                      </p:cBhvr>
                                    </p:animEffect>
                                  </p:childTnLst>
                                </p:cTn>
                              </p:par>
                              <p:par>
                                <p:cTn id="52" presetID="10" presetClass="entr" presetSubtype="0" fill="hold" grpId="0" nodeType="withEffect">
                                  <p:stCondLst>
                                    <p:cond delay="1056"/>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700"/>
                                        <p:tgtEl>
                                          <p:spTgt spid="20"/>
                                        </p:tgtEl>
                                      </p:cBhvr>
                                    </p:animEffect>
                                  </p:childTnLst>
                                </p:cTn>
                              </p:par>
                              <p:par>
                                <p:cTn id="55" presetID="10" presetClass="entr" presetSubtype="0" fill="hold" grpId="0" nodeType="withEffect">
                                  <p:stCondLst>
                                    <p:cond delay="1118"/>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700"/>
                                        <p:tgtEl>
                                          <p:spTgt spid="12"/>
                                        </p:tgtEl>
                                      </p:cBhvr>
                                    </p:animEffect>
                                  </p:childTnLst>
                                </p:cTn>
                              </p:par>
                              <p:par>
                                <p:cTn id="58" presetID="10" presetClass="entr" presetSubtype="0" fill="hold" grpId="0" nodeType="withEffect">
                                  <p:stCondLst>
                                    <p:cond delay="118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700"/>
                                        <p:tgtEl>
                                          <p:spTgt spid="17"/>
                                        </p:tgtEl>
                                      </p:cBhvr>
                                    </p:animEffect>
                                  </p:childTnLst>
                                </p:cTn>
                              </p:par>
                              <p:par>
                                <p:cTn id="61" presetID="10" presetClass="entr" presetSubtype="0" fill="hold" grpId="0" nodeType="withEffect">
                                  <p:stCondLst>
                                    <p:cond delay="1242"/>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700"/>
                                        <p:tgtEl>
                                          <p:spTgt spid="22"/>
                                        </p:tgtEl>
                                      </p:cBhvr>
                                    </p:animEffect>
                                  </p:childTnLst>
                                </p:cTn>
                              </p:par>
                              <p:par>
                                <p:cTn id="64" presetID="10" presetClass="entr" presetSubtype="0" fill="hold" grpId="0" nodeType="withEffect">
                                  <p:stCondLst>
                                    <p:cond delay="1304"/>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700"/>
                                        <p:tgtEl>
                                          <p:spTgt spid="23"/>
                                        </p:tgtEl>
                                      </p:cBhvr>
                                    </p:animEffect>
                                  </p:childTnLst>
                                </p:cTn>
                              </p:par>
                              <p:par>
                                <p:cTn id="67" presetID="10" presetClass="entr" presetSubtype="0" fill="hold" grpId="0" nodeType="withEffect">
                                  <p:stCondLst>
                                    <p:cond delay="1366"/>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700"/>
                                        <p:tgtEl>
                                          <p:spTgt spid="28"/>
                                        </p:tgtEl>
                                      </p:cBhvr>
                                    </p:animEffect>
                                  </p:childTnLst>
                                </p:cTn>
                              </p:par>
                              <p:par>
                                <p:cTn id="70" presetID="10" presetClass="entr" presetSubtype="0" fill="hold" grpId="0" nodeType="withEffect">
                                  <p:stCondLst>
                                    <p:cond delay="1428"/>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700"/>
                                        <p:tgtEl>
                                          <p:spTgt spid="33"/>
                                        </p:tgtEl>
                                      </p:cBhvr>
                                    </p:animEffect>
                                  </p:childTnLst>
                                </p:cTn>
                              </p:par>
                              <p:par>
                                <p:cTn id="73" presetID="10" presetClass="entr" presetSubtype="0" fill="hold" grpId="0" nodeType="withEffect">
                                  <p:stCondLst>
                                    <p:cond delay="149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childTnLst>
                                </p:cTn>
                              </p:par>
                              <p:par>
                                <p:cTn id="76" presetID="10" presetClass="entr" presetSubtype="0" fill="hold" grpId="0" nodeType="withEffect">
                                  <p:stCondLst>
                                    <p:cond delay="1552"/>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700"/>
                                        <p:tgtEl>
                                          <p:spTgt spid="25"/>
                                        </p:tgtEl>
                                      </p:cBhvr>
                                    </p:animEffect>
                                  </p:childTnLst>
                                </p:cTn>
                              </p:par>
                              <p:par>
                                <p:cTn id="79" presetID="42" presetClass="entr" presetSubtype="0" fill="hold" grpId="0" nodeType="withEffect">
                                  <p:stCondLst>
                                    <p:cond delay="1614"/>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900"/>
                                        <p:tgtEl>
                                          <p:spTgt spid="26"/>
                                        </p:tgtEl>
                                      </p:cBhvr>
                                    </p:animEffect>
                                    <p:anim calcmode="lin" valueType="num">
                                      <p:cBhvr>
                                        <p:cTn id="82" dur="900" decel="100000"/>
                                        <p:tgtEl>
                                          <p:spTgt spid="26"/>
                                        </p:tgtEl>
                                        <p:attrNameLst>
                                          <p:attrName>ppt_x</p:attrName>
                                        </p:attrNameLst>
                                      </p:cBhvr>
                                      <p:tavLst>
                                        <p:tav tm="0">
                                          <p:val>
                                            <p:strVal val="#ppt_x"/>
                                          </p:val>
                                        </p:tav>
                                        <p:tav tm="100000">
                                          <p:val>
                                            <p:strVal val="#ppt_x"/>
                                          </p:val>
                                        </p:tav>
                                      </p:tavLst>
                                    </p:anim>
                                    <p:anim calcmode="lin" valueType="num">
                                      <p:cBhvr>
                                        <p:cTn id="83" dur="900" decel="100000"/>
                                        <p:tgtEl>
                                          <p:spTgt spid="26"/>
                                        </p:tgtEl>
                                        <p:attrNameLst>
                                          <p:attrName>ppt_y</p:attrName>
                                        </p:attrNameLst>
                                      </p:cBhvr>
                                      <p:tavLst>
                                        <p:tav tm="0">
                                          <p:val>
                                            <p:strVal val="#ppt_y+.035"/>
                                          </p:val>
                                        </p:tav>
                                        <p:tav tm="100000">
                                          <p:val>
                                            <p:strVal val="#ppt_y"/>
                                          </p:val>
                                        </p:tav>
                                      </p:tavLst>
                                    </p:anim>
                                  </p:childTnLst>
                                </p:cTn>
                              </p:par>
                              <p:par>
                                <p:cTn id="84" presetID="10" presetClass="entr" presetSubtype="0" fill="hold" grpId="0" nodeType="withEffect">
                                  <p:stCondLst>
                                    <p:cond delay="1676"/>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700"/>
                                        <p:tgtEl>
                                          <p:spTgt spid="29"/>
                                        </p:tgtEl>
                                      </p:cBhvr>
                                    </p:animEffect>
                                  </p:childTnLst>
                                </p:cTn>
                              </p:par>
                              <p:par>
                                <p:cTn id="87" presetID="10" presetClass="entr" presetSubtype="0" fill="hold" grpId="0" nodeType="withEffect">
                                  <p:stCondLst>
                                    <p:cond delay="1738"/>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700"/>
                                        <p:tgtEl>
                                          <p:spTgt spid="30"/>
                                        </p:tgtEl>
                                      </p:cBhvr>
                                    </p:animEffect>
                                  </p:childTnLst>
                                </p:cTn>
                              </p:par>
                              <p:par>
                                <p:cTn id="90" presetID="42" presetClass="entr" presetSubtype="0" fill="hold" grpId="0" nodeType="withEffect">
                                  <p:stCondLst>
                                    <p:cond delay="180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900"/>
                                        <p:tgtEl>
                                          <p:spTgt spid="31"/>
                                        </p:tgtEl>
                                      </p:cBhvr>
                                    </p:animEffect>
                                    <p:anim calcmode="lin" valueType="num">
                                      <p:cBhvr>
                                        <p:cTn id="93" dur="900" decel="100000"/>
                                        <p:tgtEl>
                                          <p:spTgt spid="31"/>
                                        </p:tgtEl>
                                        <p:attrNameLst>
                                          <p:attrName>ppt_x</p:attrName>
                                        </p:attrNameLst>
                                      </p:cBhvr>
                                      <p:tavLst>
                                        <p:tav tm="0">
                                          <p:val>
                                            <p:strVal val="#ppt_x"/>
                                          </p:val>
                                        </p:tav>
                                        <p:tav tm="100000">
                                          <p:val>
                                            <p:strVal val="#ppt_x"/>
                                          </p:val>
                                        </p:tav>
                                      </p:tavLst>
                                    </p:anim>
                                    <p:anim calcmode="lin" valueType="num">
                                      <p:cBhvr>
                                        <p:cTn id="94" dur="900" decel="100000"/>
                                        <p:tgtEl>
                                          <p:spTgt spid="31"/>
                                        </p:tgtEl>
                                        <p:attrNameLst>
                                          <p:attrName>ppt_y</p:attrName>
                                        </p:attrNameLst>
                                      </p:cBhvr>
                                      <p:tavLst>
                                        <p:tav tm="0">
                                          <p:val>
                                            <p:strVal val="#ppt_y+.035"/>
                                          </p:val>
                                        </p:tav>
                                        <p:tav tm="100000">
                                          <p:val>
                                            <p:strVal val="#ppt_y"/>
                                          </p:val>
                                        </p:tav>
                                      </p:tavLst>
                                    </p:anim>
                                  </p:childTnLst>
                                </p:cTn>
                              </p:par>
                              <p:par>
                                <p:cTn id="95" presetID="10" presetClass="entr" presetSubtype="0" fill="hold" grpId="0" nodeType="withEffect">
                                  <p:stCondLst>
                                    <p:cond delay="1862"/>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700"/>
                                        <p:tgtEl>
                                          <p:spTgt spid="34"/>
                                        </p:tgtEl>
                                      </p:cBhvr>
                                    </p:animEffect>
                                  </p:childTnLst>
                                </p:cTn>
                              </p:par>
                              <p:par>
                                <p:cTn id="98" presetID="10" presetClass="entr" presetSubtype="0" fill="hold" grpId="0" nodeType="withEffect">
                                  <p:stCondLst>
                                    <p:cond delay="1924"/>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700"/>
                                        <p:tgtEl>
                                          <p:spTgt spid="35"/>
                                        </p:tgtEl>
                                      </p:cBhvr>
                                    </p:animEffect>
                                  </p:childTnLst>
                                </p:cTn>
                              </p:par>
                              <p:par>
                                <p:cTn id="101" presetID="42" presetClass="entr" presetSubtype="0" fill="hold" grpId="0" nodeType="withEffect">
                                  <p:stCondLst>
                                    <p:cond delay="1986"/>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900"/>
                                        <p:tgtEl>
                                          <p:spTgt spid="36"/>
                                        </p:tgtEl>
                                      </p:cBhvr>
                                    </p:animEffect>
                                    <p:anim calcmode="lin" valueType="num">
                                      <p:cBhvr>
                                        <p:cTn id="104" dur="900" decel="100000"/>
                                        <p:tgtEl>
                                          <p:spTgt spid="36"/>
                                        </p:tgtEl>
                                        <p:attrNameLst>
                                          <p:attrName>ppt_x</p:attrName>
                                        </p:attrNameLst>
                                      </p:cBhvr>
                                      <p:tavLst>
                                        <p:tav tm="0">
                                          <p:val>
                                            <p:strVal val="#ppt_x"/>
                                          </p:val>
                                        </p:tav>
                                        <p:tav tm="100000">
                                          <p:val>
                                            <p:strVal val="#ppt_x"/>
                                          </p:val>
                                        </p:tav>
                                      </p:tavLst>
                                    </p:anim>
                                    <p:anim calcmode="lin" valueType="num">
                                      <p:cBhvr>
                                        <p:cTn id="105" dur="900" decel="100000"/>
                                        <p:tgtEl>
                                          <p:spTgt spid="36"/>
                                        </p:tgtEl>
                                        <p:attrNameLst>
                                          <p:attrName>ppt_y</p:attrName>
                                        </p:attrNameLst>
                                      </p:cBhvr>
                                      <p:tavLst>
                                        <p:tav tm="0">
                                          <p:val>
                                            <p:strVal val="#ppt_y+.035"/>
                                          </p:val>
                                        </p:tav>
                                        <p:tav tm="100000">
                                          <p:val>
                                            <p:strVal val="#ppt_y"/>
                                          </p:val>
                                        </p:tav>
                                      </p:tavLst>
                                    </p:anim>
                                  </p:childTnLst>
                                </p:cTn>
                              </p:par>
                              <p:par>
                                <p:cTn id="106" presetID="10" presetClass="entr" presetSubtype="0" fill="hold" grpId="0" nodeType="withEffect">
                                  <p:stCondLst>
                                    <p:cond delay="2048"/>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700"/>
                                        <p:tgtEl>
                                          <p:spTgt spid="27"/>
                                        </p:tgtEl>
                                      </p:cBhvr>
                                    </p:animEffect>
                                  </p:childTnLst>
                                </p:cTn>
                              </p:par>
                              <p:par>
                                <p:cTn id="109" presetID="10" presetClass="entr" presetSubtype="0" fill="hold" grpId="0" nodeType="withEffect">
                                  <p:stCondLst>
                                    <p:cond delay="211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700"/>
                                        <p:tgtEl>
                                          <p:spTgt spid="32"/>
                                        </p:tgtEl>
                                      </p:cBhvr>
                                    </p:animEffect>
                                  </p:childTnLst>
                                </p:cTn>
                              </p:par>
                              <p:par>
                                <p:cTn id="112" presetID="10" presetClass="entr" presetSubtype="0" fill="hold" grpId="0" nodeType="withEffect">
                                  <p:stCondLst>
                                    <p:cond delay="2172"/>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7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3" grpId="0" animBg="1"/>
      <p:bldP spid="18" grpId="0" animBg="1"/>
      <p:bldP spid="9" grpId="0" animBg="1"/>
      <p:bldP spid="11" grpId="0" animBg="1"/>
      <p:bldP spid="14" grpId="0" animBg="1"/>
      <p:bldP spid="16" grpId="0" animBg="1"/>
      <p:bldP spid="19" grpId="0" animBg="1"/>
      <p:bldP spid="21" grpId="0" animBg="1"/>
      <p:bldP spid="10" grpId="0" animBg="1"/>
      <p:bldP spid="15" grpId="0" animBg="1"/>
      <p:bldP spid="20" grpId="0" animBg="1"/>
      <p:bldP spid="12" grpId="0" animBg="1"/>
      <p:bldP spid="17" grpId="0" animBg="1"/>
      <p:bldP spid="22" grpId="0" animBg="1"/>
      <p:bldP spid="23" grpId="0" animBg="1"/>
      <p:bldP spid="28" grpId="0" animBg="1"/>
      <p:bldP spid="33" grpId="0" animBg="1"/>
      <p:bldP spid="24" grpId="0" animBg="1"/>
      <p:bldP spid="25" grpId="0" animBg="1"/>
      <p:bldP spid="26" grpId="0" animBg="1"/>
      <p:bldP spid="29" grpId="0" animBg="1"/>
      <p:bldP spid="30" grpId="0" animBg="1"/>
      <p:bldP spid="31" grpId="0" animBg="1"/>
      <p:bldP spid="34" grpId="0" animBg="1"/>
      <p:bldP spid="35" grpId="0" animBg="1"/>
      <p:bldP spid="36" grpId="0" animBg="1"/>
      <p:bldP spid="27" grpId="0" animBg="1"/>
      <p:bldP spid="32" grpId="0" animBg="1"/>
      <p:bldP spid="3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dawn.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11</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IT STAYS YOURS</a:t>
            </a:r>
          </a:p>
        </p:txBody>
      </p:sp>
      <p:sp>
        <p:nvSpPr>
          <p:cNvPr id="7" name="TextBox 6"/>
          <p:cNvSpPr txBox="1"/>
          <p:nvPr/>
        </p:nvSpPr>
        <p:spPr>
          <a:xfrm>
            <a:off x="685800" y="1325880"/>
            <a:ext cx="5760720" cy="1463040"/>
          </a:xfrm>
          <a:prstGeom prst="rect">
            <a:avLst/>
          </a:prstGeom>
          <a:noFill/>
        </p:spPr>
        <p:txBody>
          <a:bodyPr wrap="square" lIns="0" rIns="0" tIns="0" bIns="0">
            <a:spAutoFit/>
          </a:bodyPr>
          <a:lstStyle/>
          <a:p>
            <a:pPr algn="l">
              <a:lnSpc>
                <a:spcPct val="95000"/>
              </a:lnSpc>
            </a:pPr>
            <a:r>
              <a:rPr sz="5000" b="1" i="0" spc="-100">
                <a:solidFill>
                  <a:srgbClr val="0B1020"/>
                </a:solidFill>
                <a:latin typeface="Bricolage Grotesque"/>
                <a:ea typeface="Inter"/>
                <a:cs typeface="Inter"/>
              </a:rPr>
              <a:t>Your property.
Your listing.</a:t>
            </a:r>
          </a:p>
        </p:txBody>
      </p:sp>
      <p:sp>
        <p:nvSpPr>
          <p:cNvPr id="8" name="Rounded Rectangle 7"/>
          <p:cNvSpPr/>
          <p:nvPr/>
        </p:nvSpPr>
        <p:spPr>
          <a:xfrm>
            <a:off x="685800" y="3081528"/>
            <a:ext cx="310896" cy="310896"/>
          </a:xfrm>
          <a:prstGeom prst="roundRect">
            <a:avLst>
              <a:gd name="adj" fmla="val 50000"/>
            </a:avLst>
          </a:prstGeom>
          <a:solidFill>
            <a:srgbClr val="1DB954"/>
          </a:solidFill>
          <a:ln>
            <a:noFill/>
          </a:ln>
        </p:spPr>
        <p:txBody>
          <a:bodyPr rtlCol="0" anchor="ctr"/>
          <a:lstStyle/>
          <a:p>
            <a:pPr algn="ctr"/>
          </a:p>
        </p:txBody>
      </p:sp>
      <p:sp>
        <p:nvSpPr>
          <p:cNvPr id="9" name="TextBox 8"/>
          <p:cNvSpPr txBox="1"/>
          <p:nvPr/>
        </p:nvSpPr>
        <p:spPr>
          <a:xfrm>
            <a:off x="685800" y="3165538"/>
            <a:ext cx="310896" cy="310896"/>
          </a:xfrm>
          <a:prstGeom prst="rect">
            <a:avLst/>
          </a:prstGeom>
          <a:noFill/>
        </p:spPr>
        <p:txBody>
          <a:bodyPr wrap="square" lIns="0" rIns="0" tIns="0" bIns="0">
            <a:spAutoFit/>
          </a:bodyPr>
          <a:lstStyle/>
          <a:p>
            <a:pPr algn="ctr"/>
            <a:r>
              <a:rPr sz="900" b="1" i="0">
                <a:solidFill>
                  <a:srgbClr val="FFFFFF"/>
                </a:solidFill>
                <a:latin typeface="Inter"/>
                <a:ea typeface="Inter"/>
                <a:cs typeface="Inter"/>
              </a:rPr>
              <a:t>✓</a:t>
            </a:r>
          </a:p>
        </p:txBody>
      </p:sp>
      <p:sp>
        <p:nvSpPr>
          <p:cNvPr id="10" name="TextBox 9"/>
          <p:cNvSpPr txBox="1"/>
          <p:nvPr/>
        </p:nvSpPr>
        <p:spPr>
          <a:xfrm>
            <a:off x="1143000" y="3090672"/>
            <a:ext cx="5120640" cy="457200"/>
          </a:xfrm>
          <a:prstGeom prst="rect">
            <a:avLst/>
          </a:prstGeom>
          <a:noFill/>
        </p:spPr>
        <p:txBody>
          <a:bodyPr wrap="square" lIns="0" rIns="0" tIns="0" bIns="0">
            <a:spAutoFit/>
          </a:bodyPr>
          <a:lstStyle/>
          <a:p>
            <a:pPr algn="l">
              <a:lnSpc>
                <a:spcPct val="130000"/>
              </a:lnSpc>
            </a:pPr>
            <a:r>
              <a:rPr sz="1300" b="0" i="0">
                <a:solidFill>
                  <a:srgbClr val="0B1020"/>
                </a:solidFill>
                <a:latin typeface="Inter"/>
                <a:ea typeface="Inter"/>
                <a:cs typeface="Inter"/>
              </a:rPr>
              <a:t>The listing stays in your name, with your reviews and your history</a:t>
            </a:r>
          </a:p>
        </p:txBody>
      </p:sp>
      <p:sp>
        <p:nvSpPr>
          <p:cNvPr id="11" name="Rounded Rectangle 10"/>
          <p:cNvSpPr/>
          <p:nvPr/>
        </p:nvSpPr>
        <p:spPr>
          <a:xfrm>
            <a:off x="685800" y="3703320"/>
            <a:ext cx="310896" cy="310896"/>
          </a:xfrm>
          <a:prstGeom prst="roundRect">
            <a:avLst>
              <a:gd name="adj" fmla="val 50000"/>
            </a:avLst>
          </a:prstGeom>
          <a:solidFill>
            <a:srgbClr val="1DB954"/>
          </a:solidFill>
          <a:ln>
            <a:noFill/>
          </a:ln>
        </p:spPr>
        <p:txBody>
          <a:bodyPr rtlCol="0" anchor="ctr"/>
          <a:lstStyle/>
          <a:p>
            <a:pPr algn="ctr"/>
          </a:p>
        </p:txBody>
      </p:sp>
      <p:sp>
        <p:nvSpPr>
          <p:cNvPr id="12" name="TextBox 11"/>
          <p:cNvSpPr txBox="1"/>
          <p:nvPr/>
        </p:nvSpPr>
        <p:spPr>
          <a:xfrm>
            <a:off x="685800" y="3787330"/>
            <a:ext cx="310896" cy="310896"/>
          </a:xfrm>
          <a:prstGeom prst="rect">
            <a:avLst/>
          </a:prstGeom>
          <a:noFill/>
        </p:spPr>
        <p:txBody>
          <a:bodyPr wrap="square" lIns="0" rIns="0" tIns="0" bIns="0">
            <a:spAutoFit/>
          </a:bodyPr>
          <a:lstStyle/>
          <a:p>
            <a:pPr algn="ctr"/>
            <a:r>
              <a:rPr sz="900" b="1" i="0">
                <a:solidFill>
                  <a:srgbClr val="FFFFFF"/>
                </a:solidFill>
                <a:latin typeface="Inter"/>
                <a:ea typeface="Inter"/>
                <a:cs typeface="Inter"/>
              </a:rPr>
              <a:t>✓</a:t>
            </a:r>
          </a:p>
        </p:txBody>
      </p:sp>
      <p:sp>
        <p:nvSpPr>
          <p:cNvPr id="13" name="TextBox 12"/>
          <p:cNvSpPr txBox="1"/>
          <p:nvPr/>
        </p:nvSpPr>
        <p:spPr>
          <a:xfrm>
            <a:off x="1143000" y="3712464"/>
            <a:ext cx="5120640" cy="457200"/>
          </a:xfrm>
          <a:prstGeom prst="rect">
            <a:avLst/>
          </a:prstGeom>
          <a:noFill/>
        </p:spPr>
        <p:txBody>
          <a:bodyPr wrap="square" lIns="0" rIns="0" tIns="0" bIns="0">
            <a:spAutoFit/>
          </a:bodyPr>
          <a:lstStyle/>
          <a:p>
            <a:pPr algn="l">
              <a:lnSpc>
                <a:spcPct val="130000"/>
              </a:lnSpc>
            </a:pPr>
            <a:r>
              <a:rPr sz="1300" b="0" i="0">
                <a:solidFill>
                  <a:srgbClr val="0B1020"/>
                </a:solidFill>
                <a:latin typeface="Inter"/>
                <a:ea typeface="Inter"/>
                <a:cs typeface="Inter"/>
              </a:rPr>
              <a:t>We don’t brand your property or put our name on your door</a:t>
            </a:r>
          </a:p>
        </p:txBody>
      </p:sp>
      <p:sp>
        <p:nvSpPr>
          <p:cNvPr id="14" name="Rounded Rectangle 13"/>
          <p:cNvSpPr/>
          <p:nvPr/>
        </p:nvSpPr>
        <p:spPr>
          <a:xfrm>
            <a:off x="685800" y="4325112"/>
            <a:ext cx="310896" cy="310896"/>
          </a:xfrm>
          <a:prstGeom prst="roundRect">
            <a:avLst>
              <a:gd name="adj" fmla="val 50000"/>
            </a:avLst>
          </a:prstGeom>
          <a:solidFill>
            <a:srgbClr val="1DB954"/>
          </a:solidFill>
          <a:ln>
            <a:noFill/>
          </a:ln>
        </p:spPr>
        <p:txBody>
          <a:bodyPr rtlCol="0" anchor="ctr"/>
          <a:lstStyle/>
          <a:p>
            <a:pPr algn="ctr"/>
          </a:p>
        </p:txBody>
      </p:sp>
      <p:sp>
        <p:nvSpPr>
          <p:cNvPr id="15" name="TextBox 14"/>
          <p:cNvSpPr txBox="1"/>
          <p:nvPr/>
        </p:nvSpPr>
        <p:spPr>
          <a:xfrm>
            <a:off x="685800" y="4409122"/>
            <a:ext cx="310896" cy="310896"/>
          </a:xfrm>
          <a:prstGeom prst="rect">
            <a:avLst/>
          </a:prstGeom>
          <a:noFill/>
        </p:spPr>
        <p:txBody>
          <a:bodyPr wrap="square" lIns="0" rIns="0" tIns="0" bIns="0">
            <a:spAutoFit/>
          </a:bodyPr>
          <a:lstStyle/>
          <a:p>
            <a:pPr algn="ctr"/>
            <a:r>
              <a:rPr sz="900" b="1" i="0">
                <a:solidFill>
                  <a:srgbClr val="FFFFFF"/>
                </a:solidFill>
                <a:latin typeface="Inter"/>
                <a:ea typeface="Inter"/>
                <a:cs typeface="Inter"/>
              </a:rPr>
              <a:t>✓</a:t>
            </a:r>
          </a:p>
        </p:txBody>
      </p:sp>
      <p:sp>
        <p:nvSpPr>
          <p:cNvPr id="16" name="TextBox 15"/>
          <p:cNvSpPr txBox="1"/>
          <p:nvPr/>
        </p:nvSpPr>
        <p:spPr>
          <a:xfrm>
            <a:off x="1143000" y="4334256"/>
            <a:ext cx="5120640" cy="457200"/>
          </a:xfrm>
          <a:prstGeom prst="rect">
            <a:avLst/>
          </a:prstGeom>
          <a:noFill/>
        </p:spPr>
        <p:txBody>
          <a:bodyPr wrap="square" lIns="0" rIns="0" tIns="0" bIns="0">
            <a:spAutoFit/>
          </a:bodyPr>
          <a:lstStyle/>
          <a:p>
            <a:pPr algn="l">
              <a:lnSpc>
                <a:spcPct val="130000"/>
              </a:lnSpc>
            </a:pPr>
            <a:r>
              <a:rPr sz="1300" b="0" i="0">
                <a:solidFill>
                  <a:srgbClr val="0B1020"/>
                </a:solidFill>
                <a:latin typeface="Inter"/>
                <a:ea typeface="Inter"/>
                <a:cs typeface="Inter"/>
              </a:rPr>
              <a:t>You keep full ownership and control of the asset</a:t>
            </a:r>
          </a:p>
        </p:txBody>
      </p:sp>
      <p:sp>
        <p:nvSpPr>
          <p:cNvPr id="17" name="Rounded Rectangle 16"/>
          <p:cNvSpPr/>
          <p:nvPr/>
        </p:nvSpPr>
        <p:spPr>
          <a:xfrm>
            <a:off x="685800" y="4946904"/>
            <a:ext cx="310896" cy="310896"/>
          </a:xfrm>
          <a:prstGeom prst="roundRect">
            <a:avLst>
              <a:gd name="adj" fmla="val 50000"/>
            </a:avLst>
          </a:prstGeom>
          <a:solidFill>
            <a:srgbClr val="1DB954"/>
          </a:solidFill>
          <a:ln>
            <a:noFill/>
          </a:ln>
        </p:spPr>
        <p:txBody>
          <a:bodyPr rtlCol="0" anchor="ctr"/>
          <a:lstStyle/>
          <a:p>
            <a:pPr algn="ctr"/>
          </a:p>
        </p:txBody>
      </p:sp>
      <p:sp>
        <p:nvSpPr>
          <p:cNvPr id="18" name="TextBox 17"/>
          <p:cNvSpPr txBox="1"/>
          <p:nvPr/>
        </p:nvSpPr>
        <p:spPr>
          <a:xfrm>
            <a:off x="685800" y="5030914"/>
            <a:ext cx="310896" cy="310896"/>
          </a:xfrm>
          <a:prstGeom prst="rect">
            <a:avLst/>
          </a:prstGeom>
          <a:noFill/>
        </p:spPr>
        <p:txBody>
          <a:bodyPr wrap="square" lIns="0" rIns="0" tIns="0" bIns="0">
            <a:spAutoFit/>
          </a:bodyPr>
          <a:lstStyle/>
          <a:p>
            <a:pPr algn="ctr"/>
            <a:r>
              <a:rPr sz="900" b="1" i="0">
                <a:solidFill>
                  <a:srgbClr val="FFFFFF"/>
                </a:solidFill>
                <a:latin typeface="Inter"/>
                <a:ea typeface="Inter"/>
                <a:cs typeface="Inter"/>
              </a:rPr>
              <a:t>✓</a:t>
            </a:r>
          </a:p>
        </p:txBody>
      </p:sp>
      <p:sp>
        <p:nvSpPr>
          <p:cNvPr id="19" name="TextBox 18"/>
          <p:cNvSpPr txBox="1"/>
          <p:nvPr/>
        </p:nvSpPr>
        <p:spPr>
          <a:xfrm>
            <a:off x="1143000" y="4956048"/>
            <a:ext cx="5120640" cy="457200"/>
          </a:xfrm>
          <a:prstGeom prst="rect">
            <a:avLst/>
          </a:prstGeom>
          <a:noFill/>
        </p:spPr>
        <p:txBody>
          <a:bodyPr wrap="square" lIns="0" rIns="0" tIns="0" bIns="0">
            <a:spAutoFit/>
          </a:bodyPr>
          <a:lstStyle/>
          <a:p>
            <a:pPr algn="l">
              <a:lnSpc>
                <a:spcPct val="130000"/>
              </a:lnSpc>
            </a:pPr>
            <a:r>
              <a:rPr sz="1300" b="0" i="0">
                <a:solidFill>
                  <a:srgbClr val="0B1020"/>
                </a:solidFill>
                <a:latin typeface="Inter"/>
                <a:ea typeface="Inter"/>
                <a:cs typeface="Inter"/>
              </a:rPr>
              <a:t>Cancel on 30 days’ notice, any time</a:t>
            </a:r>
          </a:p>
        </p:txBody>
      </p:sp>
      <p:sp>
        <p:nvSpPr>
          <p:cNvPr id="20" name="Rounded Rectangle 19"/>
          <p:cNvSpPr/>
          <p:nvPr/>
        </p:nvSpPr>
        <p:spPr>
          <a:xfrm>
            <a:off x="7086600" y="1097280"/>
            <a:ext cx="4389120" cy="4754880"/>
          </a:xfrm>
          <a:prstGeom prst="roundRect">
            <a:avLst>
              <a:gd name="adj" fmla="val 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pic>
        <p:nvPicPr>
          <p:cNvPr id="21" name="static-art" descr="listing.jpg"/>
          <p:cNvPicPr>
            <a:picLocks noChangeAspect="1"/>
          </p:cNvPicPr>
          <p:nvPr/>
        </p:nvPicPr>
        <p:blipFill>
          <a:blip r:embed="rId5"/>
          <a:stretch>
            <a:fillRect/>
          </a:stretch>
        </p:blipFill>
        <p:spPr>
          <a:xfrm>
            <a:off x="7360920" y="1371600"/>
            <a:ext cx="3840480" cy="2194560"/>
          </a:xfrm>
          <a:prstGeom prst="rect">
            <a:avLst/>
          </a:prstGeom>
        </p:spPr>
      </p:pic>
      <p:sp>
        <p:nvSpPr>
          <p:cNvPr id="22" name="Isosceles Triangle 21"/>
          <p:cNvSpPr/>
          <p:nvPr/>
        </p:nvSpPr>
        <p:spPr>
          <a:xfrm>
            <a:off x="8595360" y="1874519"/>
            <a:ext cx="1371600" cy="640080"/>
          </a:xfrm>
          <a:prstGeom prst="triangle">
            <a:avLst/>
          </a:prstGeom>
          <a:solidFill>
            <a:srgbClr val="FFFFFF"/>
          </a:solidFill>
          <a:ln>
            <a:noFill/>
          </a:ln>
        </p:spPr>
        <p:txBody>
          <a:bodyPr rtlCol="0" anchor="ctr"/>
          <a:lstStyle/>
          <a:p>
            <a:pPr algn="ctr"/>
          </a:p>
        </p:txBody>
      </p:sp>
      <p:sp>
        <p:nvSpPr>
          <p:cNvPr id="23" name="Rectangle 22"/>
          <p:cNvSpPr/>
          <p:nvPr/>
        </p:nvSpPr>
        <p:spPr>
          <a:xfrm>
            <a:off x="8778240" y="2514600"/>
            <a:ext cx="1005840" cy="777240"/>
          </a:xfrm>
          <a:prstGeom prst="rect">
            <a:avLst/>
          </a:prstGeom>
          <a:solidFill>
            <a:srgbClr val="FFFFFF"/>
          </a:solidFill>
          <a:ln>
            <a:noFill/>
          </a:ln>
        </p:spPr>
        <p:txBody>
          <a:bodyPr rtlCol="0" anchor="ctr"/>
          <a:lstStyle/>
          <a:p>
            <a:pPr algn="ctr"/>
          </a:p>
        </p:txBody>
      </p:sp>
      <p:sp>
        <p:nvSpPr>
          <p:cNvPr id="24" name="Rounded Rectangle 23"/>
          <p:cNvSpPr/>
          <p:nvPr/>
        </p:nvSpPr>
        <p:spPr>
          <a:xfrm>
            <a:off x="9125712" y="2788920"/>
            <a:ext cx="310896" cy="502920"/>
          </a:xfrm>
          <a:prstGeom prst="roundRect">
            <a:avLst/>
          </a:prstGeom>
          <a:solidFill>
            <a:srgbClr val="FF5C4D"/>
          </a:solidFill>
          <a:ln>
            <a:noFill/>
          </a:ln>
        </p:spPr>
        <p:txBody>
          <a:bodyPr rtlCol="0" anchor="ctr"/>
          <a:lstStyle/>
          <a:p>
            <a:pPr algn="ctr"/>
          </a:p>
        </p:txBody>
      </p:sp>
      <p:sp>
        <p:nvSpPr>
          <p:cNvPr id="25" name="Oval 24"/>
          <p:cNvSpPr/>
          <p:nvPr/>
        </p:nvSpPr>
        <p:spPr>
          <a:xfrm>
            <a:off x="9162288" y="2148839"/>
            <a:ext cx="237744" cy="237744"/>
          </a:xfrm>
          <a:prstGeom prst="ellipse">
            <a:avLst/>
          </a:prstGeom>
          <a:solidFill>
            <a:srgbClr val="FFB547"/>
          </a:solidFill>
          <a:ln>
            <a:noFill/>
          </a:ln>
        </p:spPr>
        <p:txBody>
          <a:bodyPr rtlCol="0" anchor="ctr"/>
          <a:lstStyle/>
          <a:p>
            <a:pPr algn="ctr"/>
          </a:p>
        </p:txBody>
      </p:sp>
      <p:sp>
        <p:nvSpPr>
          <p:cNvPr id="26" name="Rounded Rectangle 25"/>
          <p:cNvSpPr/>
          <p:nvPr/>
        </p:nvSpPr>
        <p:spPr>
          <a:xfrm>
            <a:off x="7543800" y="1554480"/>
            <a:ext cx="1371600" cy="274320"/>
          </a:xfrm>
          <a:prstGeom prst="roundRect">
            <a:avLst>
              <a:gd name="adj" fmla="val 50000"/>
            </a:avLst>
          </a:prstGeom>
          <a:solidFill>
            <a:srgbClr val="FFFFFF"/>
          </a:solidFill>
          <a:ln>
            <a:noFill/>
          </a:ln>
        </p:spPr>
        <p:txBody>
          <a:bodyPr rtlCol="0" anchor="ctr"/>
          <a:lstStyle/>
          <a:p>
            <a:pPr algn="ctr"/>
          </a:p>
        </p:txBody>
      </p:sp>
      <p:sp>
        <p:nvSpPr>
          <p:cNvPr id="27" name="TextBox 26"/>
          <p:cNvSpPr txBox="1"/>
          <p:nvPr/>
        </p:nvSpPr>
        <p:spPr>
          <a:xfrm>
            <a:off x="7543800" y="1624171"/>
            <a:ext cx="1371600" cy="274320"/>
          </a:xfrm>
          <a:prstGeom prst="rect">
            <a:avLst/>
          </a:prstGeom>
          <a:noFill/>
        </p:spPr>
        <p:txBody>
          <a:bodyPr wrap="square" lIns="0" rIns="0" tIns="0" bIns="0">
            <a:spAutoFit/>
          </a:bodyPr>
          <a:lstStyle/>
          <a:p>
            <a:pPr algn="ctr"/>
            <a:r>
              <a:rPr sz="850" b="1" i="0">
                <a:solidFill>
                  <a:srgbClr val="0B1020"/>
                </a:solidFill>
                <a:latin typeface="Inter"/>
                <a:ea typeface="Inter"/>
                <a:cs typeface="Inter"/>
              </a:rPr>
              <a:t>Your listing</a:t>
            </a:r>
          </a:p>
        </p:txBody>
      </p:sp>
      <p:sp>
        <p:nvSpPr>
          <p:cNvPr id="28" name="TextBox 27"/>
          <p:cNvSpPr txBox="1"/>
          <p:nvPr/>
        </p:nvSpPr>
        <p:spPr>
          <a:xfrm>
            <a:off x="7360920" y="3749039"/>
            <a:ext cx="3840480" cy="320040"/>
          </a:xfrm>
          <a:prstGeom prst="rect">
            <a:avLst/>
          </a:prstGeom>
          <a:noFill/>
        </p:spPr>
        <p:txBody>
          <a:bodyPr wrap="square" lIns="0" rIns="0" tIns="0" bIns="0">
            <a:spAutoFit/>
          </a:bodyPr>
          <a:lstStyle/>
          <a:p>
            <a:pPr algn="l"/>
            <a:r>
              <a:rPr sz="1500" b="1" i="0">
                <a:solidFill>
                  <a:srgbClr val="0B1020"/>
                </a:solidFill>
                <a:latin typeface="Inter"/>
                <a:ea typeface="Inter"/>
                <a:cs typeface="Inter"/>
              </a:rPr>
              <a:t>Your home, your title</a:t>
            </a:r>
          </a:p>
        </p:txBody>
      </p:sp>
      <p:sp>
        <p:nvSpPr>
          <p:cNvPr id="29" name="TextBox 28"/>
          <p:cNvSpPr txBox="1"/>
          <p:nvPr/>
        </p:nvSpPr>
        <p:spPr>
          <a:xfrm>
            <a:off x="7360920" y="4114800"/>
            <a:ext cx="3840480" cy="274320"/>
          </a:xfrm>
          <a:prstGeom prst="rect">
            <a:avLst/>
          </a:prstGeom>
          <a:noFill/>
        </p:spPr>
        <p:txBody>
          <a:bodyPr wrap="square" lIns="0" rIns="0" tIns="0" bIns="0">
            <a:spAutoFit/>
          </a:bodyPr>
          <a:lstStyle/>
          <a:p>
            <a:pPr algn="l"/>
            <a:r>
              <a:rPr sz="1050" b="0" i="0">
                <a:solidFill>
                  <a:srgbClr val="41465A"/>
                </a:solidFill>
                <a:latin typeface="Inter"/>
                <a:ea typeface="Inter"/>
                <a:cs typeface="Inter"/>
              </a:rPr>
              <a:t>★ Your rating  ·  Your reviews  ·  Your history</a:t>
            </a:r>
          </a:p>
        </p:txBody>
      </p:sp>
      <p:sp>
        <p:nvSpPr>
          <p:cNvPr id="30" name="Rectangle 29"/>
          <p:cNvSpPr/>
          <p:nvPr/>
        </p:nvSpPr>
        <p:spPr>
          <a:xfrm>
            <a:off x="7360920" y="4617720"/>
            <a:ext cx="3840480" cy="10972"/>
          </a:xfrm>
          <a:prstGeom prst="rect">
            <a:avLst/>
          </a:prstGeom>
          <a:solidFill>
            <a:srgbClr val="ECEAE4"/>
          </a:solidFill>
          <a:ln>
            <a:noFill/>
          </a:ln>
        </p:spPr>
        <p:txBody>
          <a:bodyPr rtlCol="0" anchor="ctr"/>
          <a:lstStyle/>
          <a:p>
            <a:pPr algn="ctr"/>
          </a:p>
        </p:txBody>
      </p:sp>
      <p:sp>
        <p:nvSpPr>
          <p:cNvPr id="31" name="Oval 30"/>
          <p:cNvSpPr/>
          <p:nvPr/>
        </p:nvSpPr>
        <p:spPr>
          <a:xfrm>
            <a:off x="7360920" y="4846320"/>
            <a:ext cx="502920" cy="502920"/>
          </a:xfrm>
          <a:prstGeom prst="ellipse">
            <a:avLst/>
          </a:prstGeom>
          <a:solidFill>
            <a:srgbClr val="0B1020"/>
          </a:solidFill>
          <a:ln>
            <a:noFill/>
          </a:ln>
        </p:spPr>
        <p:txBody>
          <a:bodyPr rtlCol="0" anchor="ctr"/>
          <a:lstStyle/>
          <a:p>
            <a:pPr algn="ctr"/>
          </a:p>
        </p:txBody>
      </p:sp>
      <p:sp>
        <p:nvSpPr>
          <p:cNvPr id="32" name="TextBox 31"/>
          <p:cNvSpPr txBox="1"/>
          <p:nvPr/>
        </p:nvSpPr>
        <p:spPr>
          <a:xfrm>
            <a:off x="7360920" y="5001768"/>
            <a:ext cx="502920" cy="228600"/>
          </a:xfrm>
          <a:prstGeom prst="rect">
            <a:avLst/>
          </a:prstGeom>
          <a:noFill/>
        </p:spPr>
        <p:txBody>
          <a:bodyPr wrap="square" lIns="0" rIns="0" tIns="0" bIns="0">
            <a:spAutoFit/>
          </a:bodyPr>
          <a:lstStyle/>
          <a:p>
            <a:pPr algn="ctr"/>
            <a:r>
              <a:rPr sz="750" b="1" i="0">
                <a:solidFill>
                  <a:srgbClr val="FFFFFF"/>
                </a:solidFill>
                <a:latin typeface="Inter"/>
                <a:ea typeface="Inter"/>
                <a:cs typeface="Inter"/>
              </a:rPr>
              <a:t>YOU</a:t>
            </a:r>
          </a:p>
        </p:txBody>
      </p:sp>
      <p:sp>
        <p:nvSpPr>
          <p:cNvPr id="33" name="TextBox 32"/>
          <p:cNvSpPr txBox="1"/>
          <p:nvPr/>
        </p:nvSpPr>
        <p:spPr>
          <a:xfrm>
            <a:off x="8001000" y="4846320"/>
            <a:ext cx="3108960" cy="274320"/>
          </a:xfrm>
          <a:prstGeom prst="rect">
            <a:avLst/>
          </a:prstGeom>
          <a:noFill/>
        </p:spPr>
        <p:txBody>
          <a:bodyPr wrap="square" lIns="0" rIns="0" tIns="0" bIns="0">
            <a:spAutoFit/>
          </a:bodyPr>
          <a:lstStyle/>
          <a:p>
            <a:pPr algn="l"/>
            <a:r>
              <a:rPr sz="1200" b="1" i="0">
                <a:solidFill>
                  <a:srgbClr val="0B1020"/>
                </a:solidFill>
                <a:latin typeface="Inter"/>
                <a:ea typeface="Inter"/>
                <a:cs typeface="Inter"/>
              </a:rPr>
              <a:t>Hosted by you</a:t>
            </a:r>
          </a:p>
        </p:txBody>
      </p:sp>
      <p:sp>
        <p:nvSpPr>
          <p:cNvPr id="34" name="TextBox 33"/>
          <p:cNvSpPr txBox="1"/>
          <p:nvPr/>
        </p:nvSpPr>
        <p:spPr>
          <a:xfrm>
            <a:off x="8001000" y="5138928"/>
            <a:ext cx="3108960" cy="274320"/>
          </a:xfrm>
          <a:prstGeom prst="rect">
            <a:avLst/>
          </a:prstGeom>
          <a:noFill/>
        </p:spPr>
        <p:txBody>
          <a:bodyPr wrap="square" lIns="0" rIns="0" tIns="0" bIns="0">
            <a:spAutoFit/>
          </a:bodyPr>
          <a:lstStyle/>
          <a:p>
            <a:pPr algn="l"/>
            <a:r>
              <a:rPr sz="950" b="0" i="0">
                <a:solidFill>
                  <a:srgbClr val="7D8296"/>
                </a:solidFill>
                <a:latin typeface="Inter"/>
                <a:ea typeface="Inter"/>
                <a:cs typeface="Inter"/>
              </a:rPr>
              <a:t>Managed by Red Flag, behind the scenes</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10" presetClass="entr" presetSubtype="0" fill="hold" grpId="0" nodeType="withEffect">
                                  <p:stCondLst>
                                    <p:cond delay="321"/>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700"/>
                                        <p:tgtEl>
                                          <p:spTgt spid="20"/>
                                        </p:tgtEl>
                                      </p:cBhvr>
                                    </p:animEffect>
                                  </p:childTnLst>
                                </p:cTn>
                              </p:par>
                              <p:par>
                                <p:cTn id="11" presetID="42" presetClass="entr" presetSubtype="0" fill="hold" grpId="0" nodeType="withEffect">
                                  <p:stCondLst>
                                    <p:cond delay="392"/>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900"/>
                                        <p:tgtEl>
                                          <p:spTgt spid="7"/>
                                        </p:tgtEl>
                                      </p:cBhvr>
                                    </p:animEffect>
                                    <p:anim calcmode="lin" valueType="num">
                                      <p:cBhvr>
                                        <p:cTn id="14" dur="900" decel="100000"/>
                                        <p:tgtEl>
                                          <p:spTgt spid="7"/>
                                        </p:tgtEl>
                                        <p:attrNameLst>
                                          <p:attrName>ppt_x</p:attrName>
                                        </p:attrNameLst>
                                      </p:cBhvr>
                                      <p:tavLst>
                                        <p:tav tm="0">
                                          <p:val>
                                            <p:strVal val="#ppt_x"/>
                                          </p:val>
                                        </p:tav>
                                        <p:tav tm="100000">
                                          <p:val>
                                            <p:strVal val="#ppt_x"/>
                                          </p:val>
                                        </p:tav>
                                      </p:tavLst>
                                    </p:anim>
                                    <p:anim calcmode="lin" valueType="num">
                                      <p:cBhvr>
                                        <p:cTn id="15" dur="900" decel="100000"/>
                                        <p:tgtEl>
                                          <p:spTgt spid="7"/>
                                        </p:tgtEl>
                                        <p:attrNameLst>
                                          <p:attrName>ppt_y</p:attrName>
                                        </p:attrNameLst>
                                      </p:cBhvr>
                                      <p:tavLst>
                                        <p:tav tm="0">
                                          <p:val>
                                            <p:strVal val="#ppt_y+.035"/>
                                          </p:val>
                                        </p:tav>
                                        <p:tav tm="100000">
                                          <p:val>
                                            <p:strVal val="#ppt_y"/>
                                          </p:val>
                                        </p:tav>
                                      </p:tavLst>
                                    </p:anim>
                                  </p:childTnLst>
                                </p:cTn>
                              </p:par>
                              <p:par>
                                <p:cTn id="16" presetID="10" presetClass="entr" presetSubtype="0" fill="hold" grpId="0" nodeType="withEffect">
                                  <p:stCondLst>
                                    <p:cond delay="463"/>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700"/>
                                        <p:tgtEl>
                                          <p:spTgt spid="26"/>
                                        </p:tgtEl>
                                      </p:cBhvr>
                                    </p:animEffect>
                                  </p:childTnLst>
                                </p:cTn>
                              </p:par>
                              <p:par>
                                <p:cTn id="19" presetID="10" presetClass="entr" presetSubtype="0" fill="hold" grpId="0" nodeType="withEffect">
                                  <p:stCondLst>
                                    <p:cond delay="534"/>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700"/>
                                        <p:tgtEl>
                                          <p:spTgt spid="27"/>
                                        </p:tgtEl>
                                      </p:cBhvr>
                                    </p:animEffect>
                                  </p:childTnLst>
                                </p:cTn>
                              </p:par>
                              <p:par>
                                <p:cTn id="22" presetID="10" presetClass="entr" presetSubtype="0" fill="hold" grpId="0" nodeType="withEffect">
                                  <p:stCondLst>
                                    <p:cond delay="605"/>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700"/>
                                        <p:tgtEl>
                                          <p:spTgt spid="22"/>
                                        </p:tgtEl>
                                      </p:cBhvr>
                                    </p:animEffect>
                                  </p:childTnLst>
                                </p:cTn>
                              </p:par>
                              <p:par>
                                <p:cTn id="25" presetID="10" presetClass="entr" presetSubtype="0" fill="hold" grpId="0" nodeType="withEffect">
                                  <p:stCondLst>
                                    <p:cond delay="676"/>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700"/>
                                        <p:tgtEl>
                                          <p:spTgt spid="25"/>
                                        </p:tgtEl>
                                      </p:cBhvr>
                                    </p:animEffect>
                                  </p:childTnLst>
                                </p:cTn>
                              </p:par>
                              <p:par>
                                <p:cTn id="28" presetID="10" presetClass="entr" presetSubtype="0" fill="hold" grpId="0" nodeType="withEffect">
                                  <p:stCondLst>
                                    <p:cond delay="747"/>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700"/>
                                        <p:tgtEl>
                                          <p:spTgt spid="23"/>
                                        </p:tgtEl>
                                      </p:cBhvr>
                                    </p:animEffect>
                                  </p:childTnLst>
                                </p:cTn>
                              </p:par>
                              <p:par>
                                <p:cTn id="31" presetID="10" presetClass="entr" presetSubtype="0" fill="hold" grpId="0" nodeType="withEffect">
                                  <p:stCondLst>
                                    <p:cond delay="818"/>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700"/>
                                        <p:tgtEl>
                                          <p:spTgt spid="24"/>
                                        </p:tgtEl>
                                      </p:cBhvr>
                                    </p:animEffect>
                                  </p:childTnLst>
                                </p:cTn>
                              </p:par>
                              <p:par>
                                <p:cTn id="34" presetID="10" presetClass="entr" presetSubtype="0" fill="hold" grpId="0" nodeType="withEffect">
                                  <p:stCondLst>
                                    <p:cond delay="889"/>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700"/>
                                        <p:tgtEl>
                                          <p:spTgt spid="8"/>
                                        </p:tgtEl>
                                      </p:cBhvr>
                                    </p:animEffect>
                                  </p:childTnLst>
                                </p:cTn>
                              </p:par>
                              <p:par>
                                <p:cTn id="37" presetID="10" presetClass="entr" presetSubtype="0" fill="hold" grpId="0" nodeType="withEffect">
                                  <p:stCondLst>
                                    <p:cond delay="96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700"/>
                                        <p:tgtEl>
                                          <p:spTgt spid="9"/>
                                        </p:tgtEl>
                                      </p:cBhvr>
                                    </p:animEffect>
                                  </p:childTnLst>
                                </p:cTn>
                              </p:par>
                              <p:par>
                                <p:cTn id="40" presetID="10" presetClass="entr" presetSubtype="0" fill="hold" grpId="0" nodeType="withEffect">
                                  <p:stCondLst>
                                    <p:cond delay="1031"/>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700"/>
                                        <p:tgtEl>
                                          <p:spTgt spid="10"/>
                                        </p:tgtEl>
                                      </p:cBhvr>
                                    </p:animEffect>
                                  </p:childTnLst>
                                </p:cTn>
                              </p:par>
                              <p:par>
                                <p:cTn id="43" presetID="10" presetClass="entr" presetSubtype="0" fill="hold" grpId="0" nodeType="withEffect">
                                  <p:stCondLst>
                                    <p:cond delay="1102"/>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700"/>
                                        <p:tgtEl>
                                          <p:spTgt spid="11"/>
                                        </p:tgtEl>
                                      </p:cBhvr>
                                    </p:animEffect>
                                  </p:childTnLst>
                                </p:cTn>
                              </p:par>
                              <p:par>
                                <p:cTn id="46" presetID="10" presetClass="entr" presetSubtype="0" fill="hold" grpId="0" nodeType="withEffect">
                                  <p:stCondLst>
                                    <p:cond delay="1173"/>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00"/>
                                        <p:tgtEl>
                                          <p:spTgt spid="12"/>
                                        </p:tgtEl>
                                      </p:cBhvr>
                                    </p:animEffect>
                                  </p:childTnLst>
                                </p:cTn>
                              </p:par>
                              <p:par>
                                <p:cTn id="49" presetID="10" presetClass="entr" presetSubtype="0" fill="hold" grpId="0" nodeType="withEffect">
                                  <p:stCondLst>
                                    <p:cond delay="1244"/>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700"/>
                                        <p:tgtEl>
                                          <p:spTgt spid="13"/>
                                        </p:tgtEl>
                                      </p:cBhvr>
                                    </p:animEffect>
                                  </p:childTnLst>
                                </p:cTn>
                              </p:par>
                              <p:par>
                                <p:cTn id="52" presetID="10" presetClass="entr" presetSubtype="0" fill="hold" grpId="0" nodeType="withEffect">
                                  <p:stCondLst>
                                    <p:cond delay="1315"/>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700"/>
                                        <p:tgtEl>
                                          <p:spTgt spid="28"/>
                                        </p:tgtEl>
                                      </p:cBhvr>
                                    </p:animEffect>
                                  </p:childTnLst>
                                </p:cTn>
                              </p:par>
                              <p:par>
                                <p:cTn id="55" presetID="10" presetClass="entr" presetSubtype="0" fill="hold" grpId="0" nodeType="withEffect">
                                  <p:stCondLst>
                                    <p:cond delay="1386"/>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700"/>
                                        <p:tgtEl>
                                          <p:spTgt spid="29"/>
                                        </p:tgtEl>
                                      </p:cBhvr>
                                    </p:animEffect>
                                  </p:childTnLst>
                                </p:cTn>
                              </p:par>
                              <p:par>
                                <p:cTn id="58" presetID="10" presetClass="entr" presetSubtype="0" fill="hold" grpId="0" nodeType="withEffect">
                                  <p:stCondLst>
                                    <p:cond delay="1457"/>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700"/>
                                        <p:tgtEl>
                                          <p:spTgt spid="14"/>
                                        </p:tgtEl>
                                      </p:cBhvr>
                                    </p:animEffect>
                                  </p:childTnLst>
                                </p:cTn>
                              </p:par>
                              <p:par>
                                <p:cTn id="61" presetID="10" presetClass="entr" presetSubtype="0" fill="hold" grpId="0" nodeType="withEffect">
                                  <p:stCondLst>
                                    <p:cond delay="1528"/>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00"/>
                                        <p:tgtEl>
                                          <p:spTgt spid="15"/>
                                        </p:tgtEl>
                                      </p:cBhvr>
                                    </p:animEffect>
                                  </p:childTnLst>
                                </p:cTn>
                              </p:par>
                              <p:par>
                                <p:cTn id="64" presetID="10" presetClass="entr" presetSubtype="0" fill="hold" grpId="0" nodeType="withEffect">
                                  <p:stCondLst>
                                    <p:cond delay="1599"/>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700"/>
                                        <p:tgtEl>
                                          <p:spTgt spid="16"/>
                                        </p:tgtEl>
                                      </p:cBhvr>
                                    </p:animEffect>
                                  </p:childTnLst>
                                </p:cTn>
                              </p:par>
                              <p:par>
                                <p:cTn id="67" presetID="22" presetClass="entr" presetSubtype="8" fill="hold" grpId="0" nodeType="withEffect">
                                  <p:stCondLst>
                                    <p:cond delay="167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700"/>
                                        <p:tgtEl>
                                          <p:spTgt spid="30"/>
                                        </p:tgtEl>
                                      </p:cBhvr>
                                    </p:animEffect>
                                  </p:childTnLst>
                                </p:cTn>
                              </p:par>
                              <p:par>
                                <p:cTn id="70" presetID="10" presetClass="entr" presetSubtype="0" fill="hold" grpId="0" nodeType="withEffect">
                                  <p:stCondLst>
                                    <p:cond delay="1741"/>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700"/>
                                        <p:tgtEl>
                                          <p:spTgt spid="17"/>
                                        </p:tgtEl>
                                      </p:cBhvr>
                                    </p:animEffect>
                                  </p:childTnLst>
                                </p:cTn>
                              </p:par>
                              <p:par>
                                <p:cTn id="73" presetID="10" presetClass="entr" presetSubtype="0" fill="hold" grpId="0" nodeType="withEffect">
                                  <p:stCondLst>
                                    <p:cond delay="1812"/>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700"/>
                                        <p:tgtEl>
                                          <p:spTgt spid="19"/>
                                        </p:tgtEl>
                                      </p:cBhvr>
                                    </p:animEffect>
                                  </p:childTnLst>
                                </p:cTn>
                              </p:par>
                              <p:par>
                                <p:cTn id="76" presetID="10" presetClass="entr" presetSubtype="0" fill="hold" grpId="0" nodeType="withEffect">
                                  <p:stCondLst>
                                    <p:cond delay="1883"/>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700"/>
                                        <p:tgtEl>
                                          <p:spTgt spid="31"/>
                                        </p:tgtEl>
                                      </p:cBhvr>
                                    </p:animEffect>
                                  </p:childTnLst>
                                </p:cTn>
                              </p:par>
                              <p:par>
                                <p:cTn id="79" presetID="10" presetClass="entr" presetSubtype="0" fill="hold" grpId="0" nodeType="withEffect">
                                  <p:stCondLst>
                                    <p:cond delay="1954"/>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700"/>
                                        <p:tgtEl>
                                          <p:spTgt spid="33"/>
                                        </p:tgtEl>
                                      </p:cBhvr>
                                    </p:animEffect>
                                  </p:childTnLst>
                                </p:cTn>
                              </p:par>
                              <p:par>
                                <p:cTn id="82" presetID="10" presetClass="entr" presetSubtype="0" fill="hold" grpId="0" nodeType="withEffect">
                                  <p:stCondLst>
                                    <p:cond delay="2025"/>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700"/>
                                        <p:tgtEl>
                                          <p:spTgt spid="18"/>
                                        </p:tgtEl>
                                      </p:cBhvr>
                                    </p:animEffect>
                                  </p:childTnLst>
                                </p:cTn>
                              </p:par>
                              <p:par>
                                <p:cTn id="85" presetID="10" presetClass="entr" presetSubtype="0" fill="hold" grpId="0" nodeType="withEffect">
                                  <p:stCondLst>
                                    <p:cond delay="2096"/>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700"/>
                                        <p:tgtEl>
                                          <p:spTgt spid="32"/>
                                        </p:tgtEl>
                                      </p:cBhvr>
                                    </p:animEffect>
                                  </p:childTnLst>
                                </p:cTn>
                              </p:par>
                              <p:par>
                                <p:cTn id="88" presetID="10" presetClass="entr" presetSubtype="0" fill="hold" grpId="0" nodeType="withEffect">
                                  <p:stCondLst>
                                    <p:cond delay="2167"/>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7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7" grpId="0" animBg="1"/>
      <p:bldP spid="26" grpId="0" animBg="1"/>
      <p:bldP spid="27" grpId="0" animBg="1"/>
      <p:bldP spid="22" grpId="0" animBg="1"/>
      <p:bldP spid="25" grpId="0" animBg="1"/>
      <p:bldP spid="23" grpId="0" animBg="1"/>
      <p:bldP spid="24" grpId="0" animBg="1"/>
      <p:bldP spid="8" grpId="0" animBg="1"/>
      <p:bldP spid="9" grpId="0" animBg="1"/>
      <p:bldP spid="10" grpId="0" animBg="1"/>
      <p:bldP spid="11" grpId="0" animBg="1"/>
      <p:bldP spid="12" grpId="0" animBg="1"/>
      <p:bldP spid="13" grpId="0" animBg="1"/>
      <p:bldP spid="28" grpId="0" animBg="1"/>
      <p:bldP spid="29" grpId="0" animBg="1"/>
      <p:bldP spid="14" grpId="0" animBg="1"/>
      <p:bldP spid="15" grpId="0" animBg="1"/>
      <p:bldP spid="16" grpId="0" animBg="1"/>
      <p:bldP spid="30" grpId="0" animBg="1"/>
      <p:bldP spid="17" grpId="0" animBg="1"/>
      <p:bldP spid="19" grpId="0" animBg="1"/>
      <p:bldP spid="31" grpId="0" animBg="1"/>
      <p:bldP spid="33" grpId="0" animBg="1"/>
      <p:bldP spid="18" grpId="0" animBg="1"/>
      <p:bldP spid="32" grpId="0" animBg="1"/>
      <p:bldP spid="3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12</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WHAT YOU DO, ONCE</a:t>
            </a:r>
          </a:p>
        </p:txBody>
      </p:sp>
      <p:sp>
        <p:nvSpPr>
          <p:cNvPr id="7" name="TextBox 6"/>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000" b="1" i="0" spc="-100">
                <a:solidFill>
                  <a:srgbClr val="0B1020"/>
                </a:solidFill>
                <a:latin typeface="Bricolage Grotesque"/>
                <a:ea typeface="Inter"/>
                <a:cs typeface="Inter"/>
              </a:rPr>
              <a:t>One setup spec. Then you step back.</a:t>
            </a:r>
          </a:p>
        </p:txBody>
      </p:sp>
      <p:sp>
        <p:nvSpPr>
          <p:cNvPr id="8" name="TextBox 7"/>
          <p:cNvSpPr txBox="1"/>
          <p:nvPr/>
        </p:nvSpPr>
        <p:spPr>
          <a:xfrm>
            <a:off x="685800" y="2194560"/>
            <a:ext cx="9144000" cy="548640"/>
          </a:xfrm>
          <a:prstGeom prst="rect">
            <a:avLst/>
          </a:prstGeom>
          <a:noFill/>
        </p:spPr>
        <p:txBody>
          <a:bodyPr wrap="square" lIns="0" rIns="0" tIns="0" bIns="0">
            <a:spAutoFit/>
          </a:bodyPr>
          <a:lstStyle/>
          <a:p>
            <a:pPr algn="l">
              <a:lnSpc>
                <a:spcPct val="140000"/>
              </a:lnSpc>
            </a:pPr>
            <a:r>
              <a:rPr sz="1400" b="0" i="0">
                <a:solidFill>
                  <a:srgbClr val="41465A"/>
                </a:solidFill>
                <a:latin typeface="Inter"/>
                <a:ea typeface="Inter"/>
                <a:cs typeface="Inter"/>
              </a:rPr>
              <a:t>We assess your property and send a written setup spec — what to fix, add or replace before we relist it.</a:t>
            </a:r>
          </a:p>
        </p:txBody>
      </p:sp>
      <p:sp>
        <p:nvSpPr>
          <p:cNvPr id="9" name="Rounded Rectangle 8"/>
          <p:cNvSpPr/>
          <p:nvPr/>
        </p:nvSpPr>
        <p:spPr>
          <a:xfrm>
            <a:off x="685800" y="3063240"/>
            <a:ext cx="3454298" cy="160020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0" name="Rounded Rectangle 9"/>
          <p:cNvSpPr/>
          <p:nvPr/>
        </p:nvSpPr>
        <p:spPr>
          <a:xfrm>
            <a:off x="1005840" y="3337560"/>
            <a:ext cx="2814218" cy="109728"/>
          </a:xfrm>
          <a:prstGeom prst="roundRect">
            <a:avLst>
              <a:gd name="adj" fmla="val 50000"/>
            </a:avLst>
          </a:prstGeom>
          <a:solidFill>
            <a:srgbClr val="EEF0FA"/>
          </a:solidFill>
          <a:ln>
            <a:noFill/>
          </a:ln>
        </p:spPr>
        <p:txBody>
          <a:bodyPr rtlCol="0" anchor="ctr"/>
          <a:lstStyle/>
          <a:p>
            <a:pPr algn="ctr"/>
          </a:p>
        </p:txBody>
      </p:sp>
      <p:sp>
        <p:nvSpPr>
          <p:cNvPr id="11" name="Rounded Rectangle 10"/>
          <p:cNvSpPr/>
          <p:nvPr/>
        </p:nvSpPr>
        <p:spPr>
          <a:xfrm>
            <a:off x="1005840" y="3337560"/>
            <a:ext cx="938072" cy="109728"/>
          </a:xfrm>
          <a:prstGeom prst="roundRect">
            <a:avLst>
              <a:gd name="adj" fmla="val 50000"/>
            </a:avLst>
          </a:prstGeom>
          <a:solidFill>
            <a:srgbClr val="5846E5"/>
          </a:solidFill>
          <a:ln>
            <a:noFill/>
          </a:ln>
        </p:spPr>
        <p:txBody>
          <a:bodyPr rtlCol="0" anchor="ctr"/>
          <a:lstStyle/>
          <a:p>
            <a:pPr algn="ctr"/>
          </a:p>
        </p:txBody>
      </p:sp>
      <p:sp>
        <p:nvSpPr>
          <p:cNvPr id="12" name="TextBox 11"/>
          <p:cNvSpPr txBox="1"/>
          <p:nvPr/>
        </p:nvSpPr>
        <p:spPr>
          <a:xfrm>
            <a:off x="1005840" y="3611880"/>
            <a:ext cx="2814218" cy="365760"/>
          </a:xfrm>
          <a:prstGeom prst="rect">
            <a:avLst/>
          </a:prstGeom>
          <a:noFill/>
        </p:spPr>
        <p:txBody>
          <a:bodyPr wrap="square" lIns="0" rIns="0" tIns="0" bIns="0">
            <a:spAutoFit/>
          </a:bodyPr>
          <a:lstStyle/>
          <a:p>
            <a:pPr algn="l"/>
            <a:r>
              <a:rPr sz="1700" b="1" i="0">
                <a:solidFill>
                  <a:srgbClr val="0B1020"/>
                </a:solidFill>
                <a:latin typeface="Inter"/>
                <a:ea typeface="Inter"/>
                <a:cs typeface="Inter"/>
              </a:rPr>
              <a:t>Within 30 days</a:t>
            </a:r>
          </a:p>
        </p:txBody>
      </p:sp>
      <p:sp>
        <p:nvSpPr>
          <p:cNvPr id="13" name="TextBox 12"/>
          <p:cNvSpPr txBox="1"/>
          <p:nvPr/>
        </p:nvSpPr>
        <p:spPr>
          <a:xfrm>
            <a:off x="1005840" y="4023360"/>
            <a:ext cx="2814218" cy="548640"/>
          </a:xfrm>
          <a:prstGeom prst="rect">
            <a:avLst/>
          </a:prstGeom>
          <a:noFill/>
        </p:spPr>
        <p:txBody>
          <a:bodyPr wrap="square" lIns="0" rIns="0" tIns="0" bIns="0">
            <a:spAutoFit/>
          </a:bodyPr>
          <a:lstStyle/>
          <a:p>
            <a:pPr algn="l">
              <a:lnSpc>
                <a:spcPct val="135000"/>
              </a:lnSpc>
            </a:pPr>
            <a:r>
              <a:rPr sz="1150" b="0" i="0">
                <a:solidFill>
                  <a:srgbClr val="41465A"/>
                </a:solidFill>
                <a:latin typeface="Inter"/>
                <a:ea typeface="Inter"/>
                <a:cs typeface="Inter"/>
              </a:rPr>
              <a:t>You complete the spec, at your cost</a:t>
            </a:r>
          </a:p>
        </p:txBody>
      </p:sp>
      <p:sp>
        <p:nvSpPr>
          <p:cNvPr id="14" name="Rounded Rectangle 13"/>
          <p:cNvSpPr/>
          <p:nvPr/>
        </p:nvSpPr>
        <p:spPr>
          <a:xfrm>
            <a:off x="4368698" y="3063240"/>
            <a:ext cx="3454298" cy="160020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5" name="Rounded Rectangle 14"/>
          <p:cNvSpPr/>
          <p:nvPr/>
        </p:nvSpPr>
        <p:spPr>
          <a:xfrm>
            <a:off x="4688738" y="3337560"/>
            <a:ext cx="2814218" cy="109728"/>
          </a:xfrm>
          <a:prstGeom prst="roundRect">
            <a:avLst>
              <a:gd name="adj" fmla="val 50000"/>
            </a:avLst>
          </a:prstGeom>
          <a:solidFill>
            <a:srgbClr val="EEF0FA"/>
          </a:solidFill>
          <a:ln>
            <a:noFill/>
          </a:ln>
        </p:spPr>
        <p:txBody>
          <a:bodyPr rtlCol="0" anchor="ctr"/>
          <a:lstStyle/>
          <a:p>
            <a:pPr algn="ctr"/>
          </a:p>
        </p:txBody>
      </p:sp>
      <p:sp>
        <p:nvSpPr>
          <p:cNvPr id="16" name="Rounded Rectangle 15"/>
          <p:cNvSpPr/>
          <p:nvPr/>
        </p:nvSpPr>
        <p:spPr>
          <a:xfrm>
            <a:off x="4688738" y="3337560"/>
            <a:ext cx="1876145" cy="109728"/>
          </a:xfrm>
          <a:prstGeom prst="roundRect">
            <a:avLst>
              <a:gd name="adj" fmla="val 50000"/>
            </a:avLst>
          </a:prstGeom>
          <a:solidFill>
            <a:srgbClr val="5846E5"/>
          </a:solidFill>
          <a:ln>
            <a:noFill/>
          </a:ln>
        </p:spPr>
        <p:txBody>
          <a:bodyPr rtlCol="0" anchor="ctr"/>
          <a:lstStyle/>
          <a:p>
            <a:pPr algn="ctr"/>
          </a:p>
        </p:txBody>
      </p:sp>
      <p:sp>
        <p:nvSpPr>
          <p:cNvPr id="17" name="TextBox 16"/>
          <p:cNvSpPr txBox="1"/>
          <p:nvPr/>
        </p:nvSpPr>
        <p:spPr>
          <a:xfrm>
            <a:off x="4688738" y="3611880"/>
            <a:ext cx="2814218" cy="365760"/>
          </a:xfrm>
          <a:prstGeom prst="rect">
            <a:avLst/>
          </a:prstGeom>
          <a:noFill/>
        </p:spPr>
        <p:txBody>
          <a:bodyPr wrap="square" lIns="0" rIns="0" tIns="0" bIns="0">
            <a:spAutoFit/>
          </a:bodyPr>
          <a:lstStyle/>
          <a:p>
            <a:pPr algn="l"/>
            <a:r>
              <a:rPr sz="1700" b="1" i="0">
                <a:solidFill>
                  <a:srgbClr val="0B1020"/>
                </a:solidFill>
                <a:latin typeface="Inter"/>
                <a:ea typeface="Inter"/>
                <a:cs typeface="Inter"/>
              </a:rPr>
              <a:t>Sign-off</a:t>
            </a:r>
          </a:p>
        </p:txBody>
      </p:sp>
      <p:sp>
        <p:nvSpPr>
          <p:cNvPr id="18" name="TextBox 17"/>
          <p:cNvSpPr txBox="1"/>
          <p:nvPr/>
        </p:nvSpPr>
        <p:spPr>
          <a:xfrm>
            <a:off x="4688738" y="4023360"/>
            <a:ext cx="2814218" cy="548640"/>
          </a:xfrm>
          <a:prstGeom prst="rect">
            <a:avLst/>
          </a:prstGeom>
          <a:noFill/>
        </p:spPr>
        <p:txBody>
          <a:bodyPr wrap="square" lIns="0" rIns="0" tIns="0" bIns="0">
            <a:spAutoFit/>
          </a:bodyPr>
          <a:lstStyle/>
          <a:p>
            <a:pPr algn="l">
              <a:lnSpc>
                <a:spcPct val="135000"/>
              </a:lnSpc>
            </a:pPr>
            <a:r>
              <a:rPr sz="1150" b="0" i="0">
                <a:solidFill>
                  <a:srgbClr val="41465A"/>
                </a:solidFill>
                <a:latin typeface="Inter"/>
                <a:ea typeface="Inter"/>
                <a:cs typeface="Inter"/>
              </a:rPr>
              <a:t>Our team inspects and signs off in writing</a:t>
            </a:r>
          </a:p>
        </p:txBody>
      </p:sp>
      <p:sp>
        <p:nvSpPr>
          <p:cNvPr id="19" name="Rounded Rectangle 18"/>
          <p:cNvSpPr/>
          <p:nvPr/>
        </p:nvSpPr>
        <p:spPr>
          <a:xfrm>
            <a:off x="8051596" y="3063240"/>
            <a:ext cx="3454298" cy="160020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0" name="Rounded Rectangle 19"/>
          <p:cNvSpPr/>
          <p:nvPr/>
        </p:nvSpPr>
        <p:spPr>
          <a:xfrm>
            <a:off x="8371636" y="3337560"/>
            <a:ext cx="2814218" cy="109728"/>
          </a:xfrm>
          <a:prstGeom prst="roundRect">
            <a:avLst>
              <a:gd name="adj" fmla="val 50000"/>
            </a:avLst>
          </a:prstGeom>
          <a:solidFill>
            <a:srgbClr val="EEF0FA"/>
          </a:solidFill>
          <a:ln>
            <a:noFill/>
          </a:ln>
        </p:spPr>
        <p:txBody>
          <a:bodyPr rtlCol="0" anchor="ctr"/>
          <a:lstStyle/>
          <a:p>
            <a:pPr algn="ctr"/>
          </a:p>
        </p:txBody>
      </p:sp>
      <p:sp>
        <p:nvSpPr>
          <p:cNvPr id="21" name="Rounded Rectangle 20"/>
          <p:cNvSpPr/>
          <p:nvPr/>
        </p:nvSpPr>
        <p:spPr>
          <a:xfrm>
            <a:off x="8371636" y="3337560"/>
            <a:ext cx="2814218" cy="109728"/>
          </a:xfrm>
          <a:prstGeom prst="roundRect">
            <a:avLst>
              <a:gd name="adj" fmla="val 50000"/>
            </a:avLst>
          </a:prstGeom>
          <a:solidFill>
            <a:srgbClr val="FF5C4D"/>
          </a:solidFill>
          <a:ln>
            <a:noFill/>
          </a:ln>
        </p:spPr>
        <p:txBody>
          <a:bodyPr rtlCol="0" anchor="ctr"/>
          <a:lstStyle/>
          <a:p>
            <a:pPr algn="ctr"/>
          </a:p>
        </p:txBody>
      </p:sp>
      <p:sp>
        <p:nvSpPr>
          <p:cNvPr id="22" name="TextBox 21"/>
          <p:cNvSpPr txBox="1"/>
          <p:nvPr/>
        </p:nvSpPr>
        <p:spPr>
          <a:xfrm>
            <a:off x="8371636" y="3611880"/>
            <a:ext cx="2814218" cy="365760"/>
          </a:xfrm>
          <a:prstGeom prst="rect">
            <a:avLst/>
          </a:prstGeom>
          <a:noFill/>
        </p:spPr>
        <p:txBody>
          <a:bodyPr wrap="square" lIns="0" rIns="0" tIns="0" bIns="0">
            <a:spAutoFit/>
          </a:bodyPr>
          <a:lstStyle/>
          <a:p>
            <a:pPr algn="l"/>
            <a:r>
              <a:rPr sz="1700" b="1" i="0">
                <a:solidFill>
                  <a:srgbClr val="0B1020"/>
                </a:solidFill>
                <a:latin typeface="Inter"/>
                <a:ea typeface="Inter"/>
                <a:cs typeface="Inter"/>
              </a:rPr>
              <a:t>Day one</a:t>
            </a:r>
          </a:p>
        </p:txBody>
      </p:sp>
      <p:sp>
        <p:nvSpPr>
          <p:cNvPr id="23" name="TextBox 22"/>
          <p:cNvSpPr txBox="1"/>
          <p:nvPr/>
        </p:nvSpPr>
        <p:spPr>
          <a:xfrm>
            <a:off x="8371636" y="4023360"/>
            <a:ext cx="2814218" cy="548640"/>
          </a:xfrm>
          <a:prstGeom prst="rect">
            <a:avLst/>
          </a:prstGeom>
          <a:noFill/>
        </p:spPr>
        <p:txBody>
          <a:bodyPr wrap="square" lIns="0" rIns="0" tIns="0" bIns="0">
            <a:spAutoFit/>
          </a:bodyPr>
          <a:lstStyle/>
          <a:p>
            <a:pPr algn="l">
              <a:lnSpc>
                <a:spcPct val="135000"/>
              </a:lnSpc>
            </a:pPr>
            <a:r>
              <a:rPr sz="1150" b="0" i="0">
                <a:solidFill>
                  <a:srgbClr val="41465A"/>
                </a:solidFill>
                <a:latin typeface="Inter"/>
                <a:ea typeface="Inter"/>
                <a:cs typeface="Inter"/>
              </a:rPr>
              <a:t>The six months start at sign-off, not at payment</a:t>
            </a:r>
          </a:p>
        </p:txBody>
      </p:sp>
      <p:sp>
        <p:nvSpPr>
          <p:cNvPr id="24" name="Rounded Rectangle 23"/>
          <p:cNvSpPr/>
          <p:nvPr/>
        </p:nvSpPr>
        <p:spPr>
          <a:xfrm>
            <a:off x="685800" y="4983480"/>
            <a:ext cx="10820095" cy="777240"/>
          </a:xfrm>
          <a:prstGeom prst="roundRect">
            <a:avLst>
              <a:gd name="adj" fmla="val 12000"/>
            </a:avLst>
          </a:prstGeom>
          <a:solidFill>
            <a:srgbClr val="FFF1EF"/>
          </a:solidFill>
          <a:ln>
            <a:noFill/>
          </a:ln>
        </p:spPr>
        <p:txBody>
          <a:bodyPr rtlCol="0" anchor="ctr"/>
          <a:lstStyle/>
          <a:p>
            <a:pPr algn="ctr"/>
          </a:p>
        </p:txBody>
      </p:sp>
      <p:sp>
        <p:nvSpPr>
          <p:cNvPr id="25" name="TextBox 24"/>
          <p:cNvSpPr txBox="1"/>
          <p:nvPr/>
        </p:nvSpPr>
        <p:spPr>
          <a:xfrm>
            <a:off x="1005840" y="5138928"/>
            <a:ext cx="10180015" cy="548640"/>
          </a:xfrm>
          <a:prstGeom prst="rect">
            <a:avLst/>
          </a:prstGeom>
          <a:noFill/>
        </p:spPr>
        <p:txBody>
          <a:bodyPr wrap="square" lIns="0" rIns="0" tIns="0" bIns="0">
            <a:spAutoFit/>
          </a:bodyPr>
          <a:lstStyle/>
          <a:p>
            <a:pPr algn="l">
              <a:lnSpc>
                <a:spcPct val="135000"/>
              </a:lnSpc>
            </a:pPr>
            <a:r>
              <a:rPr sz="1200" b="1" i="0">
                <a:solidFill>
                  <a:srgbClr val="B0342A"/>
                </a:solidFill>
                <a:latin typeface="Inter"/>
                <a:ea typeface="Inter"/>
                <a:cs typeface="Inter"/>
              </a:rPr>
              <a:t>Skip items on the spec and the promise doesn’t apply — it’s the only way we can guarantee nights on a property we didn’t furnish.</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childTnLst>
                                </p:cTn>
                              </p:par>
                              <p:par>
                                <p:cTn id="22" presetID="10" presetClass="entr" presetSubtype="0" fill="hold" grpId="0" nodeType="withEffect">
                                  <p:stCondLst>
                                    <p:cond delay="7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700"/>
                                        <p:tgtEl>
                                          <p:spTgt spid="11"/>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700"/>
                                        <p:tgtEl>
                                          <p:spTgt spid="14"/>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700"/>
                                        <p:tgtEl>
                                          <p:spTgt spid="15"/>
                                        </p:tgtEl>
                                      </p:cBhvr>
                                    </p:animEffect>
                                  </p:childTnLst>
                                </p:cTn>
                              </p:par>
                              <p:par>
                                <p:cTn id="31" presetID="10" presetClass="entr" presetSubtype="0" fill="hold" grpId="0" nodeType="withEffect">
                                  <p:stCondLst>
                                    <p:cond delay="97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700"/>
                                        <p:tgtEl>
                                          <p:spTgt spid="16"/>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700"/>
                                        <p:tgtEl>
                                          <p:spTgt spid="19"/>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700"/>
                                        <p:tgtEl>
                                          <p:spTgt spid="20"/>
                                        </p:tgtEl>
                                      </p:cBhvr>
                                    </p:animEffect>
                                  </p:childTnLst>
                                </p:cTn>
                              </p:par>
                              <p:par>
                                <p:cTn id="40" presetID="10" presetClass="entr" presetSubtype="0" fill="hold" grpId="0" nodeType="withEffect">
                                  <p:stCondLst>
                                    <p:cond delay="124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700"/>
                                        <p:tgtEl>
                                          <p:spTgt spid="21"/>
                                        </p:tgtEl>
                                      </p:cBhvr>
                                    </p:animEffect>
                                  </p:childTnLst>
                                </p:cTn>
                              </p:par>
                              <p:par>
                                <p:cTn id="43" presetID="42" presetClass="entr" presetSubtype="0" fill="hold" grpId="0" nodeType="withEffect">
                                  <p:stCondLst>
                                    <p:cond delay="133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900"/>
                                        <p:tgtEl>
                                          <p:spTgt spid="12"/>
                                        </p:tgtEl>
                                      </p:cBhvr>
                                    </p:animEffect>
                                    <p:anim calcmode="lin" valueType="num">
                                      <p:cBhvr>
                                        <p:cTn id="46" dur="900" decel="100000"/>
                                        <p:tgtEl>
                                          <p:spTgt spid="12"/>
                                        </p:tgtEl>
                                        <p:attrNameLst>
                                          <p:attrName>ppt_x</p:attrName>
                                        </p:attrNameLst>
                                      </p:cBhvr>
                                      <p:tavLst>
                                        <p:tav tm="0">
                                          <p:val>
                                            <p:strVal val="#ppt_x"/>
                                          </p:val>
                                        </p:tav>
                                        <p:tav tm="100000">
                                          <p:val>
                                            <p:strVal val="#ppt_x"/>
                                          </p:val>
                                        </p:tav>
                                      </p:tavLst>
                                    </p:anim>
                                    <p:anim calcmode="lin" valueType="num">
                                      <p:cBhvr>
                                        <p:cTn id="47" dur="900" decel="100000"/>
                                        <p:tgtEl>
                                          <p:spTgt spid="12"/>
                                        </p:tgtEl>
                                        <p:attrNameLst>
                                          <p:attrName>ppt_y</p:attrName>
                                        </p:attrNameLst>
                                      </p:cBhvr>
                                      <p:tavLst>
                                        <p:tav tm="0">
                                          <p:val>
                                            <p:strVal val="#ppt_y+.035"/>
                                          </p:val>
                                        </p:tav>
                                        <p:tav tm="100000">
                                          <p:val>
                                            <p:strVal val="#ppt_y"/>
                                          </p:val>
                                        </p:tav>
                                      </p:tavLst>
                                    </p:anim>
                                  </p:childTnLst>
                                </p:cTn>
                              </p:par>
                              <p:par>
                                <p:cTn id="48" presetID="42" presetClass="entr" presetSubtype="0" fill="hold" grpId="0" nodeType="withEffect">
                                  <p:stCondLst>
                                    <p:cond delay="142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900"/>
                                        <p:tgtEl>
                                          <p:spTgt spid="17"/>
                                        </p:tgtEl>
                                      </p:cBhvr>
                                    </p:animEffect>
                                    <p:anim calcmode="lin" valueType="num">
                                      <p:cBhvr>
                                        <p:cTn id="51" dur="900" decel="100000"/>
                                        <p:tgtEl>
                                          <p:spTgt spid="17"/>
                                        </p:tgtEl>
                                        <p:attrNameLst>
                                          <p:attrName>ppt_x</p:attrName>
                                        </p:attrNameLst>
                                      </p:cBhvr>
                                      <p:tavLst>
                                        <p:tav tm="0">
                                          <p:val>
                                            <p:strVal val="#ppt_x"/>
                                          </p:val>
                                        </p:tav>
                                        <p:tav tm="100000">
                                          <p:val>
                                            <p:strVal val="#ppt_x"/>
                                          </p:val>
                                        </p:tav>
                                      </p:tavLst>
                                    </p:anim>
                                    <p:anim calcmode="lin" valueType="num">
                                      <p:cBhvr>
                                        <p:cTn id="52" dur="900" decel="100000"/>
                                        <p:tgtEl>
                                          <p:spTgt spid="17"/>
                                        </p:tgtEl>
                                        <p:attrNameLst>
                                          <p:attrName>ppt_y</p:attrName>
                                        </p:attrNameLst>
                                      </p:cBhvr>
                                      <p:tavLst>
                                        <p:tav tm="0">
                                          <p:val>
                                            <p:strVal val="#ppt_y+.035"/>
                                          </p:val>
                                        </p:tav>
                                        <p:tav tm="100000">
                                          <p:val>
                                            <p:strVal val="#ppt_y"/>
                                          </p:val>
                                        </p:tav>
                                      </p:tavLst>
                                    </p:anim>
                                  </p:childTnLst>
                                </p:cTn>
                              </p:par>
                              <p:par>
                                <p:cTn id="53" presetID="42" presetClass="entr" presetSubtype="0" fill="hold" grpId="0" nodeType="withEffect">
                                  <p:stCondLst>
                                    <p:cond delay="151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900"/>
                                        <p:tgtEl>
                                          <p:spTgt spid="22"/>
                                        </p:tgtEl>
                                      </p:cBhvr>
                                    </p:animEffect>
                                    <p:anim calcmode="lin" valueType="num">
                                      <p:cBhvr>
                                        <p:cTn id="56" dur="900" decel="100000"/>
                                        <p:tgtEl>
                                          <p:spTgt spid="22"/>
                                        </p:tgtEl>
                                        <p:attrNameLst>
                                          <p:attrName>ppt_x</p:attrName>
                                        </p:attrNameLst>
                                      </p:cBhvr>
                                      <p:tavLst>
                                        <p:tav tm="0">
                                          <p:val>
                                            <p:strVal val="#ppt_x"/>
                                          </p:val>
                                        </p:tav>
                                        <p:tav tm="100000">
                                          <p:val>
                                            <p:strVal val="#ppt_x"/>
                                          </p:val>
                                        </p:tav>
                                      </p:tavLst>
                                    </p:anim>
                                    <p:anim calcmode="lin" valueType="num">
                                      <p:cBhvr>
                                        <p:cTn id="57" dur="900" decel="100000"/>
                                        <p:tgtEl>
                                          <p:spTgt spid="22"/>
                                        </p:tgtEl>
                                        <p:attrNameLst>
                                          <p:attrName>ppt_y</p:attrName>
                                        </p:attrNameLst>
                                      </p:cBhvr>
                                      <p:tavLst>
                                        <p:tav tm="0">
                                          <p:val>
                                            <p:strVal val="#ppt_y+.035"/>
                                          </p:val>
                                        </p:tav>
                                        <p:tav tm="100000">
                                          <p:val>
                                            <p:strVal val="#ppt_y"/>
                                          </p:val>
                                        </p:tav>
                                      </p:tavLst>
                                    </p:anim>
                                  </p:childTnLst>
                                </p:cTn>
                              </p:par>
                              <p:par>
                                <p:cTn id="58" presetID="10" presetClass="entr" presetSubtype="0" fill="hold" grpId="0" nodeType="withEffect">
                                  <p:stCondLst>
                                    <p:cond delay="16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700"/>
                                        <p:tgtEl>
                                          <p:spTgt spid="13"/>
                                        </p:tgtEl>
                                      </p:cBhvr>
                                    </p:animEffect>
                                  </p:childTnLst>
                                </p:cTn>
                              </p:par>
                              <p:par>
                                <p:cTn id="61" presetID="10" presetClass="entr" presetSubtype="0" fill="hold" grpId="0" nodeType="withEffect">
                                  <p:stCondLst>
                                    <p:cond delay="169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700"/>
                                        <p:tgtEl>
                                          <p:spTgt spid="18"/>
                                        </p:tgtEl>
                                      </p:cBhvr>
                                    </p:animEffect>
                                  </p:childTnLst>
                                </p:cTn>
                              </p:par>
                              <p:par>
                                <p:cTn id="64" presetID="10" presetClass="entr" presetSubtype="0" fill="hold" grpId="0" nodeType="withEffect">
                                  <p:stCondLst>
                                    <p:cond delay="178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700"/>
                                        <p:tgtEl>
                                          <p:spTgt spid="23"/>
                                        </p:tgtEl>
                                      </p:cBhvr>
                                    </p:animEffect>
                                  </p:childTnLst>
                                </p:cTn>
                              </p:par>
                              <p:par>
                                <p:cTn id="67" presetID="10" presetClass="entr" presetSubtype="0" fill="hold" grpId="0" nodeType="withEffect">
                                  <p:stCondLst>
                                    <p:cond delay="187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700"/>
                                        <p:tgtEl>
                                          <p:spTgt spid="24"/>
                                        </p:tgtEl>
                                      </p:cBhvr>
                                    </p:animEffect>
                                  </p:childTnLst>
                                </p:cTn>
                              </p:par>
                              <p:par>
                                <p:cTn id="70" presetID="10" presetClass="entr" presetSubtype="0" fill="hold" grpId="0" nodeType="withEffect">
                                  <p:stCondLst>
                                    <p:cond delay="196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4" grpId="0" animBg="1"/>
      <p:bldP spid="15" grpId="0" animBg="1"/>
      <p:bldP spid="16" grpId="0" animBg="1"/>
      <p:bldP spid="19" grpId="0" animBg="1"/>
      <p:bldP spid="20" grpId="0" animBg="1"/>
      <p:bldP spid="21" grpId="0" animBg="1"/>
      <p:bldP spid="12" grpId="0" animBg="1"/>
      <p:bldP spid="17" grpId="0" animBg="1"/>
      <p:bldP spid="22" grpId="0" animBg="1"/>
      <p:bldP spid="13" grpId="0" animBg="1"/>
      <p:bldP spid="18" grpId="0" animBg="1"/>
      <p:bldP spid="23" grpId="0" animBg="1"/>
      <p:bldP spid="24" grpId="0" animBg="1"/>
      <p:bldP spid="2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3.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13</a:t>
            </a:r>
          </a:p>
        </p:txBody>
      </p:sp>
      <p:sp>
        <p:nvSpPr>
          <p:cNvPr id="6" name="static-mask"/>
          <p:cNvSpPr/>
          <p:nvPr/>
        </p:nvSpPr>
        <p:spPr>
          <a:xfrm>
            <a:off x="0" y="0"/>
            <a:ext cx="12191695" cy="6858000"/>
          </a:xfrm>
          <a:prstGeom prst="rect">
            <a:avLst/>
          </a:prstGeom>
          <a:gradFill rotWithShape="1" flip="none">
            <a:gsLst>
              <a:gs pos="0">
                <a:srgbClr val="090C1C">
                  <a:alpha val="90000"/>
                </a:srgbClr>
              </a:gs>
              <a:gs pos="100000">
                <a:srgbClr val="090C1C">
                  <a:alpha val="30000"/>
                </a:srgbClr>
              </a:gs>
            </a:gsLst>
            <a:lin ang="5400000" scaled="1"/>
          </a:gradFill>
          <a:ln>
            <a:noFill/>
          </a:ln>
        </p:spPr>
        <p:txBody>
          <a:bodyPr rtlCol="0" anchor="ctr"/>
          <a:lstStyle/>
          <a:p>
            <a:pPr algn="ctr"/>
          </a:p>
        </p:txBody>
      </p:sp>
      <p:sp>
        <p:nvSpPr>
          <p:cNvPr id="7" name="TextBox 6"/>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THREE PROPERTIES, ONE FEE</a:t>
            </a:r>
          </a:p>
        </p:txBody>
      </p:sp>
      <p:sp>
        <p:nvSpPr>
          <p:cNvPr id="8" name="TextBox 7"/>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400" b="1" i="0" spc="-100">
                <a:solidFill>
                  <a:srgbClr val="FFFFFF"/>
                </a:solidFill>
                <a:latin typeface="Bricolage Grotesque"/>
                <a:ea typeface="Inter"/>
                <a:cs typeface="Inter"/>
              </a:rPr>
              <a:t>$699 covers up to three.</a:t>
            </a:r>
          </a:p>
        </p:txBody>
      </p:sp>
      <p:sp>
        <p:nvSpPr>
          <p:cNvPr id="9" name="Rounded Rectangle 8"/>
          <p:cNvSpPr/>
          <p:nvPr/>
        </p:nvSpPr>
        <p:spPr>
          <a:xfrm>
            <a:off x="685800" y="2468880"/>
            <a:ext cx="2533573" cy="210312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0" name="Oval 9"/>
          <p:cNvSpPr/>
          <p:nvPr/>
        </p:nvSpPr>
        <p:spPr>
          <a:xfrm>
            <a:off x="960120" y="2697480"/>
            <a:ext cx="457200" cy="457200"/>
          </a:xfrm>
          <a:prstGeom prst="ellipse">
            <a:avLst/>
          </a:prstGeom>
          <a:solidFill>
            <a:srgbClr val="FF5C4D"/>
          </a:solidFill>
          <a:ln>
            <a:noFill/>
          </a:ln>
        </p:spPr>
        <p:txBody>
          <a:bodyPr rtlCol="0" anchor="ctr"/>
          <a:lstStyle/>
          <a:p>
            <a:pPr algn="ctr"/>
          </a:p>
        </p:txBody>
      </p:sp>
      <p:sp>
        <p:nvSpPr>
          <p:cNvPr id="11" name="TextBox 10"/>
          <p:cNvSpPr txBox="1"/>
          <p:nvPr/>
        </p:nvSpPr>
        <p:spPr>
          <a:xfrm>
            <a:off x="960120" y="2816352"/>
            <a:ext cx="457200" cy="228600"/>
          </a:xfrm>
          <a:prstGeom prst="rect">
            <a:avLst/>
          </a:prstGeom>
          <a:noFill/>
        </p:spPr>
        <p:txBody>
          <a:bodyPr wrap="square" lIns="0" rIns="0" tIns="0" bIns="0">
            <a:spAutoFit/>
          </a:bodyPr>
          <a:lstStyle/>
          <a:p>
            <a:pPr algn="ctr"/>
            <a:r>
              <a:rPr sz="1100" b="1" i="0">
                <a:solidFill>
                  <a:srgbClr val="FFFFFF"/>
                </a:solidFill>
                <a:latin typeface="Inter"/>
                <a:ea typeface="Inter"/>
                <a:cs typeface="Inter"/>
              </a:rPr>
              <a:t>1</a:t>
            </a:r>
          </a:p>
        </p:txBody>
      </p:sp>
      <p:sp>
        <p:nvSpPr>
          <p:cNvPr id="12" name="TextBox 11"/>
          <p:cNvSpPr txBox="1"/>
          <p:nvPr/>
        </p:nvSpPr>
        <p:spPr>
          <a:xfrm>
            <a:off x="960120" y="3337560"/>
            <a:ext cx="1984933" cy="320040"/>
          </a:xfrm>
          <a:prstGeom prst="rect">
            <a:avLst/>
          </a:prstGeom>
          <a:noFill/>
        </p:spPr>
        <p:txBody>
          <a:bodyPr wrap="square" lIns="0" rIns="0" tIns="0" bIns="0">
            <a:spAutoFit/>
          </a:bodyPr>
          <a:lstStyle/>
          <a:p>
            <a:pPr algn="l"/>
            <a:r>
              <a:rPr sz="1500" b="1" i="0">
                <a:solidFill>
                  <a:srgbClr val="0B1020"/>
                </a:solidFill>
                <a:latin typeface="Inter"/>
                <a:ea typeface="Inter"/>
                <a:cs typeface="Inter"/>
              </a:rPr>
              <a:t>Property 1</a:t>
            </a:r>
          </a:p>
        </p:txBody>
      </p:sp>
      <p:sp>
        <p:nvSpPr>
          <p:cNvPr id="13" name="TextBox 12"/>
          <p:cNvSpPr txBox="1"/>
          <p:nvPr/>
        </p:nvSpPr>
        <p:spPr>
          <a:xfrm>
            <a:off x="960120" y="3703320"/>
            <a:ext cx="1984933" cy="731520"/>
          </a:xfrm>
          <a:prstGeom prst="rect">
            <a:avLst/>
          </a:prstGeom>
          <a:noFill/>
        </p:spPr>
        <p:txBody>
          <a:bodyPr wrap="square" lIns="0" rIns="0" tIns="0" bIns="0">
            <a:spAutoFit/>
          </a:bodyPr>
          <a:lstStyle/>
          <a:p>
            <a:pPr algn="l">
              <a:lnSpc>
                <a:spcPct val="135000"/>
              </a:lnSpc>
            </a:pPr>
            <a:r>
              <a:rPr sz="1000" b="0" i="0">
                <a:solidFill>
                  <a:srgbClr val="41465A"/>
                </a:solidFill>
                <a:latin typeface="Inter"/>
                <a:ea typeface="Inter"/>
                <a:cs typeface="Inter"/>
              </a:rPr>
              <a:t>Enrolled on day one · 108 nights promised</a:t>
            </a:r>
          </a:p>
        </p:txBody>
      </p:sp>
      <p:sp>
        <p:nvSpPr>
          <p:cNvPr id="14" name="Rounded Rectangle 13"/>
          <p:cNvSpPr/>
          <p:nvPr/>
        </p:nvSpPr>
        <p:spPr>
          <a:xfrm>
            <a:off x="3447973" y="2468880"/>
            <a:ext cx="2533573" cy="210312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5" name="Oval 14"/>
          <p:cNvSpPr/>
          <p:nvPr/>
        </p:nvSpPr>
        <p:spPr>
          <a:xfrm>
            <a:off x="3722293" y="2697480"/>
            <a:ext cx="457200" cy="457200"/>
          </a:xfrm>
          <a:prstGeom prst="ellipse">
            <a:avLst/>
          </a:prstGeom>
          <a:solidFill>
            <a:srgbClr val="FF5C4D"/>
          </a:solidFill>
          <a:ln>
            <a:noFill/>
          </a:ln>
        </p:spPr>
        <p:txBody>
          <a:bodyPr rtlCol="0" anchor="ctr"/>
          <a:lstStyle/>
          <a:p>
            <a:pPr algn="ctr"/>
          </a:p>
        </p:txBody>
      </p:sp>
      <p:sp>
        <p:nvSpPr>
          <p:cNvPr id="16" name="TextBox 15"/>
          <p:cNvSpPr txBox="1"/>
          <p:nvPr/>
        </p:nvSpPr>
        <p:spPr>
          <a:xfrm>
            <a:off x="3722293" y="2816352"/>
            <a:ext cx="457200" cy="228600"/>
          </a:xfrm>
          <a:prstGeom prst="rect">
            <a:avLst/>
          </a:prstGeom>
          <a:noFill/>
        </p:spPr>
        <p:txBody>
          <a:bodyPr wrap="square" lIns="0" rIns="0" tIns="0" bIns="0">
            <a:spAutoFit/>
          </a:bodyPr>
          <a:lstStyle/>
          <a:p>
            <a:pPr algn="ctr"/>
            <a:r>
              <a:rPr sz="1100" b="1" i="0">
                <a:solidFill>
                  <a:srgbClr val="FFFFFF"/>
                </a:solidFill>
                <a:latin typeface="Inter"/>
                <a:ea typeface="Inter"/>
                <a:cs typeface="Inter"/>
              </a:rPr>
              <a:t>2</a:t>
            </a:r>
          </a:p>
        </p:txBody>
      </p:sp>
      <p:sp>
        <p:nvSpPr>
          <p:cNvPr id="17" name="TextBox 16"/>
          <p:cNvSpPr txBox="1"/>
          <p:nvPr/>
        </p:nvSpPr>
        <p:spPr>
          <a:xfrm>
            <a:off x="3722293" y="3337560"/>
            <a:ext cx="1984933" cy="320040"/>
          </a:xfrm>
          <a:prstGeom prst="rect">
            <a:avLst/>
          </a:prstGeom>
          <a:noFill/>
        </p:spPr>
        <p:txBody>
          <a:bodyPr wrap="square" lIns="0" rIns="0" tIns="0" bIns="0">
            <a:spAutoFit/>
          </a:bodyPr>
          <a:lstStyle/>
          <a:p>
            <a:pPr algn="l"/>
            <a:r>
              <a:rPr sz="1500" b="1" i="0">
                <a:solidFill>
                  <a:srgbClr val="0B1020"/>
                </a:solidFill>
                <a:latin typeface="Inter"/>
                <a:ea typeface="Inter"/>
                <a:cs typeface="Inter"/>
              </a:rPr>
              <a:t>Property 2</a:t>
            </a:r>
          </a:p>
        </p:txBody>
      </p:sp>
      <p:sp>
        <p:nvSpPr>
          <p:cNvPr id="18" name="TextBox 17"/>
          <p:cNvSpPr txBox="1"/>
          <p:nvPr/>
        </p:nvSpPr>
        <p:spPr>
          <a:xfrm>
            <a:off x="3722293" y="3703320"/>
            <a:ext cx="1984933" cy="731520"/>
          </a:xfrm>
          <a:prstGeom prst="rect">
            <a:avLst/>
          </a:prstGeom>
          <a:noFill/>
        </p:spPr>
        <p:txBody>
          <a:bodyPr wrap="square" lIns="0" rIns="0" tIns="0" bIns="0">
            <a:spAutoFit/>
          </a:bodyPr>
          <a:lstStyle/>
          <a:p>
            <a:pPr algn="l">
              <a:lnSpc>
                <a:spcPct val="135000"/>
              </a:lnSpc>
            </a:pPr>
            <a:r>
              <a:rPr sz="1000" b="0" i="0">
                <a:solidFill>
                  <a:srgbClr val="41465A"/>
                </a:solidFill>
                <a:latin typeface="Inter"/>
                <a:ea typeface="Inter"/>
                <a:cs typeface="Inter"/>
              </a:rPr>
              <a:t>Enrolled on day one · 108 nights promised</a:t>
            </a:r>
          </a:p>
        </p:txBody>
      </p:sp>
      <p:sp>
        <p:nvSpPr>
          <p:cNvPr id="19" name="Rounded Rectangle 18"/>
          <p:cNvSpPr/>
          <p:nvPr/>
        </p:nvSpPr>
        <p:spPr>
          <a:xfrm>
            <a:off x="6210147" y="2468880"/>
            <a:ext cx="2533573" cy="210312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0" name="Oval 19"/>
          <p:cNvSpPr/>
          <p:nvPr/>
        </p:nvSpPr>
        <p:spPr>
          <a:xfrm>
            <a:off x="6484467" y="2697480"/>
            <a:ext cx="457200" cy="457200"/>
          </a:xfrm>
          <a:prstGeom prst="ellipse">
            <a:avLst/>
          </a:prstGeom>
          <a:solidFill>
            <a:srgbClr val="FF5C4D"/>
          </a:solidFill>
          <a:ln>
            <a:noFill/>
          </a:ln>
        </p:spPr>
        <p:txBody>
          <a:bodyPr rtlCol="0" anchor="ctr"/>
          <a:lstStyle/>
          <a:p>
            <a:pPr algn="ctr"/>
          </a:p>
        </p:txBody>
      </p:sp>
      <p:sp>
        <p:nvSpPr>
          <p:cNvPr id="21" name="TextBox 20"/>
          <p:cNvSpPr txBox="1"/>
          <p:nvPr/>
        </p:nvSpPr>
        <p:spPr>
          <a:xfrm>
            <a:off x="6484467" y="2816352"/>
            <a:ext cx="457200" cy="228600"/>
          </a:xfrm>
          <a:prstGeom prst="rect">
            <a:avLst/>
          </a:prstGeom>
          <a:noFill/>
        </p:spPr>
        <p:txBody>
          <a:bodyPr wrap="square" lIns="0" rIns="0" tIns="0" bIns="0">
            <a:spAutoFit/>
          </a:bodyPr>
          <a:lstStyle/>
          <a:p>
            <a:pPr algn="ctr"/>
            <a:r>
              <a:rPr sz="1100" b="1" i="0">
                <a:solidFill>
                  <a:srgbClr val="FFFFFF"/>
                </a:solidFill>
                <a:latin typeface="Inter"/>
                <a:ea typeface="Inter"/>
                <a:cs typeface="Inter"/>
              </a:rPr>
              <a:t>3</a:t>
            </a:r>
          </a:p>
        </p:txBody>
      </p:sp>
      <p:sp>
        <p:nvSpPr>
          <p:cNvPr id="22" name="TextBox 21"/>
          <p:cNvSpPr txBox="1"/>
          <p:nvPr/>
        </p:nvSpPr>
        <p:spPr>
          <a:xfrm>
            <a:off x="6484467" y="3337560"/>
            <a:ext cx="1984933" cy="320040"/>
          </a:xfrm>
          <a:prstGeom prst="rect">
            <a:avLst/>
          </a:prstGeom>
          <a:noFill/>
        </p:spPr>
        <p:txBody>
          <a:bodyPr wrap="square" lIns="0" rIns="0" tIns="0" bIns="0">
            <a:spAutoFit/>
          </a:bodyPr>
          <a:lstStyle/>
          <a:p>
            <a:pPr algn="l"/>
            <a:r>
              <a:rPr sz="1500" b="1" i="0">
                <a:solidFill>
                  <a:srgbClr val="0B1020"/>
                </a:solidFill>
                <a:latin typeface="Inter"/>
                <a:ea typeface="Inter"/>
                <a:cs typeface="Inter"/>
              </a:rPr>
              <a:t>Property 3</a:t>
            </a:r>
          </a:p>
        </p:txBody>
      </p:sp>
      <p:sp>
        <p:nvSpPr>
          <p:cNvPr id="23" name="TextBox 22"/>
          <p:cNvSpPr txBox="1"/>
          <p:nvPr/>
        </p:nvSpPr>
        <p:spPr>
          <a:xfrm>
            <a:off x="6484467" y="3703320"/>
            <a:ext cx="1984933" cy="731520"/>
          </a:xfrm>
          <a:prstGeom prst="rect">
            <a:avLst/>
          </a:prstGeom>
          <a:noFill/>
        </p:spPr>
        <p:txBody>
          <a:bodyPr wrap="square" lIns="0" rIns="0" tIns="0" bIns="0">
            <a:spAutoFit/>
          </a:bodyPr>
          <a:lstStyle/>
          <a:p>
            <a:pPr algn="l">
              <a:lnSpc>
                <a:spcPct val="135000"/>
              </a:lnSpc>
            </a:pPr>
            <a:r>
              <a:rPr sz="1000" b="0" i="0">
                <a:solidFill>
                  <a:srgbClr val="41465A"/>
                </a:solidFill>
                <a:latin typeface="Inter"/>
                <a:ea typeface="Inter"/>
                <a:cs typeface="Inter"/>
              </a:rPr>
              <a:t>Enrolled on day one · 108 nights promised</a:t>
            </a:r>
          </a:p>
        </p:txBody>
      </p:sp>
      <p:sp>
        <p:nvSpPr>
          <p:cNvPr id="24" name="Rounded Rectangle 23"/>
          <p:cNvSpPr/>
          <p:nvPr/>
        </p:nvSpPr>
        <p:spPr>
          <a:xfrm>
            <a:off x="8972321" y="2468880"/>
            <a:ext cx="2533573" cy="2103120"/>
          </a:xfrm>
          <a:prstGeom prst="roundRect">
            <a:avLst>
              <a:gd name="adj" fmla="val 8000"/>
            </a:avLst>
          </a:prstGeom>
          <a:solidFill>
            <a:srgbClr val="151A33">
              <a:alpha val="10000"/>
            </a:srgbClr>
          </a:solidFill>
          <a:ln w="9525">
            <a:solidFill>
              <a:srgbClr val="FFFFFF">
                <a:alpha val="25000"/>
              </a:srgbClr>
            </a:solidFill>
            <a:prstDash val="dash"/>
          </a:ln>
        </p:spPr>
        <p:txBody>
          <a:bodyPr rtlCol="0" anchor="ctr"/>
          <a:lstStyle/>
          <a:p>
            <a:pPr algn="ctr"/>
          </a:p>
        </p:txBody>
      </p:sp>
      <p:sp>
        <p:nvSpPr>
          <p:cNvPr id="25" name="TextBox 24"/>
          <p:cNvSpPr txBox="1"/>
          <p:nvPr/>
        </p:nvSpPr>
        <p:spPr>
          <a:xfrm>
            <a:off x="9246641" y="3337560"/>
            <a:ext cx="1984933" cy="320040"/>
          </a:xfrm>
          <a:prstGeom prst="rect">
            <a:avLst/>
          </a:prstGeom>
          <a:noFill/>
        </p:spPr>
        <p:txBody>
          <a:bodyPr wrap="square" lIns="0" rIns="0" tIns="0" bIns="0">
            <a:spAutoFit/>
          </a:bodyPr>
          <a:lstStyle/>
          <a:p>
            <a:pPr algn="l"/>
            <a:r>
              <a:rPr sz="1500" b="1" i="0">
                <a:solidFill>
                  <a:srgbClr val="FFFFFF"/>
                </a:solidFill>
                <a:latin typeface="Inter"/>
                <a:ea typeface="Inter"/>
                <a:cs typeface="Inter"/>
              </a:rPr>
              <a:t>Added later</a:t>
            </a:r>
          </a:p>
        </p:txBody>
      </p:sp>
      <p:sp>
        <p:nvSpPr>
          <p:cNvPr id="26" name="TextBox 25"/>
          <p:cNvSpPr txBox="1"/>
          <p:nvPr/>
        </p:nvSpPr>
        <p:spPr>
          <a:xfrm>
            <a:off x="9246641" y="3703320"/>
            <a:ext cx="1984933" cy="731520"/>
          </a:xfrm>
          <a:prstGeom prst="rect">
            <a:avLst/>
          </a:prstGeom>
          <a:noFill/>
        </p:spPr>
        <p:txBody>
          <a:bodyPr wrap="square" lIns="0" rIns="0" tIns="0" bIns="0">
            <a:spAutoFit/>
          </a:bodyPr>
          <a:lstStyle/>
          <a:p>
            <a:pPr algn="l">
              <a:lnSpc>
                <a:spcPct val="135000"/>
              </a:lnSpc>
            </a:pPr>
            <a:r>
              <a:rPr sz="1000" b="0" i="0">
                <a:solidFill>
                  <a:srgbClr val="C5C9DA"/>
                </a:solidFill>
                <a:latin typeface="Inter"/>
                <a:ea typeface="Inter"/>
                <a:cs typeface="Inter"/>
              </a:rPr>
              <a:t>8% for life — but no nights promise</a:t>
            </a:r>
          </a:p>
        </p:txBody>
      </p:sp>
      <p:sp>
        <p:nvSpPr>
          <p:cNvPr id="27" name="TextBox 26"/>
          <p:cNvSpPr txBox="1"/>
          <p:nvPr/>
        </p:nvSpPr>
        <p:spPr>
          <a:xfrm>
            <a:off x="685800" y="4983480"/>
            <a:ext cx="10515600" cy="822960"/>
          </a:xfrm>
          <a:prstGeom prst="rect">
            <a:avLst/>
          </a:prstGeom>
          <a:noFill/>
        </p:spPr>
        <p:txBody>
          <a:bodyPr wrap="square" lIns="0" rIns="0" tIns="0" bIns="0">
            <a:spAutoFit/>
          </a:bodyPr>
          <a:lstStyle/>
          <a:p>
            <a:pPr algn="l">
              <a:lnSpc>
                <a:spcPct val="145000"/>
              </a:lnSpc>
            </a:pPr>
            <a:r>
              <a:rPr sz="1250" b="0" i="0">
                <a:solidFill>
                  <a:srgbClr val="C5C9DA"/>
                </a:solidFill>
                <a:latin typeface="Inter"/>
                <a:ea typeface="Inter"/>
                <a:cs typeface="Inter"/>
              </a:rPr>
              <a:t>The promise applies to the properties enrolled on day one. Add more later: you keep 8% for life on those too, but the nights promise covers only what we assessed at onboarding.</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700"/>
                                        <p:tgtEl>
                                          <p:spTgt spid="14"/>
                                        </p:tgtEl>
                                      </p:cBhvr>
                                    </p:animEffect>
                                  </p:childTnLst>
                                </p:cTn>
                              </p:par>
                              <p:par>
                                <p:cTn id="22" presetID="10" presetClass="entr" presetSubtype="0" fill="hold" grpId="0" nodeType="withEffect">
                                  <p:stCondLst>
                                    <p:cond delay="7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700"/>
                                        <p:tgtEl>
                                          <p:spTgt spid="15"/>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700"/>
                                        <p:tgtEl>
                                          <p:spTgt spid="19"/>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700"/>
                                        <p:tgtEl>
                                          <p:spTgt spid="20"/>
                                        </p:tgtEl>
                                      </p:cBhvr>
                                    </p:animEffect>
                                  </p:childTnLst>
                                </p:cTn>
                              </p:par>
                              <p:par>
                                <p:cTn id="31" presetID="10" presetClass="entr" presetSubtype="0" fill="hold" grpId="0" nodeType="withEffect">
                                  <p:stCondLst>
                                    <p:cond delay="97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700"/>
                                        <p:tgtEl>
                                          <p:spTgt spid="24"/>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700"/>
                                        <p:tgtEl>
                                          <p:spTgt spid="11"/>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700"/>
                                        <p:tgtEl>
                                          <p:spTgt spid="16"/>
                                        </p:tgtEl>
                                      </p:cBhvr>
                                    </p:animEffect>
                                  </p:childTnLst>
                                </p:cTn>
                              </p:par>
                              <p:par>
                                <p:cTn id="40" presetID="10" presetClass="entr" presetSubtype="0" fill="hold" grpId="0" nodeType="withEffect">
                                  <p:stCondLst>
                                    <p:cond delay="124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700"/>
                                        <p:tgtEl>
                                          <p:spTgt spid="21"/>
                                        </p:tgtEl>
                                      </p:cBhvr>
                                    </p:animEffect>
                                  </p:childTnLst>
                                </p:cTn>
                              </p:par>
                              <p:par>
                                <p:cTn id="43" presetID="10" presetClass="entr" presetSubtype="0" fill="hold" grpId="0" nodeType="withEffect">
                                  <p:stCondLst>
                                    <p:cond delay="133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700"/>
                                        <p:tgtEl>
                                          <p:spTgt spid="12"/>
                                        </p:tgtEl>
                                      </p:cBhvr>
                                    </p:animEffect>
                                  </p:childTnLst>
                                </p:cTn>
                              </p:par>
                              <p:par>
                                <p:cTn id="46" presetID="10" presetClass="entr" presetSubtype="0" fill="hold" grpId="0" nodeType="withEffect">
                                  <p:stCondLst>
                                    <p:cond delay="142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700"/>
                                        <p:tgtEl>
                                          <p:spTgt spid="17"/>
                                        </p:tgtEl>
                                      </p:cBhvr>
                                    </p:animEffect>
                                  </p:childTnLst>
                                </p:cTn>
                              </p:par>
                              <p:par>
                                <p:cTn id="49" presetID="10" presetClass="entr" presetSubtype="0" fill="hold" grpId="0" nodeType="withEffect">
                                  <p:stCondLst>
                                    <p:cond delay="151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700"/>
                                        <p:tgtEl>
                                          <p:spTgt spid="22"/>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700"/>
                                        <p:tgtEl>
                                          <p:spTgt spid="25"/>
                                        </p:tgtEl>
                                      </p:cBhvr>
                                    </p:animEffect>
                                  </p:childTnLst>
                                </p:cTn>
                              </p:par>
                              <p:par>
                                <p:cTn id="55" presetID="10" presetClass="entr" presetSubtype="0" fill="hold" grpId="0" nodeType="withEffect">
                                  <p:stCondLst>
                                    <p:cond delay="169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childTnLst>
                                </p:cTn>
                              </p:par>
                              <p:par>
                                <p:cTn id="58" presetID="10" presetClass="entr" presetSubtype="0" fill="hold" grpId="0" nodeType="withEffect">
                                  <p:stCondLst>
                                    <p:cond delay="178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childTnLst>
                                </p:cTn>
                              </p:par>
                              <p:par>
                                <p:cTn id="61" presetID="10" presetClass="entr" presetSubtype="0" fill="hold" grpId="0" nodeType="withEffect">
                                  <p:stCondLst>
                                    <p:cond delay="187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700"/>
                                        <p:tgtEl>
                                          <p:spTgt spid="23"/>
                                        </p:tgtEl>
                                      </p:cBhvr>
                                    </p:animEffect>
                                  </p:childTnLst>
                                </p:cTn>
                              </p:par>
                              <p:par>
                                <p:cTn id="64" presetID="10" presetClass="entr" presetSubtype="0" fill="hold" grpId="0" nodeType="withEffect">
                                  <p:stCondLst>
                                    <p:cond delay="196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700"/>
                                        <p:tgtEl>
                                          <p:spTgt spid="26"/>
                                        </p:tgtEl>
                                      </p:cBhvr>
                                    </p:animEffect>
                                  </p:childTnLst>
                                </p:cTn>
                              </p:par>
                              <p:par>
                                <p:cTn id="67" presetID="10" presetClass="entr" presetSubtype="0" fill="hold" grpId="0" nodeType="withEffect">
                                  <p:stCondLst>
                                    <p:cond delay="205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7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4" grpId="0" animBg="1"/>
      <p:bldP spid="15" grpId="0" animBg="1"/>
      <p:bldP spid="19" grpId="0" animBg="1"/>
      <p:bldP spid="20" grpId="0" animBg="1"/>
      <p:bldP spid="24" grpId="0" animBg="1"/>
      <p:bldP spid="11" grpId="0" animBg="1"/>
      <p:bldP spid="16" grpId="0" animBg="1"/>
      <p:bldP spid="21" grpId="0" animBg="1"/>
      <p:bldP spid="12" grpId="0" animBg="1"/>
      <p:bldP spid="17" grpId="0" animBg="1"/>
      <p:bldP spid="22" grpId="0" animBg="1"/>
      <p:bldP spid="25" grpId="0" animBg="1"/>
      <p:bldP spid="13" grpId="0" animBg="1"/>
      <p:bldP spid="18" grpId="0" animBg="1"/>
      <p:bldP spid="23" grpId="0" animBg="1"/>
      <p:bldP spid="26" grpId="0" animBg="1"/>
      <p:bldP spid="2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14</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THE CONDITIONS, PLAINLY</a:t>
            </a:r>
          </a:p>
        </p:txBody>
      </p:sp>
      <p:sp>
        <p:nvSpPr>
          <p:cNvPr id="7" name="TextBox 6"/>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000" b="1" i="0" spc="-100">
                <a:solidFill>
                  <a:srgbClr val="0B1020"/>
                </a:solidFill>
                <a:latin typeface="Bricolage Grotesque"/>
                <a:ea typeface="Inter"/>
                <a:cs typeface="Inter"/>
              </a:rPr>
              <a:t>Five conditions. No small print.</a:t>
            </a:r>
          </a:p>
        </p:txBody>
      </p:sp>
      <p:sp>
        <p:nvSpPr>
          <p:cNvPr id="8" name="Rounded Rectangle 7"/>
          <p:cNvSpPr/>
          <p:nvPr/>
        </p:nvSpPr>
        <p:spPr>
          <a:xfrm>
            <a:off x="685800" y="2331720"/>
            <a:ext cx="10820095" cy="640080"/>
          </a:xfrm>
          <a:prstGeom prst="roundRect">
            <a:avLst>
              <a:gd name="adj" fmla="val 1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1005840" y="2514600"/>
            <a:ext cx="2194560" cy="320040"/>
          </a:xfrm>
          <a:prstGeom prst="rect">
            <a:avLst/>
          </a:prstGeom>
          <a:noFill/>
        </p:spPr>
        <p:txBody>
          <a:bodyPr wrap="square" lIns="0" rIns="0" tIns="0" bIns="0">
            <a:spAutoFit/>
          </a:bodyPr>
          <a:lstStyle/>
          <a:p>
            <a:pPr algn="l"/>
            <a:r>
              <a:rPr sz="1400" b="1" i="0">
                <a:solidFill>
                  <a:srgbClr val="0B1020"/>
                </a:solidFill>
                <a:latin typeface="Inter"/>
                <a:ea typeface="Inter"/>
                <a:cs typeface="Inter"/>
              </a:rPr>
              <a:t>Available</a:t>
            </a:r>
          </a:p>
        </p:txBody>
      </p:sp>
      <p:sp>
        <p:nvSpPr>
          <p:cNvPr id="10" name="TextBox 9"/>
          <p:cNvSpPr txBox="1"/>
          <p:nvPr/>
        </p:nvSpPr>
        <p:spPr>
          <a:xfrm>
            <a:off x="3337560" y="2523744"/>
            <a:ext cx="7894015" cy="365760"/>
          </a:xfrm>
          <a:prstGeom prst="rect">
            <a:avLst/>
          </a:prstGeom>
          <a:noFill/>
        </p:spPr>
        <p:txBody>
          <a:bodyPr wrap="square" lIns="0" rIns="0" tIns="0" bIns="0">
            <a:spAutoFit/>
          </a:bodyPr>
          <a:lstStyle/>
          <a:p>
            <a:pPr algn="l"/>
            <a:r>
              <a:rPr sz="1200" b="0" i="0">
                <a:solidFill>
                  <a:srgbClr val="41465A"/>
                </a:solidFill>
                <a:latin typeface="Inter"/>
                <a:ea typeface="Inter"/>
                <a:cs typeface="Inter"/>
              </a:rPr>
              <a:t>At least 27 nights a month, with up to 12 owner nights across the six months</a:t>
            </a:r>
          </a:p>
        </p:txBody>
      </p:sp>
      <p:sp>
        <p:nvSpPr>
          <p:cNvPr id="11" name="Rounded Rectangle 10"/>
          <p:cNvSpPr/>
          <p:nvPr/>
        </p:nvSpPr>
        <p:spPr>
          <a:xfrm>
            <a:off x="685800" y="3081527"/>
            <a:ext cx="10820095" cy="640080"/>
          </a:xfrm>
          <a:prstGeom prst="roundRect">
            <a:avLst>
              <a:gd name="adj" fmla="val 1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1005840" y="3264408"/>
            <a:ext cx="2194560" cy="320040"/>
          </a:xfrm>
          <a:prstGeom prst="rect">
            <a:avLst/>
          </a:prstGeom>
          <a:noFill/>
        </p:spPr>
        <p:txBody>
          <a:bodyPr wrap="square" lIns="0" rIns="0" tIns="0" bIns="0">
            <a:spAutoFit/>
          </a:bodyPr>
          <a:lstStyle/>
          <a:p>
            <a:pPr algn="l"/>
            <a:r>
              <a:rPr sz="1400" b="1" i="0">
                <a:solidFill>
                  <a:srgbClr val="0B1020"/>
                </a:solidFill>
                <a:latin typeface="Inter"/>
                <a:ea typeface="Inter"/>
                <a:cs typeface="Inter"/>
              </a:rPr>
              <a:t>Control</a:t>
            </a:r>
          </a:p>
        </p:txBody>
      </p:sp>
      <p:sp>
        <p:nvSpPr>
          <p:cNvPr id="13" name="TextBox 12"/>
          <p:cNvSpPr txBox="1"/>
          <p:nvPr/>
        </p:nvSpPr>
        <p:spPr>
          <a:xfrm>
            <a:off x="3337560" y="3273551"/>
            <a:ext cx="7894015" cy="365760"/>
          </a:xfrm>
          <a:prstGeom prst="rect">
            <a:avLst/>
          </a:prstGeom>
          <a:noFill/>
        </p:spPr>
        <p:txBody>
          <a:bodyPr wrap="square" lIns="0" rIns="0" tIns="0" bIns="0">
            <a:spAutoFit/>
          </a:bodyPr>
          <a:lstStyle/>
          <a:p>
            <a:pPr algn="l"/>
            <a:r>
              <a:rPr sz="1200" b="0" i="0">
                <a:solidFill>
                  <a:srgbClr val="41465A"/>
                </a:solidFill>
                <a:latin typeface="Inter"/>
                <a:ea typeface="Inter"/>
                <a:cs typeface="Inter"/>
              </a:rPr>
              <a:t>We control pricing, availability and listing content</a:t>
            </a:r>
          </a:p>
        </p:txBody>
      </p:sp>
      <p:sp>
        <p:nvSpPr>
          <p:cNvPr id="14" name="Rounded Rectangle 13"/>
          <p:cNvSpPr/>
          <p:nvPr/>
        </p:nvSpPr>
        <p:spPr>
          <a:xfrm>
            <a:off x="685800" y="3831335"/>
            <a:ext cx="10820095" cy="640080"/>
          </a:xfrm>
          <a:prstGeom prst="roundRect">
            <a:avLst>
              <a:gd name="adj" fmla="val 15000"/>
            </a:avLst>
          </a:prstGeom>
          <a:solidFill>
            <a:srgbClr val="090C1C"/>
          </a:solidFill>
          <a:ln>
            <a:noFill/>
          </a:ln>
        </p:spPr>
        <p:txBody>
          <a:bodyPr rtlCol="0" anchor="ctr"/>
          <a:lstStyle/>
          <a:p>
            <a:pPr algn="ctr"/>
          </a:p>
        </p:txBody>
      </p:sp>
      <p:sp>
        <p:nvSpPr>
          <p:cNvPr id="15" name="TextBox 14"/>
          <p:cNvSpPr txBox="1"/>
          <p:nvPr/>
        </p:nvSpPr>
        <p:spPr>
          <a:xfrm>
            <a:off x="1005840" y="4014215"/>
            <a:ext cx="2194560" cy="320040"/>
          </a:xfrm>
          <a:prstGeom prst="rect">
            <a:avLst/>
          </a:prstGeom>
          <a:noFill/>
        </p:spPr>
        <p:txBody>
          <a:bodyPr wrap="square" lIns="0" rIns="0" tIns="0" bIns="0">
            <a:spAutoFit/>
          </a:bodyPr>
          <a:lstStyle/>
          <a:p>
            <a:pPr algn="l"/>
            <a:r>
              <a:rPr sz="1400" b="1" i="0">
                <a:solidFill>
                  <a:srgbClr val="FFB547"/>
                </a:solidFill>
                <a:latin typeface="Inter"/>
                <a:ea typeface="Inter"/>
                <a:cs typeface="Inter"/>
              </a:rPr>
              <a:t>Floor rate</a:t>
            </a:r>
          </a:p>
        </p:txBody>
      </p:sp>
      <p:sp>
        <p:nvSpPr>
          <p:cNvPr id="16" name="TextBox 15"/>
          <p:cNvSpPr txBox="1"/>
          <p:nvPr/>
        </p:nvSpPr>
        <p:spPr>
          <a:xfrm>
            <a:off x="3337560" y="4023359"/>
            <a:ext cx="7894015" cy="365760"/>
          </a:xfrm>
          <a:prstGeom prst="rect">
            <a:avLst/>
          </a:prstGeom>
          <a:noFill/>
        </p:spPr>
        <p:txBody>
          <a:bodyPr wrap="square" lIns="0" rIns="0" tIns="0" bIns="0">
            <a:spAutoFit/>
          </a:bodyPr>
          <a:lstStyle/>
          <a:p>
            <a:pPr algn="l"/>
            <a:r>
              <a:rPr sz="1200" b="0" i="0">
                <a:solidFill>
                  <a:srgbClr val="FFFFFF"/>
                </a:solidFill>
                <a:latin typeface="Inter"/>
                <a:ea typeface="Inter"/>
                <a:cs typeface="Inter"/>
              </a:rPr>
              <a:t>Nights count at or above a floor rate we agree together — so we can’t hit the number by dumping your rate</a:t>
            </a:r>
          </a:p>
        </p:txBody>
      </p:sp>
      <p:sp>
        <p:nvSpPr>
          <p:cNvPr id="17" name="Rounded Rectangle 16"/>
          <p:cNvSpPr/>
          <p:nvPr/>
        </p:nvSpPr>
        <p:spPr>
          <a:xfrm>
            <a:off x="685800" y="4581144"/>
            <a:ext cx="10820095" cy="640080"/>
          </a:xfrm>
          <a:prstGeom prst="roundRect">
            <a:avLst>
              <a:gd name="adj" fmla="val 1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8" name="TextBox 17"/>
          <p:cNvSpPr txBox="1"/>
          <p:nvPr/>
        </p:nvSpPr>
        <p:spPr>
          <a:xfrm>
            <a:off x="1005840" y="4764024"/>
            <a:ext cx="2194560" cy="320040"/>
          </a:xfrm>
          <a:prstGeom prst="rect">
            <a:avLst/>
          </a:prstGeom>
          <a:noFill/>
        </p:spPr>
        <p:txBody>
          <a:bodyPr wrap="square" lIns="0" rIns="0" tIns="0" bIns="0">
            <a:spAutoFit/>
          </a:bodyPr>
          <a:lstStyle/>
          <a:p>
            <a:pPr algn="l"/>
            <a:r>
              <a:rPr sz="1400" b="1" i="0">
                <a:solidFill>
                  <a:srgbClr val="0B1020"/>
                </a:solidFill>
                <a:latin typeface="Inter"/>
                <a:ea typeface="Inter"/>
                <a:cs typeface="Inter"/>
              </a:rPr>
              <a:t>Repairs</a:t>
            </a:r>
          </a:p>
        </p:txBody>
      </p:sp>
      <p:sp>
        <p:nvSpPr>
          <p:cNvPr id="19" name="TextBox 18"/>
          <p:cNvSpPr txBox="1"/>
          <p:nvPr/>
        </p:nvSpPr>
        <p:spPr>
          <a:xfrm>
            <a:off x="3337560" y="4773168"/>
            <a:ext cx="7894015" cy="365760"/>
          </a:xfrm>
          <a:prstGeom prst="rect">
            <a:avLst/>
          </a:prstGeom>
          <a:noFill/>
        </p:spPr>
        <p:txBody>
          <a:bodyPr wrap="square" lIns="0" rIns="0" tIns="0" bIns="0">
            <a:spAutoFit/>
          </a:bodyPr>
          <a:lstStyle/>
          <a:p>
            <a:pPr algn="l"/>
            <a:r>
              <a:rPr sz="1200" b="0" i="0">
                <a:solidFill>
                  <a:srgbClr val="41465A"/>
                </a:solidFill>
                <a:latin typeface="Inter"/>
                <a:ea typeface="Inter"/>
                <a:cs typeface="Inter"/>
              </a:rPr>
              <a:t>Approved within 7 days</a:t>
            </a:r>
          </a:p>
        </p:txBody>
      </p:sp>
      <p:sp>
        <p:nvSpPr>
          <p:cNvPr id="20" name="Rounded Rectangle 19"/>
          <p:cNvSpPr/>
          <p:nvPr/>
        </p:nvSpPr>
        <p:spPr>
          <a:xfrm>
            <a:off x="685800" y="5330952"/>
            <a:ext cx="10820095" cy="640080"/>
          </a:xfrm>
          <a:prstGeom prst="roundRect">
            <a:avLst>
              <a:gd name="adj" fmla="val 15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1" name="TextBox 20"/>
          <p:cNvSpPr txBox="1"/>
          <p:nvPr/>
        </p:nvSpPr>
        <p:spPr>
          <a:xfrm>
            <a:off x="1005840" y="5513832"/>
            <a:ext cx="2194560" cy="320040"/>
          </a:xfrm>
          <a:prstGeom prst="rect">
            <a:avLst/>
          </a:prstGeom>
          <a:noFill/>
        </p:spPr>
        <p:txBody>
          <a:bodyPr wrap="square" lIns="0" rIns="0" tIns="0" bIns="0">
            <a:spAutoFit/>
          </a:bodyPr>
          <a:lstStyle/>
          <a:p>
            <a:pPr algn="l"/>
            <a:r>
              <a:rPr sz="1400" b="1" i="0">
                <a:solidFill>
                  <a:srgbClr val="0B1020"/>
                </a:solidFill>
                <a:latin typeface="Inter"/>
                <a:ea typeface="Inter"/>
                <a:cs typeface="Inter"/>
              </a:rPr>
              <a:t>Permitted</a:t>
            </a:r>
          </a:p>
        </p:txBody>
      </p:sp>
      <p:sp>
        <p:nvSpPr>
          <p:cNvPr id="22" name="TextBox 21"/>
          <p:cNvSpPr txBox="1"/>
          <p:nvPr/>
        </p:nvSpPr>
        <p:spPr>
          <a:xfrm>
            <a:off x="3337560" y="5522976"/>
            <a:ext cx="7894015" cy="365760"/>
          </a:xfrm>
          <a:prstGeom prst="rect">
            <a:avLst/>
          </a:prstGeom>
          <a:noFill/>
        </p:spPr>
        <p:txBody>
          <a:bodyPr wrap="square" lIns="0" rIns="0" tIns="0" bIns="0">
            <a:spAutoFit/>
          </a:bodyPr>
          <a:lstStyle/>
          <a:p>
            <a:pPr algn="l"/>
            <a:r>
              <a:rPr sz="1200" b="0" i="0">
                <a:solidFill>
                  <a:srgbClr val="41465A"/>
                </a:solidFill>
                <a:latin typeface="Inter"/>
                <a:ea typeface="Inter"/>
                <a:cs typeface="Inter"/>
              </a:rPr>
              <a:t>Your property stays permitted and insured for short-term rental</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childTnLst>
                                </p:cTn>
                              </p:par>
                              <p:par>
                                <p:cTn id="22" presetID="10" presetClass="entr" presetSubtype="0" fill="hold" grpId="0" nodeType="withEffect">
                                  <p:stCondLst>
                                    <p:cond delay="7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700"/>
                                        <p:tgtEl>
                                          <p:spTgt spid="11"/>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700"/>
                                        <p:tgtEl>
                                          <p:spTgt spid="13"/>
                                        </p:tgtEl>
                                      </p:cBhvr>
                                    </p:animEffect>
                                  </p:childTnLst>
                                </p:cTn>
                              </p:par>
                              <p:par>
                                <p:cTn id="31" presetID="10" presetClass="entr" presetSubtype="0" fill="hold" grpId="0" nodeType="withEffect">
                                  <p:stCondLst>
                                    <p:cond delay="97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700"/>
                                        <p:tgtEl>
                                          <p:spTgt spid="15"/>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700"/>
                                        <p:tgtEl>
                                          <p:spTgt spid="16"/>
                                        </p:tgtEl>
                                      </p:cBhvr>
                                    </p:animEffect>
                                  </p:childTnLst>
                                </p:cTn>
                              </p:par>
                              <p:par>
                                <p:cTn id="40" presetID="10" presetClass="entr" presetSubtype="0" fill="hold" grpId="0" nodeType="withEffect">
                                  <p:stCondLst>
                                    <p:cond delay="124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700"/>
                                        <p:tgtEl>
                                          <p:spTgt spid="17"/>
                                        </p:tgtEl>
                                      </p:cBhvr>
                                    </p:animEffect>
                                  </p:childTnLst>
                                </p:cTn>
                              </p:par>
                              <p:par>
                                <p:cTn id="43" presetID="10" presetClass="entr" presetSubtype="0" fill="hold" grpId="0" nodeType="withEffect">
                                  <p:stCondLst>
                                    <p:cond delay="133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700"/>
                                        <p:tgtEl>
                                          <p:spTgt spid="18"/>
                                        </p:tgtEl>
                                      </p:cBhvr>
                                    </p:animEffect>
                                  </p:childTnLst>
                                </p:cTn>
                              </p:par>
                              <p:par>
                                <p:cTn id="46" presetID="10" presetClass="entr" presetSubtype="0" fill="hold" grpId="0" nodeType="withEffect">
                                  <p:stCondLst>
                                    <p:cond delay="142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700"/>
                                        <p:tgtEl>
                                          <p:spTgt spid="19"/>
                                        </p:tgtEl>
                                      </p:cBhvr>
                                    </p:animEffect>
                                  </p:childTnLst>
                                </p:cTn>
                              </p:par>
                              <p:par>
                                <p:cTn id="49" presetID="10" presetClass="entr" presetSubtype="0" fill="hold" grpId="0" nodeType="withEffect">
                                  <p:stCondLst>
                                    <p:cond delay="151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700"/>
                                        <p:tgtEl>
                                          <p:spTgt spid="20"/>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par>
                                <p:cTn id="55" presetID="10" presetClass="entr" presetSubtype="0" fill="hold" grpId="0" nodeType="withEffect">
                                  <p:stCondLst>
                                    <p:cond delay="169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7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2.jpg"/>
          <p:cNvPicPr>
            <a:picLocks noChangeAspect="1"/>
          </p:cNvPicPr>
          <p:nvPr/>
        </p:nvPicPr>
        <p:blipFill>
          <a:blip r:embed="rId2"/>
          <a:stretch>
            <a:fillRect/>
          </a:stretch>
        </p:blipFill>
        <p:spPr>
          <a:xfrm>
            <a:off x="0" y="0"/>
            <a:ext cx="12191695" cy="6858000"/>
          </a:xfrm>
          <a:prstGeom prst="rect">
            <a:avLst/>
          </a:prstGeom>
        </p:spPr>
      </p:pic>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8A90AA"/>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8A90AA"/>
                </a:solidFill>
                <a:latin typeface="Inter"/>
                <a:ea typeface="Inter"/>
                <a:cs typeface="Inter"/>
              </a:rPr>
              <a:t>15</a:t>
            </a:r>
          </a:p>
        </p:txBody>
      </p:sp>
      <p:sp>
        <p:nvSpPr>
          <p:cNvPr id="6" name="TextBox 5"/>
          <p:cNvSpPr txBox="1"/>
          <p:nvPr/>
        </p:nvSpPr>
        <p:spPr>
          <a:xfrm>
            <a:off x="685800" y="10058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HOW IT STARTS</a:t>
            </a:r>
          </a:p>
        </p:txBody>
      </p:sp>
      <p:sp>
        <p:nvSpPr>
          <p:cNvPr id="7" name="TextBox 6"/>
          <p:cNvSpPr txBox="1"/>
          <p:nvPr/>
        </p:nvSpPr>
        <p:spPr>
          <a:xfrm>
            <a:off x="685800" y="1325880"/>
            <a:ext cx="10058400" cy="822960"/>
          </a:xfrm>
          <a:prstGeom prst="rect">
            <a:avLst/>
          </a:prstGeom>
          <a:noFill/>
        </p:spPr>
        <p:txBody>
          <a:bodyPr wrap="square" lIns="0" rIns="0" tIns="0" bIns="0">
            <a:spAutoFit/>
          </a:bodyPr>
          <a:lstStyle/>
          <a:p>
            <a:pPr algn="l">
              <a:lnSpc>
                <a:spcPct val="95000"/>
              </a:lnSpc>
            </a:pPr>
            <a:r>
              <a:rPr sz="4000" b="1" i="0" spc="-100">
                <a:solidFill>
                  <a:srgbClr val="FFFFFF"/>
                </a:solidFill>
                <a:latin typeface="Bricolage Grotesque"/>
                <a:ea typeface="Inter"/>
                <a:cs typeface="Inter"/>
              </a:rPr>
              <a:t>From first call to live in about five weeks.</a:t>
            </a:r>
          </a:p>
        </p:txBody>
      </p:sp>
      <p:sp>
        <p:nvSpPr>
          <p:cNvPr id="8" name="Rounded Rectangle 7"/>
          <p:cNvSpPr/>
          <p:nvPr/>
        </p:nvSpPr>
        <p:spPr>
          <a:xfrm>
            <a:off x="685800" y="2514600"/>
            <a:ext cx="2533573" cy="265176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9" name="Rounded Rectangle 8"/>
          <p:cNvSpPr/>
          <p:nvPr/>
        </p:nvSpPr>
        <p:spPr>
          <a:xfrm>
            <a:off x="960120" y="2788920"/>
            <a:ext cx="1234440" cy="292608"/>
          </a:xfrm>
          <a:prstGeom prst="roundRect">
            <a:avLst>
              <a:gd name="adj" fmla="val 50000"/>
            </a:avLst>
          </a:prstGeom>
          <a:solidFill>
            <a:srgbClr val="FFFFFF"/>
          </a:solidFill>
          <a:ln>
            <a:noFill/>
          </a:ln>
        </p:spPr>
        <p:txBody>
          <a:bodyPr rtlCol="0" anchor="ctr"/>
          <a:lstStyle/>
          <a:p>
            <a:pPr algn="ctr"/>
          </a:p>
        </p:txBody>
      </p:sp>
      <p:sp>
        <p:nvSpPr>
          <p:cNvPr id="10" name="TextBox 9"/>
          <p:cNvSpPr txBox="1"/>
          <p:nvPr/>
        </p:nvSpPr>
        <p:spPr>
          <a:xfrm>
            <a:off x="960120" y="2859817"/>
            <a:ext cx="1234440" cy="292608"/>
          </a:xfrm>
          <a:prstGeom prst="rect">
            <a:avLst/>
          </a:prstGeom>
          <a:noFill/>
        </p:spPr>
        <p:txBody>
          <a:bodyPr wrap="square" lIns="0" rIns="0" tIns="0" bIns="0">
            <a:spAutoFit/>
          </a:bodyPr>
          <a:lstStyle/>
          <a:p>
            <a:pPr algn="ctr"/>
            <a:r>
              <a:rPr sz="950" b="1" i="0">
                <a:solidFill>
                  <a:srgbClr val="0B1020"/>
                </a:solidFill>
                <a:latin typeface="Inter"/>
                <a:ea typeface="Inter"/>
                <a:cs typeface="Inter"/>
              </a:rPr>
              <a:t>Week 1</a:t>
            </a:r>
          </a:p>
        </p:txBody>
      </p:sp>
      <p:sp>
        <p:nvSpPr>
          <p:cNvPr id="11" name="TextBox 10"/>
          <p:cNvSpPr txBox="1"/>
          <p:nvPr/>
        </p:nvSpPr>
        <p:spPr>
          <a:xfrm>
            <a:off x="960120" y="3337560"/>
            <a:ext cx="1984933" cy="1645920"/>
          </a:xfrm>
          <a:prstGeom prst="rect">
            <a:avLst/>
          </a:prstGeom>
          <a:noFill/>
        </p:spPr>
        <p:txBody>
          <a:bodyPr wrap="square" lIns="0" rIns="0" tIns="0" bIns="0">
            <a:spAutoFit/>
          </a:bodyPr>
          <a:lstStyle/>
          <a:p>
            <a:pPr algn="l">
              <a:lnSpc>
                <a:spcPct val="145000"/>
              </a:lnSpc>
            </a:pPr>
            <a:r>
              <a:rPr sz="1250" b="0" i="0">
                <a:solidFill>
                  <a:srgbClr val="C5C9DA"/>
                </a:solidFill>
                <a:latin typeface="Inter"/>
                <a:ea typeface="Inter"/>
                <a:cs typeface="Inter"/>
              </a:rPr>
              <a:t>Free assessment. We check real demand in your market and agree your floor rate.</a:t>
            </a:r>
          </a:p>
        </p:txBody>
      </p:sp>
      <p:sp>
        <p:nvSpPr>
          <p:cNvPr id="12" name="Rounded Rectangle 11"/>
          <p:cNvSpPr/>
          <p:nvPr/>
        </p:nvSpPr>
        <p:spPr>
          <a:xfrm>
            <a:off x="3447973" y="2514600"/>
            <a:ext cx="2533573" cy="265176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13" name="Rounded Rectangle 12"/>
          <p:cNvSpPr/>
          <p:nvPr/>
        </p:nvSpPr>
        <p:spPr>
          <a:xfrm>
            <a:off x="3722293" y="2788920"/>
            <a:ext cx="1234440" cy="292608"/>
          </a:xfrm>
          <a:prstGeom prst="roundRect">
            <a:avLst>
              <a:gd name="adj" fmla="val 50000"/>
            </a:avLst>
          </a:prstGeom>
          <a:solidFill>
            <a:srgbClr val="FFFFFF"/>
          </a:solidFill>
          <a:ln>
            <a:noFill/>
          </a:ln>
        </p:spPr>
        <p:txBody>
          <a:bodyPr rtlCol="0" anchor="ctr"/>
          <a:lstStyle/>
          <a:p>
            <a:pPr algn="ctr"/>
          </a:p>
        </p:txBody>
      </p:sp>
      <p:sp>
        <p:nvSpPr>
          <p:cNvPr id="14" name="TextBox 13"/>
          <p:cNvSpPr txBox="1"/>
          <p:nvPr/>
        </p:nvSpPr>
        <p:spPr>
          <a:xfrm>
            <a:off x="3722293" y="2859817"/>
            <a:ext cx="1234440" cy="292608"/>
          </a:xfrm>
          <a:prstGeom prst="rect">
            <a:avLst/>
          </a:prstGeom>
          <a:noFill/>
        </p:spPr>
        <p:txBody>
          <a:bodyPr wrap="square" lIns="0" rIns="0" tIns="0" bIns="0">
            <a:spAutoFit/>
          </a:bodyPr>
          <a:lstStyle/>
          <a:p>
            <a:pPr algn="ctr"/>
            <a:r>
              <a:rPr sz="950" b="1" i="0">
                <a:solidFill>
                  <a:srgbClr val="0B1020"/>
                </a:solidFill>
                <a:latin typeface="Inter"/>
                <a:ea typeface="Inter"/>
                <a:cs typeface="Inter"/>
              </a:rPr>
              <a:t>Week 1</a:t>
            </a:r>
          </a:p>
        </p:txBody>
      </p:sp>
      <p:sp>
        <p:nvSpPr>
          <p:cNvPr id="15" name="TextBox 14"/>
          <p:cNvSpPr txBox="1"/>
          <p:nvPr/>
        </p:nvSpPr>
        <p:spPr>
          <a:xfrm>
            <a:off x="3722293" y="3337560"/>
            <a:ext cx="1984933" cy="1645920"/>
          </a:xfrm>
          <a:prstGeom prst="rect">
            <a:avLst/>
          </a:prstGeom>
          <a:noFill/>
        </p:spPr>
        <p:txBody>
          <a:bodyPr wrap="square" lIns="0" rIns="0" tIns="0" bIns="0">
            <a:spAutoFit/>
          </a:bodyPr>
          <a:lstStyle/>
          <a:p>
            <a:pPr algn="l">
              <a:lnSpc>
                <a:spcPct val="145000"/>
              </a:lnSpc>
            </a:pPr>
            <a:r>
              <a:rPr sz="1250" b="0" i="0">
                <a:solidFill>
                  <a:srgbClr val="C5C9DA"/>
                </a:solidFill>
                <a:latin typeface="Inter"/>
                <a:ea typeface="Inter"/>
                <a:cs typeface="Inter"/>
              </a:rPr>
              <a:t>You enroll. Setup spec issued. W-9 and insurance confirmed.</a:t>
            </a:r>
          </a:p>
        </p:txBody>
      </p:sp>
      <p:sp>
        <p:nvSpPr>
          <p:cNvPr id="16" name="Rounded Rectangle 15"/>
          <p:cNvSpPr/>
          <p:nvPr/>
        </p:nvSpPr>
        <p:spPr>
          <a:xfrm>
            <a:off x="6210147" y="2514600"/>
            <a:ext cx="2533573" cy="2651760"/>
          </a:xfrm>
          <a:prstGeom prst="roundRect">
            <a:avLst>
              <a:gd name="adj" fmla="val 8000"/>
            </a:avLst>
          </a:prstGeom>
          <a:solidFill>
            <a:srgbClr val="151A33">
              <a:alpha val="10000"/>
            </a:srgbClr>
          </a:solidFill>
          <a:ln w="9525">
            <a:solidFill>
              <a:srgbClr val="FFFFFF">
                <a:alpha val="25000"/>
              </a:srgbClr>
            </a:solidFill>
          </a:ln>
        </p:spPr>
        <p:txBody>
          <a:bodyPr rtlCol="0" anchor="ctr"/>
          <a:lstStyle/>
          <a:p>
            <a:pPr algn="ctr"/>
          </a:p>
        </p:txBody>
      </p:sp>
      <p:sp>
        <p:nvSpPr>
          <p:cNvPr id="17" name="Rounded Rectangle 16"/>
          <p:cNvSpPr/>
          <p:nvPr/>
        </p:nvSpPr>
        <p:spPr>
          <a:xfrm>
            <a:off x="6484467" y="2788920"/>
            <a:ext cx="1234440" cy="292608"/>
          </a:xfrm>
          <a:prstGeom prst="roundRect">
            <a:avLst>
              <a:gd name="adj" fmla="val 50000"/>
            </a:avLst>
          </a:prstGeom>
          <a:solidFill>
            <a:srgbClr val="FFFFFF"/>
          </a:solidFill>
          <a:ln>
            <a:noFill/>
          </a:ln>
        </p:spPr>
        <p:txBody>
          <a:bodyPr rtlCol="0" anchor="ctr"/>
          <a:lstStyle/>
          <a:p>
            <a:pPr algn="ctr"/>
          </a:p>
        </p:txBody>
      </p:sp>
      <p:sp>
        <p:nvSpPr>
          <p:cNvPr id="18" name="TextBox 17"/>
          <p:cNvSpPr txBox="1"/>
          <p:nvPr/>
        </p:nvSpPr>
        <p:spPr>
          <a:xfrm>
            <a:off x="6484467" y="2859817"/>
            <a:ext cx="1234440" cy="292608"/>
          </a:xfrm>
          <a:prstGeom prst="rect">
            <a:avLst/>
          </a:prstGeom>
          <a:noFill/>
        </p:spPr>
        <p:txBody>
          <a:bodyPr wrap="square" lIns="0" rIns="0" tIns="0" bIns="0">
            <a:spAutoFit/>
          </a:bodyPr>
          <a:lstStyle/>
          <a:p>
            <a:pPr algn="ctr"/>
            <a:r>
              <a:rPr sz="950" b="1" i="0">
                <a:solidFill>
                  <a:srgbClr val="0B1020"/>
                </a:solidFill>
                <a:latin typeface="Inter"/>
                <a:ea typeface="Inter"/>
                <a:cs typeface="Inter"/>
              </a:rPr>
              <a:t>Weeks 2–5</a:t>
            </a:r>
          </a:p>
        </p:txBody>
      </p:sp>
      <p:sp>
        <p:nvSpPr>
          <p:cNvPr id="19" name="TextBox 18"/>
          <p:cNvSpPr txBox="1"/>
          <p:nvPr/>
        </p:nvSpPr>
        <p:spPr>
          <a:xfrm>
            <a:off x="6484467" y="3337560"/>
            <a:ext cx="1984933" cy="1645920"/>
          </a:xfrm>
          <a:prstGeom prst="rect">
            <a:avLst/>
          </a:prstGeom>
          <a:noFill/>
        </p:spPr>
        <p:txBody>
          <a:bodyPr wrap="square" lIns="0" rIns="0" tIns="0" bIns="0">
            <a:spAutoFit/>
          </a:bodyPr>
          <a:lstStyle/>
          <a:p>
            <a:pPr algn="l">
              <a:lnSpc>
                <a:spcPct val="145000"/>
              </a:lnSpc>
            </a:pPr>
            <a:r>
              <a:rPr sz="1250" b="0" i="0">
                <a:solidFill>
                  <a:srgbClr val="C5C9DA"/>
                </a:solidFill>
                <a:latin typeface="Inter"/>
                <a:ea typeface="Inter"/>
                <a:cs typeface="Inter"/>
              </a:rPr>
              <a:t>You complete the spec. We inspect and sign off.</a:t>
            </a:r>
          </a:p>
        </p:txBody>
      </p:sp>
      <p:sp>
        <p:nvSpPr>
          <p:cNvPr id="20" name="Rounded Rectangle 19"/>
          <p:cNvSpPr/>
          <p:nvPr/>
        </p:nvSpPr>
        <p:spPr>
          <a:xfrm>
            <a:off x="8972321" y="2514600"/>
            <a:ext cx="2533573" cy="2651760"/>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1" name="Rounded Rectangle 20"/>
          <p:cNvSpPr/>
          <p:nvPr/>
        </p:nvSpPr>
        <p:spPr>
          <a:xfrm>
            <a:off x="9246641" y="2788920"/>
            <a:ext cx="1234440" cy="292608"/>
          </a:xfrm>
          <a:prstGeom prst="roundRect">
            <a:avLst>
              <a:gd name="adj" fmla="val 50000"/>
            </a:avLst>
          </a:prstGeom>
          <a:solidFill>
            <a:srgbClr val="FF5C4D"/>
          </a:solidFill>
          <a:ln>
            <a:noFill/>
          </a:ln>
        </p:spPr>
        <p:txBody>
          <a:bodyPr rtlCol="0" anchor="ctr"/>
          <a:lstStyle/>
          <a:p>
            <a:pPr algn="ctr"/>
          </a:p>
        </p:txBody>
      </p:sp>
      <p:sp>
        <p:nvSpPr>
          <p:cNvPr id="22" name="TextBox 21"/>
          <p:cNvSpPr txBox="1"/>
          <p:nvPr/>
        </p:nvSpPr>
        <p:spPr>
          <a:xfrm>
            <a:off x="9246641" y="2859817"/>
            <a:ext cx="1234440" cy="292608"/>
          </a:xfrm>
          <a:prstGeom prst="rect">
            <a:avLst/>
          </a:prstGeom>
          <a:noFill/>
        </p:spPr>
        <p:txBody>
          <a:bodyPr wrap="square" lIns="0" rIns="0" tIns="0" bIns="0">
            <a:spAutoFit/>
          </a:bodyPr>
          <a:lstStyle/>
          <a:p>
            <a:pPr algn="ctr"/>
            <a:r>
              <a:rPr sz="950" b="1" i="0">
                <a:solidFill>
                  <a:srgbClr val="FFFFFF"/>
                </a:solidFill>
                <a:latin typeface="Inter"/>
                <a:ea typeface="Inter"/>
                <a:cs typeface="Inter"/>
              </a:rPr>
              <a:t>Go-live</a:t>
            </a:r>
          </a:p>
        </p:txBody>
      </p:sp>
      <p:sp>
        <p:nvSpPr>
          <p:cNvPr id="23" name="TextBox 22"/>
          <p:cNvSpPr txBox="1"/>
          <p:nvPr/>
        </p:nvSpPr>
        <p:spPr>
          <a:xfrm>
            <a:off x="9246641" y="3337560"/>
            <a:ext cx="1984933" cy="1645920"/>
          </a:xfrm>
          <a:prstGeom prst="rect">
            <a:avLst/>
          </a:prstGeom>
          <a:noFill/>
        </p:spPr>
        <p:txBody>
          <a:bodyPr wrap="square" lIns="0" rIns="0" tIns="0" bIns="0">
            <a:spAutoFit/>
          </a:bodyPr>
          <a:lstStyle/>
          <a:p>
            <a:pPr algn="l">
              <a:lnSpc>
                <a:spcPct val="145000"/>
              </a:lnSpc>
            </a:pPr>
            <a:r>
              <a:rPr sz="1250" b="0" i="0">
                <a:solidFill>
                  <a:srgbClr val="0B1020"/>
                </a:solidFill>
                <a:latin typeface="Inter"/>
                <a:ea typeface="Inter"/>
                <a:cs typeface="Inter"/>
              </a:rPr>
              <a:t>Relisted, repriced, live. The six months begin.</a:t>
            </a:r>
          </a:p>
        </p:txBody>
      </p:sp>
      <p:pic>
        <p:nvPicPr>
          <p:cNvPr id="3" name="!!logo" descr="logobg.png"/>
          <p:cNvPicPr>
            <a:picLocks noChangeAspect="1"/>
          </p:cNvPicPr>
          <p:nvPr/>
        </p:nvPicPr>
        <p:blipFill>
          <a:blip r:embed="rId3"/>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700"/>
                                        <p:tgtEl>
                                          <p:spTgt spid="12"/>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700"/>
                                        <p:tgtEl>
                                          <p:spTgt spid="16"/>
                                        </p:tgtEl>
                                      </p:cBhvr>
                                    </p:animEffect>
                                  </p:childTnLst>
                                </p:cTn>
                              </p:par>
                              <p:par>
                                <p:cTn id="22" presetID="10" presetClass="entr" presetSubtype="0" fill="hold" grpId="0" nodeType="withEffect">
                                  <p:stCondLst>
                                    <p:cond delay="70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700"/>
                                        <p:tgtEl>
                                          <p:spTgt spid="20"/>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700"/>
                                        <p:tgtEl>
                                          <p:spTgt spid="9"/>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700"/>
                                        <p:tgtEl>
                                          <p:spTgt spid="10"/>
                                        </p:tgtEl>
                                      </p:cBhvr>
                                    </p:animEffect>
                                  </p:childTnLst>
                                </p:cTn>
                              </p:par>
                              <p:par>
                                <p:cTn id="31" presetID="10" presetClass="entr" presetSubtype="0" fill="hold" grpId="0" nodeType="withEffect">
                                  <p:stCondLst>
                                    <p:cond delay="97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700"/>
                                        <p:tgtEl>
                                          <p:spTgt spid="13"/>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700"/>
                                        <p:tgtEl>
                                          <p:spTgt spid="14"/>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700"/>
                                        <p:tgtEl>
                                          <p:spTgt spid="17"/>
                                        </p:tgtEl>
                                      </p:cBhvr>
                                    </p:animEffect>
                                  </p:childTnLst>
                                </p:cTn>
                              </p:par>
                              <p:par>
                                <p:cTn id="40" presetID="10" presetClass="entr" presetSubtype="0" fill="hold" grpId="0" nodeType="withEffect">
                                  <p:stCondLst>
                                    <p:cond delay="124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700"/>
                                        <p:tgtEl>
                                          <p:spTgt spid="18"/>
                                        </p:tgtEl>
                                      </p:cBhvr>
                                    </p:animEffect>
                                  </p:childTnLst>
                                </p:cTn>
                              </p:par>
                              <p:par>
                                <p:cTn id="43" presetID="10" presetClass="entr" presetSubtype="0" fill="hold" grpId="0" nodeType="withEffect">
                                  <p:stCondLst>
                                    <p:cond delay="133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700"/>
                                        <p:tgtEl>
                                          <p:spTgt spid="21"/>
                                        </p:tgtEl>
                                      </p:cBhvr>
                                    </p:animEffect>
                                  </p:childTnLst>
                                </p:cTn>
                              </p:par>
                              <p:par>
                                <p:cTn id="46" presetID="10" presetClass="entr" presetSubtype="0" fill="hold" grpId="0" nodeType="withEffect">
                                  <p:stCondLst>
                                    <p:cond delay="142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700"/>
                                        <p:tgtEl>
                                          <p:spTgt spid="22"/>
                                        </p:tgtEl>
                                      </p:cBhvr>
                                    </p:animEffect>
                                  </p:childTnLst>
                                </p:cTn>
                              </p:par>
                              <p:par>
                                <p:cTn id="49" presetID="10" presetClass="entr" presetSubtype="0" fill="hold" grpId="0" nodeType="withEffect">
                                  <p:stCondLst>
                                    <p:cond delay="151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700"/>
                                        <p:tgtEl>
                                          <p:spTgt spid="11"/>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700"/>
                                        <p:tgtEl>
                                          <p:spTgt spid="15"/>
                                        </p:tgtEl>
                                      </p:cBhvr>
                                    </p:animEffect>
                                  </p:childTnLst>
                                </p:cTn>
                              </p:par>
                              <p:par>
                                <p:cTn id="55" presetID="10" presetClass="entr" presetSubtype="0" fill="hold" grpId="0" nodeType="withEffect">
                                  <p:stCondLst>
                                    <p:cond delay="169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childTnLst>
                                </p:cTn>
                              </p:par>
                              <p:par>
                                <p:cTn id="58" presetID="10" presetClass="entr" presetSubtype="0" fill="hold" grpId="0" nodeType="withEffect">
                                  <p:stCondLst>
                                    <p:cond delay="178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6" grpId="0" animBg="1"/>
      <p:bldP spid="20" grpId="0" animBg="1"/>
      <p:bldP spid="9" grpId="0" animBg="1"/>
      <p:bldP spid="10" grpId="0" animBg="1"/>
      <p:bldP spid="13" grpId="0" animBg="1"/>
      <p:bldP spid="14" grpId="0" animBg="1"/>
      <p:bldP spid="17" grpId="0" animBg="1"/>
      <p:bldP spid="18" grpId="0" animBg="1"/>
      <p:bldP spid="21" grpId="0" animBg="1"/>
      <p:bldP spid="22" grpId="0" animBg="1"/>
      <p:bldP spid="11" grpId="0" animBg="1"/>
      <p:bldP spid="15" grpId="0" animBg="1"/>
      <p:bldP spid="19" grpId="0" animBg="1"/>
      <p:bldP spid="2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tatic-bg" descr="aurora.jpg"/>
          <p:cNvPicPr>
            <a:picLocks noChangeAspect="1"/>
          </p:cNvPicPr>
          <p:nvPr/>
        </p:nvPicPr>
        <p:blipFill>
          <a:blip r:embed="rId2"/>
          <a:stretch>
            <a:fillRect/>
          </a:stretch>
        </p:blipFill>
        <p:spPr>
          <a:xfrm>
            <a:off x="0" y="0"/>
            <a:ext cx="12191695" cy="6858000"/>
          </a:xfrm>
          <a:prstGeom prst="rect">
            <a:avLst/>
          </a:prstGeom>
        </p:spPr>
      </p:pic>
      <p:sp>
        <p:nvSpPr>
          <p:cNvPr id="3" name="static-mask"/>
          <p:cNvSpPr/>
          <p:nvPr/>
        </p:nvSpPr>
        <p:spPr>
          <a:xfrm>
            <a:off x="0" y="0"/>
            <a:ext cx="12191695" cy="6858000"/>
          </a:xfrm>
          <a:prstGeom prst="rect">
            <a:avLst/>
          </a:prstGeom>
          <a:gradFill rotWithShape="1" flip="none">
            <a:gsLst>
              <a:gs pos="0">
                <a:srgbClr val="090C1C">
                  <a:alpha val="75000"/>
                </a:srgbClr>
              </a:gs>
              <a:gs pos="100000">
                <a:srgbClr val="090C1C">
                  <a:alpha val="10000"/>
                </a:srgbClr>
              </a:gs>
            </a:gsLst>
            <a:lin ang="0" scaled="1"/>
          </a:gradFill>
          <a:ln>
            <a:noFill/>
          </a:ln>
        </p:spPr>
        <p:txBody>
          <a:bodyPr rtlCol="0" anchor="ctr"/>
          <a:lstStyle/>
          <a:p>
            <a:pPr algn="ctr"/>
          </a:p>
        </p:txBody>
      </p:sp>
      <p:sp>
        <p:nvSpPr>
          <p:cNvPr id="5" name="TextBox 4"/>
          <p:cNvSpPr txBox="1"/>
          <p:nvPr/>
        </p:nvSpPr>
        <p:spPr>
          <a:xfrm>
            <a:off x="685800" y="1691640"/>
            <a:ext cx="7315200" cy="228600"/>
          </a:xfrm>
          <a:prstGeom prst="rect">
            <a:avLst/>
          </a:prstGeom>
          <a:noFill/>
        </p:spPr>
        <p:txBody>
          <a:bodyPr wrap="square" lIns="0" rIns="0" tIns="0" bIns="0">
            <a:spAutoFit/>
          </a:bodyPr>
          <a:lstStyle/>
          <a:p>
            <a:pPr algn="l"/>
            <a:r>
              <a:rPr sz="900" b="1" i="0" spc="200">
                <a:solidFill>
                  <a:srgbClr val="FFB547"/>
                </a:solidFill>
                <a:latin typeface="Inter"/>
                <a:ea typeface="Inter"/>
                <a:cs typeface="Inter"/>
              </a:rPr>
              <a:t>RED FLAG MANAGED</a:t>
            </a:r>
          </a:p>
        </p:txBody>
      </p:sp>
      <p:sp>
        <p:nvSpPr>
          <p:cNvPr id="6" name="TextBox 5"/>
          <p:cNvSpPr txBox="1"/>
          <p:nvPr/>
        </p:nvSpPr>
        <p:spPr>
          <a:xfrm>
            <a:off x="685800" y="2011680"/>
            <a:ext cx="7772400" cy="1463040"/>
          </a:xfrm>
          <a:prstGeom prst="rect">
            <a:avLst/>
          </a:prstGeom>
          <a:noFill/>
        </p:spPr>
        <p:txBody>
          <a:bodyPr wrap="square" lIns="0" rIns="0" tIns="0" bIns="0">
            <a:spAutoFit/>
          </a:bodyPr>
          <a:lstStyle/>
          <a:p>
            <a:pPr algn="l">
              <a:lnSpc>
                <a:spcPct val="95000"/>
              </a:lnSpc>
            </a:pPr>
            <a:r>
              <a:rPr sz="5200" b="1" i="0" spc="-100">
                <a:solidFill>
                  <a:srgbClr val="FFFFFF"/>
                </a:solidFill>
                <a:latin typeface="Bricolage Grotesque"/>
                <a:ea typeface="Inter"/>
                <a:cs typeface="Inter"/>
              </a:rPr>
              <a:t>From $2.16 a night,
with three properties.</a:t>
            </a:r>
          </a:p>
        </p:txBody>
      </p:sp>
      <p:sp>
        <p:nvSpPr>
          <p:cNvPr id="7" name="TextBox 6"/>
          <p:cNvSpPr txBox="1"/>
          <p:nvPr/>
        </p:nvSpPr>
        <p:spPr>
          <a:xfrm>
            <a:off x="685800" y="3611880"/>
            <a:ext cx="7315200" cy="365760"/>
          </a:xfrm>
          <a:prstGeom prst="rect">
            <a:avLst/>
          </a:prstGeom>
          <a:noFill/>
        </p:spPr>
        <p:txBody>
          <a:bodyPr wrap="square" lIns="0" rIns="0" tIns="0" bIns="0">
            <a:spAutoFit/>
          </a:bodyPr>
          <a:lstStyle/>
          <a:p>
            <a:pPr algn="l"/>
            <a:r>
              <a:rPr sz="2000" b="1" i="0">
                <a:solidFill>
                  <a:srgbClr val="FFB547"/>
                </a:solidFill>
                <a:latin typeface="Inter"/>
                <a:ea typeface="Inter"/>
                <a:cs typeface="Inter"/>
              </a:rPr>
              <a:t>8% for life.  Nights in writing.</a:t>
            </a:r>
          </a:p>
        </p:txBody>
      </p:sp>
      <p:sp>
        <p:nvSpPr>
          <p:cNvPr id="8" name="TextBox 7"/>
          <p:cNvSpPr txBox="1"/>
          <p:nvPr/>
        </p:nvSpPr>
        <p:spPr>
          <a:xfrm>
            <a:off x="685800" y="4251960"/>
            <a:ext cx="6583680" cy="914400"/>
          </a:xfrm>
          <a:prstGeom prst="rect">
            <a:avLst/>
          </a:prstGeom>
          <a:noFill/>
        </p:spPr>
        <p:txBody>
          <a:bodyPr wrap="square" lIns="0" rIns="0" tIns="0" bIns="0">
            <a:spAutoFit/>
          </a:bodyPr>
          <a:lstStyle/>
          <a:p>
            <a:pPr algn="l">
              <a:lnSpc>
                <a:spcPct val="145000"/>
              </a:lnSpc>
            </a:pPr>
            <a:r>
              <a:rPr sz="1400" b="0" i="0">
                <a:solidFill>
                  <a:srgbClr val="FFFFFF"/>
                </a:solidFill>
                <a:latin typeface="Inter"/>
                <a:ea typeface="Inter"/>
                <a:cs typeface="Inter"/>
              </a:rPr>
              <a:t>Send us your listing links. We’ll assess them free and tell you whether they can hit the number — before you pay anything. If they can’t, we’ll say so.</a:t>
            </a:r>
          </a:p>
        </p:txBody>
      </p:sp>
      <p:sp>
        <p:nvSpPr>
          <p:cNvPr id="9" name="Rounded Rectangle 8"/>
          <p:cNvSpPr/>
          <p:nvPr/>
        </p:nvSpPr>
        <p:spPr>
          <a:xfrm>
            <a:off x="685800" y="5349240"/>
            <a:ext cx="4206240" cy="457200"/>
          </a:xfrm>
          <a:prstGeom prst="roundRect">
            <a:avLst>
              <a:gd name="adj" fmla="val 50000"/>
            </a:avLst>
          </a:prstGeom>
          <a:solidFill>
            <a:srgbClr val="FFFFFF"/>
          </a:solidFill>
          <a:ln>
            <a:noFill/>
          </a:ln>
        </p:spPr>
        <p:txBody>
          <a:bodyPr rtlCol="0" anchor="ctr"/>
          <a:lstStyle/>
          <a:p>
            <a:pPr algn="ctr"/>
          </a:p>
        </p:txBody>
      </p:sp>
      <p:sp>
        <p:nvSpPr>
          <p:cNvPr id="10" name="TextBox 9"/>
          <p:cNvSpPr txBox="1"/>
          <p:nvPr/>
        </p:nvSpPr>
        <p:spPr>
          <a:xfrm>
            <a:off x="685800" y="5490527"/>
            <a:ext cx="4206240" cy="457200"/>
          </a:xfrm>
          <a:prstGeom prst="rect">
            <a:avLst/>
          </a:prstGeom>
          <a:noFill/>
        </p:spPr>
        <p:txBody>
          <a:bodyPr wrap="square" lIns="0" rIns="0" tIns="0" bIns="0">
            <a:spAutoFit/>
          </a:bodyPr>
          <a:lstStyle/>
          <a:p>
            <a:pPr algn="ctr"/>
            <a:r>
              <a:rPr sz="1100" b="1" i="0">
                <a:solidFill>
                  <a:srgbClr val="0B1020"/>
                </a:solidFill>
                <a:latin typeface="Inter"/>
                <a:ea typeface="Inter"/>
                <a:cs typeface="Inter"/>
              </a:rPr>
              <a:t>redflaghomes.in  ·  hello@redflaghomes.in</a:t>
            </a:r>
          </a:p>
        </p:txBody>
      </p:sp>
      <p:sp>
        <p:nvSpPr>
          <p:cNvPr id="11" name="TextBox 10"/>
          <p:cNvSpPr txBox="1"/>
          <p:nvPr/>
        </p:nvSpPr>
        <p:spPr>
          <a:xfrm>
            <a:off x="685800" y="6080760"/>
            <a:ext cx="10789920" cy="457200"/>
          </a:xfrm>
          <a:prstGeom prst="rect">
            <a:avLst/>
          </a:prstGeom>
          <a:noFill/>
        </p:spPr>
        <p:txBody>
          <a:bodyPr wrap="square" lIns="0" rIns="0" tIns="0" bIns="0">
            <a:spAutoFit/>
          </a:bodyPr>
          <a:lstStyle/>
          <a:p>
            <a:pPr algn="l">
              <a:lnSpc>
                <a:spcPct val="130000"/>
              </a:lnSpc>
            </a:pPr>
            <a:r>
              <a:rPr sz="850" b="0" i="0">
                <a:solidFill>
                  <a:srgbClr val="C5C9DA"/>
                </a:solidFill>
                <a:latin typeface="Inter"/>
                <a:ea typeface="Inter"/>
                <a:cs typeface="Inter"/>
              </a:rPr>
              <a:t>Figures are illustrative and depend on rate, season, market and your own operating costs. We guarantee a number of nights, not income. The Nights Promise is subject to its terms. This is a property management agreement, not a franchise.</a:t>
            </a:r>
          </a:p>
        </p:txBody>
      </p:sp>
      <p:pic>
        <p:nvPicPr>
          <p:cNvPr id="4" name="!!logo" descr="logobg.png"/>
          <p:cNvPicPr>
            <a:picLocks noChangeAspect="1"/>
          </p:cNvPicPr>
          <p:nvPr/>
        </p:nvPicPr>
        <p:blipFill>
          <a:blip r:embed="rId3"/>
          <a:stretch>
            <a:fillRect/>
          </a:stretch>
        </p:blipFill>
        <p:spPr>
          <a:xfrm>
            <a:off x="640080" y="548640"/>
            <a:ext cx="868680" cy="86868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900"/>
                                        <p:tgtEl>
                                          <p:spTgt spid="6"/>
                                        </p:tgtEl>
                                      </p:cBhvr>
                                    </p:animEffect>
                                    <p:anim calcmode="lin" valueType="num">
                                      <p:cBhvr>
                                        <p:cTn id="11" dur="900" decel="100000"/>
                                        <p:tgtEl>
                                          <p:spTgt spid="6"/>
                                        </p:tgtEl>
                                        <p:attrNameLst>
                                          <p:attrName>ppt_x</p:attrName>
                                        </p:attrNameLst>
                                      </p:cBhvr>
                                      <p:tavLst>
                                        <p:tav tm="0">
                                          <p:val>
                                            <p:strVal val="#ppt_x"/>
                                          </p:val>
                                        </p:tav>
                                        <p:tav tm="100000">
                                          <p:val>
                                            <p:strVal val="#ppt_x"/>
                                          </p:val>
                                        </p:tav>
                                      </p:tavLst>
                                    </p:anim>
                                    <p:anim calcmode="lin" valueType="num">
                                      <p:cBhvr>
                                        <p:cTn id="12" dur="900" decel="100000"/>
                                        <p:tgtEl>
                                          <p:spTgt spid="6"/>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43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900"/>
                                        <p:tgtEl>
                                          <p:spTgt spid="7"/>
                                        </p:tgtEl>
                                      </p:cBhvr>
                                    </p:animEffect>
                                    <p:anim calcmode="lin" valueType="num">
                                      <p:cBhvr>
                                        <p:cTn id="16" dur="900" decel="100000"/>
                                        <p:tgtEl>
                                          <p:spTgt spid="7"/>
                                        </p:tgtEl>
                                        <p:attrNameLst>
                                          <p:attrName>ppt_x</p:attrName>
                                        </p:attrNameLst>
                                      </p:cBhvr>
                                      <p:tavLst>
                                        <p:tav tm="0">
                                          <p:val>
                                            <p:strVal val="#ppt_x"/>
                                          </p:val>
                                        </p:tav>
                                        <p:tav tm="100000">
                                          <p:val>
                                            <p:strVal val="#ppt_x"/>
                                          </p:val>
                                        </p:tav>
                                      </p:tavLst>
                                    </p:anim>
                                    <p:anim calcmode="lin" valueType="num">
                                      <p:cBhvr>
                                        <p:cTn id="17" dur="900" decel="100000"/>
                                        <p:tgtEl>
                                          <p:spTgt spid="7"/>
                                        </p:tgtEl>
                                        <p:attrNameLst>
                                          <p:attrName>ppt_y</p:attrName>
                                        </p:attrNameLst>
                                      </p:cBhvr>
                                      <p:tavLst>
                                        <p:tav tm="0">
                                          <p:val>
                                            <p:strVal val="#ppt_y+.035"/>
                                          </p:val>
                                        </p:tav>
                                        <p:tav tm="100000">
                                          <p:val>
                                            <p:strVal val="#ppt_y"/>
                                          </p:val>
                                        </p:tav>
                                      </p:tavLst>
                                    </p:anim>
                                  </p:childTnLst>
                                </p:cTn>
                              </p:par>
                              <p:par>
                                <p:cTn id="18" presetID="10" presetClass="entr" presetSubtype="0" fill="hold" grpId="0" nodeType="withEffect">
                                  <p:stCondLst>
                                    <p:cond delay="52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00"/>
                                        <p:tgtEl>
                                          <p:spTgt spid="8"/>
                                        </p:tgtEl>
                                      </p:cBhvr>
                                    </p:animEffect>
                                  </p:childTnLst>
                                </p:cTn>
                              </p:par>
                              <p:par>
                                <p:cTn id="21" presetID="10" presetClass="entr" presetSubtype="0" fill="hold" grpId="0" nodeType="withEffect">
                                  <p:stCondLst>
                                    <p:cond delay="61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childTnLst>
                                </p:cTn>
                              </p:par>
                              <p:par>
                                <p:cTn id="27" presetID="10" presetClass="entr" presetSubtype="0" fill="hold" grpId="0" nodeType="withEffect">
                                  <p:stCondLst>
                                    <p:cond delay="79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7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17</a:t>
            </a:r>
          </a:p>
        </p:txBody>
      </p:sp>
      <p:sp>
        <p:nvSpPr>
          <p:cNvPr id="6" name="TextBox 5"/>
          <p:cNvSpPr txBox="1"/>
          <p:nvPr/>
        </p:nvSpPr>
        <p:spPr>
          <a:xfrm>
            <a:off x="685800" y="91440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QUESTIONS OWNERS ASK  ·  1 OF 3</a:t>
            </a:r>
          </a:p>
        </p:txBody>
      </p:sp>
      <p:sp>
        <p:nvSpPr>
          <p:cNvPr id="7" name="TextBox 6"/>
          <p:cNvSpPr txBox="1"/>
          <p:nvPr/>
        </p:nvSpPr>
        <p:spPr>
          <a:xfrm>
            <a:off x="685800" y="1188720"/>
            <a:ext cx="9144000" cy="640080"/>
          </a:xfrm>
          <a:prstGeom prst="rect">
            <a:avLst/>
          </a:prstGeom>
          <a:noFill/>
        </p:spPr>
        <p:txBody>
          <a:bodyPr wrap="square" lIns="0" rIns="0" tIns="0" bIns="0">
            <a:spAutoFit/>
          </a:bodyPr>
          <a:lstStyle/>
          <a:p>
            <a:pPr algn="l">
              <a:lnSpc>
                <a:spcPct val="95000"/>
              </a:lnSpc>
            </a:pPr>
            <a:r>
              <a:rPr sz="3000" b="1" i="0" spc="-100">
                <a:solidFill>
                  <a:srgbClr val="0B1020"/>
                </a:solidFill>
                <a:latin typeface="Bricolage Grotesque"/>
                <a:ea typeface="Inter"/>
                <a:cs typeface="Inter"/>
              </a:rPr>
              <a:t>The guarantee.</a:t>
            </a:r>
          </a:p>
        </p:txBody>
      </p:sp>
      <p:sp>
        <p:nvSpPr>
          <p:cNvPr id="8" name="Rounded Rectangle 7"/>
          <p:cNvSpPr/>
          <p:nvPr/>
        </p:nvSpPr>
        <p:spPr>
          <a:xfrm>
            <a:off x="685800" y="1920240"/>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914400" y="2048256"/>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exactly are you guaranteeing?</a:t>
            </a:r>
          </a:p>
        </p:txBody>
      </p:sp>
      <p:sp>
        <p:nvSpPr>
          <p:cNvPr id="10" name="TextBox 9"/>
          <p:cNvSpPr txBox="1"/>
          <p:nvPr/>
        </p:nvSpPr>
        <p:spPr>
          <a:xfrm>
            <a:off x="914400" y="2322576"/>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A number of nights, not an amount of money. 108 qualifying nights per property over six months — an average of 18 a month. The number for your property is written into your agreement.</a:t>
            </a:r>
          </a:p>
        </p:txBody>
      </p:sp>
      <p:sp>
        <p:nvSpPr>
          <p:cNvPr id="11" name="Rounded Rectangle 10"/>
          <p:cNvSpPr/>
          <p:nvPr/>
        </p:nvSpPr>
        <p:spPr>
          <a:xfrm>
            <a:off x="6233007" y="1920240"/>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6461607" y="2048256"/>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if you miss it?</a:t>
            </a:r>
          </a:p>
        </p:txBody>
      </p:sp>
      <p:sp>
        <p:nvSpPr>
          <p:cNvPr id="13" name="TextBox 12"/>
          <p:cNvSpPr txBox="1"/>
          <p:nvPr/>
        </p:nvSpPr>
        <p:spPr>
          <a:xfrm>
            <a:off x="6461607" y="2322576"/>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We refund your onboarding fee, pro-rated across the properties that fell short. Three properties enrolled and one short means $233 back.</a:t>
            </a:r>
          </a:p>
        </p:txBody>
      </p:sp>
      <p:sp>
        <p:nvSpPr>
          <p:cNvPr id="14" name="Rounded Rectangle 13"/>
          <p:cNvSpPr/>
          <p:nvPr/>
        </p:nvSpPr>
        <p:spPr>
          <a:xfrm>
            <a:off x="685800" y="3035808"/>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5" name="TextBox 14"/>
          <p:cNvSpPr txBox="1"/>
          <p:nvPr/>
        </p:nvSpPr>
        <p:spPr>
          <a:xfrm>
            <a:off x="914400" y="3163824"/>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Do I have to file a claim?</a:t>
            </a:r>
          </a:p>
        </p:txBody>
      </p:sp>
      <p:sp>
        <p:nvSpPr>
          <p:cNvPr id="16" name="TextBox 15"/>
          <p:cNvSpPr txBox="1"/>
          <p:nvPr/>
        </p:nvSpPr>
        <p:spPr>
          <a:xfrm>
            <a:off x="914400" y="3438144"/>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No. We count the nights from our own booking records and check at month six whether you ask or not. If we’re short, the money goes back to your account within 30 days.</a:t>
            </a:r>
          </a:p>
        </p:txBody>
      </p:sp>
      <p:sp>
        <p:nvSpPr>
          <p:cNvPr id="17" name="Rounded Rectangle 16"/>
          <p:cNvSpPr/>
          <p:nvPr/>
        </p:nvSpPr>
        <p:spPr>
          <a:xfrm>
            <a:off x="6233007" y="3035808"/>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8" name="TextBox 17"/>
          <p:cNvSpPr txBox="1"/>
          <p:nvPr/>
        </p:nvSpPr>
        <p:spPr>
          <a:xfrm>
            <a:off x="6461607" y="3163824"/>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Why $2.16 a night for some owners and $6.47 for others?</a:t>
            </a:r>
          </a:p>
        </p:txBody>
      </p:sp>
      <p:sp>
        <p:nvSpPr>
          <p:cNvPr id="19" name="TextBox 18"/>
          <p:cNvSpPr txBox="1"/>
          <p:nvPr/>
        </p:nvSpPr>
        <p:spPr>
          <a:xfrm>
            <a:off x="6461607" y="3438144"/>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The fee is the same $699 whether you enroll one property or three. One property buys 108 promised nights; three buys 324 — so it’s $6.47 a night with one property and $2.16 a night with three properties.</a:t>
            </a:r>
          </a:p>
        </p:txBody>
      </p:sp>
      <p:sp>
        <p:nvSpPr>
          <p:cNvPr id="20" name="Rounded Rectangle 19"/>
          <p:cNvSpPr/>
          <p:nvPr/>
        </p:nvSpPr>
        <p:spPr>
          <a:xfrm>
            <a:off x="685800" y="4151376"/>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1" name="TextBox 20"/>
          <p:cNvSpPr txBox="1"/>
          <p:nvPr/>
        </p:nvSpPr>
        <p:spPr>
          <a:xfrm>
            <a:off x="914400" y="4279392"/>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Is this a franchise?</a:t>
            </a:r>
          </a:p>
        </p:txBody>
      </p:sp>
      <p:sp>
        <p:nvSpPr>
          <p:cNvPr id="22" name="TextBox 21"/>
          <p:cNvSpPr txBox="1"/>
          <p:nvPr/>
        </p:nvSpPr>
        <p:spPr>
          <a:xfrm>
            <a:off x="914400" y="4553712"/>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No. This is a property management agreement. We don’t license you our brand, we don’t put our name on your property, and you aren’t buying a business. You’re hiring a manager.</a:t>
            </a:r>
          </a:p>
        </p:txBody>
      </p:sp>
      <p:sp>
        <p:nvSpPr>
          <p:cNvPr id="23" name="Rounded Rectangle 22"/>
          <p:cNvSpPr/>
          <p:nvPr/>
        </p:nvSpPr>
        <p:spPr>
          <a:xfrm>
            <a:off x="6233007" y="4151376"/>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4" name="TextBox 23"/>
          <p:cNvSpPr txBox="1"/>
          <p:nvPr/>
        </p:nvSpPr>
        <p:spPr>
          <a:xfrm>
            <a:off x="6461607" y="4279392"/>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Who holds the listing?</a:t>
            </a:r>
          </a:p>
        </p:txBody>
      </p:sp>
      <p:sp>
        <p:nvSpPr>
          <p:cNvPr id="25" name="TextBox 24"/>
          <p:cNvSpPr txBox="1"/>
          <p:nvPr/>
        </p:nvSpPr>
        <p:spPr>
          <a:xfrm>
            <a:off x="6461607" y="4553712"/>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You do. It stays in your name with your reviews, your history and your account. We manage it for you. If you leave, nothing transfers.</a:t>
            </a:r>
          </a:p>
        </p:txBody>
      </p:sp>
      <p:sp>
        <p:nvSpPr>
          <p:cNvPr id="26" name="Rounded Rectangle 25"/>
          <p:cNvSpPr/>
          <p:nvPr/>
        </p:nvSpPr>
        <p:spPr>
          <a:xfrm>
            <a:off x="685800" y="5266944"/>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7" name="TextBox 26"/>
          <p:cNvSpPr txBox="1"/>
          <p:nvPr/>
        </p:nvSpPr>
        <p:spPr>
          <a:xfrm>
            <a:off x="914400" y="5394959"/>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Why is your fee so much lower than everyone else’s?</a:t>
            </a:r>
          </a:p>
        </p:txBody>
      </p:sp>
      <p:sp>
        <p:nvSpPr>
          <p:cNvPr id="28" name="TextBox 27"/>
          <p:cNvSpPr txBox="1"/>
          <p:nvPr/>
        </p:nvSpPr>
        <p:spPr>
          <a:xfrm>
            <a:off x="914400" y="5669280"/>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Most full-service managers run on payroll. Our operations run on an AI system, so each additional property costs us very little. That’s the whole difference.</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36"/>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22"/>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08"/>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childTnLst>
                                </p:cTn>
                              </p:par>
                              <p:par>
                                <p:cTn id="19" presetID="10" presetClass="entr" presetSubtype="0" fill="hold" grpId="0" nodeType="withEffect">
                                  <p:stCondLst>
                                    <p:cond delay="594"/>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childTnLst>
                                </p:cTn>
                              </p:par>
                              <p:par>
                                <p:cTn id="22" presetID="10" presetClass="entr" presetSubtype="0" fill="hold" grpId="0" nodeType="withEffect">
                                  <p:stCondLst>
                                    <p:cond delay="68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700"/>
                                        <p:tgtEl>
                                          <p:spTgt spid="12"/>
                                        </p:tgtEl>
                                      </p:cBhvr>
                                    </p:animEffect>
                                  </p:childTnLst>
                                </p:cTn>
                              </p:par>
                              <p:par>
                                <p:cTn id="25" presetID="10" presetClass="entr" presetSubtype="0" fill="hold" grpId="0" nodeType="withEffect">
                                  <p:stCondLst>
                                    <p:cond delay="766"/>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childTnLst>
                                </p:cTn>
                              </p:par>
                              <p:par>
                                <p:cTn id="28" presetID="10" presetClass="entr" presetSubtype="0" fill="hold" grpId="0" nodeType="withEffect">
                                  <p:stCondLst>
                                    <p:cond delay="852"/>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700"/>
                                        <p:tgtEl>
                                          <p:spTgt spid="13"/>
                                        </p:tgtEl>
                                      </p:cBhvr>
                                    </p:animEffect>
                                  </p:childTnLst>
                                </p:cTn>
                              </p:par>
                              <p:par>
                                <p:cTn id="31" presetID="10" presetClass="entr" presetSubtype="0" fill="hold" grpId="0" nodeType="withEffect">
                                  <p:stCondLst>
                                    <p:cond delay="938"/>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childTnLst>
                                </p:cTn>
                              </p:par>
                              <p:par>
                                <p:cTn id="34" presetID="10" presetClass="entr" presetSubtype="0" fill="hold" grpId="0" nodeType="withEffect">
                                  <p:stCondLst>
                                    <p:cond delay="1024"/>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700"/>
                                        <p:tgtEl>
                                          <p:spTgt spid="17"/>
                                        </p:tgtEl>
                                      </p:cBhvr>
                                    </p:animEffect>
                                  </p:childTnLst>
                                </p:cTn>
                              </p:par>
                              <p:par>
                                <p:cTn id="37" presetID="10" presetClass="entr" presetSubtype="0" fill="hold" grpId="0" nodeType="withEffect">
                                  <p:stCondLst>
                                    <p:cond delay="111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childTnLst>
                                </p:cTn>
                              </p:par>
                              <p:par>
                                <p:cTn id="40" presetID="10" presetClass="entr" presetSubtype="0" fill="hold" grpId="0" nodeType="withEffect">
                                  <p:stCondLst>
                                    <p:cond delay="1196"/>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700"/>
                                        <p:tgtEl>
                                          <p:spTgt spid="18"/>
                                        </p:tgtEl>
                                      </p:cBhvr>
                                    </p:animEffect>
                                  </p:childTnLst>
                                </p:cTn>
                              </p:par>
                              <p:par>
                                <p:cTn id="43" presetID="10" presetClass="entr" presetSubtype="0" fill="hold" grpId="0" nodeType="withEffect">
                                  <p:stCondLst>
                                    <p:cond delay="1282"/>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childTnLst>
                                </p:cTn>
                              </p:par>
                              <p:par>
                                <p:cTn id="46" presetID="10" presetClass="entr" presetSubtype="0" fill="hold" grpId="0" nodeType="withEffect">
                                  <p:stCondLst>
                                    <p:cond delay="1368"/>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700"/>
                                        <p:tgtEl>
                                          <p:spTgt spid="19"/>
                                        </p:tgtEl>
                                      </p:cBhvr>
                                    </p:animEffect>
                                  </p:childTnLst>
                                </p:cTn>
                              </p:par>
                              <p:par>
                                <p:cTn id="49" presetID="10" presetClass="entr" presetSubtype="0" fill="hold" grpId="0" nodeType="withEffect">
                                  <p:stCondLst>
                                    <p:cond delay="1454"/>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700"/>
                                        <p:tgtEl>
                                          <p:spTgt spid="20"/>
                                        </p:tgtEl>
                                      </p:cBhvr>
                                    </p:animEffect>
                                  </p:childTnLst>
                                </p:cTn>
                              </p:par>
                              <p:par>
                                <p:cTn id="52" presetID="10" presetClass="entr" presetSubtype="0" fill="hold" grpId="0" nodeType="withEffect">
                                  <p:stCondLst>
                                    <p:cond delay="154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par>
                                <p:cTn id="55" presetID="10" presetClass="entr" presetSubtype="0" fill="hold" grpId="0" nodeType="withEffect">
                                  <p:stCondLst>
                                    <p:cond delay="1626"/>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700"/>
                                        <p:tgtEl>
                                          <p:spTgt spid="23"/>
                                        </p:tgtEl>
                                      </p:cBhvr>
                                    </p:animEffect>
                                  </p:childTnLst>
                                </p:cTn>
                              </p:par>
                              <p:par>
                                <p:cTn id="58" presetID="10" presetClass="entr" presetSubtype="0" fill="hold" grpId="0" nodeType="withEffect">
                                  <p:stCondLst>
                                    <p:cond delay="1712"/>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700"/>
                                        <p:tgtEl>
                                          <p:spTgt spid="24"/>
                                        </p:tgtEl>
                                      </p:cBhvr>
                                    </p:animEffect>
                                  </p:childTnLst>
                                </p:cTn>
                              </p:par>
                              <p:par>
                                <p:cTn id="61" presetID="10" presetClass="entr" presetSubtype="0" fill="hold" grpId="0" nodeType="withEffect">
                                  <p:stCondLst>
                                    <p:cond delay="1798"/>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700"/>
                                        <p:tgtEl>
                                          <p:spTgt spid="22"/>
                                        </p:tgtEl>
                                      </p:cBhvr>
                                    </p:animEffect>
                                  </p:childTnLst>
                                </p:cTn>
                              </p:par>
                              <p:par>
                                <p:cTn id="64" presetID="10" presetClass="entr" presetSubtype="0" fill="hold" grpId="0" nodeType="withEffect">
                                  <p:stCondLst>
                                    <p:cond delay="1884"/>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700"/>
                                        <p:tgtEl>
                                          <p:spTgt spid="25"/>
                                        </p:tgtEl>
                                      </p:cBhvr>
                                    </p:animEffect>
                                  </p:childTnLst>
                                </p:cTn>
                              </p:par>
                              <p:par>
                                <p:cTn id="67" presetID="10" presetClass="entr" presetSubtype="0" fill="hold" grpId="0" nodeType="withEffect">
                                  <p:stCondLst>
                                    <p:cond delay="197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700"/>
                                        <p:tgtEl>
                                          <p:spTgt spid="26"/>
                                        </p:tgtEl>
                                      </p:cBhvr>
                                    </p:animEffect>
                                  </p:childTnLst>
                                </p:cTn>
                              </p:par>
                              <p:par>
                                <p:cTn id="70" presetID="10" presetClass="entr" presetSubtype="0" fill="hold" grpId="0" nodeType="withEffect">
                                  <p:stCondLst>
                                    <p:cond delay="2056"/>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700"/>
                                        <p:tgtEl>
                                          <p:spTgt spid="27"/>
                                        </p:tgtEl>
                                      </p:cBhvr>
                                    </p:animEffect>
                                  </p:childTnLst>
                                </p:cTn>
                              </p:par>
                              <p:par>
                                <p:cTn id="73" presetID="10" presetClass="entr" presetSubtype="0" fill="hold" grpId="0" nodeType="withEffect">
                                  <p:stCondLst>
                                    <p:cond delay="2142"/>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0" grpId="0" animBg="1"/>
      <p:bldP spid="13" grpId="0" animBg="1"/>
      <p:bldP spid="14" grpId="0" animBg="1"/>
      <p:bldP spid="17" grpId="0" animBg="1"/>
      <p:bldP spid="15" grpId="0" animBg="1"/>
      <p:bldP spid="18" grpId="0" animBg="1"/>
      <p:bldP spid="16" grpId="0" animBg="1"/>
      <p:bldP spid="19" grpId="0" animBg="1"/>
      <p:bldP spid="20" grpId="0" animBg="1"/>
      <p:bldP spid="21" grpId="0" animBg="1"/>
      <p:bldP spid="23" grpId="0" animBg="1"/>
      <p:bldP spid="24" grpId="0" animBg="1"/>
      <p:bldP spid="22" grpId="0" animBg="1"/>
      <p:bldP spid="25" grpId="0" animBg="1"/>
      <p:bldP spid="26" grpId="0" animBg="1"/>
      <p:bldP spid="27" grpId="0" animBg="1"/>
      <p:bldP spid="2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18</a:t>
            </a:r>
          </a:p>
        </p:txBody>
      </p:sp>
      <p:sp>
        <p:nvSpPr>
          <p:cNvPr id="6" name="TextBox 5"/>
          <p:cNvSpPr txBox="1"/>
          <p:nvPr/>
        </p:nvSpPr>
        <p:spPr>
          <a:xfrm>
            <a:off x="685800" y="91440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QUESTIONS OWNERS ASK  ·  2 OF 3</a:t>
            </a:r>
          </a:p>
        </p:txBody>
      </p:sp>
      <p:sp>
        <p:nvSpPr>
          <p:cNvPr id="7" name="TextBox 6"/>
          <p:cNvSpPr txBox="1"/>
          <p:nvPr/>
        </p:nvSpPr>
        <p:spPr>
          <a:xfrm>
            <a:off x="685800" y="1188720"/>
            <a:ext cx="9144000" cy="640080"/>
          </a:xfrm>
          <a:prstGeom prst="rect">
            <a:avLst/>
          </a:prstGeom>
          <a:noFill/>
        </p:spPr>
        <p:txBody>
          <a:bodyPr wrap="square" lIns="0" rIns="0" tIns="0" bIns="0">
            <a:spAutoFit/>
          </a:bodyPr>
          <a:lstStyle/>
          <a:p>
            <a:pPr algn="l">
              <a:lnSpc>
                <a:spcPct val="95000"/>
              </a:lnSpc>
            </a:pPr>
            <a:r>
              <a:rPr sz="3000" b="1" i="0" spc="-100">
                <a:solidFill>
                  <a:srgbClr val="0B1020"/>
                </a:solidFill>
                <a:latin typeface="Bricolage Grotesque"/>
                <a:ea typeface="Inter"/>
                <a:cs typeface="Inter"/>
              </a:rPr>
              <a:t>Running costs, taxes and rules.</a:t>
            </a:r>
          </a:p>
        </p:txBody>
      </p:sp>
      <p:sp>
        <p:nvSpPr>
          <p:cNvPr id="8" name="Rounded Rectangle 7"/>
          <p:cNvSpPr/>
          <p:nvPr/>
        </p:nvSpPr>
        <p:spPr>
          <a:xfrm>
            <a:off x="685800" y="1920240"/>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914400" y="2048256"/>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about cleaning?</a:t>
            </a:r>
          </a:p>
        </p:txBody>
      </p:sp>
      <p:sp>
        <p:nvSpPr>
          <p:cNvPr id="10" name="TextBox 9"/>
          <p:cNvSpPr txBox="1"/>
          <p:nvPr/>
        </p:nvSpPr>
        <p:spPr>
          <a:xfrm>
            <a:off x="914400" y="2322576"/>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Cleaning is charged to the guest as a cleaning fee, the way it works on every major platform. We schedule it and manage the cleaners.</a:t>
            </a:r>
          </a:p>
        </p:txBody>
      </p:sp>
      <p:sp>
        <p:nvSpPr>
          <p:cNvPr id="11" name="Rounded Rectangle 10"/>
          <p:cNvSpPr/>
          <p:nvPr/>
        </p:nvSpPr>
        <p:spPr>
          <a:xfrm>
            <a:off x="6233007" y="1920240"/>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6461607" y="2048256"/>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do I still pay for?</a:t>
            </a:r>
          </a:p>
        </p:txBody>
      </p:sp>
      <p:sp>
        <p:nvSpPr>
          <p:cNvPr id="13" name="TextBox 12"/>
          <p:cNvSpPr txBox="1"/>
          <p:nvPr/>
        </p:nvSpPr>
        <p:spPr>
          <a:xfrm>
            <a:off x="6461607" y="2322576"/>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Utilities, supplies, insurance, your mortgage or rent, major repairs, and your own taxes. Also anything on the setup spec.</a:t>
            </a:r>
          </a:p>
        </p:txBody>
      </p:sp>
      <p:sp>
        <p:nvSpPr>
          <p:cNvPr id="14" name="Rounded Rectangle 13"/>
          <p:cNvSpPr/>
          <p:nvPr/>
        </p:nvSpPr>
        <p:spPr>
          <a:xfrm>
            <a:off x="685800" y="3035808"/>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5" name="TextBox 14"/>
          <p:cNvSpPr txBox="1"/>
          <p:nvPr/>
        </p:nvSpPr>
        <p:spPr>
          <a:xfrm>
            <a:off x="914400" y="3163824"/>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about permits and HOA rules?</a:t>
            </a:r>
          </a:p>
        </p:txBody>
      </p:sp>
      <p:sp>
        <p:nvSpPr>
          <p:cNvPr id="16" name="TextBox 15"/>
          <p:cNvSpPr txBox="1"/>
          <p:nvPr/>
        </p:nvSpPr>
        <p:spPr>
          <a:xfrm>
            <a:off x="914400" y="3438144"/>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Your property must be legally permitted for short-term rental in your city, and your HOA or condo rules must allow it. We’ll ask you to confirm both in writing before we start — and we’ll tell you if we think your city makes it unworkable.</a:t>
            </a:r>
          </a:p>
        </p:txBody>
      </p:sp>
      <p:sp>
        <p:nvSpPr>
          <p:cNvPr id="17" name="Rounded Rectangle 16"/>
          <p:cNvSpPr/>
          <p:nvPr/>
        </p:nvSpPr>
        <p:spPr>
          <a:xfrm>
            <a:off x="6233007" y="3035808"/>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8" name="TextBox 17"/>
          <p:cNvSpPr txBox="1"/>
          <p:nvPr/>
        </p:nvSpPr>
        <p:spPr>
          <a:xfrm>
            <a:off x="6461607" y="3163824"/>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about taxes?</a:t>
            </a:r>
          </a:p>
        </p:txBody>
      </p:sp>
      <p:sp>
        <p:nvSpPr>
          <p:cNvPr id="19" name="TextBox 18"/>
          <p:cNvSpPr txBox="1"/>
          <p:nvPr/>
        </p:nvSpPr>
        <p:spPr>
          <a:xfrm>
            <a:off x="6461607" y="3438144"/>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Lodging and occupancy taxes are collected by the platforms in many markets, but not all. Income tax is yours. We’ll need a W-9 before your first payout and may issue a 1099. Talk to your CPA.</a:t>
            </a:r>
          </a:p>
        </p:txBody>
      </p:sp>
      <p:sp>
        <p:nvSpPr>
          <p:cNvPr id="20" name="Rounded Rectangle 19"/>
          <p:cNvSpPr/>
          <p:nvPr/>
        </p:nvSpPr>
        <p:spPr>
          <a:xfrm>
            <a:off x="685800" y="4151376"/>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1" name="TextBox 20"/>
          <p:cNvSpPr txBox="1"/>
          <p:nvPr/>
        </p:nvSpPr>
        <p:spPr>
          <a:xfrm>
            <a:off x="914400" y="4279392"/>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Do I need special insurance?</a:t>
            </a:r>
          </a:p>
        </p:txBody>
      </p:sp>
      <p:sp>
        <p:nvSpPr>
          <p:cNvPr id="22" name="TextBox 21"/>
          <p:cNvSpPr txBox="1"/>
          <p:nvPr/>
        </p:nvSpPr>
        <p:spPr>
          <a:xfrm>
            <a:off x="914400" y="4553712"/>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Yes. A standard homeowner policy usually excludes paying guests. You’ll need a short-term rental endorsement or policy, and we ask to be named as an additional insured where your carrier allows.</a:t>
            </a:r>
          </a:p>
        </p:txBody>
      </p:sp>
      <p:sp>
        <p:nvSpPr>
          <p:cNvPr id="23" name="Rounded Rectangle 22"/>
          <p:cNvSpPr/>
          <p:nvPr/>
        </p:nvSpPr>
        <p:spPr>
          <a:xfrm>
            <a:off x="6233007" y="4151376"/>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4" name="TextBox 23"/>
          <p:cNvSpPr txBox="1"/>
          <p:nvPr/>
        </p:nvSpPr>
        <p:spPr>
          <a:xfrm>
            <a:off x="6461607" y="4279392"/>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Can you just drop my rate to hit the number?</a:t>
            </a:r>
          </a:p>
        </p:txBody>
      </p:sp>
      <p:sp>
        <p:nvSpPr>
          <p:cNvPr id="25" name="TextBox 24"/>
          <p:cNvSpPr txBox="1"/>
          <p:nvPr/>
        </p:nvSpPr>
        <p:spPr>
          <a:xfrm>
            <a:off x="6461607" y="4553712"/>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No. We agree a floor rate with you at onboarding, and nights sold below it don’t count toward the promise. It protects you and it stops us gaming our own guarantee.</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childTnLst>
                                </p:cTn>
                              </p:par>
                              <p:par>
                                <p:cTn id="22" presetID="10" presetClass="entr" presetSubtype="0" fill="hold" grpId="0" nodeType="withEffect">
                                  <p:stCondLst>
                                    <p:cond delay="7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700"/>
                                        <p:tgtEl>
                                          <p:spTgt spid="12"/>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700"/>
                                        <p:tgtEl>
                                          <p:spTgt spid="13"/>
                                        </p:tgtEl>
                                      </p:cBhvr>
                                    </p:animEffect>
                                  </p:childTnLst>
                                </p:cTn>
                              </p:par>
                              <p:par>
                                <p:cTn id="31" presetID="10" presetClass="entr" presetSubtype="0" fill="hold" grpId="0" nodeType="withEffect">
                                  <p:stCondLst>
                                    <p:cond delay="97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700"/>
                                        <p:tgtEl>
                                          <p:spTgt spid="17"/>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childTnLst>
                                </p:cTn>
                              </p:par>
                              <p:par>
                                <p:cTn id="40" presetID="10" presetClass="entr" presetSubtype="0" fill="hold" grpId="0" nodeType="withEffect">
                                  <p:stCondLst>
                                    <p:cond delay="124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700"/>
                                        <p:tgtEl>
                                          <p:spTgt spid="18"/>
                                        </p:tgtEl>
                                      </p:cBhvr>
                                    </p:animEffect>
                                  </p:childTnLst>
                                </p:cTn>
                              </p:par>
                              <p:par>
                                <p:cTn id="43" presetID="10" presetClass="entr" presetSubtype="0" fill="hold" grpId="0" nodeType="withEffect">
                                  <p:stCondLst>
                                    <p:cond delay="133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childTnLst>
                                </p:cTn>
                              </p:par>
                              <p:par>
                                <p:cTn id="46" presetID="10" presetClass="entr" presetSubtype="0" fill="hold" grpId="0" nodeType="withEffect">
                                  <p:stCondLst>
                                    <p:cond delay="142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700"/>
                                        <p:tgtEl>
                                          <p:spTgt spid="19"/>
                                        </p:tgtEl>
                                      </p:cBhvr>
                                    </p:animEffect>
                                  </p:childTnLst>
                                </p:cTn>
                              </p:par>
                              <p:par>
                                <p:cTn id="49" presetID="10" presetClass="entr" presetSubtype="0" fill="hold" grpId="0" nodeType="withEffect">
                                  <p:stCondLst>
                                    <p:cond delay="151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700"/>
                                        <p:tgtEl>
                                          <p:spTgt spid="20"/>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par>
                                <p:cTn id="55" presetID="10" presetClass="entr" presetSubtype="0" fill="hold" grpId="0" nodeType="withEffect">
                                  <p:stCondLst>
                                    <p:cond delay="169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700"/>
                                        <p:tgtEl>
                                          <p:spTgt spid="23"/>
                                        </p:tgtEl>
                                      </p:cBhvr>
                                    </p:animEffect>
                                  </p:childTnLst>
                                </p:cTn>
                              </p:par>
                              <p:par>
                                <p:cTn id="58" presetID="10" presetClass="entr" presetSubtype="0" fill="hold" grpId="0" nodeType="withEffect">
                                  <p:stCondLst>
                                    <p:cond delay="178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700"/>
                                        <p:tgtEl>
                                          <p:spTgt spid="24"/>
                                        </p:tgtEl>
                                      </p:cBhvr>
                                    </p:animEffect>
                                  </p:childTnLst>
                                </p:cTn>
                              </p:par>
                              <p:par>
                                <p:cTn id="61" presetID="10" presetClass="entr" presetSubtype="0" fill="hold" grpId="0" nodeType="withEffect">
                                  <p:stCondLst>
                                    <p:cond delay="187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700"/>
                                        <p:tgtEl>
                                          <p:spTgt spid="22"/>
                                        </p:tgtEl>
                                      </p:cBhvr>
                                    </p:animEffect>
                                  </p:childTnLst>
                                </p:cTn>
                              </p:par>
                              <p:par>
                                <p:cTn id="64" presetID="10" presetClass="entr" presetSubtype="0" fill="hold" grpId="0" nodeType="withEffect">
                                  <p:stCondLst>
                                    <p:cond delay="196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0" grpId="0" animBg="1"/>
      <p:bldP spid="13" grpId="0" animBg="1"/>
      <p:bldP spid="14" grpId="0" animBg="1"/>
      <p:bldP spid="17" grpId="0" animBg="1"/>
      <p:bldP spid="15" grpId="0" animBg="1"/>
      <p:bldP spid="18" grpId="0" animBg="1"/>
      <p:bldP spid="16" grpId="0" animBg="1"/>
      <p:bldP spid="19" grpId="0" animBg="1"/>
      <p:bldP spid="20" grpId="0" animBg="1"/>
      <p:bldP spid="21" grpId="0" animBg="1"/>
      <p:bldP spid="23" grpId="0" animBg="1"/>
      <p:bldP spid="24" grpId="0" animBg="1"/>
      <p:bldP spid="22" grpId="0" animBg="1"/>
      <p:bldP spid="25"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F7F5F1"/>
          </a:solidFill>
          <a:ln>
            <a:noFill/>
          </a:ln>
        </p:spPr>
        <p:txBody>
          <a:bodyPr rtlCol="0" anchor="ctr"/>
          <a:lstStyle/>
          <a:p>
            <a:pPr algn="ctr"/>
          </a:p>
        </p:txBody>
      </p:sp>
      <p:sp>
        <p:nvSpPr>
          <p:cNvPr id="4" name="chrome"/>
          <p:cNvSpPr txBox="1"/>
          <p:nvPr/>
        </p:nvSpPr>
        <p:spPr>
          <a:xfrm>
            <a:off x="685800" y="438912"/>
            <a:ext cx="4572000" cy="228600"/>
          </a:xfrm>
          <a:prstGeom prst="rect">
            <a:avLst/>
          </a:prstGeom>
          <a:noFill/>
        </p:spPr>
        <p:txBody>
          <a:bodyPr wrap="square" lIns="0" rIns="0" tIns="0" bIns="0">
            <a:spAutoFit/>
          </a:bodyPr>
          <a:lstStyle/>
          <a:p>
            <a:pPr algn="l"/>
            <a:r>
              <a:rPr sz="800" b="1" i="0">
                <a:solidFill>
                  <a:srgbClr val="7D8296"/>
                </a:solidFill>
                <a:latin typeface="Inter"/>
                <a:ea typeface="Inter"/>
                <a:cs typeface="Inter"/>
              </a:rPr>
              <a:t>Red Flag Managed  ·  The Nights Promise</a:t>
            </a:r>
          </a:p>
        </p:txBody>
      </p:sp>
      <p:sp>
        <p:nvSpPr>
          <p:cNvPr id="5" name="chrome"/>
          <p:cNvSpPr txBox="1"/>
          <p:nvPr/>
        </p:nvSpPr>
        <p:spPr>
          <a:xfrm>
            <a:off x="10134295" y="6419088"/>
            <a:ext cx="1371600" cy="228600"/>
          </a:xfrm>
          <a:prstGeom prst="rect">
            <a:avLst/>
          </a:prstGeom>
          <a:noFill/>
        </p:spPr>
        <p:txBody>
          <a:bodyPr wrap="square" lIns="0" rIns="0" tIns="0" bIns="0">
            <a:spAutoFit/>
          </a:bodyPr>
          <a:lstStyle/>
          <a:p>
            <a:pPr algn="r"/>
            <a:r>
              <a:rPr sz="800" b="1" i="0">
                <a:solidFill>
                  <a:srgbClr val="7D8296"/>
                </a:solidFill>
                <a:latin typeface="Inter"/>
                <a:ea typeface="Inter"/>
                <a:cs typeface="Inter"/>
              </a:rPr>
              <a:t>19</a:t>
            </a:r>
          </a:p>
        </p:txBody>
      </p:sp>
      <p:sp>
        <p:nvSpPr>
          <p:cNvPr id="6" name="TextBox 5"/>
          <p:cNvSpPr txBox="1"/>
          <p:nvPr/>
        </p:nvSpPr>
        <p:spPr>
          <a:xfrm>
            <a:off x="685800" y="914400"/>
            <a:ext cx="7315200" cy="228600"/>
          </a:xfrm>
          <a:prstGeom prst="rect">
            <a:avLst/>
          </a:prstGeom>
          <a:noFill/>
        </p:spPr>
        <p:txBody>
          <a:bodyPr wrap="square" lIns="0" rIns="0" tIns="0" bIns="0">
            <a:spAutoFit/>
          </a:bodyPr>
          <a:lstStyle/>
          <a:p>
            <a:pPr algn="l"/>
            <a:r>
              <a:rPr sz="900" b="1" i="0" spc="200">
                <a:solidFill>
                  <a:srgbClr val="FF5C4D"/>
                </a:solidFill>
                <a:latin typeface="Inter"/>
                <a:ea typeface="Inter"/>
                <a:cs typeface="Inter"/>
              </a:rPr>
              <a:t>QUESTIONS OWNERS ASK  ·  3 OF 3</a:t>
            </a:r>
          </a:p>
        </p:txBody>
      </p:sp>
      <p:sp>
        <p:nvSpPr>
          <p:cNvPr id="7" name="TextBox 6"/>
          <p:cNvSpPr txBox="1"/>
          <p:nvPr/>
        </p:nvSpPr>
        <p:spPr>
          <a:xfrm>
            <a:off x="685800" y="1188720"/>
            <a:ext cx="9144000" cy="640080"/>
          </a:xfrm>
          <a:prstGeom prst="rect">
            <a:avLst/>
          </a:prstGeom>
          <a:noFill/>
        </p:spPr>
        <p:txBody>
          <a:bodyPr wrap="square" lIns="0" rIns="0" tIns="0" bIns="0">
            <a:spAutoFit/>
          </a:bodyPr>
          <a:lstStyle/>
          <a:p>
            <a:pPr algn="l">
              <a:lnSpc>
                <a:spcPct val="95000"/>
              </a:lnSpc>
            </a:pPr>
            <a:r>
              <a:rPr sz="3000" b="1" i="0" spc="-100">
                <a:solidFill>
                  <a:srgbClr val="0B1020"/>
                </a:solidFill>
                <a:latin typeface="Bricolage Grotesque"/>
                <a:ea typeface="Inter"/>
                <a:cs typeface="Inter"/>
              </a:rPr>
              <a:t>Using, leaving and earning.</a:t>
            </a:r>
          </a:p>
        </p:txBody>
      </p:sp>
      <p:sp>
        <p:nvSpPr>
          <p:cNvPr id="8" name="Rounded Rectangle 7"/>
          <p:cNvSpPr/>
          <p:nvPr/>
        </p:nvSpPr>
        <p:spPr>
          <a:xfrm>
            <a:off x="685800" y="1920240"/>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9" name="TextBox 8"/>
          <p:cNvSpPr txBox="1"/>
          <p:nvPr/>
        </p:nvSpPr>
        <p:spPr>
          <a:xfrm>
            <a:off x="914400" y="2048256"/>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Can I still use my place?</a:t>
            </a:r>
          </a:p>
        </p:txBody>
      </p:sp>
      <p:sp>
        <p:nvSpPr>
          <p:cNvPr id="10" name="TextBox 9"/>
          <p:cNvSpPr txBox="1"/>
          <p:nvPr/>
        </p:nvSpPr>
        <p:spPr>
          <a:xfrm>
            <a:off x="914400" y="2322576"/>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Yes — up to 12 owner nights across the six months, blocked in advance. Beyond that the promise no longer applies, because we can’t sell nights that aren’t available.</a:t>
            </a:r>
          </a:p>
        </p:txBody>
      </p:sp>
      <p:sp>
        <p:nvSpPr>
          <p:cNvPr id="11" name="Rounded Rectangle 10"/>
          <p:cNvSpPr/>
          <p:nvPr/>
        </p:nvSpPr>
        <p:spPr>
          <a:xfrm>
            <a:off x="6233007" y="1920240"/>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2" name="TextBox 11"/>
          <p:cNvSpPr txBox="1"/>
          <p:nvPr/>
        </p:nvSpPr>
        <p:spPr>
          <a:xfrm>
            <a:off x="6461607" y="2048256"/>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How do I get paid?</a:t>
            </a:r>
          </a:p>
        </p:txBody>
      </p:sp>
      <p:sp>
        <p:nvSpPr>
          <p:cNvPr id="13" name="TextBox 12"/>
          <p:cNvSpPr txBox="1"/>
          <p:nvPr/>
        </p:nvSpPr>
        <p:spPr>
          <a:xfrm>
            <a:off x="6461607" y="2322576"/>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Twice a month, with a statement showing every booking and every deduction.</a:t>
            </a:r>
          </a:p>
        </p:txBody>
      </p:sp>
      <p:sp>
        <p:nvSpPr>
          <p:cNvPr id="14" name="Rounded Rectangle 13"/>
          <p:cNvSpPr/>
          <p:nvPr/>
        </p:nvSpPr>
        <p:spPr>
          <a:xfrm>
            <a:off x="685800" y="3035808"/>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5" name="TextBox 14"/>
          <p:cNvSpPr txBox="1"/>
          <p:nvPr/>
        </p:nvSpPr>
        <p:spPr>
          <a:xfrm>
            <a:off x="914400" y="3163824"/>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Can I cancel?</a:t>
            </a:r>
          </a:p>
        </p:txBody>
      </p:sp>
      <p:sp>
        <p:nvSpPr>
          <p:cNvPr id="16" name="TextBox 15"/>
          <p:cNvSpPr txBox="1"/>
          <p:nvPr/>
        </p:nvSpPr>
        <p:spPr>
          <a:xfrm>
            <a:off x="914400" y="3438144"/>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Yes, on 30 days’ notice, honoring any confirmed bookings. If you cancel inside the first six months, the promise lapses.</a:t>
            </a:r>
          </a:p>
        </p:txBody>
      </p:sp>
      <p:sp>
        <p:nvSpPr>
          <p:cNvPr id="17" name="Rounded Rectangle 16"/>
          <p:cNvSpPr/>
          <p:nvPr/>
        </p:nvSpPr>
        <p:spPr>
          <a:xfrm>
            <a:off x="6233007" y="3035808"/>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18" name="TextBox 17"/>
          <p:cNvSpPr txBox="1"/>
          <p:nvPr/>
        </p:nvSpPr>
        <p:spPr>
          <a:xfrm>
            <a:off x="6461607" y="3163824"/>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if my market is seasonal?</a:t>
            </a:r>
          </a:p>
        </p:txBody>
      </p:sp>
      <p:sp>
        <p:nvSpPr>
          <p:cNvPr id="19" name="TextBox 18"/>
          <p:cNvSpPr txBox="1"/>
          <p:nvPr/>
        </p:nvSpPr>
        <p:spPr>
          <a:xfrm>
            <a:off x="6461607" y="3438144"/>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We set your number from your market, not a template. A beach property might be promised fewer nights than an urban one. We’d rather promise a number we can hit.</a:t>
            </a:r>
          </a:p>
        </p:txBody>
      </p:sp>
      <p:sp>
        <p:nvSpPr>
          <p:cNvPr id="20" name="Rounded Rectangle 19"/>
          <p:cNvSpPr/>
          <p:nvPr/>
        </p:nvSpPr>
        <p:spPr>
          <a:xfrm>
            <a:off x="685800" y="4151376"/>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1" name="TextBox 20"/>
          <p:cNvSpPr txBox="1"/>
          <p:nvPr/>
        </p:nvSpPr>
        <p:spPr>
          <a:xfrm>
            <a:off x="914400" y="4279392"/>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What if you turn my property down?</a:t>
            </a:r>
          </a:p>
        </p:txBody>
      </p:sp>
      <p:sp>
        <p:nvSpPr>
          <p:cNvPr id="22" name="TextBox 21"/>
          <p:cNvSpPr txBox="1"/>
          <p:nvPr/>
        </p:nvSpPr>
        <p:spPr>
          <a:xfrm>
            <a:off x="914400" y="4553712"/>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We’ll tell you why, in writing, and you pay nothing. We’d rather decline than take a fee for nights we can’t deliver.</a:t>
            </a:r>
          </a:p>
        </p:txBody>
      </p:sp>
      <p:sp>
        <p:nvSpPr>
          <p:cNvPr id="23" name="Rounded Rectangle 22"/>
          <p:cNvSpPr/>
          <p:nvPr/>
        </p:nvSpPr>
        <p:spPr>
          <a:xfrm>
            <a:off x="6233007" y="4151376"/>
            <a:ext cx="5272887" cy="1024128"/>
          </a:xfrm>
          <a:prstGeom prst="roundRect">
            <a:avLst>
              <a:gd name="adj" fmla="val 8000"/>
            </a:avLst>
          </a:prstGeom>
          <a:solidFill>
            <a:srgbClr val="FFFFFF"/>
          </a:solidFill>
          <a:ln>
            <a:noFill/>
          </a:ln>
          <a:effectLst>
            <a:outerShdw blurRad="355600" dist="101600" dir="5400000" algn="t" rotWithShape="0">
              <a:srgbClr val="0B1020">
                <a:alpha val="18000"/>
              </a:srgbClr>
            </a:outerShdw>
          </a:effectLst>
        </p:spPr>
        <p:txBody>
          <a:bodyPr rtlCol="0" anchor="ctr"/>
          <a:lstStyle/>
          <a:p>
            <a:pPr algn="ctr"/>
          </a:p>
        </p:txBody>
      </p:sp>
      <p:sp>
        <p:nvSpPr>
          <p:cNvPr id="24" name="TextBox 23"/>
          <p:cNvSpPr txBox="1"/>
          <p:nvPr/>
        </p:nvSpPr>
        <p:spPr>
          <a:xfrm>
            <a:off x="6461607" y="4279392"/>
            <a:ext cx="4815687" cy="274320"/>
          </a:xfrm>
          <a:prstGeom prst="rect">
            <a:avLst/>
          </a:prstGeom>
          <a:noFill/>
        </p:spPr>
        <p:txBody>
          <a:bodyPr wrap="square" lIns="0" rIns="0" tIns="0" bIns="0">
            <a:spAutoFit/>
          </a:bodyPr>
          <a:lstStyle/>
          <a:p>
            <a:pPr algn="l"/>
            <a:r>
              <a:rPr sz="1150" b="1" i="0">
                <a:solidFill>
                  <a:srgbClr val="0B1020"/>
                </a:solidFill>
                <a:latin typeface="Inter"/>
                <a:ea typeface="Inter"/>
                <a:cs typeface="Inter"/>
              </a:rPr>
              <a:t>Is my income guaranteed?</a:t>
            </a:r>
          </a:p>
        </p:txBody>
      </p:sp>
      <p:sp>
        <p:nvSpPr>
          <p:cNvPr id="25" name="TextBox 24"/>
          <p:cNvSpPr txBox="1"/>
          <p:nvPr/>
        </p:nvSpPr>
        <p:spPr>
          <a:xfrm>
            <a:off x="6461607" y="4553712"/>
            <a:ext cx="4815687" cy="566928"/>
          </a:xfrm>
          <a:prstGeom prst="rect">
            <a:avLst/>
          </a:prstGeom>
          <a:noFill/>
        </p:spPr>
        <p:txBody>
          <a:bodyPr wrap="square" lIns="0" rIns="0" tIns="0" bIns="0">
            <a:spAutoFit/>
          </a:bodyPr>
          <a:lstStyle/>
          <a:p>
            <a:pPr algn="l">
              <a:lnSpc>
                <a:spcPct val="128000"/>
              </a:lnSpc>
            </a:pPr>
            <a:r>
              <a:rPr sz="880" b="0" i="0">
                <a:solidFill>
                  <a:srgbClr val="41465A"/>
                </a:solidFill>
                <a:latin typeface="Inter"/>
                <a:ea typeface="Inter"/>
                <a:cs typeface="Inter"/>
              </a:rPr>
              <a:t>No. We guarantee nights, not dollars. What those nights earn depends on your rate, your season and your market.</a:t>
            </a:r>
          </a:p>
        </p:txBody>
      </p:sp>
      <p:pic>
        <p:nvPicPr>
          <p:cNvPr id="3" name="!!logo" descr="logobg.png"/>
          <p:cNvPicPr>
            <a:picLocks noChangeAspect="1"/>
          </p:cNvPicPr>
          <p:nvPr/>
        </p:nvPicPr>
        <p:blipFill>
          <a:blip r:embed="rId2"/>
          <a:stretch>
            <a:fillRect/>
          </a:stretch>
        </p:blipFill>
        <p:spPr>
          <a:xfrm>
            <a:off x="11048695" y="274320"/>
            <a:ext cx="457200" cy="45720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900"/>
                                        <p:tgtEl>
                                          <p:spTgt spid="7"/>
                                        </p:tgtEl>
                                      </p:cBhvr>
                                    </p:animEffect>
                                    <p:anim calcmode="lin" valueType="num">
                                      <p:cBhvr>
                                        <p:cTn id="11" dur="900" decel="100000"/>
                                        <p:tgtEl>
                                          <p:spTgt spid="7"/>
                                        </p:tgtEl>
                                        <p:attrNameLst>
                                          <p:attrName>ppt_x</p:attrName>
                                        </p:attrNameLst>
                                      </p:cBhvr>
                                      <p:tavLst>
                                        <p:tav tm="0">
                                          <p:val>
                                            <p:strVal val="#ppt_x"/>
                                          </p:val>
                                        </p:tav>
                                        <p:tav tm="100000">
                                          <p:val>
                                            <p:strVal val="#ppt_x"/>
                                          </p:val>
                                        </p:tav>
                                      </p:tavLst>
                                    </p:anim>
                                    <p:anim calcmode="lin" valueType="num">
                                      <p:cBhvr>
                                        <p:cTn id="12" dur="900" decel="100000"/>
                                        <p:tgtEl>
                                          <p:spTgt spid="7"/>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3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childTnLst>
                                </p:cTn>
                              </p:par>
                              <p:par>
                                <p:cTn id="22" presetID="10" presetClass="entr" presetSubtype="0" fill="hold" grpId="0" nodeType="withEffect">
                                  <p:stCondLst>
                                    <p:cond delay="7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700"/>
                                        <p:tgtEl>
                                          <p:spTgt spid="12"/>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700"/>
                                        <p:tgtEl>
                                          <p:spTgt spid="13"/>
                                        </p:tgtEl>
                                      </p:cBhvr>
                                    </p:animEffect>
                                  </p:childTnLst>
                                </p:cTn>
                              </p:par>
                              <p:par>
                                <p:cTn id="31" presetID="10" presetClass="entr" presetSubtype="0" fill="hold" grpId="0" nodeType="withEffect">
                                  <p:stCondLst>
                                    <p:cond delay="97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700"/>
                                        <p:tgtEl>
                                          <p:spTgt spid="17"/>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childTnLst>
                                </p:cTn>
                              </p:par>
                              <p:par>
                                <p:cTn id="40" presetID="10" presetClass="entr" presetSubtype="0" fill="hold" grpId="0" nodeType="withEffect">
                                  <p:stCondLst>
                                    <p:cond delay="124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700"/>
                                        <p:tgtEl>
                                          <p:spTgt spid="18"/>
                                        </p:tgtEl>
                                      </p:cBhvr>
                                    </p:animEffect>
                                  </p:childTnLst>
                                </p:cTn>
                              </p:par>
                              <p:par>
                                <p:cTn id="43" presetID="10" presetClass="entr" presetSubtype="0" fill="hold" grpId="0" nodeType="withEffect">
                                  <p:stCondLst>
                                    <p:cond delay="133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childTnLst>
                                </p:cTn>
                              </p:par>
                              <p:par>
                                <p:cTn id="46" presetID="10" presetClass="entr" presetSubtype="0" fill="hold" grpId="0" nodeType="withEffect">
                                  <p:stCondLst>
                                    <p:cond delay="142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700"/>
                                        <p:tgtEl>
                                          <p:spTgt spid="19"/>
                                        </p:tgtEl>
                                      </p:cBhvr>
                                    </p:animEffect>
                                  </p:childTnLst>
                                </p:cTn>
                              </p:par>
                              <p:par>
                                <p:cTn id="49" presetID="10" presetClass="entr" presetSubtype="0" fill="hold" grpId="0" nodeType="withEffect">
                                  <p:stCondLst>
                                    <p:cond delay="151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700"/>
                                        <p:tgtEl>
                                          <p:spTgt spid="20"/>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par>
                                <p:cTn id="55" presetID="10" presetClass="entr" presetSubtype="0" fill="hold" grpId="0" nodeType="withEffect">
                                  <p:stCondLst>
                                    <p:cond delay="169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700"/>
                                        <p:tgtEl>
                                          <p:spTgt spid="23"/>
                                        </p:tgtEl>
                                      </p:cBhvr>
                                    </p:animEffect>
                                  </p:childTnLst>
                                </p:cTn>
                              </p:par>
                              <p:par>
                                <p:cTn id="58" presetID="10" presetClass="entr" presetSubtype="0" fill="hold" grpId="0" nodeType="withEffect">
                                  <p:stCondLst>
                                    <p:cond delay="178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700"/>
                                        <p:tgtEl>
                                          <p:spTgt spid="24"/>
                                        </p:tgtEl>
                                      </p:cBhvr>
                                    </p:animEffect>
                                  </p:childTnLst>
                                </p:cTn>
                              </p:par>
                              <p:par>
                                <p:cTn id="61" presetID="10" presetClass="entr" presetSubtype="0" fill="hold" grpId="0" nodeType="withEffect">
                                  <p:stCondLst>
                                    <p:cond delay="187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700"/>
                                        <p:tgtEl>
                                          <p:spTgt spid="22"/>
                                        </p:tgtEl>
                                      </p:cBhvr>
                                    </p:animEffect>
                                  </p:childTnLst>
                                </p:cTn>
                              </p:par>
                              <p:par>
                                <p:cTn id="64" presetID="10" presetClass="entr" presetSubtype="0" fill="hold" grpId="0" nodeType="withEffect">
                                  <p:stCondLst>
                                    <p:cond delay="196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0" grpId="0" animBg="1"/>
      <p:bldP spid="13" grpId="0" animBg="1"/>
      <p:bldP spid="14" grpId="0" animBg="1"/>
      <p:bldP spid="17" grpId="0" animBg="1"/>
      <p:bldP spid="15" grpId="0" animBg="1"/>
      <p:bldP spid="18" grpId="0" animBg="1"/>
      <p:bldP spid="16" grpId="0" animBg="1"/>
      <p:bldP spid="19" grpId="0" animBg="1"/>
      <p:bldP spid="20" grpId="0" animBg="1"/>
      <p:bldP spid="21" grpId="0" animBg="1"/>
      <p:bldP spid="23" grpId="0" animBg="1"/>
      <p:bldP spid="24" grpId="0" animBg="1"/>
      <p:bldP spid="22" grpId="0" animBg="1"/>
      <p:bldP spid="2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