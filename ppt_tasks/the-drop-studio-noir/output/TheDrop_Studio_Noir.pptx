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jp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jp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jpg"/><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jpg"/><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jpg"/><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pic>
        <p:nvPicPr>
          <p:cNvPr id="3" name="static-photo" descr="image.jpg"/>
          <p:cNvPicPr>
            <a:picLocks noChangeAspect="1"/>
          </p:cNvPicPr>
          <p:nvPr/>
        </p:nvPicPr>
        <p:blipFill>
          <a:blip r:embed="rId2"/>
          <a:stretch>
            <a:fillRect/>
          </a:stretch>
        </p:blipFill>
        <p:spPr>
          <a:xfrm>
            <a:off x="6720840" y="0"/>
            <a:ext cx="5470855" cy="6858000"/>
          </a:xfrm>
          <a:prstGeom prst="rect">
            <a:avLst/>
          </a:prstGeom>
        </p:spPr>
      </p:pic>
      <p:sp>
        <p:nvSpPr>
          <p:cNvPr id="5" name="static-mask"/>
          <p:cNvSpPr/>
          <p:nvPr/>
        </p:nvSpPr>
        <p:spPr>
          <a:xfrm>
            <a:off x="6720840" y="0"/>
            <a:ext cx="1188720" cy="6858000"/>
          </a:xfrm>
          <a:prstGeom prst="rect">
            <a:avLst/>
          </a:prstGeom>
          <a:gradFill rotWithShape="1" flip="none">
            <a:gsLst>
              <a:gs pos="0">
                <a:srgbClr val="151311">
                  <a:alpha val="100000"/>
                </a:srgbClr>
              </a:gs>
              <a:gs pos="100000">
                <a:srgbClr val="151311">
                  <a:alpha val="0"/>
                </a:srgbClr>
              </a:gs>
            </a:gsLst>
            <a:lin ang="0" scaled="1"/>
          </a:gradFill>
          <a:ln>
            <a:noFill/>
          </a:ln>
        </p:spPr>
        <p:txBody>
          <a:bodyPr rtlCol="0" anchor="ctr"/>
          <a:lstStyle/>
          <a:p>
            <a:pPr algn="ctr"/>
          </a:p>
        </p:txBody>
      </p:sp>
      <p:sp>
        <p:nvSpPr>
          <p:cNvPr id="7" name="TextBox 6"/>
          <p:cNvSpPr txBox="1"/>
          <p:nvPr/>
        </p:nvSpPr>
        <p:spPr>
          <a:xfrm>
            <a:off x="685800" y="205740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RED FLAG HOMES NETWORK  ·  THE DROP</a:t>
            </a:r>
          </a:p>
        </p:txBody>
      </p:sp>
      <p:sp>
        <p:nvSpPr>
          <p:cNvPr id="8" name="TextBox 7"/>
          <p:cNvSpPr txBox="1"/>
          <p:nvPr/>
        </p:nvSpPr>
        <p:spPr>
          <a:xfrm>
            <a:off x="685800" y="2286000"/>
            <a:ext cx="5852160" cy="1463040"/>
          </a:xfrm>
          <a:prstGeom prst="rect">
            <a:avLst/>
          </a:prstGeom>
          <a:noFill/>
        </p:spPr>
        <p:txBody>
          <a:bodyPr wrap="square" lIns="0" rIns="0" tIns="0" bIns="0">
            <a:spAutoFit/>
          </a:bodyPr>
          <a:lstStyle/>
          <a:p>
            <a:pPr algn="l">
              <a:lnSpc>
                <a:spcPct val="85000"/>
              </a:lnSpc>
            </a:pPr>
            <a:r>
              <a:rPr sz="10400" b="0" i="0">
                <a:solidFill>
                  <a:srgbClr val="EFE6D8"/>
                </a:solidFill>
                <a:latin typeface="Cormorant Garamond"/>
                <a:ea typeface="Plus Jakarta Sans"/>
                <a:cs typeface="Plus Jakarta Sans"/>
              </a:rPr>
              <a:t>The Drop</a:t>
            </a:r>
          </a:p>
        </p:txBody>
      </p:sp>
      <p:sp>
        <p:nvSpPr>
          <p:cNvPr id="9" name="TextBox 8"/>
          <p:cNvSpPr txBox="1"/>
          <p:nvPr/>
        </p:nvSpPr>
        <p:spPr>
          <a:xfrm>
            <a:off x="685800" y="3611880"/>
            <a:ext cx="5486400" cy="731520"/>
          </a:xfrm>
          <a:prstGeom prst="rect">
            <a:avLst/>
          </a:prstGeom>
          <a:noFill/>
        </p:spPr>
        <p:txBody>
          <a:bodyPr wrap="square" lIns="0" rIns="0" tIns="0" bIns="0">
            <a:spAutoFit/>
          </a:bodyPr>
          <a:lstStyle/>
          <a:p>
            <a:pPr algn="l">
              <a:lnSpc>
                <a:spcPct val="92000"/>
              </a:lnSpc>
            </a:pPr>
            <a:r>
              <a:rPr sz="4000" b="0" i="1">
                <a:solidFill>
                  <a:srgbClr val="B8845A"/>
                </a:solidFill>
                <a:latin typeface="Cormorant Garamond"/>
                <a:ea typeface="Plus Jakarta Sans"/>
                <a:cs typeface="Plus Jakarta Sans"/>
              </a:rPr>
              <a:t>Studio · Noir</a:t>
            </a:r>
          </a:p>
        </p:txBody>
      </p:sp>
      <p:sp>
        <p:nvSpPr>
          <p:cNvPr id="10" name="TextBox 9"/>
          <p:cNvSpPr txBox="1"/>
          <p:nvPr/>
        </p:nvSpPr>
        <p:spPr>
          <a:xfrm>
            <a:off x="685800" y="4526280"/>
            <a:ext cx="5120640" cy="731520"/>
          </a:xfrm>
          <a:prstGeom prst="rect">
            <a:avLst/>
          </a:prstGeom>
          <a:noFill/>
        </p:spPr>
        <p:txBody>
          <a:bodyPr wrap="square" lIns="0" rIns="0" tIns="0" bIns="0">
            <a:spAutoFit/>
          </a:bodyPr>
          <a:lstStyle/>
          <a:p>
            <a:pPr algn="l">
              <a:lnSpc>
                <a:spcPct val="135000"/>
              </a:lnSpc>
            </a:pPr>
            <a:r>
              <a:rPr sz="1500" b="0" i="0">
                <a:solidFill>
                  <a:srgbClr val="EFE6D8"/>
                </a:solidFill>
                <a:latin typeface="Plus Jakarta Sans"/>
                <a:ea typeface="Plus Jakarta Sans"/>
                <a:cs typeface="Plus Jakarta Sans"/>
              </a:rPr>
              <a:t>One room. One delivery.
Guest-ready in ten days.</a:t>
            </a:r>
          </a:p>
        </p:txBody>
      </p:sp>
      <p:sp>
        <p:nvSpPr>
          <p:cNvPr id="11" name="Rectangle 10"/>
          <p:cNvSpPr/>
          <p:nvPr/>
        </p:nvSpPr>
        <p:spPr>
          <a:xfrm>
            <a:off x="685800" y="5760720"/>
            <a:ext cx="4937760" cy="10972"/>
          </a:xfrm>
          <a:prstGeom prst="rect">
            <a:avLst/>
          </a:prstGeom>
          <a:solidFill>
            <a:srgbClr val="B8845A"/>
          </a:solidFill>
          <a:ln>
            <a:noFill/>
          </a:ln>
        </p:spPr>
        <p:txBody>
          <a:bodyPr rtlCol="0" anchor="ctr"/>
          <a:lstStyle/>
          <a:p>
            <a:pPr algn="ctr"/>
          </a:p>
        </p:txBody>
      </p:sp>
      <p:sp>
        <p:nvSpPr>
          <p:cNvPr id="12" name="TextBox 11"/>
          <p:cNvSpPr txBox="1"/>
          <p:nvPr/>
        </p:nvSpPr>
        <p:spPr>
          <a:xfrm>
            <a:off x="685800" y="5897880"/>
            <a:ext cx="5486400" cy="228600"/>
          </a:xfrm>
          <a:prstGeom prst="rect">
            <a:avLst/>
          </a:prstGeom>
          <a:noFill/>
        </p:spPr>
        <p:txBody>
          <a:bodyPr wrap="square" lIns="0" rIns="0" tIns="0" bIns="0">
            <a:spAutoFit/>
          </a:bodyPr>
          <a:lstStyle/>
          <a:p>
            <a:pPr algn="l"/>
            <a:r>
              <a:rPr sz="750" b="1" i="0" spc="300">
                <a:solidFill>
                  <a:srgbClr val="C4A06A"/>
                </a:solidFill>
                <a:latin typeface="Plus Jakarta Sans"/>
                <a:ea typeface="Plus Jakarta Sans"/>
                <a:cs typeface="Plus Jakarta Sans"/>
              </a:rPr>
              <a:t>85+ PIECES  ·  DELIVERED  ·  INSTALLED  ·  PHOTOGRAPHED</a:t>
            </a:r>
          </a:p>
        </p:txBody>
      </p:sp>
      <p:sp>
        <p:nvSpPr>
          <p:cNvPr id="4" name="static-tag"/>
          <p:cNvSpPr txBox="1"/>
          <p:nvPr/>
        </p:nvSpPr>
        <p:spPr>
          <a:xfrm>
            <a:off x="6858000" y="6537960"/>
            <a:ext cx="5196535" cy="228600"/>
          </a:xfrm>
          <a:prstGeom prst="rect">
            <a:avLst/>
          </a:prstGeom>
          <a:noFill/>
        </p:spPr>
        <p:txBody>
          <a:bodyPr wrap="square" lIns="0" rIns="0" tIns="0" bIns="0">
            <a:spAutoFit/>
          </a:bodyPr>
          <a:lstStyle/>
          <a:p>
            <a:pPr algn="l"/>
            <a:r>
              <a:rPr sz="700" b="1" i="0" spc="250">
                <a:solidFill>
                  <a:srgbClr val="FFFFFF"/>
                </a:solidFill>
                <a:latin typeface="Plus Jakarta Sans"/>
                <a:ea typeface="Plus Jakarta Sans"/>
                <a:cs typeface="Plus Jakarta Sans"/>
              </a:rPr>
              <a:t>SAMPLE IMAGE</a:t>
            </a:r>
          </a:p>
        </p:txBody>
      </p:sp>
      <p:pic>
        <p:nvPicPr>
          <p:cNvPr id="6" name="!!logo" descr="logobg.png"/>
          <p:cNvPicPr>
            <a:picLocks noChangeAspect="1"/>
          </p:cNvPicPr>
          <p:nvPr/>
        </p:nvPicPr>
        <p:blipFill>
          <a:blip r:embed="rId3"/>
          <a:stretch>
            <a:fillRect/>
          </a:stretch>
        </p:blipFill>
        <p:spPr>
          <a:xfrm>
            <a:off x="612648" y="502920"/>
            <a:ext cx="1143000" cy="1143000"/>
          </a:xfrm>
          <a:prstGeom prst="rect">
            <a:avLst/>
          </a:prstGeom>
        </p:spPr>
      </p:pic>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6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42" presetClass="entr" presetSubtype="0" fill="hold" grpId="0" nodeType="withEffect">
                                  <p:stCondLst>
                                    <p:cond delay="47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900"/>
                                        <p:tgtEl>
                                          <p:spTgt spid="9"/>
                                        </p:tgtEl>
                                      </p:cBhvr>
                                    </p:animEffect>
                                    <p:anim calcmode="lin" valueType="num">
                                      <p:cBhvr>
                                        <p:cTn id="16" dur="900" decel="100000"/>
                                        <p:tgtEl>
                                          <p:spTgt spid="9"/>
                                        </p:tgtEl>
                                        <p:attrNameLst>
                                          <p:attrName>ppt_x</p:attrName>
                                        </p:attrNameLst>
                                      </p:cBhvr>
                                      <p:tavLst>
                                        <p:tav tm="0">
                                          <p:val>
                                            <p:strVal val="#ppt_x"/>
                                          </p:val>
                                        </p:tav>
                                        <p:tav tm="100000">
                                          <p:val>
                                            <p:strVal val="#ppt_x"/>
                                          </p:val>
                                        </p:tav>
                                      </p:tavLst>
                                    </p:anim>
                                    <p:anim calcmode="lin" valueType="num">
                                      <p:cBhvr>
                                        <p:cTn id="17" dur="900" decel="100000"/>
                                        <p:tgtEl>
                                          <p:spTgt spid="9"/>
                                        </p:tgtEl>
                                        <p:attrNameLst>
                                          <p:attrName>ppt_y</p:attrName>
                                        </p:attrNameLst>
                                      </p:cBhvr>
                                      <p:tavLst>
                                        <p:tav tm="0">
                                          <p:val>
                                            <p:strVal val="#ppt_y+.035"/>
                                          </p:val>
                                        </p:tav>
                                        <p:tav tm="100000">
                                          <p:val>
                                            <p:strVal val="#ppt_y"/>
                                          </p:val>
                                        </p:tav>
                                      </p:tavLst>
                                    </p:anim>
                                  </p:childTnLst>
                                </p:cTn>
                              </p:par>
                              <p:par>
                                <p:cTn id="18" presetID="10" presetClass="entr" presetSubtype="0" fill="hold" grpId="0" nodeType="withEffect">
                                  <p:stCondLst>
                                    <p:cond delay="58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childTnLst>
                                </p:cTn>
                              </p:par>
                              <p:par>
                                <p:cTn id="21" presetID="22" presetClass="entr" presetSubtype="8" fill="hold" grpId="0" nodeType="withEffect">
                                  <p:stCondLst>
                                    <p:cond delay="69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700"/>
                                        <p:tgtEl>
                                          <p:spTgt spid="11"/>
                                        </p:tgtEl>
                                      </p:cBhvr>
                                    </p:animEffect>
                                  </p:childTnLst>
                                </p:cTn>
                              </p:par>
                              <p:par>
                                <p:cTn id="24" presetID="10" presetClass="entr" presetSubtype="0" fill="hold" grpId="0" nodeType="withEffect">
                                  <p:stCondLst>
                                    <p:cond delay="8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EDE6DA"/>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8A7F71"/>
                </a:solidFill>
                <a:latin typeface="Plus Jakarta Sans"/>
                <a:ea typeface="Plus Jakarta Sans"/>
                <a:cs typeface="Plus Jakarta Sans"/>
              </a:rPr>
              <a:t>02 / 17</a:t>
            </a:r>
          </a:p>
        </p:txBody>
      </p:sp>
      <p:pic>
        <p:nvPicPr>
          <p:cNvPr id="7" name="static-photo" descr="image.jpg"/>
          <p:cNvPicPr>
            <a:picLocks noChangeAspect="1"/>
          </p:cNvPicPr>
          <p:nvPr/>
        </p:nvPicPr>
        <p:blipFill>
          <a:blip r:embed="rId3"/>
          <a:stretch>
            <a:fillRect/>
          </a:stretch>
        </p:blipFill>
        <p:spPr>
          <a:xfrm>
            <a:off x="7680960" y="0"/>
            <a:ext cx="4510735" cy="6858000"/>
          </a:xfrm>
          <a:prstGeom prst="rect">
            <a:avLst/>
          </a:prstGeom>
        </p:spPr>
      </p:pic>
      <p:sp>
        <p:nvSpPr>
          <p:cNvPr id="8" name="TextBox 7"/>
          <p:cNvSpPr txBox="1"/>
          <p:nvPr/>
        </p:nvSpPr>
        <p:spPr>
          <a:xfrm>
            <a:off x="685800" y="105156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WHAT THIS IS</a:t>
            </a:r>
          </a:p>
        </p:txBody>
      </p:sp>
      <p:sp>
        <p:nvSpPr>
          <p:cNvPr id="9" name="TextBox 8"/>
          <p:cNvSpPr txBox="1"/>
          <p:nvPr/>
        </p:nvSpPr>
        <p:spPr>
          <a:xfrm>
            <a:off x="685800" y="1325880"/>
            <a:ext cx="6766560" cy="1554480"/>
          </a:xfrm>
          <a:prstGeom prst="rect">
            <a:avLst/>
          </a:prstGeom>
          <a:noFill/>
        </p:spPr>
        <p:txBody>
          <a:bodyPr wrap="square" lIns="0" rIns="0" tIns="0" bIns="0">
            <a:spAutoFit/>
          </a:bodyPr>
          <a:lstStyle/>
          <a:p>
            <a:pPr algn="l">
              <a:lnSpc>
                <a:spcPct val="100000"/>
              </a:lnSpc>
            </a:pPr>
            <a:r>
              <a:rPr sz="3300" b="0" i="0">
                <a:solidFill>
                  <a:srgbClr val="1B1815"/>
                </a:solidFill>
                <a:latin typeface="Cormorant Garamond"/>
                <a:ea typeface="Plus Jakarta Sans"/>
                <a:cs typeface="Plus Jakarta Sans"/>
              </a:rPr>
              <a:t>Ten days after you order, your studio looks like a boutique hotel room.</a:t>
            </a:r>
          </a:p>
        </p:txBody>
      </p:sp>
      <p:sp>
        <p:nvSpPr>
          <p:cNvPr id="10" name="TextBox 9"/>
          <p:cNvSpPr txBox="1"/>
          <p:nvPr/>
        </p:nvSpPr>
        <p:spPr>
          <a:xfrm>
            <a:off x="685800" y="3017520"/>
            <a:ext cx="6400800" cy="731520"/>
          </a:xfrm>
          <a:prstGeom prst="rect">
            <a:avLst/>
          </a:prstGeom>
          <a:noFill/>
        </p:spPr>
        <p:txBody>
          <a:bodyPr wrap="square" lIns="0" rIns="0" tIns="0" bIns="0">
            <a:spAutoFit/>
          </a:bodyPr>
          <a:lstStyle/>
          <a:p>
            <a:pPr algn="l">
              <a:lnSpc>
                <a:spcPct val="145000"/>
              </a:lnSpc>
            </a:pPr>
            <a:r>
              <a:rPr sz="1250" b="0" i="0">
                <a:solidFill>
                  <a:srgbClr val="4A423A"/>
                </a:solidFill>
                <a:latin typeface="Plus Jakarta Sans"/>
                <a:ea typeface="Plus Jakarta Sans"/>
                <a:cs typeface="Plus Jakarta Sans"/>
              </a:rPr>
              <a:t>You have a studio with an AC, a fan, a wardrobe and white tubelights. We turn it into a room that is ready to take bookings.</a:t>
            </a:r>
          </a:p>
        </p:txBody>
      </p:sp>
      <p:sp>
        <p:nvSpPr>
          <p:cNvPr id="11" name="Rectangle 10"/>
          <p:cNvSpPr/>
          <p:nvPr/>
        </p:nvSpPr>
        <p:spPr>
          <a:xfrm>
            <a:off x="685800" y="3931920"/>
            <a:ext cx="1920240" cy="10972"/>
          </a:xfrm>
          <a:prstGeom prst="rect">
            <a:avLst/>
          </a:prstGeom>
          <a:solidFill>
            <a:srgbClr val="1B1815"/>
          </a:solidFill>
          <a:ln>
            <a:noFill/>
          </a:ln>
        </p:spPr>
        <p:txBody>
          <a:bodyPr rtlCol="0" anchor="ctr"/>
          <a:lstStyle/>
          <a:p>
            <a:pPr algn="ctr"/>
          </a:p>
        </p:txBody>
      </p:sp>
      <p:sp>
        <p:nvSpPr>
          <p:cNvPr id="12" name="TextBox 11"/>
          <p:cNvSpPr txBox="1"/>
          <p:nvPr/>
        </p:nvSpPr>
        <p:spPr>
          <a:xfrm>
            <a:off x="685800" y="4041648"/>
            <a:ext cx="2011680" cy="548640"/>
          </a:xfrm>
          <a:prstGeom prst="rect">
            <a:avLst/>
          </a:prstGeom>
          <a:noFill/>
        </p:spPr>
        <p:txBody>
          <a:bodyPr wrap="square" lIns="0" rIns="0" tIns="0" bIns="0">
            <a:spAutoFit/>
          </a:bodyPr>
          <a:lstStyle/>
          <a:p>
            <a:pPr algn="l">
              <a:lnSpc>
                <a:spcPct val="92000"/>
              </a:lnSpc>
            </a:pPr>
            <a:r>
              <a:rPr sz="3400" b="0" i="1">
                <a:solidFill>
                  <a:srgbClr val="B8845A"/>
                </a:solidFill>
                <a:latin typeface="Cormorant Garamond"/>
                <a:ea typeface="Plus Jakarta Sans"/>
                <a:cs typeface="Plus Jakarta Sans"/>
              </a:rPr>
              <a:t>One</a:t>
            </a:r>
          </a:p>
        </p:txBody>
      </p:sp>
      <p:sp>
        <p:nvSpPr>
          <p:cNvPr id="13" name="TextBox 12"/>
          <p:cNvSpPr txBox="1"/>
          <p:nvPr/>
        </p:nvSpPr>
        <p:spPr>
          <a:xfrm>
            <a:off x="685800" y="4617720"/>
            <a:ext cx="2011680" cy="274320"/>
          </a:xfrm>
          <a:prstGeom prst="rect">
            <a:avLst/>
          </a:prstGeom>
          <a:noFill/>
        </p:spPr>
        <p:txBody>
          <a:bodyPr wrap="square" lIns="0" rIns="0" tIns="0" bIns="0">
            <a:spAutoFit/>
          </a:bodyPr>
          <a:lstStyle/>
          <a:p>
            <a:pPr algn="l"/>
            <a:r>
              <a:rPr sz="1100" b="1" i="0">
                <a:solidFill>
                  <a:srgbClr val="1B1815"/>
                </a:solidFill>
                <a:latin typeface="Plus Jakarta Sans"/>
                <a:ea typeface="Plus Jakarta Sans"/>
                <a:cs typeface="Plus Jakarta Sans"/>
              </a:rPr>
              <a:t>order</a:t>
            </a:r>
          </a:p>
        </p:txBody>
      </p:sp>
      <p:sp>
        <p:nvSpPr>
          <p:cNvPr id="14" name="Rectangle 13"/>
          <p:cNvSpPr/>
          <p:nvPr/>
        </p:nvSpPr>
        <p:spPr>
          <a:xfrm>
            <a:off x="2880360" y="3931920"/>
            <a:ext cx="1920240" cy="10972"/>
          </a:xfrm>
          <a:prstGeom prst="rect">
            <a:avLst/>
          </a:prstGeom>
          <a:solidFill>
            <a:srgbClr val="1B1815"/>
          </a:solidFill>
          <a:ln>
            <a:noFill/>
          </a:ln>
        </p:spPr>
        <p:txBody>
          <a:bodyPr rtlCol="0" anchor="ctr"/>
          <a:lstStyle/>
          <a:p>
            <a:pPr algn="ctr"/>
          </a:p>
        </p:txBody>
      </p:sp>
      <p:sp>
        <p:nvSpPr>
          <p:cNvPr id="15" name="TextBox 14"/>
          <p:cNvSpPr txBox="1"/>
          <p:nvPr/>
        </p:nvSpPr>
        <p:spPr>
          <a:xfrm>
            <a:off x="2880360" y="4041648"/>
            <a:ext cx="2011680" cy="548640"/>
          </a:xfrm>
          <a:prstGeom prst="rect">
            <a:avLst/>
          </a:prstGeom>
          <a:noFill/>
        </p:spPr>
        <p:txBody>
          <a:bodyPr wrap="square" lIns="0" rIns="0" tIns="0" bIns="0">
            <a:spAutoFit/>
          </a:bodyPr>
          <a:lstStyle/>
          <a:p>
            <a:pPr algn="l">
              <a:lnSpc>
                <a:spcPct val="92000"/>
              </a:lnSpc>
            </a:pPr>
            <a:r>
              <a:rPr sz="3400" b="0" i="1">
                <a:solidFill>
                  <a:srgbClr val="B8845A"/>
                </a:solidFill>
                <a:latin typeface="Cormorant Garamond"/>
                <a:ea typeface="Plus Jakarta Sans"/>
                <a:cs typeface="Plus Jakarta Sans"/>
              </a:rPr>
              <a:t>One</a:t>
            </a:r>
          </a:p>
        </p:txBody>
      </p:sp>
      <p:sp>
        <p:nvSpPr>
          <p:cNvPr id="16" name="TextBox 15"/>
          <p:cNvSpPr txBox="1"/>
          <p:nvPr/>
        </p:nvSpPr>
        <p:spPr>
          <a:xfrm>
            <a:off x="2880360" y="4617720"/>
            <a:ext cx="2011680" cy="274320"/>
          </a:xfrm>
          <a:prstGeom prst="rect">
            <a:avLst/>
          </a:prstGeom>
          <a:noFill/>
        </p:spPr>
        <p:txBody>
          <a:bodyPr wrap="square" lIns="0" rIns="0" tIns="0" bIns="0">
            <a:spAutoFit/>
          </a:bodyPr>
          <a:lstStyle/>
          <a:p>
            <a:pPr algn="l"/>
            <a:r>
              <a:rPr sz="1100" b="1" i="0">
                <a:solidFill>
                  <a:srgbClr val="1B1815"/>
                </a:solidFill>
                <a:latin typeface="Plus Jakarta Sans"/>
                <a:ea typeface="Plus Jakarta Sans"/>
                <a:cs typeface="Plus Jakarta Sans"/>
              </a:rPr>
              <a:t>delivery</a:t>
            </a:r>
          </a:p>
        </p:txBody>
      </p:sp>
      <p:sp>
        <p:nvSpPr>
          <p:cNvPr id="17" name="Rectangle 16"/>
          <p:cNvSpPr/>
          <p:nvPr/>
        </p:nvSpPr>
        <p:spPr>
          <a:xfrm>
            <a:off x="5074920" y="3931920"/>
            <a:ext cx="1920240" cy="10972"/>
          </a:xfrm>
          <a:prstGeom prst="rect">
            <a:avLst/>
          </a:prstGeom>
          <a:solidFill>
            <a:srgbClr val="1B1815"/>
          </a:solidFill>
          <a:ln>
            <a:noFill/>
          </a:ln>
        </p:spPr>
        <p:txBody>
          <a:bodyPr rtlCol="0" anchor="ctr"/>
          <a:lstStyle/>
          <a:p>
            <a:pPr algn="ctr"/>
          </a:p>
        </p:txBody>
      </p:sp>
      <p:sp>
        <p:nvSpPr>
          <p:cNvPr id="18" name="TextBox 17"/>
          <p:cNvSpPr txBox="1"/>
          <p:nvPr/>
        </p:nvSpPr>
        <p:spPr>
          <a:xfrm>
            <a:off x="5074920" y="4041648"/>
            <a:ext cx="2011680" cy="548640"/>
          </a:xfrm>
          <a:prstGeom prst="rect">
            <a:avLst/>
          </a:prstGeom>
          <a:noFill/>
        </p:spPr>
        <p:txBody>
          <a:bodyPr wrap="square" lIns="0" rIns="0" tIns="0" bIns="0">
            <a:spAutoFit/>
          </a:bodyPr>
          <a:lstStyle/>
          <a:p>
            <a:pPr algn="l">
              <a:lnSpc>
                <a:spcPct val="92000"/>
              </a:lnSpc>
            </a:pPr>
            <a:r>
              <a:rPr sz="3400" b="0" i="1">
                <a:solidFill>
                  <a:srgbClr val="B8845A"/>
                </a:solidFill>
                <a:latin typeface="Cormorant Garamond"/>
                <a:ea typeface="Plus Jakarta Sans"/>
                <a:cs typeface="Plus Jakarta Sans"/>
              </a:rPr>
              <a:t>One</a:t>
            </a:r>
          </a:p>
        </p:txBody>
      </p:sp>
      <p:sp>
        <p:nvSpPr>
          <p:cNvPr id="19" name="TextBox 18"/>
          <p:cNvSpPr txBox="1"/>
          <p:nvPr/>
        </p:nvSpPr>
        <p:spPr>
          <a:xfrm>
            <a:off x="5074920" y="4617720"/>
            <a:ext cx="2011680" cy="274320"/>
          </a:xfrm>
          <a:prstGeom prst="rect">
            <a:avLst/>
          </a:prstGeom>
          <a:noFill/>
        </p:spPr>
        <p:txBody>
          <a:bodyPr wrap="square" lIns="0" rIns="0" tIns="0" bIns="0">
            <a:spAutoFit/>
          </a:bodyPr>
          <a:lstStyle/>
          <a:p>
            <a:pPr algn="l"/>
            <a:r>
              <a:rPr sz="1100" b="1" i="0">
                <a:solidFill>
                  <a:srgbClr val="1B1815"/>
                </a:solidFill>
                <a:latin typeface="Plus Jakarta Sans"/>
                <a:ea typeface="Plus Jakarta Sans"/>
                <a:cs typeface="Plus Jakarta Sans"/>
              </a:rPr>
              <a:t>install day</a:t>
            </a:r>
          </a:p>
        </p:txBody>
      </p:sp>
      <p:sp>
        <p:nvSpPr>
          <p:cNvPr id="20" name="TextBox 19"/>
          <p:cNvSpPr txBox="1"/>
          <p:nvPr/>
        </p:nvSpPr>
        <p:spPr>
          <a:xfrm>
            <a:off x="685800" y="5166360"/>
            <a:ext cx="6583680" cy="548640"/>
          </a:xfrm>
          <a:prstGeom prst="rect">
            <a:avLst/>
          </a:prstGeom>
          <a:noFill/>
        </p:spPr>
        <p:txBody>
          <a:bodyPr wrap="square" lIns="0" rIns="0" tIns="0" bIns="0">
            <a:spAutoFit/>
          </a:bodyPr>
          <a:lstStyle/>
          <a:p>
            <a:pPr algn="l">
              <a:lnSpc>
                <a:spcPct val="140000"/>
              </a:lnSpc>
            </a:pPr>
            <a:r>
              <a:rPr sz="1100" b="0" i="0">
                <a:solidFill>
                  <a:srgbClr val="4A423A"/>
                </a:solidFill>
                <a:latin typeface="Plus Jakarta Sans"/>
                <a:ea typeface="Plus Jakarta Sans"/>
                <a:cs typeface="Plus Jakarta Sans"/>
              </a:rPr>
              <a:t>We source everything, bring it, assemble it, style it, deep clean it and photograph it. You unlock the door once and we hand it back finished.</a:t>
            </a:r>
          </a:p>
        </p:txBody>
      </p:sp>
      <p:sp>
        <p:nvSpPr>
          <p:cNvPr id="21" name="TextBox 20"/>
          <p:cNvSpPr txBox="1"/>
          <p:nvPr/>
        </p:nvSpPr>
        <p:spPr>
          <a:xfrm>
            <a:off x="685800" y="5989320"/>
            <a:ext cx="6858000" cy="228600"/>
          </a:xfrm>
          <a:prstGeom prst="rect">
            <a:avLst/>
          </a:prstGeom>
          <a:noFill/>
        </p:spPr>
        <p:txBody>
          <a:bodyPr wrap="square" lIns="0" rIns="0" tIns="0" bIns="0">
            <a:spAutoFit/>
          </a:bodyPr>
          <a:lstStyle/>
          <a:p>
            <a:pPr algn="l"/>
            <a:r>
              <a:rPr sz="700" b="1" i="0" spc="300">
                <a:solidFill>
                  <a:srgbClr val="D93A2F"/>
                </a:solidFill>
                <a:latin typeface="Plus Jakarta Sans"/>
                <a:ea typeface="Plus Jakarta Sans"/>
                <a:cs typeface="Plus Jakarta Sans"/>
              </a:rPr>
              <a:t>NO MARKET TRIPS  ·  NO FIFTEEN DELIVERIES  ·  NO CARPENTER WHO DOESN’T TURN UP</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par>
                                <p:cTn id="8" presetID="42" presetClass="entr" presetSubtype="0" fill="hold" grpId="0" nodeType="withEffect">
                                  <p:stCondLst>
                                    <p:cond delay="36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900"/>
                                        <p:tgtEl>
                                          <p:spTgt spid="9"/>
                                        </p:tgtEl>
                                      </p:cBhvr>
                                    </p:animEffect>
                                    <p:anim calcmode="lin" valueType="num">
                                      <p:cBhvr>
                                        <p:cTn id="11" dur="900" decel="100000"/>
                                        <p:tgtEl>
                                          <p:spTgt spid="9"/>
                                        </p:tgtEl>
                                        <p:attrNameLst>
                                          <p:attrName>ppt_x</p:attrName>
                                        </p:attrNameLst>
                                      </p:cBhvr>
                                      <p:tavLst>
                                        <p:tav tm="0">
                                          <p:val>
                                            <p:strVal val="#ppt_x"/>
                                          </p:val>
                                        </p:tav>
                                        <p:tav tm="100000">
                                          <p:val>
                                            <p:strVal val="#ppt_x"/>
                                          </p:val>
                                        </p:tav>
                                      </p:tavLst>
                                    </p:anim>
                                    <p:anim calcmode="lin" valueType="num">
                                      <p:cBhvr>
                                        <p:cTn id="12" dur="900" decel="100000"/>
                                        <p:tgtEl>
                                          <p:spTgt spid="9"/>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7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700"/>
                                        <p:tgtEl>
                                          <p:spTgt spid="10"/>
                                        </p:tgtEl>
                                      </p:cBhvr>
                                    </p:animEffect>
                                  </p:childTnLst>
                                </p:cTn>
                              </p:par>
                              <p:par>
                                <p:cTn id="16" presetID="22" presetClass="entr" presetSubtype="8" fill="hold" grpId="0" nodeType="withEffect">
                                  <p:stCondLst>
                                    <p:cond delay="58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700"/>
                                        <p:tgtEl>
                                          <p:spTgt spid="11"/>
                                        </p:tgtEl>
                                      </p:cBhvr>
                                    </p:animEffect>
                                  </p:childTnLst>
                                </p:cTn>
                              </p:par>
                              <p:par>
                                <p:cTn id="19" presetID="22" presetClass="entr" presetSubtype="8" fill="hold" grpId="0" nodeType="withEffect">
                                  <p:stCondLst>
                                    <p:cond delay="69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700"/>
                                        <p:tgtEl>
                                          <p:spTgt spid="14"/>
                                        </p:tgtEl>
                                      </p:cBhvr>
                                    </p:animEffect>
                                  </p:childTnLst>
                                </p:cTn>
                              </p:par>
                              <p:par>
                                <p:cTn id="22" presetID="22" presetClass="entr" presetSubtype="8" fill="hold" grpId="0" nodeType="withEffect">
                                  <p:stCondLst>
                                    <p:cond delay="80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700"/>
                                        <p:tgtEl>
                                          <p:spTgt spid="17"/>
                                        </p:tgtEl>
                                      </p:cBhvr>
                                    </p:animEffect>
                                  </p:childTnLst>
                                </p:cTn>
                              </p:par>
                              <p:par>
                                <p:cTn id="25" presetID="42" presetClass="entr" presetSubtype="0" fill="hold" grpId="0" nodeType="withEffect">
                                  <p:stCondLst>
                                    <p:cond delay="91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900"/>
                                        <p:tgtEl>
                                          <p:spTgt spid="12"/>
                                        </p:tgtEl>
                                      </p:cBhvr>
                                    </p:animEffect>
                                    <p:anim calcmode="lin" valueType="num">
                                      <p:cBhvr>
                                        <p:cTn id="28" dur="900" decel="100000"/>
                                        <p:tgtEl>
                                          <p:spTgt spid="12"/>
                                        </p:tgtEl>
                                        <p:attrNameLst>
                                          <p:attrName>ppt_x</p:attrName>
                                        </p:attrNameLst>
                                      </p:cBhvr>
                                      <p:tavLst>
                                        <p:tav tm="0">
                                          <p:val>
                                            <p:strVal val="#ppt_x"/>
                                          </p:val>
                                        </p:tav>
                                        <p:tav tm="100000">
                                          <p:val>
                                            <p:strVal val="#ppt_x"/>
                                          </p:val>
                                        </p:tav>
                                      </p:tavLst>
                                    </p:anim>
                                    <p:anim calcmode="lin" valueType="num">
                                      <p:cBhvr>
                                        <p:cTn id="29" dur="900" decel="100000"/>
                                        <p:tgtEl>
                                          <p:spTgt spid="12"/>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102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900"/>
                                        <p:tgtEl>
                                          <p:spTgt spid="15"/>
                                        </p:tgtEl>
                                      </p:cBhvr>
                                    </p:animEffect>
                                    <p:anim calcmode="lin" valueType="num">
                                      <p:cBhvr>
                                        <p:cTn id="33" dur="900" decel="100000"/>
                                        <p:tgtEl>
                                          <p:spTgt spid="15"/>
                                        </p:tgtEl>
                                        <p:attrNameLst>
                                          <p:attrName>ppt_x</p:attrName>
                                        </p:attrNameLst>
                                      </p:cBhvr>
                                      <p:tavLst>
                                        <p:tav tm="0">
                                          <p:val>
                                            <p:strVal val="#ppt_x"/>
                                          </p:val>
                                        </p:tav>
                                        <p:tav tm="100000">
                                          <p:val>
                                            <p:strVal val="#ppt_x"/>
                                          </p:val>
                                        </p:tav>
                                      </p:tavLst>
                                    </p:anim>
                                    <p:anim calcmode="lin" valueType="num">
                                      <p:cBhvr>
                                        <p:cTn id="34" dur="900" decel="100000"/>
                                        <p:tgtEl>
                                          <p:spTgt spid="15"/>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113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900"/>
                                        <p:tgtEl>
                                          <p:spTgt spid="18"/>
                                        </p:tgtEl>
                                      </p:cBhvr>
                                    </p:animEffect>
                                    <p:anim calcmode="lin" valueType="num">
                                      <p:cBhvr>
                                        <p:cTn id="38" dur="900" decel="100000"/>
                                        <p:tgtEl>
                                          <p:spTgt spid="18"/>
                                        </p:tgtEl>
                                        <p:attrNameLst>
                                          <p:attrName>ppt_x</p:attrName>
                                        </p:attrNameLst>
                                      </p:cBhvr>
                                      <p:tavLst>
                                        <p:tav tm="0">
                                          <p:val>
                                            <p:strVal val="#ppt_x"/>
                                          </p:val>
                                        </p:tav>
                                        <p:tav tm="100000">
                                          <p:val>
                                            <p:strVal val="#ppt_x"/>
                                          </p:val>
                                        </p:tav>
                                      </p:tavLst>
                                    </p:anim>
                                    <p:anim calcmode="lin" valueType="num">
                                      <p:cBhvr>
                                        <p:cTn id="39" dur="900" decel="100000"/>
                                        <p:tgtEl>
                                          <p:spTgt spid="18"/>
                                        </p:tgtEl>
                                        <p:attrNameLst>
                                          <p:attrName>ppt_y</p:attrName>
                                        </p:attrNameLst>
                                      </p:cBhvr>
                                      <p:tavLst>
                                        <p:tav tm="0">
                                          <p:val>
                                            <p:strVal val="#ppt_y+.035"/>
                                          </p:val>
                                        </p:tav>
                                        <p:tav tm="100000">
                                          <p:val>
                                            <p:strVal val="#ppt_y"/>
                                          </p:val>
                                        </p:tav>
                                      </p:tavLst>
                                    </p:anim>
                                  </p:childTnLst>
                                </p:cTn>
                              </p:par>
                              <p:par>
                                <p:cTn id="40" presetID="10" presetClass="entr" presetSubtype="0" fill="hold" grpId="0" nodeType="withEffect">
                                  <p:stCondLst>
                                    <p:cond delay="124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700"/>
                                        <p:tgtEl>
                                          <p:spTgt spid="13"/>
                                        </p:tgtEl>
                                      </p:cBhvr>
                                    </p:animEffect>
                                  </p:childTnLst>
                                </p:cTn>
                              </p:par>
                              <p:par>
                                <p:cTn id="43" presetID="10" presetClass="entr" presetSubtype="0" fill="hold" grpId="0" nodeType="withEffect">
                                  <p:stCondLst>
                                    <p:cond delay="13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700"/>
                                        <p:tgtEl>
                                          <p:spTgt spid="16"/>
                                        </p:tgtEl>
                                      </p:cBhvr>
                                    </p:animEffect>
                                  </p:childTnLst>
                                </p:cTn>
                              </p:par>
                              <p:par>
                                <p:cTn id="46" presetID="10" presetClass="entr" presetSubtype="0" fill="hold" grpId="0" nodeType="withEffect">
                                  <p:stCondLst>
                                    <p:cond delay="146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700"/>
                                        <p:tgtEl>
                                          <p:spTgt spid="19"/>
                                        </p:tgtEl>
                                      </p:cBhvr>
                                    </p:animEffect>
                                  </p:childTnLst>
                                </p:cTn>
                              </p:par>
                              <p:par>
                                <p:cTn id="49" presetID="10" presetClass="entr" presetSubtype="0" fill="hold" grpId="0" nodeType="withEffect">
                                  <p:stCondLst>
                                    <p:cond delay="157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700"/>
                                        <p:tgtEl>
                                          <p:spTgt spid="20"/>
                                        </p:tgtEl>
                                      </p:cBhvr>
                                    </p:animEffect>
                                  </p:childTnLst>
                                </p:cTn>
                              </p:par>
                              <p:par>
                                <p:cTn id="52" presetID="10" presetClass="entr" presetSubtype="0" fill="hold" grpId="0" nodeType="withEffect">
                                  <p:stCondLst>
                                    <p:cond delay="168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7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4" grpId="0" animBg="1"/>
      <p:bldP spid="17" grpId="0" animBg="1"/>
      <p:bldP spid="12" grpId="0" animBg="1"/>
      <p:bldP spid="15" grpId="0" animBg="1"/>
      <p:bldP spid="18" grpId="0" animBg="1"/>
      <p:bldP spid="13" grpId="0" animBg="1"/>
      <p:bldP spid="16" grpId="0" animBg="1"/>
      <p:bldP spid="19" grpId="0" animBg="1"/>
      <p:bldP spid="20" grpId="0" animBg="1"/>
      <p:bldP spid="21"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958A7B"/>
                </a:solidFill>
                <a:latin typeface="Plus Jakarta Sans"/>
                <a:ea typeface="Plus Jakarta Sans"/>
                <a:cs typeface="Plus Jakarta Sans"/>
              </a:rPr>
              <a:t>03 / 17</a:t>
            </a:r>
          </a:p>
        </p:txBody>
      </p:sp>
      <p:sp>
        <p:nvSpPr>
          <p:cNvPr id="7" name="TextBox 6"/>
          <p:cNvSpPr txBox="1"/>
          <p:nvPr/>
        </p:nvSpPr>
        <p:spPr>
          <a:xfrm>
            <a:off x="685800" y="100584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THE LOOK</a:t>
            </a:r>
          </a:p>
        </p:txBody>
      </p:sp>
      <p:sp>
        <p:nvSpPr>
          <p:cNvPr id="8" name="TextBox 7"/>
          <p:cNvSpPr txBox="1"/>
          <p:nvPr/>
        </p:nvSpPr>
        <p:spPr>
          <a:xfrm>
            <a:off x="685800" y="1280160"/>
            <a:ext cx="5852160" cy="1097280"/>
          </a:xfrm>
          <a:prstGeom prst="rect">
            <a:avLst/>
          </a:prstGeom>
          <a:noFill/>
        </p:spPr>
        <p:txBody>
          <a:bodyPr wrap="square" lIns="0" rIns="0" tIns="0" bIns="0">
            <a:spAutoFit/>
          </a:bodyPr>
          <a:lstStyle/>
          <a:p>
            <a:pPr algn="l">
              <a:lnSpc>
                <a:spcPct val="92000"/>
              </a:lnSpc>
            </a:pPr>
            <a:r>
              <a:rPr sz="4800" b="0" i="0">
                <a:solidFill>
                  <a:srgbClr val="EFE6D8"/>
                </a:solidFill>
                <a:latin typeface="Cormorant Garamond"/>
                <a:ea typeface="Plus Jakarta Sans"/>
                <a:cs typeface="Plus Jakarta Sans"/>
              </a:rPr>
              <a:t>Noir is warm,
not cold.</a:t>
            </a:r>
          </a:p>
        </p:txBody>
      </p:sp>
      <p:sp>
        <p:nvSpPr>
          <p:cNvPr id="9" name="Oval 8"/>
          <p:cNvSpPr/>
          <p:nvPr/>
        </p:nvSpPr>
        <p:spPr>
          <a:xfrm>
            <a:off x="685800" y="2788920"/>
            <a:ext cx="658368" cy="658368"/>
          </a:xfrm>
          <a:prstGeom prst="ellipse">
            <a:avLst/>
          </a:prstGeom>
          <a:solidFill>
            <a:srgbClr val="2A2724"/>
          </a:solidFill>
          <a:ln w="12700">
            <a:solidFill>
              <a:srgbClr val="39322B"/>
            </a:solidFill>
          </a:ln>
        </p:spPr>
        <p:txBody>
          <a:bodyPr rtlCol="0" anchor="ctr"/>
          <a:lstStyle/>
          <a:p>
            <a:pPr algn="ctr"/>
          </a:p>
        </p:txBody>
      </p:sp>
      <p:sp>
        <p:nvSpPr>
          <p:cNvPr id="10" name="TextBox 9"/>
          <p:cNvSpPr txBox="1"/>
          <p:nvPr/>
        </p:nvSpPr>
        <p:spPr>
          <a:xfrm>
            <a:off x="594360" y="3547872"/>
            <a:ext cx="868680" cy="365760"/>
          </a:xfrm>
          <a:prstGeom prst="rect">
            <a:avLst/>
          </a:prstGeom>
          <a:noFill/>
        </p:spPr>
        <p:txBody>
          <a:bodyPr wrap="square" lIns="0" rIns="0" tIns="0" bIns="0">
            <a:spAutoFit/>
          </a:bodyPr>
          <a:lstStyle/>
          <a:p>
            <a:pPr algn="ctr">
              <a:lnSpc>
                <a:spcPct val="110000"/>
              </a:lnSpc>
            </a:pPr>
            <a:r>
              <a:rPr sz="750" b="0" i="0">
                <a:solidFill>
                  <a:srgbClr val="958A7B"/>
                </a:solidFill>
                <a:latin typeface="Plus Jakarta Sans"/>
                <a:ea typeface="Plus Jakarta Sans"/>
                <a:cs typeface="Plus Jakarta Sans"/>
              </a:rPr>
              <a:t>Charcoal</a:t>
            </a:r>
          </a:p>
        </p:txBody>
      </p:sp>
      <p:sp>
        <p:nvSpPr>
          <p:cNvPr id="11" name="Oval 10"/>
          <p:cNvSpPr/>
          <p:nvPr/>
        </p:nvSpPr>
        <p:spPr>
          <a:xfrm>
            <a:off x="1600200" y="2788920"/>
            <a:ext cx="658368" cy="658368"/>
          </a:xfrm>
          <a:prstGeom prst="ellipse">
            <a:avLst/>
          </a:prstGeom>
          <a:solidFill>
            <a:srgbClr val="8A5F3C"/>
          </a:solidFill>
          <a:ln w="12700">
            <a:solidFill>
              <a:srgbClr val="39322B"/>
            </a:solidFill>
          </a:ln>
        </p:spPr>
        <p:txBody>
          <a:bodyPr rtlCol="0" anchor="ctr"/>
          <a:lstStyle/>
          <a:p>
            <a:pPr algn="ctr"/>
          </a:p>
        </p:txBody>
      </p:sp>
      <p:sp>
        <p:nvSpPr>
          <p:cNvPr id="12" name="TextBox 11"/>
          <p:cNvSpPr txBox="1"/>
          <p:nvPr/>
        </p:nvSpPr>
        <p:spPr>
          <a:xfrm>
            <a:off x="1508760" y="3547872"/>
            <a:ext cx="868680" cy="365760"/>
          </a:xfrm>
          <a:prstGeom prst="rect">
            <a:avLst/>
          </a:prstGeom>
          <a:noFill/>
        </p:spPr>
        <p:txBody>
          <a:bodyPr wrap="square" lIns="0" rIns="0" tIns="0" bIns="0">
            <a:spAutoFit/>
          </a:bodyPr>
          <a:lstStyle/>
          <a:p>
            <a:pPr algn="ctr">
              <a:lnSpc>
                <a:spcPct val="110000"/>
              </a:lnSpc>
            </a:pPr>
            <a:r>
              <a:rPr sz="750" b="0" i="0">
                <a:solidFill>
                  <a:srgbClr val="958A7B"/>
                </a:solidFill>
                <a:latin typeface="Plus Jakarta Sans"/>
                <a:ea typeface="Plus Jakarta Sans"/>
                <a:cs typeface="Plus Jakarta Sans"/>
              </a:rPr>
              <a:t>Warm wood</a:t>
            </a:r>
          </a:p>
        </p:txBody>
      </p:sp>
      <p:sp>
        <p:nvSpPr>
          <p:cNvPr id="13" name="Oval 12"/>
          <p:cNvSpPr/>
          <p:nvPr/>
        </p:nvSpPr>
        <p:spPr>
          <a:xfrm>
            <a:off x="2514600" y="2788920"/>
            <a:ext cx="658368" cy="658368"/>
          </a:xfrm>
          <a:prstGeom prst="ellipse">
            <a:avLst/>
          </a:prstGeom>
          <a:solidFill>
            <a:srgbClr val="E9DFCC"/>
          </a:solidFill>
          <a:ln w="12700">
            <a:solidFill>
              <a:srgbClr val="39322B"/>
            </a:solidFill>
          </a:ln>
        </p:spPr>
        <p:txBody>
          <a:bodyPr rtlCol="0" anchor="ctr"/>
          <a:lstStyle/>
          <a:p>
            <a:pPr algn="ctr"/>
          </a:p>
        </p:txBody>
      </p:sp>
      <p:sp>
        <p:nvSpPr>
          <p:cNvPr id="14" name="TextBox 13"/>
          <p:cNvSpPr txBox="1"/>
          <p:nvPr/>
        </p:nvSpPr>
        <p:spPr>
          <a:xfrm>
            <a:off x="2423160" y="3547872"/>
            <a:ext cx="868680" cy="365760"/>
          </a:xfrm>
          <a:prstGeom prst="rect">
            <a:avLst/>
          </a:prstGeom>
          <a:noFill/>
        </p:spPr>
        <p:txBody>
          <a:bodyPr wrap="square" lIns="0" rIns="0" tIns="0" bIns="0">
            <a:spAutoFit/>
          </a:bodyPr>
          <a:lstStyle/>
          <a:p>
            <a:pPr algn="ctr">
              <a:lnSpc>
                <a:spcPct val="110000"/>
              </a:lnSpc>
            </a:pPr>
            <a:r>
              <a:rPr sz="750" b="0" i="0">
                <a:solidFill>
                  <a:srgbClr val="958A7B"/>
                </a:solidFill>
                <a:latin typeface="Plus Jakarta Sans"/>
                <a:ea typeface="Plus Jakarta Sans"/>
                <a:cs typeface="Plus Jakarta Sans"/>
              </a:rPr>
              <a:t>Cream &amp; oatmeal</a:t>
            </a:r>
          </a:p>
        </p:txBody>
      </p:sp>
      <p:sp>
        <p:nvSpPr>
          <p:cNvPr id="15" name="Oval 14"/>
          <p:cNvSpPr/>
          <p:nvPr/>
        </p:nvSpPr>
        <p:spPr>
          <a:xfrm>
            <a:off x="3429000" y="2788920"/>
            <a:ext cx="658368" cy="658368"/>
          </a:xfrm>
          <a:prstGeom prst="ellipse">
            <a:avLst/>
          </a:prstGeom>
          <a:solidFill>
            <a:srgbClr val="0E0D0C"/>
          </a:solidFill>
          <a:ln w="12700">
            <a:solidFill>
              <a:srgbClr val="39322B"/>
            </a:solidFill>
          </a:ln>
        </p:spPr>
        <p:txBody>
          <a:bodyPr rtlCol="0" anchor="ctr"/>
          <a:lstStyle/>
          <a:p>
            <a:pPr algn="ctr"/>
          </a:p>
        </p:txBody>
      </p:sp>
      <p:sp>
        <p:nvSpPr>
          <p:cNvPr id="16" name="TextBox 15"/>
          <p:cNvSpPr txBox="1"/>
          <p:nvPr/>
        </p:nvSpPr>
        <p:spPr>
          <a:xfrm>
            <a:off x="3337560" y="3547872"/>
            <a:ext cx="868680" cy="365760"/>
          </a:xfrm>
          <a:prstGeom prst="rect">
            <a:avLst/>
          </a:prstGeom>
          <a:noFill/>
        </p:spPr>
        <p:txBody>
          <a:bodyPr wrap="square" lIns="0" rIns="0" tIns="0" bIns="0">
            <a:spAutoFit/>
          </a:bodyPr>
          <a:lstStyle/>
          <a:p>
            <a:pPr algn="ctr">
              <a:lnSpc>
                <a:spcPct val="110000"/>
              </a:lnSpc>
            </a:pPr>
            <a:r>
              <a:rPr sz="750" b="0" i="0">
                <a:solidFill>
                  <a:srgbClr val="958A7B"/>
                </a:solidFill>
                <a:latin typeface="Plus Jakarta Sans"/>
                <a:ea typeface="Plus Jakarta Sans"/>
                <a:cs typeface="Plus Jakarta Sans"/>
              </a:rPr>
              <a:t>Black metal</a:t>
            </a:r>
          </a:p>
        </p:txBody>
      </p:sp>
      <p:sp>
        <p:nvSpPr>
          <p:cNvPr id="17" name="Oval 16"/>
          <p:cNvSpPr/>
          <p:nvPr/>
        </p:nvSpPr>
        <p:spPr>
          <a:xfrm>
            <a:off x="4343400" y="2788920"/>
            <a:ext cx="658368" cy="658368"/>
          </a:xfrm>
          <a:prstGeom prst="ellipse">
            <a:avLst/>
          </a:prstGeom>
          <a:solidFill>
            <a:srgbClr val="C4A06A"/>
          </a:solidFill>
          <a:ln w="12700">
            <a:solidFill>
              <a:srgbClr val="39322B"/>
            </a:solidFill>
          </a:ln>
        </p:spPr>
        <p:txBody>
          <a:bodyPr rtlCol="0" anchor="ctr"/>
          <a:lstStyle/>
          <a:p>
            <a:pPr algn="ctr"/>
          </a:p>
        </p:txBody>
      </p:sp>
      <p:sp>
        <p:nvSpPr>
          <p:cNvPr id="18" name="TextBox 17"/>
          <p:cNvSpPr txBox="1"/>
          <p:nvPr/>
        </p:nvSpPr>
        <p:spPr>
          <a:xfrm>
            <a:off x="4251960" y="3547872"/>
            <a:ext cx="868680" cy="365760"/>
          </a:xfrm>
          <a:prstGeom prst="rect">
            <a:avLst/>
          </a:prstGeom>
          <a:noFill/>
        </p:spPr>
        <p:txBody>
          <a:bodyPr wrap="square" lIns="0" rIns="0" tIns="0" bIns="0">
            <a:spAutoFit/>
          </a:bodyPr>
          <a:lstStyle/>
          <a:p>
            <a:pPr algn="ctr">
              <a:lnSpc>
                <a:spcPct val="110000"/>
              </a:lnSpc>
            </a:pPr>
            <a:r>
              <a:rPr sz="750" b="0" i="0">
                <a:solidFill>
                  <a:srgbClr val="958A7B"/>
                </a:solidFill>
                <a:latin typeface="Plus Jakarta Sans"/>
                <a:ea typeface="Plus Jakarta Sans"/>
                <a:cs typeface="Plus Jakarta Sans"/>
              </a:rPr>
              <a:t>Brass</a:t>
            </a:r>
          </a:p>
        </p:txBody>
      </p:sp>
      <p:sp>
        <p:nvSpPr>
          <p:cNvPr id="19" name="Oval 18"/>
          <p:cNvSpPr/>
          <p:nvPr/>
        </p:nvSpPr>
        <p:spPr>
          <a:xfrm>
            <a:off x="5257800" y="2788920"/>
            <a:ext cx="658368" cy="658368"/>
          </a:xfrm>
          <a:prstGeom prst="ellipse">
            <a:avLst/>
          </a:prstGeom>
          <a:solidFill>
            <a:srgbClr val="6E7B5F"/>
          </a:solidFill>
          <a:ln w="12700">
            <a:solidFill>
              <a:srgbClr val="39322B"/>
            </a:solidFill>
          </a:ln>
        </p:spPr>
        <p:txBody>
          <a:bodyPr rtlCol="0" anchor="ctr"/>
          <a:lstStyle/>
          <a:p>
            <a:pPr algn="ctr"/>
          </a:p>
        </p:txBody>
      </p:sp>
      <p:sp>
        <p:nvSpPr>
          <p:cNvPr id="20" name="TextBox 19"/>
          <p:cNvSpPr txBox="1"/>
          <p:nvPr/>
        </p:nvSpPr>
        <p:spPr>
          <a:xfrm>
            <a:off x="5166360" y="3547872"/>
            <a:ext cx="868680" cy="365760"/>
          </a:xfrm>
          <a:prstGeom prst="rect">
            <a:avLst/>
          </a:prstGeom>
          <a:noFill/>
        </p:spPr>
        <p:txBody>
          <a:bodyPr wrap="square" lIns="0" rIns="0" tIns="0" bIns="0">
            <a:spAutoFit/>
          </a:bodyPr>
          <a:lstStyle/>
          <a:p>
            <a:pPr algn="ctr">
              <a:lnSpc>
                <a:spcPct val="110000"/>
              </a:lnSpc>
            </a:pPr>
            <a:r>
              <a:rPr sz="750" b="0" i="0">
                <a:solidFill>
                  <a:srgbClr val="958A7B"/>
                </a:solidFill>
                <a:latin typeface="Plus Jakarta Sans"/>
                <a:ea typeface="Plus Jakarta Sans"/>
                <a:cs typeface="Plus Jakarta Sans"/>
              </a:rPr>
              <a:t>Green</a:t>
            </a:r>
          </a:p>
        </p:txBody>
      </p:sp>
      <p:sp>
        <p:nvSpPr>
          <p:cNvPr id="21" name="TextBox 20"/>
          <p:cNvSpPr txBox="1"/>
          <p:nvPr/>
        </p:nvSpPr>
        <p:spPr>
          <a:xfrm>
            <a:off x="685800" y="4206240"/>
            <a:ext cx="5303520" cy="2011680"/>
          </a:xfrm>
          <a:prstGeom prst="rect">
            <a:avLst/>
          </a:prstGeom>
          <a:noFill/>
        </p:spPr>
        <p:txBody>
          <a:bodyPr wrap="square" lIns="0" rIns="0" tIns="0" bIns="0">
            <a:spAutoFit/>
          </a:bodyPr>
          <a:lstStyle/>
          <a:p>
            <a:pPr algn="l">
              <a:lnSpc>
                <a:spcPct val="125000"/>
              </a:lnSpc>
              <a:spcAft>
                <a:spcPts val="500"/>
              </a:spcAft>
            </a:pPr>
            <a:r>
              <a:rPr sz="1100" b="0" i="0">
                <a:solidFill>
                  <a:srgbClr val="CFC5B6"/>
                </a:solidFill>
                <a:latin typeface="Plus Jakarta Sans"/>
                <a:ea typeface="Plus Jakarta Sans"/>
                <a:cs typeface="Plus Jakarta Sans"/>
              </a:rPr>
              <a:t/>
            </a:r>
            <a:r>
              <a:rPr sz="1100" b="1">
                <a:solidFill>
                  <a:srgbClr val="B8845A"/>
                </a:solidFill>
                <a:latin typeface="Plus Jakarta Sans"/>
              </a:rPr>
              <a:t>—   </a:t>
            </a:r>
            <a:r>
              <a:rPr sz="1100" b="0">
                <a:solidFill>
                  <a:srgbClr val="CFC5B6"/>
                </a:solidFill>
                <a:latin typeface="Plus Jakarta Sans"/>
              </a:rPr>
              <a:t>Deep charcoal surfaces in matte — never gloss</a:t>
            </a:r>
          </a:p>
          <a:p>
            <a:pPr>
              <a:lnSpc>
                <a:spcPct val="125000"/>
              </a:lnSpc>
              <a:spcAft>
                <a:spcPts val="500"/>
              </a:spcAft>
            </a:pPr>
            <a:r>
              <a:rPr sz="1100" b="1">
                <a:solidFill>
                  <a:srgbClr val="B8845A"/>
                </a:solidFill>
                <a:latin typeface="Plus Jakarta Sans"/>
              </a:rPr>
              <a:t>—   </a:t>
            </a:r>
            <a:r>
              <a:rPr sz="1100" b="0">
                <a:solidFill>
                  <a:srgbClr val="CFC5B6"/>
                </a:solidFill>
                <a:latin typeface="Plus Jakarta Sans"/>
              </a:rPr>
              <a:t>Jute and wood texture to keep the room soft</a:t>
            </a:r>
          </a:p>
          <a:p>
            <a:pPr>
              <a:lnSpc>
                <a:spcPct val="125000"/>
              </a:lnSpc>
              <a:spcAft>
                <a:spcPts val="500"/>
              </a:spcAft>
            </a:pPr>
            <a:r>
              <a:rPr sz="1100" b="1">
                <a:solidFill>
                  <a:srgbClr val="B8845A"/>
                </a:solidFill>
                <a:latin typeface="Plus Jakarta Sans"/>
              </a:rPr>
              <a:t>—   </a:t>
            </a:r>
            <a:r>
              <a:rPr sz="1100" b="0">
                <a:solidFill>
                  <a:srgbClr val="CFC5B6"/>
                </a:solidFill>
                <a:latin typeface="Plus Jakarta Sans"/>
              </a:rPr>
              <a:t>Cream and oatmeal bedding layered over dark furniture</a:t>
            </a:r>
          </a:p>
          <a:p>
            <a:pPr>
              <a:lnSpc>
                <a:spcPct val="125000"/>
              </a:lnSpc>
              <a:spcAft>
                <a:spcPts val="500"/>
              </a:spcAft>
            </a:pPr>
            <a:r>
              <a:rPr sz="1100" b="1">
                <a:solidFill>
                  <a:srgbClr val="B8845A"/>
                </a:solidFill>
                <a:latin typeface="Plus Jakarta Sans"/>
              </a:rPr>
              <a:t>—   </a:t>
            </a:r>
            <a:r>
              <a:rPr sz="1100" b="0">
                <a:solidFill>
                  <a:srgbClr val="CFC5B6"/>
                </a:solidFill>
                <a:latin typeface="Plus Jakarta Sans"/>
              </a:rPr>
              <a:t>Black-framed art, terracotta pots, real plants, brass accents</a:t>
            </a:r>
          </a:p>
        </p:txBody>
      </p:sp>
      <p:pic>
        <p:nvPicPr>
          <p:cNvPr id="22" name="static-photo" descr="image.jpg"/>
          <p:cNvPicPr>
            <a:picLocks noChangeAspect="1"/>
          </p:cNvPicPr>
          <p:nvPr/>
        </p:nvPicPr>
        <p:blipFill>
          <a:blip r:embed="rId3"/>
          <a:stretch>
            <a:fillRect/>
          </a:stretch>
        </p:blipFill>
        <p:spPr>
          <a:xfrm>
            <a:off x="6675120" y="1005840"/>
            <a:ext cx="2651760" cy="5120640"/>
          </a:xfrm>
          <a:prstGeom prst="rect">
            <a:avLst/>
          </a:prstGeom>
        </p:spPr>
      </p:pic>
      <p:pic>
        <p:nvPicPr>
          <p:cNvPr id="23" name="static-photo" descr="image.jpg"/>
          <p:cNvPicPr>
            <a:picLocks noChangeAspect="1"/>
          </p:cNvPicPr>
          <p:nvPr/>
        </p:nvPicPr>
        <p:blipFill>
          <a:blip r:embed="rId4"/>
          <a:stretch>
            <a:fillRect/>
          </a:stretch>
        </p:blipFill>
        <p:spPr>
          <a:xfrm>
            <a:off x="9464040" y="1005840"/>
            <a:ext cx="2041855" cy="2487168"/>
          </a:xfrm>
          <a:prstGeom prst="rect">
            <a:avLst/>
          </a:prstGeom>
        </p:spPr>
      </p:pic>
      <p:pic>
        <p:nvPicPr>
          <p:cNvPr id="24" name="static-photo" descr="image.jpg"/>
          <p:cNvPicPr>
            <a:picLocks noChangeAspect="1"/>
          </p:cNvPicPr>
          <p:nvPr/>
        </p:nvPicPr>
        <p:blipFill>
          <a:blip r:embed="rId5"/>
          <a:stretch>
            <a:fillRect/>
          </a:stretch>
        </p:blipFill>
        <p:spPr>
          <a:xfrm>
            <a:off x="9464040" y="3639312"/>
            <a:ext cx="2041855" cy="2487168"/>
          </a:xfrm>
          <a:prstGeom prst="rect">
            <a:avLst/>
          </a:prstGeom>
        </p:spPr>
      </p:pic>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6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7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childTnLst>
                                </p:cTn>
                              </p:par>
                              <p:par>
                                <p:cTn id="16" presetID="10" presetClass="entr" presetSubtype="0" fill="hold" grpId="0" nodeType="withEffect">
                                  <p:stCondLst>
                                    <p:cond delay="58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00"/>
                                        <p:tgtEl>
                                          <p:spTgt spid="11"/>
                                        </p:tgtEl>
                                      </p:cBhvr>
                                    </p:animEffect>
                                  </p:childTnLst>
                                </p:cTn>
                              </p:par>
                              <p:par>
                                <p:cTn id="19" presetID="10" presetClass="entr" presetSubtype="0" fill="hold" grpId="0" nodeType="withEffect">
                                  <p:stCondLst>
                                    <p:cond delay="69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700"/>
                                        <p:tgtEl>
                                          <p:spTgt spid="13"/>
                                        </p:tgtEl>
                                      </p:cBhvr>
                                    </p:animEffect>
                                  </p:childTnLst>
                                </p:cTn>
                              </p:par>
                              <p:par>
                                <p:cTn id="22" presetID="10" presetClass="entr" presetSubtype="0" fill="hold" grpId="0" nodeType="withEffect">
                                  <p:stCondLst>
                                    <p:cond delay="80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700"/>
                                        <p:tgtEl>
                                          <p:spTgt spid="15"/>
                                        </p:tgtEl>
                                      </p:cBhvr>
                                    </p:animEffect>
                                  </p:childTnLst>
                                </p:cTn>
                              </p:par>
                              <p:par>
                                <p:cTn id="25" presetID="10" presetClass="entr" presetSubtype="0" fill="hold" grpId="0" nodeType="withEffect">
                                  <p:stCondLst>
                                    <p:cond delay="91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700"/>
                                        <p:tgtEl>
                                          <p:spTgt spid="17"/>
                                        </p:tgtEl>
                                      </p:cBhvr>
                                    </p:animEffect>
                                  </p:childTnLst>
                                </p:cTn>
                              </p:par>
                              <p:par>
                                <p:cTn id="28" presetID="10" presetClass="entr" presetSubtype="0" fill="hold" grpId="0" nodeType="withEffect">
                                  <p:stCondLst>
                                    <p:cond delay="102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700"/>
                                        <p:tgtEl>
                                          <p:spTgt spid="19"/>
                                        </p:tgtEl>
                                      </p:cBhvr>
                                    </p:animEffect>
                                  </p:childTnLst>
                                </p:cTn>
                              </p:par>
                              <p:par>
                                <p:cTn id="31" presetID="10" presetClass="entr" presetSubtype="0" fill="hold" grpId="0" nodeType="withEffect">
                                  <p:stCondLst>
                                    <p:cond delay="113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700"/>
                                        <p:tgtEl>
                                          <p:spTgt spid="10"/>
                                        </p:tgtEl>
                                      </p:cBhvr>
                                    </p:animEffect>
                                  </p:childTnLst>
                                </p:cTn>
                              </p:par>
                              <p:par>
                                <p:cTn id="34" presetID="10" presetClass="entr" presetSubtype="0" fill="hold" grpId="0" nodeType="withEffect">
                                  <p:stCondLst>
                                    <p:cond delay="124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700"/>
                                        <p:tgtEl>
                                          <p:spTgt spid="12"/>
                                        </p:tgtEl>
                                      </p:cBhvr>
                                    </p:animEffect>
                                  </p:childTnLst>
                                </p:cTn>
                              </p:par>
                              <p:par>
                                <p:cTn id="37" presetID="10" presetClass="entr" presetSubtype="0" fill="hold" grpId="0" nodeType="withEffect">
                                  <p:stCondLst>
                                    <p:cond delay="13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700"/>
                                        <p:tgtEl>
                                          <p:spTgt spid="14"/>
                                        </p:tgtEl>
                                      </p:cBhvr>
                                    </p:animEffect>
                                  </p:childTnLst>
                                </p:cTn>
                              </p:par>
                              <p:par>
                                <p:cTn id="40" presetID="10" presetClass="entr" presetSubtype="0" fill="hold" grpId="0" nodeType="withEffect">
                                  <p:stCondLst>
                                    <p:cond delay="146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700"/>
                                        <p:tgtEl>
                                          <p:spTgt spid="16"/>
                                        </p:tgtEl>
                                      </p:cBhvr>
                                    </p:animEffect>
                                  </p:childTnLst>
                                </p:cTn>
                              </p:par>
                              <p:par>
                                <p:cTn id="43" presetID="10" presetClass="entr" presetSubtype="0" fill="hold" grpId="0" nodeType="withEffect">
                                  <p:stCondLst>
                                    <p:cond delay="157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700"/>
                                        <p:tgtEl>
                                          <p:spTgt spid="18"/>
                                        </p:tgtEl>
                                      </p:cBhvr>
                                    </p:animEffect>
                                  </p:childTnLst>
                                </p:cTn>
                              </p:par>
                              <p:par>
                                <p:cTn id="46" presetID="10" presetClass="entr" presetSubtype="0" fill="hold" grpId="0" nodeType="withEffect">
                                  <p:stCondLst>
                                    <p:cond delay="168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700"/>
                                        <p:tgtEl>
                                          <p:spTgt spid="20"/>
                                        </p:tgtEl>
                                      </p:cBhvr>
                                    </p:animEffect>
                                  </p:childTnLst>
                                </p:cTn>
                              </p:par>
                              <p:par>
                                <p:cTn id="49" presetID="10" presetClass="entr" presetSubtype="0" fill="hold" grpId="0" nodeType="withEffect">
                                  <p:stCondLst>
                                    <p:cond delay="179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7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3" grpId="0" animBg="1"/>
      <p:bldP spid="15" grpId="0" animBg="1"/>
      <p:bldP spid="17" grpId="0" animBg="1"/>
      <p:bldP spid="19" grpId="0" animBg="1"/>
      <p:bldP spid="10" grpId="0" animBg="1"/>
      <p:bldP spid="12" grpId="0" animBg="1"/>
      <p:bldP spid="14" grpId="0" animBg="1"/>
      <p:bldP spid="16" grpId="0" animBg="1"/>
      <p:bldP spid="18" grpId="0" animBg="1"/>
      <p:bldP spid="20" grpId="0" animBg="1"/>
      <p:bldP spid="2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958A7B"/>
                </a:solidFill>
                <a:latin typeface="Plus Jakarta Sans"/>
                <a:ea typeface="Plus Jakarta Sans"/>
                <a:cs typeface="Plus Jakarta Sans"/>
              </a:rPr>
              <a:t>04 / 17</a:t>
            </a:r>
          </a:p>
        </p:txBody>
      </p:sp>
      <p:pic>
        <p:nvPicPr>
          <p:cNvPr id="7" name="static-photo" descr="image.jpg"/>
          <p:cNvPicPr>
            <a:picLocks noChangeAspect="1"/>
          </p:cNvPicPr>
          <p:nvPr/>
        </p:nvPicPr>
        <p:blipFill>
          <a:blip r:embed="rId3"/>
          <a:stretch>
            <a:fillRect/>
          </a:stretch>
        </p:blipFill>
        <p:spPr>
          <a:xfrm>
            <a:off x="6035040" y="0"/>
            <a:ext cx="6156655" cy="6858000"/>
          </a:xfrm>
          <a:prstGeom prst="rect">
            <a:avLst/>
          </a:prstGeom>
        </p:spPr>
      </p:pic>
      <p:sp>
        <p:nvSpPr>
          <p:cNvPr id="8" name="static-mask"/>
          <p:cNvSpPr/>
          <p:nvPr/>
        </p:nvSpPr>
        <p:spPr>
          <a:xfrm>
            <a:off x="6035040" y="0"/>
            <a:ext cx="1280160" cy="6858000"/>
          </a:xfrm>
          <a:prstGeom prst="rect">
            <a:avLst/>
          </a:prstGeom>
          <a:gradFill rotWithShape="1" flip="none">
            <a:gsLst>
              <a:gs pos="0">
                <a:srgbClr val="151311">
                  <a:alpha val="100000"/>
                </a:srgbClr>
              </a:gs>
              <a:gs pos="100000">
                <a:srgbClr val="151311">
                  <a:alpha val="0"/>
                </a:srgbClr>
              </a:gs>
            </a:gsLst>
            <a:lin ang="0" scaled="1"/>
          </a:gradFill>
          <a:ln>
            <a:noFill/>
          </a:ln>
        </p:spPr>
        <p:txBody>
          <a:bodyPr rtlCol="0" anchor="ctr"/>
          <a:lstStyle/>
          <a:p>
            <a:pPr algn="ctr"/>
          </a:p>
        </p:txBody>
      </p:sp>
      <p:sp>
        <p:nvSpPr>
          <p:cNvPr id="9" name="TextBox 8"/>
          <p:cNvSpPr txBox="1"/>
          <p:nvPr/>
        </p:nvSpPr>
        <p:spPr>
          <a:xfrm>
            <a:off x="685800" y="100584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THE SINGLE BIGGEST CHANGE</a:t>
            </a:r>
          </a:p>
        </p:txBody>
      </p:sp>
      <p:sp>
        <p:nvSpPr>
          <p:cNvPr id="10" name="TextBox 9"/>
          <p:cNvSpPr txBox="1"/>
          <p:nvPr/>
        </p:nvSpPr>
        <p:spPr>
          <a:xfrm>
            <a:off x="685800" y="1280160"/>
            <a:ext cx="5303520" cy="914400"/>
          </a:xfrm>
          <a:prstGeom prst="rect">
            <a:avLst/>
          </a:prstGeom>
          <a:noFill/>
        </p:spPr>
        <p:txBody>
          <a:bodyPr wrap="square" lIns="0" rIns="0" tIns="0" bIns="0">
            <a:spAutoFit/>
          </a:bodyPr>
          <a:lstStyle/>
          <a:p>
            <a:pPr algn="l">
              <a:lnSpc>
                <a:spcPct val="92000"/>
              </a:lnSpc>
            </a:pPr>
            <a:r>
              <a:rPr sz="5200" b="0" i="0">
                <a:solidFill>
                  <a:srgbClr val="EFE6D8"/>
                </a:solidFill>
                <a:latin typeface="Cormorant Garamond"/>
                <a:ea typeface="Plus Jakarta Sans"/>
                <a:cs typeface="Plus Jakarta Sans"/>
              </a:rPr>
              <a:t>It’s the light.</a:t>
            </a:r>
          </a:p>
        </p:txBody>
      </p:sp>
      <p:sp>
        <p:nvSpPr>
          <p:cNvPr id="11" name="TextBox 10"/>
          <p:cNvSpPr txBox="1"/>
          <p:nvPr/>
        </p:nvSpPr>
        <p:spPr>
          <a:xfrm>
            <a:off x="685800" y="2331720"/>
            <a:ext cx="5303520" cy="1463040"/>
          </a:xfrm>
          <a:prstGeom prst="rect">
            <a:avLst/>
          </a:prstGeom>
          <a:noFill/>
        </p:spPr>
        <p:txBody>
          <a:bodyPr wrap="square" lIns="0" rIns="0" tIns="0" bIns="0">
            <a:spAutoFit/>
          </a:bodyPr>
          <a:lstStyle/>
          <a:p>
            <a:pPr algn="l">
              <a:lnSpc>
                <a:spcPct val="85000"/>
              </a:lnSpc>
            </a:pPr>
            <a:r>
              <a:rPr sz="11000" b="0" i="0">
                <a:solidFill>
                  <a:srgbClr val="C4A06A"/>
                </a:solidFill>
                <a:latin typeface="Cormorant Garamond"/>
                <a:ea typeface="Plus Jakarta Sans"/>
                <a:cs typeface="Plus Jakarta Sans"/>
              </a:rPr>
              <a:t>2700K</a:t>
            </a:r>
          </a:p>
        </p:txBody>
      </p:sp>
      <p:sp>
        <p:nvSpPr>
          <p:cNvPr id="12" name="TextBox 11"/>
          <p:cNvSpPr txBox="1"/>
          <p:nvPr/>
        </p:nvSpPr>
        <p:spPr>
          <a:xfrm>
            <a:off x="685800" y="3931920"/>
            <a:ext cx="4937760" cy="274320"/>
          </a:xfrm>
          <a:prstGeom prst="rect">
            <a:avLst/>
          </a:prstGeom>
          <a:noFill/>
        </p:spPr>
        <p:txBody>
          <a:bodyPr wrap="square" lIns="0" rIns="0" tIns="0" bIns="0">
            <a:spAutoFit/>
          </a:bodyPr>
          <a:lstStyle/>
          <a:p>
            <a:pPr algn="l"/>
            <a:r>
              <a:rPr sz="1100" b="1" i="0">
                <a:solidFill>
                  <a:srgbClr val="EFE6D8"/>
                </a:solidFill>
                <a:latin typeface="Plus Jakarta Sans"/>
                <a:ea typeface="Plus Jakarta Sans"/>
                <a:cs typeface="Plus Jakarta Sans"/>
              </a:rPr>
              <a:t>warm, in every fitting we install</a:t>
            </a:r>
          </a:p>
        </p:txBody>
      </p:sp>
      <p:sp>
        <p:nvSpPr>
          <p:cNvPr id="13" name="Rectangle 12"/>
          <p:cNvSpPr/>
          <p:nvPr/>
        </p:nvSpPr>
        <p:spPr>
          <a:xfrm>
            <a:off x="685800" y="4343400"/>
            <a:ext cx="4846320" cy="10972"/>
          </a:xfrm>
          <a:prstGeom prst="rect">
            <a:avLst/>
          </a:prstGeom>
          <a:solidFill>
            <a:srgbClr val="39322B"/>
          </a:solidFill>
          <a:ln>
            <a:noFill/>
          </a:ln>
        </p:spPr>
        <p:txBody>
          <a:bodyPr rtlCol="0" anchor="ctr"/>
          <a:lstStyle/>
          <a:p>
            <a:pPr algn="ctr"/>
          </a:p>
        </p:txBody>
      </p:sp>
      <p:sp>
        <p:nvSpPr>
          <p:cNvPr id="14" name="TextBox 13"/>
          <p:cNvSpPr txBox="1"/>
          <p:nvPr/>
        </p:nvSpPr>
        <p:spPr>
          <a:xfrm>
            <a:off x="685800" y="4526280"/>
            <a:ext cx="5029200" cy="1463040"/>
          </a:xfrm>
          <a:prstGeom prst="rect">
            <a:avLst/>
          </a:prstGeom>
          <a:noFill/>
        </p:spPr>
        <p:txBody>
          <a:bodyPr wrap="square" lIns="0" rIns="0" tIns="0" bIns="0">
            <a:spAutoFit/>
          </a:bodyPr>
          <a:lstStyle/>
          <a:p>
            <a:pPr algn="l">
              <a:lnSpc>
                <a:spcPct val="145000"/>
              </a:lnSpc>
            </a:pPr>
            <a:r>
              <a:rPr sz="1200" b="0" i="0">
                <a:solidFill>
                  <a:srgbClr val="CFC5B6"/>
                </a:solidFill>
                <a:latin typeface="Plus Jakarta Sans"/>
                <a:ea typeface="Plus Jakarta Sans"/>
                <a:cs typeface="Plus Jakarta Sans"/>
              </a:rPr>
              <a:t>White tubelights make any room photograph like a clinic. We light from lamps, sconces and a pendant instead of one ceiling tube — the difference between a dark room and an expensive one.</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00"/>
                                        <p:tgtEl>
                                          <p:spTgt spid="9"/>
                                        </p:tgtEl>
                                      </p:cBhvr>
                                    </p:animEffect>
                                  </p:childTnLst>
                                </p:cTn>
                              </p:par>
                              <p:par>
                                <p:cTn id="8" presetID="42" presetClass="entr" presetSubtype="0" fill="hold" grpId="0" nodeType="withEffect">
                                  <p:stCondLst>
                                    <p:cond delay="36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900"/>
                                        <p:tgtEl>
                                          <p:spTgt spid="10"/>
                                        </p:tgtEl>
                                      </p:cBhvr>
                                    </p:animEffect>
                                    <p:anim calcmode="lin" valueType="num">
                                      <p:cBhvr>
                                        <p:cTn id="11" dur="900" decel="100000"/>
                                        <p:tgtEl>
                                          <p:spTgt spid="10"/>
                                        </p:tgtEl>
                                        <p:attrNameLst>
                                          <p:attrName>ppt_x</p:attrName>
                                        </p:attrNameLst>
                                      </p:cBhvr>
                                      <p:tavLst>
                                        <p:tav tm="0">
                                          <p:val>
                                            <p:strVal val="#ppt_x"/>
                                          </p:val>
                                        </p:tav>
                                        <p:tav tm="100000">
                                          <p:val>
                                            <p:strVal val="#ppt_x"/>
                                          </p:val>
                                        </p:tav>
                                      </p:tavLst>
                                    </p:anim>
                                    <p:anim calcmode="lin" valueType="num">
                                      <p:cBhvr>
                                        <p:cTn id="12" dur="900" decel="100000"/>
                                        <p:tgtEl>
                                          <p:spTgt spid="10"/>
                                        </p:tgtEl>
                                        <p:attrNameLst>
                                          <p:attrName>ppt_y</p:attrName>
                                        </p:attrNameLst>
                                      </p:cBhvr>
                                      <p:tavLst>
                                        <p:tav tm="0">
                                          <p:val>
                                            <p:strVal val="#ppt_y+.035"/>
                                          </p:val>
                                        </p:tav>
                                        <p:tav tm="100000">
                                          <p:val>
                                            <p:strVal val="#ppt_y"/>
                                          </p:val>
                                        </p:tav>
                                      </p:tavLst>
                                    </p:anim>
                                  </p:childTnLst>
                                </p:cTn>
                              </p:par>
                              <p:par>
                                <p:cTn id="13" presetID="42" presetClass="entr" presetSubtype="0" fill="hold" grpId="0" nodeType="withEffect">
                                  <p:stCondLst>
                                    <p:cond delay="47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900"/>
                                        <p:tgtEl>
                                          <p:spTgt spid="11"/>
                                        </p:tgtEl>
                                      </p:cBhvr>
                                    </p:animEffect>
                                    <p:anim calcmode="lin" valueType="num">
                                      <p:cBhvr>
                                        <p:cTn id="16" dur="900" decel="100000"/>
                                        <p:tgtEl>
                                          <p:spTgt spid="11"/>
                                        </p:tgtEl>
                                        <p:attrNameLst>
                                          <p:attrName>ppt_x</p:attrName>
                                        </p:attrNameLst>
                                      </p:cBhvr>
                                      <p:tavLst>
                                        <p:tav tm="0">
                                          <p:val>
                                            <p:strVal val="#ppt_x"/>
                                          </p:val>
                                        </p:tav>
                                        <p:tav tm="100000">
                                          <p:val>
                                            <p:strVal val="#ppt_x"/>
                                          </p:val>
                                        </p:tav>
                                      </p:tavLst>
                                    </p:anim>
                                    <p:anim calcmode="lin" valueType="num">
                                      <p:cBhvr>
                                        <p:cTn id="17" dur="900" decel="100000"/>
                                        <p:tgtEl>
                                          <p:spTgt spid="11"/>
                                        </p:tgtEl>
                                        <p:attrNameLst>
                                          <p:attrName>ppt_y</p:attrName>
                                        </p:attrNameLst>
                                      </p:cBhvr>
                                      <p:tavLst>
                                        <p:tav tm="0">
                                          <p:val>
                                            <p:strVal val="#ppt_y+.035"/>
                                          </p:val>
                                        </p:tav>
                                        <p:tav tm="100000">
                                          <p:val>
                                            <p:strVal val="#ppt_y"/>
                                          </p:val>
                                        </p:tav>
                                      </p:tavLst>
                                    </p:anim>
                                  </p:childTnLst>
                                </p:cTn>
                              </p:par>
                              <p:par>
                                <p:cTn id="18" presetID="10" presetClass="entr" presetSubtype="0" fill="hold" grpId="0" nodeType="withEffect">
                                  <p:stCondLst>
                                    <p:cond delay="58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700"/>
                                        <p:tgtEl>
                                          <p:spTgt spid="12"/>
                                        </p:tgtEl>
                                      </p:cBhvr>
                                    </p:animEffect>
                                  </p:childTnLst>
                                </p:cTn>
                              </p:par>
                              <p:par>
                                <p:cTn id="21" presetID="22" presetClass="entr" presetSubtype="8" fill="hold" grpId="0" nodeType="withEffect">
                                  <p:stCondLst>
                                    <p:cond delay="69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700"/>
                                        <p:tgtEl>
                                          <p:spTgt spid="13"/>
                                        </p:tgtEl>
                                      </p:cBhvr>
                                    </p:animEffect>
                                  </p:childTnLst>
                                </p:cTn>
                              </p:par>
                              <p:par>
                                <p:cTn id="24" presetID="10" presetClass="entr" presetSubtype="0" fill="hold" grpId="0" nodeType="withEffect">
                                  <p:stCondLst>
                                    <p:cond delay="80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7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958A7B"/>
                </a:solidFill>
                <a:latin typeface="Plus Jakarta Sans"/>
                <a:ea typeface="Plus Jakarta Sans"/>
                <a:cs typeface="Plus Jakarta Sans"/>
              </a:rPr>
              <a:t>05 / 17</a:t>
            </a:r>
          </a:p>
        </p:txBody>
      </p:sp>
      <p:sp>
        <p:nvSpPr>
          <p:cNvPr id="7" name="TextBox 6"/>
          <p:cNvSpPr txBox="1"/>
          <p:nvPr/>
        </p:nvSpPr>
        <p:spPr>
          <a:xfrm>
            <a:off x="685800" y="1005840"/>
            <a:ext cx="73152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SAMPLE IMAGES  ·  HOW YOUR AIRBNB COULD LOOK</a:t>
            </a:r>
          </a:p>
        </p:txBody>
      </p:sp>
      <p:sp>
        <p:nvSpPr>
          <p:cNvPr id="8" name="TextBox 7"/>
          <p:cNvSpPr txBox="1"/>
          <p:nvPr/>
        </p:nvSpPr>
        <p:spPr>
          <a:xfrm>
            <a:off x="685800" y="1280160"/>
            <a:ext cx="9144000" cy="822960"/>
          </a:xfrm>
          <a:prstGeom prst="rect">
            <a:avLst/>
          </a:prstGeom>
          <a:noFill/>
        </p:spPr>
        <p:txBody>
          <a:bodyPr wrap="square" lIns="0" rIns="0" tIns="0" bIns="0">
            <a:spAutoFit/>
          </a:bodyPr>
          <a:lstStyle/>
          <a:p>
            <a:pPr algn="l">
              <a:lnSpc>
                <a:spcPct val="92000"/>
              </a:lnSpc>
            </a:pPr>
            <a:r>
              <a:rPr sz="4000" b="0" i="0">
                <a:solidFill>
                  <a:srgbClr val="EFE6D8"/>
                </a:solidFill>
                <a:latin typeface="Cormorant Garamond"/>
                <a:ea typeface="Plus Jakarta Sans"/>
                <a:cs typeface="Plus Jakarta Sans"/>
              </a:rPr>
              <a:t>Picture your studio like this.</a:t>
            </a:r>
          </a:p>
        </p:txBody>
      </p:sp>
      <p:pic>
        <p:nvPicPr>
          <p:cNvPr id="9" name="static-photo" descr="image.jpg"/>
          <p:cNvPicPr>
            <a:picLocks noChangeAspect="1"/>
          </p:cNvPicPr>
          <p:nvPr/>
        </p:nvPicPr>
        <p:blipFill>
          <a:blip r:embed="rId3"/>
          <a:stretch>
            <a:fillRect/>
          </a:stretch>
        </p:blipFill>
        <p:spPr>
          <a:xfrm>
            <a:off x="685800" y="2194560"/>
            <a:ext cx="3454298" cy="3749039"/>
          </a:xfrm>
          <a:prstGeom prst="rect">
            <a:avLst/>
          </a:prstGeom>
        </p:spPr>
      </p:pic>
      <p:sp>
        <p:nvSpPr>
          <p:cNvPr id="11" name="TextBox 10"/>
          <p:cNvSpPr txBox="1"/>
          <p:nvPr/>
        </p:nvSpPr>
        <p:spPr>
          <a:xfrm>
            <a:off x="685800" y="6053328"/>
            <a:ext cx="3454298" cy="274320"/>
          </a:xfrm>
          <a:prstGeom prst="rect">
            <a:avLst/>
          </a:prstGeom>
          <a:noFill/>
        </p:spPr>
        <p:txBody>
          <a:bodyPr wrap="square" lIns="0" rIns="0" tIns="0" bIns="0">
            <a:spAutoFit/>
          </a:bodyPr>
          <a:lstStyle/>
          <a:p>
            <a:pPr algn="l"/>
            <a:r>
              <a:rPr sz="1500" b="0" i="1">
                <a:solidFill>
                  <a:srgbClr val="EFE6D8"/>
                </a:solidFill>
                <a:latin typeface="Cormorant Garamond"/>
                <a:ea typeface="Plus Jakarta Sans"/>
                <a:cs typeface="Plus Jakarta Sans"/>
              </a:rPr>
              <a:t>Living, sleeping, dining</a:t>
            </a:r>
          </a:p>
        </p:txBody>
      </p:sp>
      <p:pic>
        <p:nvPicPr>
          <p:cNvPr id="12" name="static-photo" descr="image.jpg"/>
          <p:cNvPicPr>
            <a:picLocks noChangeAspect="1"/>
          </p:cNvPicPr>
          <p:nvPr/>
        </p:nvPicPr>
        <p:blipFill>
          <a:blip r:embed="rId4"/>
          <a:stretch>
            <a:fillRect/>
          </a:stretch>
        </p:blipFill>
        <p:spPr>
          <a:xfrm>
            <a:off x="4368698" y="2194560"/>
            <a:ext cx="3454298" cy="3749039"/>
          </a:xfrm>
          <a:prstGeom prst="rect">
            <a:avLst/>
          </a:prstGeom>
        </p:spPr>
      </p:pic>
      <p:sp>
        <p:nvSpPr>
          <p:cNvPr id="14" name="TextBox 13"/>
          <p:cNvSpPr txBox="1"/>
          <p:nvPr/>
        </p:nvSpPr>
        <p:spPr>
          <a:xfrm>
            <a:off x="4368698" y="6053328"/>
            <a:ext cx="3454298" cy="274320"/>
          </a:xfrm>
          <a:prstGeom prst="rect">
            <a:avLst/>
          </a:prstGeom>
          <a:noFill/>
        </p:spPr>
        <p:txBody>
          <a:bodyPr wrap="square" lIns="0" rIns="0" tIns="0" bIns="0">
            <a:spAutoFit/>
          </a:bodyPr>
          <a:lstStyle/>
          <a:p>
            <a:pPr algn="l"/>
            <a:r>
              <a:rPr sz="1500" b="0" i="1">
                <a:solidFill>
                  <a:srgbClr val="EFE6D8"/>
                </a:solidFill>
                <a:latin typeface="Cormorant Garamond"/>
                <a:ea typeface="Plus Jakarta Sans"/>
                <a:cs typeface="Plus Jakarta Sans"/>
              </a:rPr>
              <a:t>The whole studio, planned</a:t>
            </a:r>
          </a:p>
        </p:txBody>
      </p:sp>
      <p:pic>
        <p:nvPicPr>
          <p:cNvPr id="15" name="static-photo" descr="image.jpg"/>
          <p:cNvPicPr>
            <a:picLocks noChangeAspect="1"/>
          </p:cNvPicPr>
          <p:nvPr/>
        </p:nvPicPr>
        <p:blipFill>
          <a:blip r:embed="rId5"/>
          <a:stretch>
            <a:fillRect/>
          </a:stretch>
        </p:blipFill>
        <p:spPr>
          <a:xfrm>
            <a:off x="8051596" y="2194560"/>
            <a:ext cx="3454298" cy="3749039"/>
          </a:xfrm>
          <a:prstGeom prst="rect">
            <a:avLst/>
          </a:prstGeom>
        </p:spPr>
      </p:pic>
      <p:sp>
        <p:nvSpPr>
          <p:cNvPr id="17" name="TextBox 16"/>
          <p:cNvSpPr txBox="1"/>
          <p:nvPr/>
        </p:nvSpPr>
        <p:spPr>
          <a:xfrm>
            <a:off x="8051596" y="6053328"/>
            <a:ext cx="3454298" cy="274320"/>
          </a:xfrm>
          <a:prstGeom prst="rect">
            <a:avLst/>
          </a:prstGeom>
          <a:noFill/>
        </p:spPr>
        <p:txBody>
          <a:bodyPr wrap="square" lIns="0" rIns="0" tIns="0" bIns="0">
            <a:spAutoFit/>
          </a:bodyPr>
          <a:lstStyle/>
          <a:p>
            <a:pPr algn="l"/>
            <a:r>
              <a:rPr sz="1500" b="0" i="1">
                <a:solidFill>
                  <a:srgbClr val="EFE6D8"/>
                </a:solidFill>
                <a:latin typeface="Cormorant Garamond"/>
                <a:ea typeface="Plus Jakarta Sans"/>
                <a:cs typeface="Plus Jakarta Sans"/>
              </a:rPr>
              <a:t>Kitchenette and bed</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
        <p:nvSpPr>
          <p:cNvPr id="10" name="static-tag"/>
          <p:cNvSpPr txBox="1"/>
          <p:nvPr/>
        </p:nvSpPr>
        <p:spPr>
          <a:xfrm>
            <a:off x="822960" y="5623560"/>
            <a:ext cx="3179978" cy="228600"/>
          </a:xfrm>
          <a:prstGeom prst="rect">
            <a:avLst/>
          </a:prstGeom>
          <a:noFill/>
        </p:spPr>
        <p:txBody>
          <a:bodyPr wrap="square" lIns="0" rIns="0" tIns="0" bIns="0">
            <a:spAutoFit/>
          </a:bodyPr>
          <a:lstStyle/>
          <a:p>
            <a:pPr algn="l"/>
            <a:r>
              <a:rPr sz="700" b="1" i="0" spc="250">
                <a:solidFill>
                  <a:srgbClr val="FFFFFF"/>
                </a:solidFill>
                <a:latin typeface="Plus Jakarta Sans"/>
                <a:ea typeface="Plus Jakarta Sans"/>
                <a:cs typeface="Plus Jakarta Sans"/>
              </a:rPr>
              <a:t>SAMPLE IMAGE</a:t>
            </a:r>
          </a:p>
        </p:txBody>
      </p:sp>
      <p:sp>
        <p:nvSpPr>
          <p:cNvPr id="13" name="static-tag"/>
          <p:cNvSpPr txBox="1"/>
          <p:nvPr/>
        </p:nvSpPr>
        <p:spPr>
          <a:xfrm>
            <a:off x="4505858" y="5623560"/>
            <a:ext cx="3179978" cy="228600"/>
          </a:xfrm>
          <a:prstGeom prst="rect">
            <a:avLst/>
          </a:prstGeom>
          <a:noFill/>
        </p:spPr>
        <p:txBody>
          <a:bodyPr wrap="square" lIns="0" rIns="0" tIns="0" bIns="0">
            <a:spAutoFit/>
          </a:bodyPr>
          <a:lstStyle/>
          <a:p>
            <a:pPr algn="l"/>
            <a:r>
              <a:rPr sz="700" b="1" i="0" spc="250">
                <a:solidFill>
                  <a:srgbClr val="FFFFFF"/>
                </a:solidFill>
                <a:latin typeface="Plus Jakarta Sans"/>
                <a:ea typeface="Plus Jakarta Sans"/>
                <a:cs typeface="Plus Jakarta Sans"/>
              </a:rPr>
              <a:t>SAMPLE IMAGE</a:t>
            </a:r>
          </a:p>
        </p:txBody>
      </p:sp>
      <p:sp>
        <p:nvSpPr>
          <p:cNvPr id="16" name="static-tag"/>
          <p:cNvSpPr txBox="1"/>
          <p:nvPr/>
        </p:nvSpPr>
        <p:spPr>
          <a:xfrm>
            <a:off x="8188756" y="5623560"/>
            <a:ext cx="3179978" cy="228600"/>
          </a:xfrm>
          <a:prstGeom prst="rect">
            <a:avLst/>
          </a:prstGeom>
          <a:noFill/>
        </p:spPr>
        <p:txBody>
          <a:bodyPr wrap="square" lIns="0" rIns="0" tIns="0" bIns="0">
            <a:spAutoFit/>
          </a:bodyPr>
          <a:lstStyle/>
          <a:p>
            <a:pPr algn="l"/>
            <a:r>
              <a:rPr sz="700" b="1" i="0" spc="250">
                <a:solidFill>
                  <a:srgbClr val="FFFFFF"/>
                </a:solidFill>
                <a:latin typeface="Plus Jakarta Sans"/>
                <a:ea typeface="Plus Jakarta Sans"/>
                <a:cs typeface="Plus Jakarta Sans"/>
              </a:rPr>
              <a:t>SAMPLE IMAGE</a:t>
            </a:r>
          </a:p>
        </p:txBody>
      </p:sp>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6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7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700"/>
                                        <p:tgtEl>
                                          <p:spTgt spid="11"/>
                                        </p:tgtEl>
                                      </p:cBhvr>
                                    </p:animEffect>
                                  </p:childTnLst>
                                </p:cTn>
                              </p:par>
                              <p:par>
                                <p:cTn id="16" presetID="10" presetClass="entr" presetSubtype="0" fill="hold" grpId="0" nodeType="withEffect">
                                  <p:stCondLst>
                                    <p:cond delay="58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700"/>
                                        <p:tgtEl>
                                          <p:spTgt spid="14"/>
                                        </p:tgtEl>
                                      </p:cBhvr>
                                    </p:animEffect>
                                  </p:childTnLst>
                                </p:cTn>
                              </p:par>
                              <p:par>
                                <p:cTn id="19" presetID="10" presetClass="entr" presetSubtype="0" fill="hold" grpId="0" nodeType="withEffect">
                                  <p:stCondLst>
                                    <p:cond delay="69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7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4" grpId="0" animBg="1"/>
      <p:bldP spid="1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EDE6DA"/>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8A7F71"/>
                </a:solidFill>
                <a:latin typeface="Plus Jakarta Sans"/>
                <a:ea typeface="Plus Jakarta Sans"/>
                <a:cs typeface="Plus Jakarta Sans"/>
              </a:rPr>
              <a:t>06 / 17</a:t>
            </a:r>
          </a:p>
        </p:txBody>
      </p:sp>
      <p:sp>
        <p:nvSpPr>
          <p:cNvPr id="7" name="TextBox 6"/>
          <p:cNvSpPr txBox="1"/>
          <p:nvPr/>
        </p:nvSpPr>
        <p:spPr>
          <a:xfrm>
            <a:off x="685800" y="914400"/>
            <a:ext cx="73152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EVERYTHING INCLUDED, WITH SIZES  ·  1 OF 4</a:t>
            </a:r>
          </a:p>
        </p:txBody>
      </p:sp>
      <p:pic>
        <p:nvPicPr>
          <p:cNvPr id="8" name="static-photo" descr="image.jpg"/>
          <p:cNvPicPr>
            <a:picLocks noChangeAspect="1"/>
          </p:cNvPicPr>
          <p:nvPr/>
        </p:nvPicPr>
        <p:blipFill>
          <a:blip r:embed="rId3"/>
          <a:stretch>
            <a:fillRect/>
          </a:stretch>
        </p:blipFill>
        <p:spPr>
          <a:xfrm>
            <a:off x="685800" y="1325880"/>
            <a:ext cx="5135727" cy="1051560"/>
          </a:xfrm>
          <a:prstGeom prst="rect">
            <a:avLst/>
          </a:prstGeom>
        </p:spPr>
      </p:pic>
      <p:sp>
        <p:nvSpPr>
          <p:cNvPr id="9" name="TextBox 8"/>
          <p:cNvSpPr txBox="1"/>
          <p:nvPr/>
        </p:nvSpPr>
        <p:spPr>
          <a:xfrm>
            <a:off x="685800" y="2560320"/>
            <a:ext cx="5135727" cy="411480"/>
          </a:xfrm>
          <a:prstGeom prst="rect">
            <a:avLst/>
          </a:prstGeom>
          <a:noFill/>
        </p:spPr>
        <p:txBody>
          <a:bodyPr wrap="square" lIns="0" rIns="0" tIns="0" bIns="0">
            <a:spAutoFit/>
          </a:bodyPr>
          <a:lstStyle/>
          <a:p>
            <a:pPr algn="l">
              <a:lnSpc>
                <a:spcPct val="92000"/>
              </a:lnSpc>
            </a:pPr>
            <a:r>
              <a:rPr sz="2400" b="0" i="0">
                <a:solidFill>
                  <a:srgbClr val="1B1815"/>
                </a:solidFill>
                <a:latin typeface="Cormorant Garamond"/>
                <a:ea typeface="Plus Jakarta Sans"/>
                <a:cs typeface="Plus Jakarta Sans"/>
              </a:rPr>
              <a:t>Sleep</a:t>
            </a:r>
          </a:p>
        </p:txBody>
      </p:sp>
      <p:sp>
        <p:nvSpPr>
          <p:cNvPr id="10" name="Rectangle 9"/>
          <p:cNvSpPr/>
          <p:nvPr/>
        </p:nvSpPr>
        <p:spPr>
          <a:xfrm>
            <a:off x="685800" y="3035808"/>
            <a:ext cx="5135727" cy="10972"/>
          </a:xfrm>
          <a:prstGeom prst="rect">
            <a:avLst/>
          </a:prstGeom>
          <a:solidFill>
            <a:srgbClr val="D2C6B4"/>
          </a:solidFill>
          <a:ln>
            <a:noFill/>
          </a:ln>
        </p:spPr>
        <p:txBody>
          <a:bodyPr rtlCol="0" anchor="ctr"/>
          <a:lstStyle/>
          <a:p>
            <a:pPr algn="ctr"/>
          </a:p>
        </p:txBody>
      </p:sp>
      <p:sp>
        <p:nvSpPr>
          <p:cNvPr id="11" name="TextBox 10"/>
          <p:cNvSpPr txBox="1"/>
          <p:nvPr/>
        </p:nvSpPr>
        <p:spPr>
          <a:xfrm>
            <a:off x="685800" y="310896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Queen bed frame with box storage, dark finish</a:t>
            </a:r>
          </a:p>
        </p:txBody>
      </p:sp>
      <p:sp>
        <p:nvSpPr>
          <p:cNvPr id="12" name="TextBox 11"/>
          <p:cNvSpPr txBox="1"/>
          <p:nvPr/>
        </p:nvSpPr>
        <p:spPr>
          <a:xfrm>
            <a:off x="4129887" y="310896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78 × 60 in</a:t>
            </a:r>
          </a:p>
        </p:txBody>
      </p:sp>
      <p:sp>
        <p:nvSpPr>
          <p:cNvPr id="13" name="Rectangle 12"/>
          <p:cNvSpPr/>
          <p:nvPr/>
        </p:nvSpPr>
        <p:spPr>
          <a:xfrm>
            <a:off x="685800" y="3364991"/>
            <a:ext cx="5135727" cy="10972"/>
          </a:xfrm>
          <a:prstGeom prst="rect">
            <a:avLst/>
          </a:prstGeom>
          <a:solidFill>
            <a:srgbClr val="D2C6B4"/>
          </a:solidFill>
          <a:ln>
            <a:noFill/>
          </a:ln>
        </p:spPr>
        <p:txBody>
          <a:bodyPr rtlCol="0" anchor="ctr"/>
          <a:lstStyle/>
          <a:p>
            <a:pPr algn="ctr"/>
          </a:p>
        </p:txBody>
      </p:sp>
      <p:sp>
        <p:nvSpPr>
          <p:cNvPr id="14" name="TextBox 13"/>
          <p:cNvSpPr txBox="1"/>
          <p:nvPr/>
        </p:nvSpPr>
        <p:spPr>
          <a:xfrm>
            <a:off x="685800" y="343814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Medium-firm mattress</a:t>
            </a:r>
          </a:p>
        </p:txBody>
      </p:sp>
      <p:sp>
        <p:nvSpPr>
          <p:cNvPr id="15" name="TextBox 14"/>
          <p:cNvSpPr txBox="1"/>
          <p:nvPr/>
        </p:nvSpPr>
        <p:spPr>
          <a:xfrm>
            <a:off x="4129887" y="343814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78 × 60 × 6 in</a:t>
            </a:r>
          </a:p>
        </p:txBody>
      </p:sp>
      <p:sp>
        <p:nvSpPr>
          <p:cNvPr id="16" name="Rectangle 15"/>
          <p:cNvSpPr/>
          <p:nvPr/>
        </p:nvSpPr>
        <p:spPr>
          <a:xfrm>
            <a:off x="685800" y="3694176"/>
            <a:ext cx="5135727" cy="10972"/>
          </a:xfrm>
          <a:prstGeom prst="rect">
            <a:avLst/>
          </a:prstGeom>
          <a:solidFill>
            <a:srgbClr val="D2C6B4"/>
          </a:solidFill>
          <a:ln>
            <a:noFill/>
          </a:ln>
        </p:spPr>
        <p:txBody>
          <a:bodyPr rtlCol="0" anchor="ctr"/>
          <a:lstStyle/>
          <a:p>
            <a:pPr algn="ctr"/>
          </a:p>
        </p:txBody>
      </p:sp>
      <p:sp>
        <p:nvSpPr>
          <p:cNvPr id="17" name="TextBox 16"/>
          <p:cNvSpPr txBox="1"/>
          <p:nvPr/>
        </p:nvSpPr>
        <p:spPr>
          <a:xfrm>
            <a:off x="685800" y="3767328"/>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Mattress protectors</a:t>
            </a:r>
          </a:p>
        </p:txBody>
      </p:sp>
      <p:sp>
        <p:nvSpPr>
          <p:cNvPr id="18" name="TextBox 17"/>
          <p:cNvSpPr txBox="1"/>
          <p:nvPr/>
        </p:nvSpPr>
        <p:spPr>
          <a:xfrm>
            <a:off x="4129887" y="3767328"/>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78 × 60 in</a:t>
            </a:r>
          </a:p>
        </p:txBody>
      </p:sp>
      <p:sp>
        <p:nvSpPr>
          <p:cNvPr id="19" name="Rectangle 18"/>
          <p:cNvSpPr/>
          <p:nvPr/>
        </p:nvSpPr>
        <p:spPr>
          <a:xfrm>
            <a:off x="685800" y="4023360"/>
            <a:ext cx="5135727" cy="10972"/>
          </a:xfrm>
          <a:prstGeom prst="rect">
            <a:avLst/>
          </a:prstGeom>
          <a:solidFill>
            <a:srgbClr val="D2C6B4"/>
          </a:solidFill>
          <a:ln>
            <a:noFill/>
          </a:ln>
        </p:spPr>
        <p:txBody>
          <a:bodyPr rtlCol="0" anchor="ctr"/>
          <a:lstStyle/>
          <a:p>
            <a:pPr algn="ctr"/>
          </a:p>
        </p:txBody>
      </p:sp>
      <p:sp>
        <p:nvSpPr>
          <p:cNvPr id="20" name="TextBox 19"/>
          <p:cNvSpPr txBox="1"/>
          <p:nvPr/>
        </p:nvSpPr>
        <p:spPr>
          <a:xfrm>
            <a:off x="685800" y="4096512"/>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Pillows — soft and firm, with protectors</a:t>
            </a:r>
          </a:p>
        </p:txBody>
      </p:sp>
      <p:sp>
        <p:nvSpPr>
          <p:cNvPr id="21" name="TextBox 20"/>
          <p:cNvSpPr txBox="1"/>
          <p:nvPr/>
        </p:nvSpPr>
        <p:spPr>
          <a:xfrm>
            <a:off x="4129887" y="4096512"/>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18 × 28 in</a:t>
            </a:r>
          </a:p>
        </p:txBody>
      </p:sp>
      <p:sp>
        <p:nvSpPr>
          <p:cNvPr id="22" name="Rectangle 21"/>
          <p:cNvSpPr/>
          <p:nvPr/>
        </p:nvSpPr>
        <p:spPr>
          <a:xfrm>
            <a:off x="685800" y="4352544"/>
            <a:ext cx="5135727" cy="10972"/>
          </a:xfrm>
          <a:prstGeom prst="rect">
            <a:avLst/>
          </a:prstGeom>
          <a:solidFill>
            <a:srgbClr val="D2C6B4"/>
          </a:solidFill>
          <a:ln>
            <a:noFill/>
          </a:ln>
        </p:spPr>
        <p:txBody>
          <a:bodyPr rtlCol="0" anchor="ctr"/>
          <a:lstStyle/>
          <a:p>
            <a:pPr algn="ctr"/>
          </a:p>
        </p:txBody>
      </p:sp>
      <p:sp>
        <p:nvSpPr>
          <p:cNvPr id="23" name="TextBox 22"/>
          <p:cNvSpPr txBox="1"/>
          <p:nvPr/>
        </p:nvSpPr>
        <p:spPr>
          <a:xfrm>
            <a:off x="685800" y="4425696"/>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Full linen sets — fitted, flat, pillow covers, 300TC</a:t>
            </a:r>
          </a:p>
        </p:txBody>
      </p:sp>
      <p:sp>
        <p:nvSpPr>
          <p:cNvPr id="24" name="TextBox 23"/>
          <p:cNvSpPr txBox="1"/>
          <p:nvPr/>
        </p:nvSpPr>
        <p:spPr>
          <a:xfrm>
            <a:off x="4129887" y="4425696"/>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Flat 90 × 108 in</a:t>
            </a:r>
          </a:p>
        </p:txBody>
      </p:sp>
      <p:sp>
        <p:nvSpPr>
          <p:cNvPr id="25" name="Rectangle 24"/>
          <p:cNvSpPr/>
          <p:nvPr/>
        </p:nvSpPr>
        <p:spPr>
          <a:xfrm>
            <a:off x="685800" y="4809744"/>
            <a:ext cx="5135727" cy="10972"/>
          </a:xfrm>
          <a:prstGeom prst="rect">
            <a:avLst/>
          </a:prstGeom>
          <a:solidFill>
            <a:srgbClr val="D2C6B4"/>
          </a:solidFill>
          <a:ln>
            <a:noFill/>
          </a:ln>
        </p:spPr>
        <p:txBody>
          <a:bodyPr rtlCol="0" anchor="ctr"/>
          <a:lstStyle/>
          <a:p>
            <a:pPr algn="ctr"/>
          </a:p>
        </p:txBody>
      </p:sp>
      <p:sp>
        <p:nvSpPr>
          <p:cNvPr id="26" name="TextBox 25"/>
          <p:cNvSpPr txBox="1"/>
          <p:nvPr/>
        </p:nvSpPr>
        <p:spPr>
          <a:xfrm>
            <a:off x="685800" y="4882896"/>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Knit throw and waffle throw</a:t>
            </a:r>
          </a:p>
        </p:txBody>
      </p:sp>
      <p:sp>
        <p:nvSpPr>
          <p:cNvPr id="27" name="TextBox 26"/>
          <p:cNvSpPr txBox="1"/>
          <p:nvPr/>
        </p:nvSpPr>
        <p:spPr>
          <a:xfrm>
            <a:off x="4129887" y="4882896"/>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50 × 60 in</a:t>
            </a:r>
          </a:p>
        </p:txBody>
      </p:sp>
      <p:sp>
        <p:nvSpPr>
          <p:cNvPr id="28" name="Rectangle 27"/>
          <p:cNvSpPr/>
          <p:nvPr/>
        </p:nvSpPr>
        <p:spPr>
          <a:xfrm>
            <a:off x="685800" y="5138928"/>
            <a:ext cx="5135727" cy="10972"/>
          </a:xfrm>
          <a:prstGeom prst="rect">
            <a:avLst/>
          </a:prstGeom>
          <a:solidFill>
            <a:srgbClr val="D2C6B4"/>
          </a:solidFill>
          <a:ln>
            <a:noFill/>
          </a:ln>
        </p:spPr>
        <p:txBody>
          <a:bodyPr rtlCol="0" anchor="ctr"/>
          <a:lstStyle/>
          <a:p>
            <a:pPr algn="ctr"/>
          </a:p>
        </p:txBody>
      </p:sp>
      <p:sp>
        <p:nvSpPr>
          <p:cNvPr id="29" name="TextBox 28"/>
          <p:cNvSpPr txBox="1"/>
          <p:nvPr/>
        </p:nvSpPr>
        <p:spPr>
          <a:xfrm>
            <a:off x="685800" y="521208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Cushion covers with inserts</a:t>
            </a:r>
          </a:p>
        </p:txBody>
      </p:sp>
      <p:sp>
        <p:nvSpPr>
          <p:cNvPr id="30" name="TextBox 29"/>
          <p:cNvSpPr txBox="1"/>
          <p:nvPr/>
        </p:nvSpPr>
        <p:spPr>
          <a:xfrm>
            <a:off x="4129887" y="521208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45 × 45 cm</a:t>
            </a:r>
          </a:p>
        </p:txBody>
      </p:sp>
      <p:sp>
        <p:nvSpPr>
          <p:cNvPr id="31" name="Rectangle 30"/>
          <p:cNvSpPr/>
          <p:nvPr/>
        </p:nvSpPr>
        <p:spPr>
          <a:xfrm>
            <a:off x="685800" y="5468112"/>
            <a:ext cx="5135727" cy="10972"/>
          </a:xfrm>
          <a:prstGeom prst="rect">
            <a:avLst/>
          </a:prstGeom>
          <a:solidFill>
            <a:srgbClr val="D2C6B4"/>
          </a:solidFill>
          <a:ln>
            <a:noFill/>
          </a:ln>
        </p:spPr>
        <p:txBody>
          <a:bodyPr rtlCol="0" anchor="ctr"/>
          <a:lstStyle/>
          <a:p>
            <a:pPr algn="ctr"/>
          </a:p>
        </p:txBody>
      </p:sp>
      <p:sp>
        <p:nvSpPr>
          <p:cNvPr id="32" name="TextBox 31"/>
          <p:cNvSpPr txBox="1"/>
          <p:nvPr/>
        </p:nvSpPr>
        <p:spPr>
          <a:xfrm>
            <a:off x="685800" y="554126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Black metal bedside tables</a:t>
            </a:r>
          </a:p>
        </p:txBody>
      </p:sp>
      <p:sp>
        <p:nvSpPr>
          <p:cNvPr id="33" name="TextBox 32"/>
          <p:cNvSpPr txBox="1"/>
          <p:nvPr/>
        </p:nvSpPr>
        <p:spPr>
          <a:xfrm>
            <a:off x="4129887" y="554126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40 × 40 × 55 cm</a:t>
            </a:r>
          </a:p>
        </p:txBody>
      </p:sp>
      <p:sp>
        <p:nvSpPr>
          <p:cNvPr id="34" name="Rectangle 33"/>
          <p:cNvSpPr/>
          <p:nvPr/>
        </p:nvSpPr>
        <p:spPr>
          <a:xfrm>
            <a:off x="685800" y="5797296"/>
            <a:ext cx="5135727" cy="10972"/>
          </a:xfrm>
          <a:prstGeom prst="rect">
            <a:avLst/>
          </a:prstGeom>
          <a:solidFill>
            <a:srgbClr val="D2C6B4"/>
          </a:solidFill>
          <a:ln>
            <a:noFill/>
          </a:ln>
        </p:spPr>
        <p:txBody>
          <a:bodyPr rtlCol="0" anchor="ctr"/>
          <a:lstStyle/>
          <a:p>
            <a:pPr algn="ctr"/>
          </a:p>
        </p:txBody>
      </p:sp>
      <p:pic>
        <p:nvPicPr>
          <p:cNvPr id="35" name="static-photo" descr="image.jpg"/>
          <p:cNvPicPr>
            <a:picLocks noChangeAspect="1"/>
          </p:cNvPicPr>
          <p:nvPr/>
        </p:nvPicPr>
        <p:blipFill>
          <a:blip r:embed="rId4"/>
          <a:stretch>
            <a:fillRect/>
          </a:stretch>
        </p:blipFill>
        <p:spPr>
          <a:xfrm>
            <a:off x="6370167" y="1325880"/>
            <a:ext cx="5135727" cy="1051560"/>
          </a:xfrm>
          <a:prstGeom prst="rect">
            <a:avLst/>
          </a:prstGeom>
        </p:spPr>
      </p:pic>
      <p:sp>
        <p:nvSpPr>
          <p:cNvPr id="36" name="TextBox 35"/>
          <p:cNvSpPr txBox="1"/>
          <p:nvPr/>
        </p:nvSpPr>
        <p:spPr>
          <a:xfrm>
            <a:off x="6370167" y="2560320"/>
            <a:ext cx="5135727" cy="411480"/>
          </a:xfrm>
          <a:prstGeom prst="rect">
            <a:avLst/>
          </a:prstGeom>
          <a:noFill/>
        </p:spPr>
        <p:txBody>
          <a:bodyPr wrap="square" lIns="0" rIns="0" tIns="0" bIns="0">
            <a:spAutoFit/>
          </a:bodyPr>
          <a:lstStyle/>
          <a:p>
            <a:pPr algn="l">
              <a:lnSpc>
                <a:spcPct val="92000"/>
              </a:lnSpc>
            </a:pPr>
            <a:r>
              <a:rPr sz="2400" b="0" i="0">
                <a:solidFill>
                  <a:srgbClr val="1B1815"/>
                </a:solidFill>
                <a:latin typeface="Cormorant Garamond"/>
                <a:ea typeface="Plus Jakarta Sans"/>
                <a:cs typeface="Plus Jakarta Sans"/>
              </a:rPr>
              <a:t>Lighting</a:t>
            </a:r>
          </a:p>
        </p:txBody>
      </p:sp>
      <p:sp>
        <p:nvSpPr>
          <p:cNvPr id="37" name="Rectangle 36"/>
          <p:cNvSpPr/>
          <p:nvPr/>
        </p:nvSpPr>
        <p:spPr>
          <a:xfrm>
            <a:off x="6370167" y="3035808"/>
            <a:ext cx="5135727" cy="10972"/>
          </a:xfrm>
          <a:prstGeom prst="rect">
            <a:avLst/>
          </a:prstGeom>
          <a:solidFill>
            <a:srgbClr val="D2C6B4"/>
          </a:solidFill>
          <a:ln>
            <a:noFill/>
          </a:ln>
        </p:spPr>
        <p:txBody>
          <a:bodyPr rtlCol="0" anchor="ctr"/>
          <a:lstStyle/>
          <a:p>
            <a:pPr algn="ctr"/>
          </a:p>
        </p:txBody>
      </p:sp>
      <p:sp>
        <p:nvSpPr>
          <p:cNvPr id="38" name="TextBox 37"/>
          <p:cNvSpPr txBox="1"/>
          <p:nvPr/>
        </p:nvSpPr>
        <p:spPr>
          <a:xfrm>
            <a:off x="6370167" y="310896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Rattan or smoked-glass pendant over the bed</a:t>
            </a:r>
          </a:p>
        </p:txBody>
      </p:sp>
      <p:sp>
        <p:nvSpPr>
          <p:cNvPr id="39" name="TextBox 38"/>
          <p:cNvSpPr txBox="1"/>
          <p:nvPr/>
        </p:nvSpPr>
        <p:spPr>
          <a:xfrm>
            <a:off x="9814255" y="310896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40 cm dia</a:t>
            </a:r>
          </a:p>
        </p:txBody>
      </p:sp>
      <p:sp>
        <p:nvSpPr>
          <p:cNvPr id="40" name="Rectangle 39"/>
          <p:cNvSpPr/>
          <p:nvPr/>
        </p:nvSpPr>
        <p:spPr>
          <a:xfrm>
            <a:off x="6370167" y="3364991"/>
            <a:ext cx="5135727" cy="10972"/>
          </a:xfrm>
          <a:prstGeom prst="rect">
            <a:avLst/>
          </a:prstGeom>
          <a:solidFill>
            <a:srgbClr val="D2C6B4"/>
          </a:solidFill>
          <a:ln>
            <a:noFill/>
          </a:ln>
        </p:spPr>
        <p:txBody>
          <a:bodyPr rtlCol="0" anchor="ctr"/>
          <a:lstStyle/>
          <a:p>
            <a:pPr algn="ctr"/>
          </a:p>
        </p:txBody>
      </p:sp>
      <p:sp>
        <p:nvSpPr>
          <p:cNvPr id="41" name="TextBox 40"/>
          <p:cNvSpPr txBox="1"/>
          <p:nvPr/>
        </p:nvSpPr>
        <p:spPr>
          <a:xfrm>
            <a:off x="6370167" y="343814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Black metal wall sconces with brass inner</a:t>
            </a:r>
          </a:p>
        </p:txBody>
      </p:sp>
      <p:sp>
        <p:nvSpPr>
          <p:cNvPr id="42" name="TextBox 41"/>
          <p:cNvSpPr txBox="1"/>
          <p:nvPr/>
        </p:nvSpPr>
        <p:spPr>
          <a:xfrm>
            <a:off x="9814255" y="343814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15 × 25 cm</a:t>
            </a:r>
          </a:p>
        </p:txBody>
      </p:sp>
      <p:sp>
        <p:nvSpPr>
          <p:cNvPr id="43" name="Rectangle 42"/>
          <p:cNvSpPr/>
          <p:nvPr/>
        </p:nvSpPr>
        <p:spPr>
          <a:xfrm>
            <a:off x="6370167" y="3694176"/>
            <a:ext cx="5135727" cy="10972"/>
          </a:xfrm>
          <a:prstGeom prst="rect">
            <a:avLst/>
          </a:prstGeom>
          <a:solidFill>
            <a:srgbClr val="D2C6B4"/>
          </a:solidFill>
          <a:ln>
            <a:noFill/>
          </a:ln>
        </p:spPr>
        <p:txBody>
          <a:bodyPr rtlCol="0" anchor="ctr"/>
          <a:lstStyle/>
          <a:p>
            <a:pPr algn="ctr"/>
          </a:p>
        </p:txBody>
      </p:sp>
      <p:sp>
        <p:nvSpPr>
          <p:cNvPr id="44" name="TextBox 43"/>
          <p:cNvSpPr txBox="1"/>
          <p:nvPr/>
        </p:nvSpPr>
        <p:spPr>
          <a:xfrm>
            <a:off x="6370167" y="3767328"/>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Table lamp with amber shade</a:t>
            </a:r>
          </a:p>
        </p:txBody>
      </p:sp>
      <p:sp>
        <p:nvSpPr>
          <p:cNvPr id="45" name="TextBox 44"/>
          <p:cNvSpPr txBox="1"/>
          <p:nvPr/>
        </p:nvSpPr>
        <p:spPr>
          <a:xfrm>
            <a:off x="9814255" y="3767328"/>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35 cm high</a:t>
            </a:r>
          </a:p>
        </p:txBody>
      </p:sp>
      <p:sp>
        <p:nvSpPr>
          <p:cNvPr id="46" name="Rectangle 45"/>
          <p:cNvSpPr/>
          <p:nvPr/>
        </p:nvSpPr>
        <p:spPr>
          <a:xfrm>
            <a:off x="6370167" y="4023360"/>
            <a:ext cx="5135727" cy="10972"/>
          </a:xfrm>
          <a:prstGeom prst="rect">
            <a:avLst/>
          </a:prstGeom>
          <a:solidFill>
            <a:srgbClr val="D2C6B4"/>
          </a:solidFill>
          <a:ln>
            <a:noFill/>
          </a:ln>
        </p:spPr>
        <p:txBody>
          <a:bodyPr rtlCol="0" anchor="ctr"/>
          <a:lstStyle/>
          <a:p>
            <a:pPr algn="ctr"/>
          </a:p>
        </p:txBody>
      </p:sp>
      <p:sp>
        <p:nvSpPr>
          <p:cNvPr id="47" name="TextBox 46"/>
          <p:cNvSpPr txBox="1"/>
          <p:nvPr/>
        </p:nvSpPr>
        <p:spPr>
          <a:xfrm>
            <a:off x="6370167" y="4096512"/>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Slim black floor lamp</a:t>
            </a:r>
          </a:p>
        </p:txBody>
      </p:sp>
      <p:sp>
        <p:nvSpPr>
          <p:cNvPr id="48" name="TextBox 47"/>
          <p:cNvSpPr txBox="1"/>
          <p:nvPr/>
        </p:nvSpPr>
        <p:spPr>
          <a:xfrm>
            <a:off x="9814255" y="4096512"/>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150 cm high</a:t>
            </a:r>
          </a:p>
        </p:txBody>
      </p:sp>
      <p:sp>
        <p:nvSpPr>
          <p:cNvPr id="49" name="Rectangle 48"/>
          <p:cNvSpPr/>
          <p:nvPr/>
        </p:nvSpPr>
        <p:spPr>
          <a:xfrm>
            <a:off x="6370167" y="4352544"/>
            <a:ext cx="5135727" cy="10972"/>
          </a:xfrm>
          <a:prstGeom prst="rect">
            <a:avLst/>
          </a:prstGeom>
          <a:solidFill>
            <a:srgbClr val="D2C6B4"/>
          </a:solidFill>
          <a:ln>
            <a:noFill/>
          </a:ln>
        </p:spPr>
        <p:txBody>
          <a:bodyPr rtlCol="0" anchor="ctr"/>
          <a:lstStyle/>
          <a:p>
            <a:pPr algn="ctr"/>
          </a:p>
        </p:txBody>
      </p:sp>
      <p:sp>
        <p:nvSpPr>
          <p:cNvPr id="50" name="TextBox 49"/>
          <p:cNvSpPr txBox="1"/>
          <p:nvPr/>
        </p:nvSpPr>
        <p:spPr>
          <a:xfrm>
            <a:off x="6370167" y="4425696"/>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Under-cabinet warm LED strip</a:t>
            </a:r>
          </a:p>
        </p:txBody>
      </p:sp>
      <p:sp>
        <p:nvSpPr>
          <p:cNvPr id="51" name="TextBox 50"/>
          <p:cNvSpPr txBox="1"/>
          <p:nvPr/>
        </p:nvSpPr>
        <p:spPr>
          <a:xfrm>
            <a:off x="9814255" y="4425696"/>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1 m</a:t>
            </a:r>
          </a:p>
        </p:txBody>
      </p:sp>
      <p:sp>
        <p:nvSpPr>
          <p:cNvPr id="52" name="Rectangle 51"/>
          <p:cNvSpPr/>
          <p:nvPr/>
        </p:nvSpPr>
        <p:spPr>
          <a:xfrm>
            <a:off x="6370167" y="4681728"/>
            <a:ext cx="5135727" cy="10972"/>
          </a:xfrm>
          <a:prstGeom prst="rect">
            <a:avLst/>
          </a:prstGeom>
          <a:solidFill>
            <a:srgbClr val="D2C6B4"/>
          </a:solidFill>
          <a:ln>
            <a:noFill/>
          </a:ln>
        </p:spPr>
        <p:txBody>
          <a:bodyPr rtlCol="0" anchor="ctr"/>
          <a:lstStyle/>
          <a:p>
            <a:pPr algn="ctr"/>
          </a:p>
        </p:txBody>
      </p:sp>
      <p:sp>
        <p:nvSpPr>
          <p:cNvPr id="53" name="TextBox 52"/>
          <p:cNvSpPr txBox="1"/>
          <p:nvPr/>
        </p:nvSpPr>
        <p:spPr>
          <a:xfrm>
            <a:off x="6370167" y="475488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Warm 2700K bulbs throughout, plus a night light</a:t>
            </a:r>
          </a:p>
        </p:txBody>
      </p:sp>
      <p:sp>
        <p:nvSpPr>
          <p:cNvPr id="54" name="TextBox 53"/>
          <p:cNvSpPr txBox="1"/>
          <p:nvPr/>
        </p:nvSpPr>
        <p:spPr>
          <a:xfrm>
            <a:off x="9814255" y="475488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2700K</a:t>
            </a:r>
          </a:p>
        </p:txBody>
      </p:sp>
      <p:sp>
        <p:nvSpPr>
          <p:cNvPr id="55" name="Rectangle 54"/>
          <p:cNvSpPr/>
          <p:nvPr/>
        </p:nvSpPr>
        <p:spPr>
          <a:xfrm>
            <a:off x="6370167" y="5010912"/>
            <a:ext cx="5135727" cy="10972"/>
          </a:xfrm>
          <a:prstGeom prst="rect">
            <a:avLst/>
          </a:prstGeom>
          <a:solidFill>
            <a:srgbClr val="D2C6B4"/>
          </a:solidFill>
          <a:ln>
            <a:noFill/>
          </a:ln>
        </p:spPr>
        <p:txBody>
          <a:bodyPr rtlCol="0" anchor="ctr"/>
          <a:lstStyle/>
          <a:p>
            <a:pPr algn="ct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29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900"/>
                                        <p:tgtEl>
                                          <p:spTgt spid="9"/>
                                        </p:tgtEl>
                                      </p:cBhvr>
                                    </p:animEffect>
                                    <p:anim calcmode="lin" valueType="num">
                                      <p:cBhvr>
                                        <p:cTn id="11" dur="900" decel="100000"/>
                                        <p:tgtEl>
                                          <p:spTgt spid="9"/>
                                        </p:tgtEl>
                                        <p:attrNameLst>
                                          <p:attrName>ppt_x</p:attrName>
                                        </p:attrNameLst>
                                      </p:cBhvr>
                                      <p:tavLst>
                                        <p:tav tm="0">
                                          <p:val>
                                            <p:strVal val="#ppt_x"/>
                                          </p:val>
                                        </p:tav>
                                        <p:tav tm="100000">
                                          <p:val>
                                            <p:strVal val="#ppt_x"/>
                                          </p:val>
                                        </p:tav>
                                      </p:tavLst>
                                    </p:anim>
                                    <p:anim calcmode="lin" valueType="num">
                                      <p:cBhvr>
                                        <p:cTn id="12" dur="900" decel="100000"/>
                                        <p:tgtEl>
                                          <p:spTgt spid="9"/>
                                        </p:tgtEl>
                                        <p:attrNameLst>
                                          <p:attrName>ppt_y</p:attrName>
                                        </p:attrNameLst>
                                      </p:cBhvr>
                                      <p:tavLst>
                                        <p:tav tm="0">
                                          <p:val>
                                            <p:strVal val="#ppt_y+.035"/>
                                          </p:val>
                                        </p:tav>
                                        <p:tav tm="100000">
                                          <p:val>
                                            <p:strVal val="#ppt_y"/>
                                          </p:val>
                                        </p:tav>
                                      </p:tavLst>
                                    </p:anim>
                                  </p:childTnLst>
                                </p:cTn>
                              </p:par>
                              <p:par>
                                <p:cTn id="13" presetID="42" presetClass="entr" presetSubtype="0" fill="hold" grpId="0" nodeType="withEffect">
                                  <p:stCondLst>
                                    <p:cond delay="33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900"/>
                                        <p:tgtEl>
                                          <p:spTgt spid="36"/>
                                        </p:tgtEl>
                                      </p:cBhvr>
                                    </p:animEffect>
                                    <p:anim calcmode="lin" valueType="num">
                                      <p:cBhvr>
                                        <p:cTn id="16" dur="900" decel="100000"/>
                                        <p:tgtEl>
                                          <p:spTgt spid="36"/>
                                        </p:tgtEl>
                                        <p:attrNameLst>
                                          <p:attrName>ppt_x</p:attrName>
                                        </p:attrNameLst>
                                      </p:cBhvr>
                                      <p:tavLst>
                                        <p:tav tm="0">
                                          <p:val>
                                            <p:strVal val="#ppt_x"/>
                                          </p:val>
                                        </p:tav>
                                        <p:tav tm="100000">
                                          <p:val>
                                            <p:strVal val="#ppt_x"/>
                                          </p:val>
                                        </p:tav>
                                      </p:tavLst>
                                    </p:anim>
                                    <p:anim calcmode="lin" valueType="num">
                                      <p:cBhvr>
                                        <p:cTn id="17" dur="900" decel="100000"/>
                                        <p:tgtEl>
                                          <p:spTgt spid="36"/>
                                        </p:tgtEl>
                                        <p:attrNameLst>
                                          <p:attrName>ppt_y</p:attrName>
                                        </p:attrNameLst>
                                      </p:cBhvr>
                                      <p:tavLst>
                                        <p:tav tm="0">
                                          <p:val>
                                            <p:strVal val="#ppt_y+.035"/>
                                          </p:val>
                                        </p:tav>
                                        <p:tav tm="100000">
                                          <p:val>
                                            <p:strVal val="#ppt_y"/>
                                          </p:val>
                                        </p:tav>
                                      </p:tavLst>
                                    </p:anim>
                                  </p:childTnLst>
                                </p:cTn>
                              </p:par>
                              <p:par>
                                <p:cTn id="18" presetID="22" presetClass="entr" presetSubtype="8" fill="hold" grpId="0" nodeType="withEffect">
                                  <p:stCondLst>
                                    <p:cond delay="37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700"/>
                                        <p:tgtEl>
                                          <p:spTgt spid="10"/>
                                        </p:tgtEl>
                                      </p:cBhvr>
                                    </p:animEffect>
                                  </p:childTnLst>
                                </p:cTn>
                              </p:par>
                              <p:par>
                                <p:cTn id="21" presetID="22" presetClass="entr" presetSubtype="8" fill="hold" grpId="0" nodeType="withEffect">
                                  <p:stCondLst>
                                    <p:cond delay="410"/>
                                  </p:stCondLst>
                                  <p:childTnLst>
                                    <p:set>
                                      <p:cBhvr>
                                        <p:cTn id="22" dur="1" fill="hold">
                                          <p:stCondLst>
                                            <p:cond delay="0"/>
                                          </p:stCondLst>
                                        </p:cTn>
                                        <p:tgtEl>
                                          <p:spTgt spid="37"/>
                                        </p:tgtEl>
                                        <p:attrNameLst>
                                          <p:attrName>style.visibility</p:attrName>
                                        </p:attrNameLst>
                                      </p:cBhvr>
                                      <p:to>
                                        <p:strVal val="visible"/>
                                      </p:to>
                                    </p:set>
                                    <p:animEffect transition="in" filter="wipe(left)">
                                      <p:cBhvr>
                                        <p:cTn id="23" dur="700"/>
                                        <p:tgtEl>
                                          <p:spTgt spid="37"/>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700"/>
                                        <p:tgtEl>
                                          <p:spTgt spid="11"/>
                                        </p:tgtEl>
                                      </p:cBhvr>
                                    </p:animEffect>
                                  </p:childTnLst>
                                </p:cTn>
                              </p:par>
                              <p:par>
                                <p:cTn id="27" presetID="10" presetClass="entr" presetSubtype="0" fill="hold" grpId="0" nodeType="withEffect">
                                  <p:stCondLst>
                                    <p:cond delay="49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700"/>
                                        <p:tgtEl>
                                          <p:spTgt spid="12"/>
                                        </p:tgtEl>
                                      </p:cBhvr>
                                    </p:animEffect>
                                  </p:childTnLst>
                                </p:cTn>
                              </p:par>
                              <p:par>
                                <p:cTn id="30" presetID="10" presetClass="entr" presetSubtype="0" fill="hold" grpId="0" nodeType="withEffect">
                                  <p:stCondLst>
                                    <p:cond delay="53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700"/>
                                        <p:tgtEl>
                                          <p:spTgt spid="38"/>
                                        </p:tgtEl>
                                      </p:cBhvr>
                                    </p:animEffect>
                                  </p:childTnLst>
                                </p:cTn>
                              </p:par>
                              <p:par>
                                <p:cTn id="33" presetID="10" presetClass="entr" presetSubtype="0" fill="hold" grpId="0" nodeType="withEffect">
                                  <p:stCondLst>
                                    <p:cond delay="57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700"/>
                                        <p:tgtEl>
                                          <p:spTgt spid="39"/>
                                        </p:tgtEl>
                                      </p:cBhvr>
                                    </p:animEffect>
                                  </p:childTnLst>
                                </p:cTn>
                              </p:par>
                              <p:par>
                                <p:cTn id="36" presetID="22" presetClass="entr" presetSubtype="8" fill="hold" grpId="0" nodeType="withEffect">
                                  <p:stCondLst>
                                    <p:cond delay="61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700"/>
                                        <p:tgtEl>
                                          <p:spTgt spid="13"/>
                                        </p:tgtEl>
                                      </p:cBhvr>
                                    </p:animEffect>
                                  </p:childTnLst>
                                </p:cTn>
                              </p:par>
                              <p:par>
                                <p:cTn id="39" presetID="10" presetClass="entr" presetSubtype="0" fill="hold" grpId="0" nodeType="withEffect">
                                  <p:stCondLst>
                                    <p:cond delay="65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700"/>
                                        <p:tgtEl>
                                          <p:spTgt spid="14"/>
                                        </p:tgtEl>
                                      </p:cBhvr>
                                    </p:animEffect>
                                  </p:childTnLst>
                                </p:cTn>
                              </p:par>
                              <p:par>
                                <p:cTn id="42" presetID="10" presetClass="entr" presetSubtype="0" fill="hold" grpId="0" nodeType="withEffect">
                                  <p:stCondLst>
                                    <p:cond delay="69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700"/>
                                        <p:tgtEl>
                                          <p:spTgt spid="15"/>
                                        </p:tgtEl>
                                      </p:cBhvr>
                                    </p:animEffect>
                                  </p:childTnLst>
                                </p:cTn>
                              </p:par>
                              <p:par>
                                <p:cTn id="45" presetID="22" presetClass="entr" presetSubtype="8" fill="hold" grpId="0" nodeType="withEffect">
                                  <p:stCondLst>
                                    <p:cond delay="730"/>
                                  </p:stCondLst>
                                  <p:childTnLst>
                                    <p:set>
                                      <p:cBhvr>
                                        <p:cTn id="46" dur="1" fill="hold">
                                          <p:stCondLst>
                                            <p:cond delay="0"/>
                                          </p:stCondLst>
                                        </p:cTn>
                                        <p:tgtEl>
                                          <p:spTgt spid="40"/>
                                        </p:tgtEl>
                                        <p:attrNameLst>
                                          <p:attrName>style.visibility</p:attrName>
                                        </p:attrNameLst>
                                      </p:cBhvr>
                                      <p:to>
                                        <p:strVal val="visible"/>
                                      </p:to>
                                    </p:set>
                                    <p:animEffect transition="in" filter="wipe(left)">
                                      <p:cBhvr>
                                        <p:cTn id="47" dur="700"/>
                                        <p:tgtEl>
                                          <p:spTgt spid="40"/>
                                        </p:tgtEl>
                                      </p:cBhvr>
                                    </p:animEffect>
                                  </p:childTnLst>
                                </p:cTn>
                              </p:par>
                              <p:par>
                                <p:cTn id="48" presetID="10" presetClass="entr" presetSubtype="0" fill="hold" grpId="0" nodeType="withEffect">
                                  <p:stCondLst>
                                    <p:cond delay="770"/>
                                  </p:stCondLst>
                                  <p:childTnLst>
                                    <p:set>
                                      <p:cBhvr>
                                        <p:cTn id="49" dur="1" fill="hold">
                                          <p:stCondLst>
                                            <p:cond delay="0"/>
                                          </p:stCondLst>
                                        </p:cTn>
                                        <p:tgtEl>
                                          <p:spTgt spid="41"/>
                                        </p:tgtEl>
                                        <p:attrNameLst>
                                          <p:attrName>style.visibility</p:attrName>
                                        </p:attrNameLst>
                                      </p:cBhvr>
                                      <p:to>
                                        <p:strVal val="visible"/>
                                      </p:to>
                                    </p:set>
                                    <p:animEffect transition="in" filter="fade">
                                      <p:cBhvr>
                                        <p:cTn id="50" dur="700"/>
                                        <p:tgtEl>
                                          <p:spTgt spid="41"/>
                                        </p:tgtEl>
                                      </p:cBhvr>
                                    </p:animEffect>
                                  </p:childTnLst>
                                </p:cTn>
                              </p:par>
                              <p:par>
                                <p:cTn id="51" presetID="10" presetClass="entr" presetSubtype="0" fill="hold" grpId="0" nodeType="withEffect">
                                  <p:stCondLst>
                                    <p:cond delay="810"/>
                                  </p:stCondLst>
                                  <p:childTnLst>
                                    <p:set>
                                      <p:cBhvr>
                                        <p:cTn id="52" dur="1" fill="hold">
                                          <p:stCondLst>
                                            <p:cond delay="0"/>
                                          </p:stCondLst>
                                        </p:cTn>
                                        <p:tgtEl>
                                          <p:spTgt spid="42"/>
                                        </p:tgtEl>
                                        <p:attrNameLst>
                                          <p:attrName>style.visibility</p:attrName>
                                        </p:attrNameLst>
                                      </p:cBhvr>
                                      <p:to>
                                        <p:strVal val="visible"/>
                                      </p:to>
                                    </p:set>
                                    <p:animEffect transition="in" filter="fade">
                                      <p:cBhvr>
                                        <p:cTn id="53" dur="700"/>
                                        <p:tgtEl>
                                          <p:spTgt spid="42"/>
                                        </p:tgtEl>
                                      </p:cBhvr>
                                    </p:animEffect>
                                  </p:childTnLst>
                                </p:cTn>
                              </p:par>
                              <p:par>
                                <p:cTn id="54" presetID="22" presetClass="entr" presetSubtype="8" fill="hold" grpId="0" nodeType="withEffect">
                                  <p:stCondLst>
                                    <p:cond delay="850"/>
                                  </p:stCondLst>
                                  <p:childTnLst>
                                    <p:set>
                                      <p:cBhvr>
                                        <p:cTn id="55" dur="1" fill="hold">
                                          <p:stCondLst>
                                            <p:cond delay="0"/>
                                          </p:stCondLst>
                                        </p:cTn>
                                        <p:tgtEl>
                                          <p:spTgt spid="16"/>
                                        </p:tgtEl>
                                        <p:attrNameLst>
                                          <p:attrName>style.visibility</p:attrName>
                                        </p:attrNameLst>
                                      </p:cBhvr>
                                      <p:to>
                                        <p:strVal val="visible"/>
                                      </p:to>
                                    </p:set>
                                    <p:animEffect transition="in" filter="wipe(left)">
                                      <p:cBhvr>
                                        <p:cTn id="56" dur="700"/>
                                        <p:tgtEl>
                                          <p:spTgt spid="16"/>
                                        </p:tgtEl>
                                      </p:cBhvr>
                                    </p:animEffect>
                                  </p:childTnLst>
                                </p:cTn>
                              </p:par>
                              <p:par>
                                <p:cTn id="57" presetID="10" presetClass="entr" presetSubtype="0" fill="hold" grpId="0" nodeType="withEffect">
                                  <p:stCondLst>
                                    <p:cond delay="89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700"/>
                                        <p:tgtEl>
                                          <p:spTgt spid="17"/>
                                        </p:tgtEl>
                                      </p:cBhvr>
                                    </p:animEffect>
                                  </p:childTnLst>
                                </p:cTn>
                              </p:par>
                              <p:par>
                                <p:cTn id="60" presetID="10" presetClass="entr" presetSubtype="0" fill="hold" grpId="0" nodeType="withEffect">
                                  <p:stCondLst>
                                    <p:cond delay="93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700"/>
                                        <p:tgtEl>
                                          <p:spTgt spid="18"/>
                                        </p:tgtEl>
                                      </p:cBhvr>
                                    </p:animEffect>
                                  </p:childTnLst>
                                </p:cTn>
                              </p:par>
                              <p:par>
                                <p:cTn id="63" presetID="22" presetClass="entr" presetSubtype="8" fill="hold" grpId="0" nodeType="withEffect">
                                  <p:stCondLst>
                                    <p:cond delay="970"/>
                                  </p:stCondLst>
                                  <p:childTnLst>
                                    <p:set>
                                      <p:cBhvr>
                                        <p:cTn id="64" dur="1" fill="hold">
                                          <p:stCondLst>
                                            <p:cond delay="0"/>
                                          </p:stCondLst>
                                        </p:cTn>
                                        <p:tgtEl>
                                          <p:spTgt spid="43"/>
                                        </p:tgtEl>
                                        <p:attrNameLst>
                                          <p:attrName>style.visibility</p:attrName>
                                        </p:attrNameLst>
                                      </p:cBhvr>
                                      <p:to>
                                        <p:strVal val="visible"/>
                                      </p:to>
                                    </p:set>
                                    <p:animEffect transition="in" filter="wipe(left)">
                                      <p:cBhvr>
                                        <p:cTn id="65" dur="700"/>
                                        <p:tgtEl>
                                          <p:spTgt spid="43"/>
                                        </p:tgtEl>
                                      </p:cBhvr>
                                    </p:animEffect>
                                  </p:childTnLst>
                                </p:cTn>
                              </p:par>
                              <p:par>
                                <p:cTn id="66" presetID="10" presetClass="entr" presetSubtype="0" fill="hold" grpId="0" nodeType="withEffect">
                                  <p:stCondLst>
                                    <p:cond delay="1010"/>
                                  </p:stCondLst>
                                  <p:childTnLst>
                                    <p:set>
                                      <p:cBhvr>
                                        <p:cTn id="67" dur="1" fill="hold">
                                          <p:stCondLst>
                                            <p:cond delay="0"/>
                                          </p:stCondLst>
                                        </p:cTn>
                                        <p:tgtEl>
                                          <p:spTgt spid="44"/>
                                        </p:tgtEl>
                                        <p:attrNameLst>
                                          <p:attrName>style.visibility</p:attrName>
                                        </p:attrNameLst>
                                      </p:cBhvr>
                                      <p:to>
                                        <p:strVal val="visible"/>
                                      </p:to>
                                    </p:set>
                                    <p:animEffect transition="in" filter="fade">
                                      <p:cBhvr>
                                        <p:cTn id="68" dur="700"/>
                                        <p:tgtEl>
                                          <p:spTgt spid="44"/>
                                        </p:tgtEl>
                                      </p:cBhvr>
                                    </p:animEffect>
                                  </p:childTnLst>
                                </p:cTn>
                              </p:par>
                              <p:par>
                                <p:cTn id="69" presetID="10" presetClass="entr" presetSubtype="0" fill="hold" grpId="0" nodeType="withEffect">
                                  <p:stCondLst>
                                    <p:cond delay="1050"/>
                                  </p:stCondLst>
                                  <p:childTnLst>
                                    <p:set>
                                      <p:cBhvr>
                                        <p:cTn id="70" dur="1" fill="hold">
                                          <p:stCondLst>
                                            <p:cond delay="0"/>
                                          </p:stCondLst>
                                        </p:cTn>
                                        <p:tgtEl>
                                          <p:spTgt spid="45"/>
                                        </p:tgtEl>
                                        <p:attrNameLst>
                                          <p:attrName>style.visibility</p:attrName>
                                        </p:attrNameLst>
                                      </p:cBhvr>
                                      <p:to>
                                        <p:strVal val="visible"/>
                                      </p:to>
                                    </p:set>
                                    <p:animEffect transition="in" filter="fade">
                                      <p:cBhvr>
                                        <p:cTn id="71" dur="700"/>
                                        <p:tgtEl>
                                          <p:spTgt spid="45"/>
                                        </p:tgtEl>
                                      </p:cBhvr>
                                    </p:animEffect>
                                  </p:childTnLst>
                                </p:cTn>
                              </p:par>
                              <p:par>
                                <p:cTn id="72" presetID="22" presetClass="entr" presetSubtype="8" fill="hold" grpId="0" nodeType="withEffect">
                                  <p:stCondLst>
                                    <p:cond delay="1090"/>
                                  </p:stCondLst>
                                  <p:childTnLst>
                                    <p:set>
                                      <p:cBhvr>
                                        <p:cTn id="73" dur="1" fill="hold">
                                          <p:stCondLst>
                                            <p:cond delay="0"/>
                                          </p:stCondLst>
                                        </p:cTn>
                                        <p:tgtEl>
                                          <p:spTgt spid="19"/>
                                        </p:tgtEl>
                                        <p:attrNameLst>
                                          <p:attrName>style.visibility</p:attrName>
                                        </p:attrNameLst>
                                      </p:cBhvr>
                                      <p:to>
                                        <p:strVal val="visible"/>
                                      </p:to>
                                    </p:set>
                                    <p:animEffect transition="in" filter="wipe(left)">
                                      <p:cBhvr>
                                        <p:cTn id="74" dur="700"/>
                                        <p:tgtEl>
                                          <p:spTgt spid="19"/>
                                        </p:tgtEl>
                                      </p:cBhvr>
                                    </p:animEffect>
                                  </p:childTnLst>
                                </p:cTn>
                              </p:par>
                              <p:par>
                                <p:cTn id="75" presetID="10" presetClass="entr" presetSubtype="0" fill="hold" grpId="0" nodeType="withEffect">
                                  <p:stCondLst>
                                    <p:cond delay="113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700"/>
                                        <p:tgtEl>
                                          <p:spTgt spid="20"/>
                                        </p:tgtEl>
                                      </p:cBhvr>
                                    </p:animEffect>
                                  </p:childTnLst>
                                </p:cTn>
                              </p:par>
                              <p:par>
                                <p:cTn id="78" presetID="10" presetClass="entr" presetSubtype="0" fill="hold" grpId="0" nodeType="withEffect">
                                  <p:stCondLst>
                                    <p:cond delay="117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700"/>
                                        <p:tgtEl>
                                          <p:spTgt spid="21"/>
                                        </p:tgtEl>
                                      </p:cBhvr>
                                    </p:animEffect>
                                  </p:childTnLst>
                                </p:cTn>
                              </p:par>
                              <p:par>
                                <p:cTn id="81" presetID="22" presetClass="entr" presetSubtype="8" fill="hold" grpId="0" nodeType="withEffect">
                                  <p:stCondLst>
                                    <p:cond delay="1210"/>
                                  </p:stCondLst>
                                  <p:childTnLst>
                                    <p:set>
                                      <p:cBhvr>
                                        <p:cTn id="82" dur="1" fill="hold">
                                          <p:stCondLst>
                                            <p:cond delay="0"/>
                                          </p:stCondLst>
                                        </p:cTn>
                                        <p:tgtEl>
                                          <p:spTgt spid="46"/>
                                        </p:tgtEl>
                                        <p:attrNameLst>
                                          <p:attrName>style.visibility</p:attrName>
                                        </p:attrNameLst>
                                      </p:cBhvr>
                                      <p:to>
                                        <p:strVal val="visible"/>
                                      </p:to>
                                    </p:set>
                                    <p:animEffect transition="in" filter="wipe(left)">
                                      <p:cBhvr>
                                        <p:cTn id="83" dur="700"/>
                                        <p:tgtEl>
                                          <p:spTgt spid="46"/>
                                        </p:tgtEl>
                                      </p:cBhvr>
                                    </p:animEffect>
                                  </p:childTnLst>
                                </p:cTn>
                              </p:par>
                              <p:par>
                                <p:cTn id="84" presetID="10" presetClass="entr" presetSubtype="0" fill="hold" grpId="0" nodeType="withEffect">
                                  <p:stCondLst>
                                    <p:cond delay="125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700"/>
                                        <p:tgtEl>
                                          <p:spTgt spid="47"/>
                                        </p:tgtEl>
                                      </p:cBhvr>
                                    </p:animEffect>
                                  </p:childTnLst>
                                </p:cTn>
                              </p:par>
                              <p:par>
                                <p:cTn id="87" presetID="10" presetClass="entr" presetSubtype="0" fill="hold" grpId="0" nodeType="withEffect">
                                  <p:stCondLst>
                                    <p:cond delay="129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700"/>
                                        <p:tgtEl>
                                          <p:spTgt spid="48"/>
                                        </p:tgtEl>
                                      </p:cBhvr>
                                    </p:animEffect>
                                  </p:childTnLst>
                                </p:cTn>
                              </p:par>
                              <p:par>
                                <p:cTn id="90" presetID="22" presetClass="entr" presetSubtype="8" fill="hold" grpId="0" nodeType="withEffect">
                                  <p:stCondLst>
                                    <p:cond delay="1330"/>
                                  </p:stCondLst>
                                  <p:childTnLst>
                                    <p:set>
                                      <p:cBhvr>
                                        <p:cTn id="91" dur="1" fill="hold">
                                          <p:stCondLst>
                                            <p:cond delay="0"/>
                                          </p:stCondLst>
                                        </p:cTn>
                                        <p:tgtEl>
                                          <p:spTgt spid="22"/>
                                        </p:tgtEl>
                                        <p:attrNameLst>
                                          <p:attrName>style.visibility</p:attrName>
                                        </p:attrNameLst>
                                      </p:cBhvr>
                                      <p:to>
                                        <p:strVal val="visible"/>
                                      </p:to>
                                    </p:set>
                                    <p:animEffect transition="in" filter="wipe(left)">
                                      <p:cBhvr>
                                        <p:cTn id="92" dur="700"/>
                                        <p:tgtEl>
                                          <p:spTgt spid="22"/>
                                        </p:tgtEl>
                                      </p:cBhvr>
                                    </p:animEffect>
                                  </p:childTnLst>
                                </p:cTn>
                              </p:par>
                              <p:par>
                                <p:cTn id="93" presetID="10" presetClass="entr" presetSubtype="0" fill="hold" grpId="0" nodeType="withEffect">
                                  <p:stCondLst>
                                    <p:cond delay="137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700"/>
                                        <p:tgtEl>
                                          <p:spTgt spid="23"/>
                                        </p:tgtEl>
                                      </p:cBhvr>
                                    </p:animEffect>
                                  </p:childTnLst>
                                </p:cTn>
                              </p:par>
                              <p:par>
                                <p:cTn id="96" presetID="10" presetClass="entr" presetSubtype="0" fill="hold" grpId="0" nodeType="withEffect">
                                  <p:stCondLst>
                                    <p:cond delay="141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700"/>
                                        <p:tgtEl>
                                          <p:spTgt spid="24"/>
                                        </p:tgtEl>
                                      </p:cBhvr>
                                    </p:animEffect>
                                  </p:childTnLst>
                                </p:cTn>
                              </p:par>
                              <p:par>
                                <p:cTn id="99" presetID="22" presetClass="entr" presetSubtype="8" fill="hold" grpId="0" nodeType="withEffect">
                                  <p:stCondLst>
                                    <p:cond delay="1450"/>
                                  </p:stCondLst>
                                  <p:childTnLst>
                                    <p:set>
                                      <p:cBhvr>
                                        <p:cTn id="100" dur="1" fill="hold">
                                          <p:stCondLst>
                                            <p:cond delay="0"/>
                                          </p:stCondLst>
                                        </p:cTn>
                                        <p:tgtEl>
                                          <p:spTgt spid="49"/>
                                        </p:tgtEl>
                                        <p:attrNameLst>
                                          <p:attrName>style.visibility</p:attrName>
                                        </p:attrNameLst>
                                      </p:cBhvr>
                                      <p:to>
                                        <p:strVal val="visible"/>
                                      </p:to>
                                    </p:set>
                                    <p:animEffect transition="in" filter="wipe(left)">
                                      <p:cBhvr>
                                        <p:cTn id="101" dur="700"/>
                                        <p:tgtEl>
                                          <p:spTgt spid="49"/>
                                        </p:tgtEl>
                                      </p:cBhvr>
                                    </p:animEffect>
                                  </p:childTnLst>
                                </p:cTn>
                              </p:par>
                              <p:par>
                                <p:cTn id="102" presetID="10" presetClass="entr" presetSubtype="0" fill="hold" grpId="0" nodeType="withEffect">
                                  <p:stCondLst>
                                    <p:cond delay="149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700"/>
                                        <p:tgtEl>
                                          <p:spTgt spid="50"/>
                                        </p:tgtEl>
                                      </p:cBhvr>
                                    </p:animEffect>
                                  </p:childTnLst>
                                </p:cTn>
                              </p:par>
                              <p:par>
                                <p:cTn id="105" presetID="10" presetClass="entr" presetSubtype="0" fill="hold" grpId="0" nodeType="withEffect">
                                  <p:stCondLst>
                                    <p:cond delay="153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700"/>
                                        <p:tgtEl>
                                          <p:spTgt spid="51"/>
                                        </p:tgtEl>
                                      </p:cBhvr>
                                    </p:animEffect>
                                  </p:childTnLst>
                                </p:cTn>
                              </p:par>
                              <p:par>
                                <p:cTn id="108" presetID="22" presetClass="entr" presetSubtype="8" fill="hold" grpId="0" nodeType="withEffect">
                                  <p:stCondLst>
                                    <p:cond delay="1570"/>
                                  </p:stCondLst>
                                  <p:childTnLst>
                                    <p:set>
                                      <p:cBhvr>
                                        <p:cTn id="109" dur="1" fill="hold">
                                          <p:stCondLst>
                                            <p:cond delay="0"/>
                                          </p:stCondLst>
                                        </p:cTn>
                                        <p:tgtEl>
                                          <p:spTgt spid="25"/>
                                        </p:tgtEl>
                                        <p:attrNameLst>
                                          <p:attrName>style.visibility</p:attrName>
                                        </p:attrNameLst>
                                      </p:cBhvr>
                                      <p:to>
                                        <p:strVal val="visible"/>
                                      </p:to>
                                    </p:set>
                                    <p:animEffect transition="in" filter="wipe(left)">
                                      <p:cBhvr>
                                        <p:cTn id="110" dur="700"/>
                                        <p:tgtEl>
                                          <p:spTgt spid="25"/>
                                        </p:tgtEl>
                                      </p:cBhvr>
                                    </p:animEffect>
                                  </p:childTnLst>
                                </p:cTn>
                              </p:par>
                              <p:par>
                                <p:cTn id="111" presetID="10" presetClass="entr" presetSubtype="0" fill="hold" grpId="0" nodeType="withEffect">
                                  <p:stCondLst>
                                    <p:cond delay="1610"/>
                                  </p:stCondLst>
                                  <p:childTnLst>
                                    <p:set>
                                      <p:cBhvr>
                                        <p:cTn id="112" dur="1" fill="hold">
                                          <p:stCondLst>
                                            <p:cond delay="0"/>
                                          </p:stCondLst>
                                        </p:cTn>
                                        <p:tgtEl>
                                          <p:spTgt spid="26"/>
                                        </p:tgtEl>
                                        <p:attrNameLst>
                                          <p:attrName>style.visibility</p:attrName>
                                        </p:attrNameLst>
                                      </p:cBhvr>
                                      <p:to>
                                        <p:strVal val="visible"/>
                                      </p:to>
                                    </p:set>
                                    <p:animEffect transition="in" filter="fade">
                                      <p:cBhvr>
                                        <p:cTn id="113" dur="700"/>
                                        <p:tgtEl>
                                          <p:spTgt spid="26"/>
                                        </p:tgtEl>
                                      </p:cBhvr>
                                    </p:animEffect>
                                  </p:childTnLst>
                                </p:cTn>
                              </p:par>
                              <p:par>
                                <p:cTn id="114" presetID="10" presetClass="entr" presetSubtype="0" fill="hold" grpId="0" nodeType="withEffect">
                                  <p:stCondLst>
                                    <p:cond delay="165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700"/>
                                        <p:tgtEl>
                                          <p:spTgt spid="27"/>
                                        </p:tgtEl>
                                      </p:cBhvr>
                                    </p:animEffect>
                                  </p:childTnLst>
                                </p:cTn>
                              </p:par>
                              <p:par>
                                <p:cTn id="117" presetID="22" presetClass="entr" presetSubtype="8" fill="hold" grpId="0" nodeType="withEffect">
                                  <p:stCondLst>
                                    <p:cond delay="1690"/>
                                  </p:stCondLst>
                                  <p:childTnLst>
                                    <p:set>
                                      <p:cBhvr>
                                        <p:cTn id="118" dur="1" fill="hold">
                                          <p:stCondLst>
                                            <p:cond delay="0"/>
                                          </p:stCondLst>
                                        </p:cTn>
                                        <p:tgtEl>
                                          <p:spTgt spid="52"/>
                                        </p:tgtEl>
                                        <p:attrNameLst>
                                          <p:attrName>style.visibility</p:attrName>
                                        </p:attrNameLst>
                                      </p:cBhvr>
                                      <p:to>
                                        <p:strVal val="visible"/>
                                      </p:to>
                                    </p:set>
                                    <p:animEffect transition="in" filter="wipe(left)">
                                      <p:cBhvr>
                                        <p:cTn id="119" dur="700"/>
                                        <p:tgtEl>
                                          <p:spTgt spid="52"/>
                                        </p:tgtEl>
                                      </p:cBhvr>
                                    </p:animEffect>
                                  </p:childTnLst>
                                </p:cTn>
                              </p:par>
                              <p:par>
                                <p:cTn id="120" presetID="10" presetClass="entr" presetSubtype="0" fill="hold" grpId="0" nodeType="withEffect">
                                  <p:stCondLst>
                                    <p:cond delay="173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700"/>
                                        <p:tgtEl>
                                          <p:spTgt spid="53"/>
                                        </p:tgtEl>
                                      </p:cBhvr>
                                    </p:animEffect>
                                  </p:childTnLst>
                                </p:cTn>
                              </p:par>
                              <p:par>
                                <p:cTn id="123" presetID="10" presetClass="entr" presetSubtype="0" fill="hold" grpId="0" nodeType="withEffect">
                                  <p:stCondLst>
                                    <p:cond delay="177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700"/>
                                        <p:tgtEl>
                                          <p:spTgt spid="54"/>
                                        </p:tgtEl>
                                      </p:cBhvr>
                                    </p:animEffect>
                                  </p:childTnLst>
                                </p:cTn>
                              </p:par>
                              <p:par>
                                <p:cTn id="126" presetID="22" presetClass="entr" presetSubtype="8" fill="hold" grpId="0" nodeType="withEffect">
                                  <p:stCondLst>
                                    <p:cond delay="1810"/>
                                  </p:stCondLst>
                                  <p:childTnLst>
                                    <p:set>
                                      <p:cBhvr>
                                        <p:cTn id="127" dur="1" fill="hold">
                                          <p:stCondLst>
                                            <p:cond delay="0"/>
                                          </p:stCondLst>
                                        </p:cTn>
                                        <p:tgtEl>
                                          <p:spTgt spid="28"/>
                                        </p:tgtEl>
                                        <p:attrNameLst>
                                          <p:attrName>style.visibility</p:attrName>
                                        </p:attrNameLst>
                                      </p:cBhvr>
                                      <p:to>
                                        <p:strVal val="visible"/>
                                      </p:to>
                                    </p:set>
                                    <p:animEffect transition="in" filter="wipe(left)">
                                      <p:cBhvr>
                                        <p:cTn id="128" dur="700"/>
                                        <p:tgtEl>
                                          <p:spTgt spid="28"/>
                                        </p:tgtEl>
                                      </p:cBhvr>
                                    </p:animEffect>
                                  </p:childTnLst>
                                </p:cTn>
                              </p:par>
                              <p:par>
                                <p:cTn id="129" presetID="10" presetClass="entr" presetSubtype="0" fill="hold" grpId="0" nodeType="withEffect">
                                  <p:stCondLst>
                                    <p:cond delay="1850"/>
                                  </p:stCondLst>
                                  <p:childTnLst>
                                    <p:set>
                                      <p:cBhvr>
                                        <p:cTn id="130" dur="1" fill="hold">
                                          <p:stCondLst>
                                            <p:cond delay="0"/>
                                          </p:stCondLst>
                                        </p:cTn>
                                        <p:tgtEl>
                                          <p:spTgt spid="29"/>
                                        </p:tgtEl>
                                        <p:attrNameLst>
                                          <p:attrName>style.visibility</p:attrName>
                                        </p:attrNameLst>
                                      </p:cBhvr>
                                      <p:to>
                                        <p:strVal val="visible"/>
                                      </p:to>
                                    </p:set>
                                    <p:animEffect transition="in" filter="fade">
                                      <p:cBhvr>
                                        <p:cTn id="131" dur="700"/>
                                        <p:tgtEl>
                                          <p:spTgt spid="29"/>
                                        </p:tgtEl>
                                      </p:cBhvr>
                                    </p:animEffect>
                                  </p:childTnLst>
                                </p:cTn>
                              </p:par>
                              <p:par>
                                <p:cTn id="132" presetID="10" presetClass="entr" presetSubtype="0" fill="hold" grpId="0" nodeType="withEffect">
                                  <p:stCondLst>
                                    <p:cond delay="1890"/>
                                  </p:stCondLst>
                                  <p:childTnLst>
                                    <p:set>
                                      <p:cBhvr>
                                        <p:cTn id="133" dur="1" fill="hold">
                                          <p:stCondLst>
                                            <p:cond delay="0"/>
                                          </p:stCondLst>
                                        </p:cTn>
                                        <p:tgtEl>
                                          <p:spTgt spid="30"/>
                                        </p:tgtEl>
                                        <p:attrNameLst>
                                          <p:attrName>style.visibility</p:attrName>
                                        </p:attrNameLst>
                                      </p:cBhvr>
                                      <p:to>
                                        <p:strVal val="visible"/>
                                      </p:to>
                                    </p:set>
                                    <p:animEffect transition="in" filter="fade">
                                      <p:cBhvr>
                                        <p:cTn id="134" dur="700"/>
                                        <p:tgtEl>
                                          <p:spTgt spid="30"/>
                                        </p:tgtEl>
                                      </p:cBhvr>
                                    </p:animEffect>
                                  </p:childTnLst>
                                </p:cTn>
                              </p:par>
                              <p:par>
                                <p:cTn id="135" presetID="22" presetClass="entr" presetSubtype="8" fill="hold" grpId="0" nodeType="withEffect">
                                  <p:stCondLst>
                                    <p:cond delay="1930"/>
                                  </p:stCondLst>
                                  <p:childTnLst>
                                    <p:set>
                                      <p:cBhvr>
                                        <p:cTn id="136" dur="1" fill="hold">
                                          <p:stCondLst>
                                            <p:cond delay="0"/>
                                          </p:stCondLst>
                                        </p:cTn>
                                        <p:tgtEl>
                                          <p:spTgt spid="55"/>
                                        </p:tgtEl>
                                        <p:attrNameLst>
                                          <p:attrName>style.visibility</p:attrName>
                                        </p:attrNameLst>
                                      </p:cBhvr>
                                      <p:to>
                                        <p:strVal val="visible"/>
                                      </p:to>
                                    </p:set>
                                    <p:animEffect transition="in" filter="wipe(left)">
                                      <p:cBhvr>
                                        <p:cTn id="137" dur="700"/>
                                        <p:tgtEl>
                                          <p:spTgt spid="55"/>
                                        </p:tgtEl>
                                      </p:cBhvr>
                                    </p:animEffect>
                                  </p:childTnLst>
                                </p:cTn>
                              </p:par>
                              <p:par>
                                <p:cTn id="138" presetID="22" presetClass="entr" presetSubtype="8" fill="hold" grpId="0" nodeType="withEffect">
                                  <p:stCondLst>
                                    <p:cond delay="1970"/>
                                  </p:stCondLst>
                                  <p:childTnLst>
                                    <p:set>
                                      <p:cBhvr>
                                        <p:cTn id="139" dur="1" fill="hold">
                                          <p:stCondLst>
                                            <p:cond delay="0"/>
                                          </p:stCondLst>
                                        </p:cTn>
                                        <p:tgtEl>
                                          <p:spTgt spid="31"/>
                                        </p:tgtEl>
                                        <p:attrNameLst>
                                          <p:attrName>style.visibility</p:attrName>
                                        </p:attrNameLst>
                                      </p:cBhvr>
                                      <p:to>
                                        <p:strVal val="visible"/>
                                      </p:to>
                                    </p:set>
                                    <p:animEffect transition="in" filter="wipe(left)">
                                      <p:cBhvr>
                                        <p:cTn id="140" dur="700"/>
                                        <p:tgtEl>
                                          <p:spTgt spid="31"/>
                                        </p:tgtEl>
                                      </p:cBhvr>
                                    </p:animEffect>
                                  </p:childTnLst>
                                </p:cTn>
                              </p:par>
                              <p:par>
                                <p:cTn id="141" presetID="10" presetClass="entr" presetSubtype="0" fill="hold" grpId="0" nodeType="withEffect">
                                  <p:stCondLst>
                                    <p:cond delay="2010"/>
                                  </p:stCondLst>
                                  <p:childTnLst>
                                    <p:set>
                                      <p:cBhvr>
                                        <p:cTn id="142" dur="1" fill="hold">
                                          <p:stCondLst>
                                            <p:cond delay="0"/>
                                          </p:stCondLst>
                                        </p:cTn>
                                        <p:tgtEl>
                                          <p:spTgt spid="32"/>
                                        </p:tgtEl>
                                        <p:attrNameLst>
                                          <p:attrName>style.visibility</p:attrName>
                                        </p:attrNameLst>
                                      </p:cBhvr>
                                      <p:to>
                                        <p:strVal val="visible"/>
                                      </p:to>
                                    </p:set>
                                    <p:animEffect transition="in" filter="fade">
                                      <p:cBhvr>
                                        <p:cTn id="143" dur="700"/>
                                        <p:tgtEl>
                                          <p:spTgt spid="32"/>
                                        </p:tgtEl>
                                      </p:cBhvr>
                                    </p:animEffect>
                                  </p:childTnLst>
                                </p:cTn>
                              </p:par>
                              <p:par>
                                <p:cTn id="144" presetID="10" presetClass="entr" presetSubtype="0" fill="hold" grpId="0" nodeType="withEffect">
                                  <p:stCondLst>
                                    <p:cond delay="205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700"/>
                                        <p:tgtEl>
                                          <p:spTgt spid="33"/>
                                        </p:tgtEl>
                                      </p:cBhvr>
                                    </p:animEffect>
                                  </p:childTnLst>
                                </p:cTn>
                              </p:par>
                              <p:par>
                                <p:cTn id="147" presetID="22" presetClass="entr" presetSubtype="8" fill="hold" grpId="0" nodeType="withEffect">
                                  <p:stCondLst>
                                    <p:cond delay="2090"/>
                                  </p:stCondLst>
                                  <p:childTnLst>
                                    <p:set>
                                      <p:cBhvr>
                                        <p:cTn id="148" dur="1" fill="hold">
                                          <p:stCondLst>
                                            <p:cond delay="0"/>
                                          </p:stCondLst>
                                        </p:cTn>
                                        <p:tgtEl>
                                          <p:spTgt spid="34"/>
                                        </p:tgtEl>
                                        <p:attrNameLst>
                                          <p:attrName>style.visibility</p:attrName>
                                        </p:attrNameLst>
                                      </p:cBhvr>
                                      <p:to>
                                        <p:strVal val="visible"/>
                                      </p:to>
                                    </p:set>
                                    <p:animEffect transition="in" filter="wipe(left)">
                                      <p:cBhvr>
                                        <p:cTn id="149" dur="7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36" grpId="0" animBg="1"/>
      <p:bldP spid="10" grpId="0" animBg="1"/>
      <p:bldP spid="37" grpId="0" animBg="1"/>
      <p:bldP spid="11" grpId="0" animBg="1"/>
      <p:bldP spid="12" grpId="0" animBg="1"/>
      <p:bldP spid="38" grpId="0" animBg="1"/>
      <p:bldP spid="39" grpId="0" animBg="1"/>
      <p:bldP spid="13" grpId="0" animBg="1"/>
      <p:bldP spid="14" grpId="0" animBg="1"/>
      <p:bldP spid="15" grpId="0" animBg="1"/>
      <p:bldP spid="40" grpId="0" animBg="1"/>
      <p:bldP spid="41" grpId="0" animBg="1"/>
      <p:bldP spid="42" grpId="0" animBg="1"/>
      <p:bldP spid="16" grpId="0" animBg="1"/>
      <p:bldP spid="17" grpId="0" animBg="1"/>
      <p:bldP spid="18" grpId="0" animBg="1"/>
      <p:bldP spid="43" grpId="0" animBg="1"/>
      <p:bldP spid="44" grpId="0" animBg="1"/>
      <p:bldP spid="45" grpId="0" animBg="1"/>
      <p:bldP spid="19" grpId="0" animBg="1"/>
      <p:bldP spid="20" grpId="0" animBg="1"/>
      <p:bldP spid="21" grpId="0" animBg="1"/>
      <p:bldP spid="46" grpId="0" animBg="1"/>
      <p:bldP spid="47" grpId="0" animBg="1"/>
      <p:bldP spid="48" grpId="0" animBg="1"/>
      <p:bldP spid="22" grpId="0" animBg="1"/>
      <p:bldP spid="23" grpId="0" animBg="1"/>
      <p:bldP spid="24" grpId="0" animBg="1"/>
      <p:bldP spid="49" grpId="0" animBg="1"/>
      <p:bldP spid="50" grpId="0" animBg="1"/>
      <p:bldP spid="51" grpId="0" animBg="1"/>
      <p:bldP spid="25" grpId="0" animBg="1"/>
      <p:bldP spid="26" grpId="0" animBg="1"/>
      <p:bldP spid="27" grpId="0" animBg="1"/>
      <p:bldP spid="52" grpId="0" animBg="1"/>
      <p:bldP spid="53" grpId="0" animBg="1"/>
      <p:bldP spid="54" grpId="0" animBg="1"/>
      <p:bldP spid="28" grpId="0" animBg="1"/>
      <p:bldP spid="29" grpId="0" animBg="1"/>
      <p:bldP spid="30" grpId="0" animBg="1"/>
      <p:bldP spid="55" grpId="0" animBg="1"/>
      <p:bldP spid="31" grpId="0" animBg="1"/>
      <p:bldP spid="32" grpId="0" animBg="1"/>
      <p:bldP spid="33" grpId="0" animBg="1"/>
      <p:bldP spid="34"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EDE6DA"/>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8A7F71"/>
                </a:solidFill>
                <a:latin typeface="Plus Jakarta Sans"/>
                <a:ea typeface="Plus Jakarta Sans"/>
                <a:cs typeface="Plus Jakarta Sans"/>
              </a:rPr>
              <a:t>07 / 17</a:t>
            </a:r>
          </a:p>
        </p:txBody>
      </p:sp>
      <p:sp>
        <p:nvSpPr>
          <p:cNvPr id="7" name="TextBox 6"/>
          <p:cNvSpPr txBox="1"/>
          <p:nvPr/>
        </p:nvSpPr>
        <p:spPr>
          <a:xfrm>
            <a:off x="685800" y="914400"/>
            <a:ext cx="73152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EVERYTHING INCLUDED, WITH SIZES  ·  2 OF 4</a:t>
            </a:r>
          </a:p>
        </p:txBody>
      </p:sp>
      <p:pic>
        <p:nvPicPr>
          <p:cNvPr id="8" name="static-photo" descr="image.jpg"/>
          <p:cNvPicPr>
            <a:picLocks noChangeAspect="1"/>
          </p:cNvPicPr>
          <p:nvPr/>
        </p:nvPicPr>
        <p:blipFill>
          <a:blip r:embed="rId3"/>
          <a:stretch>
            <a:fillRect/>
          </a:stretch>
        </p:blipFill>
        <p:spPr>
          <a:xfrm>
            <a:off x="685800" y="1325880"/>
            <a:ext cx="5135727" cy="1051560"/>
          </a:xfrm>
          <a:prstGeom prst="rect">
            <a:avLst/>
          </a:prstGeom>
        </p:spPr>
      </p:pic>
      <p:sp>
        <p:nvSpPr>
          <p:cNvPr id="9" name="TextBox 8"/>
          <p:cNvSpPr txBox="1"/>
          <p:nvPr/>
        </p:nvSpPr>
        <p:spPr>
          <a:xfrm>
            <a:off x="685800" y="2560320"/>
            <a:ext cx="5135727" cy="411480"/>
          </a:xfrm>
          <a:prstGeom prst="rect">
            <a:avLst/>
          </a:prstGeom>
          <a:noFill/>
        </p:spPr>
        <p:txBody>
          <a:bodyPr wrap="square" lIns="0" rIns="0" tIns="0" bIns="0">
            <a:spAutoFit/>
          </a:bodyPr>
          <a:lstStyle/>
          <a:p>
            <a:pPr algn="l">
              <a:lnSpc>
                <a:spcPct val="92000"/>
              </a:lnSpc>
            </a:pPr>
            <a:r>
              <a:rPr sz="2400" b="0" i="0">
                <a:solidFill>
                  <a:srgbClr val="1B1815"/>
                </a:solidFill>
                <a:latin typeface="Cormorant Garamond"/>
                <a:ea typeface="Plus Jakarta Sans"/>
                <a:cs typeface="Plus Jakarta Sans"/>
              </a:rPr>
              <a:t>Furniture</a:t>
            </a:r>
          </a:p>
        </p:txBody>
      </p:sp>
      <p:sp>
        <p:nvSpPr>
          <p:cNvPr id="10" name="Rectangle 9"/>
          <p:cNvSpPr/>
          <p:nvPr/>
        </p:nvSpPr>
        <p:spPr>
          <a:xfrm>
            <a:off x="685800" y="3035808"/>
            <a:ext cx="5135727" cy="10972"/>
          </a:xfrm>
          <a:prstGeom prst="rect">
            <a:avLst/>
          </a:prstGeom>
          <a:solidFill>
            <a:srgbClr val="D2C6B4"/>
          </a:solidFill>
          <a:ln>
            <a:noFill/>
          </a:ln>
        </p:spPr>
        <p:txBody>
          <a:bodyPr rtlCol="0" anchor="ctr"/>
          <a:lstStyle/>
          <a:p>
            <a:pPr algn="ctr"/>
          </a:p>
        </p:txBody>
      </p:sp>
      <p:sp>
        <p:nvSpPr>
          <p:cNvPr id="11" name="TextBox 10"/>
          <p:cNvSpPr txBox="1"/>
          <p:nvPr/>
        </p:nvSpPr>
        <p:spPr>
          <a:xfrm>
            <a:off x="685800" y="310896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Console or open shelf unit, black metal and wood</a:t>
            </a:r>
          </a:p>
        </p:txBody>
      </p:sp>
      <p:sp>
        <p:nvSpPr>
          <p:cNvPr id="12" name="TextBox 11"/>
          <p:cNvSpPr txBox="1"/>
          <p:nvPr/>
        </p:nvSpPr>
        <p:spPr>
          <a:xfrm>
            <a:off x="4129887" y="310896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100 × 35 × 75 cm</a:t>
            </a:r>
          </a:p>
        </p:txBody>
      </p:sp>
      <p:sp>
        <p:nvSpPr>
          <p:cNvPr id="13" name="Rectangle 12"/>
          <p:cNvSpPr/>
          <p:nvPr/>
        </p:nvSpPr>
        <p:spPr>
          <a:xfrm>
            <a:off x="685800" y="3364991"/>
            <a:ext cx="5135727" cy="10972"/>
          </a:xfrm>
          <a:prstGeom prst="rect">
            <a:avLst/>
          </a:prstGeom>
          <a:solidFill>
            <a:srgbClr val="D2C6B4"/>
          </a:solidFill>
          <a:ln>
            <a:noFill/>
          </a:ln>
        </p:spPr>
        <p:txBody>
          <a:bodyPr rtlCol="0" anchor="ctr"/>
          <a:lstStyle/>
          <a:p>
            <a:pPr algn="ctr"/>
          </a:p>
        </p:txBody>
      </p:sp>
      <p:sp>
        <p:nvSpPr>
          <p:cNvPr id="14" name="TextBox 13"/>
          <p:cNvSpPr txBox="1"/>
          <p:nvPr/>
        </p:nvSpPr>
        <p:spPr>
          <a:xfrm>
            <a:off x="685800" y="343814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Accent chair, cane or wishbone style</a:t>
            </a:r>
          </a:p>
        </p:txBody>
      </p:sp>
      <p:sp>
        <p:nvSpPr>
          <p:cNvPr id="15" name="TextBox 14"/>
          <p:cNvSpPr txBox="1"/>
          <p:nvPr/>
        </p:nvSpPr>
        <p:spPr>
          <a:xfrm>
            <a:off x="4129887" y="343814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55 × 55 × 80 cm</a:t>
            </a:r>
          </a:p>
        </p:txBody>
      </p:sp>
      <p:sp>
        <p:nvSpPr>
          <p:cNvPr id="16" name="Rectangle 15"/>
          <p:cNvSpPr/>
          <p:nvPr/>
        </p:nvSpPr>
        <p:spPr>
          <a:xfrm>
            <a:off x="685800" y="3694176"/>
            <a:ext cx="5135727" cy="10972"/>
          </a:xfrm>
          <a:prstGeom prst="rect">
            <a:avLst/>
          </a:prstGeom>
          <a:solidFill>
            <a:srgbClr val="D2C6B4"/>
          </a:solidFill>
          <a:ln>
            <a:noFill/>
          </a:ln>
        </p:spPr>
        <p:txBody>
          <a:bodyPr rtlCol="0" anchor="ctr"/>
          <a:lstStyle/>
          <a:p>
            <a:pPr algn="ctr"/>
          </a:p>
        </p:txBody>
      </p:sp>
      <p:sp>
        <p:nvSpPr>
          <p:cNvPr id="17" name="TextBox 16"/>
          <p:cNvSpPr txBox="1"/>
          <p:nvPr/>
        </p:nvSpPr>
        <p:spPr>
          <a:xfrm>
            <a:off x="685800" y="3767328"/>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Round side table, dark wood</a:t>
            </a:r>
          </a:p>
        </p:txBody>
      </p:sp>
      <p:sp>
        <p:nvSpPr>
          <p:cNvPr id="18" name="TextBox 17"/>
          <p:cNvSpPr txBox="1"/>
          <p:nvPr/>
        </p:nvSpPr>
        <p:spPr>
          <a:xfrm>
            <a:off x="4129887" y="3767328"/>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45 cm dia</a:t>
            </a:r>
          </a:p>
        </p:txBody>
      </p:sp>
      <p:sp>
        <p:nvSpPr>
          <p:cNvPr id="19" name="Rectangle 18"/>
          <p:cNvSpPr/>
          <p:nvPr/>
        </p:nvSpPr>
        <p:spPr>
          <a:xfrm>
            <a:off x="685800" y="4023360"/>
            <a:ext cx="5135727" cy="10972"/>
          </a:xfrm>
          <a:prstGeom prst="rect">
            <a:avLst/>
          </a:prstGeom>
          <a:solidFill>
            <a:srgbClr val="D2C6B4"/>
          </a:solidFill>
          <a:ln>
            <a:noFill/>
          </a:ln>
        </p:spPr>
        <p:txBody>
          <a:bodyPr rtlCol="0" anchor="ctr"/>
          <a:lstStyle/>
          <a:p>
            <a:pPr algn="ctr"/>
          </a:p>
        </p:txBody>
      </p:sp>
      <p:sp>
        <p:nvSpPr>
          <p:cNvPr id="20" name="TextBox 19"/>
          <p:cNvSpPr txBox="1"/>
          <p:nvPr/>
        </p:nvSpPr>
        <p:spPr>
          <a:xfrm>
            <a:off x="685800" y="4096512"/>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Full-length mirror, black frame</a:t>
            </a:r>
          </a:p>
        </p:txBody>
      </p:sp>
      <p:sp>
        <p:nvSpPr>
          <p:cNvPr id="21" name="TextBox 20"/>
          <p:cNvSpPr txBox="1"/>
          <p:nvPr/>
        </p:nvSpPr>
        <p:spPr>
          <a:xfrm>
            <a:off x="4129887" y="4096512"/>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150 × 40 cm</a:t>
            </a:r>
          </a:p>
        </p:txBody>
      </p:sp>
      <p:sp>
        <p:nvSpPr>
          <p:cNvPr id="22" name="Rectangle 21"/>
          <p:cNvSpPr/>
          <p:nvPr/>
        </p:nvSpPr>
        <p:spPr>
          <a:xfrm>
            <a:off x="685800" y="4352544"/>
            <a:ext cx="5135727" cy="10972"/>
          </a:xfrm>
          <a:prstGeom prst="rect">
            <a:avLst/>
          </a:prstGeom>
          <a:solidFill>
            <a:srgbClr val="D2C6B4"/>
          </a:solidFill>
          <a:ln>
            <a:noFill/>
          </a:ln>
        </p:spPr>
        <p:txBody>
          <a:bodyPr rtlCol="0" anchor="ctr"/>
          <a:lstStyle/>
          <a:p>
            <a:pPr algn="ctr"/>
          </a:p>
        </p:txBody>
      </p:sp>
      <p:sp>
        <p:nvSpPr>
          <p:cNvPr id="23" name="TextBox 22"/>
          <p:cNvSpPr txBox="1"/>
          <p:nvPr/>
        </p:nvSpPr>
        <p:spPr>
          <a:xfrm>
            <a:off x="685800" y="4581144"/>
            <a:ext cx="5135727" cy="411480"/>
          </a:xfrm>
          <a:prstGeom prst="rect">
            <a:avLst/>
          </a:prstGeom>
          <a:noFill/>
        </p:spPr>
        <p:txBody>
          <a:bodyPr wrap="square" lIns="0" rIns="0" tIns="0" bIns="0">
            <a:spAutoFit/>
          </a:bodyPr>
          <a:lstStyle/>
          <a:p>
            <a:pPr algn="l">
              <a:lnSpc>
                <a:spcPct val="92000"/>
              </a:lnSpc>
            </a:pPr>
            <a:r>
              <a:rPr sz="2400" b="0" i="0">
                <a:solidFill>
                  <a:srgbClr val="1B1815"/>
                </a:solidFill>
                <a:latin typeface="Cormorant Garamond"/>
                <a:ea typeface="Plus Jakarta Sans"/>
                <a:cs typeface="Plus Jakarta Sans"/>
              </a:rPr>
              <a:t>Floor and windows</a:t>
            </a:r>
          </a:p>
        </p:txBody>
      </p:sp>
      <p:sp>
        <p:nvSpPr>
          <p:cNvPr id="24" name="Rectangle 23"/>
          <p:cNvSpPr/>
          <p:nvPr/>
        </p:nvSpPr>
        <p:spPr>
          <a:xfrm>
            <a:off x="685800" y="5056632"/>
            <a:ext cx="5135727" cy="10972"/>
          </a:xfrm>
          <a:prstGeom prst="rect">
            <a:avLst/>
          </a:prstGeom>
          <a:solidFill>
            <a:srgbClr val="D2C6B4"/>
          </a:solidFill>
          <a:ln>
            <a:noFill/>
          </a:ln>
        </p:spPr>
        <p:txBody>
          <a:bodyPr rtlCol="0" anchor="ctr"/>
          <a:lstStyle/>
          <a:p>
            <a:pPr algn="ctr"/>
          </a:p>
        </p:txBody>
      </p:sp>
      <p:sp>
        <p:nvSpPr>
          <p:cNvPr id="25" name="TextBox 24"/>
          <p:cNvSpPr txBox="1"/>
          <p:nvPr/>
        </p:nvSpPr>
        <p:spPr>
          <a:xfrm>
            <a:off x="685800" y="512978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Jute rug under the bed</a:t>
            </a:r>
          </a:p>
        </p:txBody>
      </p:sp>
      <p:sp>
        <p:nvSpPr>
          <p:cNvPr id="26" name="TextBox 25"/>
          <p:cNvSpPr txBox="1"/>
          <p:nvPr/>
        </p:nvSpPr>
        <p:spPr>
          <a:xfrm>
            <a:off x="4129887" y="512978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6 × 4 ft</a:t>
            </a:r>
          </a:p>
        </p:txBody>
      </p:sp>
      <p:sp>
        <p:nvSpPr>
          <p:cNvPr id="27" name="Rectangle 26"/>
          <p:cNvSpPr/>
          <p:nvPr/>
        </p:nvSpPr>
        <p:spPr>
          <a:xfrm>
            <a:off x="685800" y="5385816"/>
            <a:ext cx="5135727" cy="10972"/>
          </a:xfrm>
          <a:prstGeom prst="rect">
            <a:avLst/>
          </a:prstGeom>
          <a:solidFill>
            <a:srgbClr val="D2C6B4"/>
          </a:solidFill>
          <a:ln>
            <a:noFill/>
          </a:ln>
        </p:spPr>
        <p:txBody>
          <a:bodyPr rtlCol="0" anchor="ctr"/>
          <a:lstStyle/>
          <a:p>
            <a:pPr algn="ctr"/>
          </a:p>
        </p:txBody>
      </p:sp>
      <p:sp>
        <p:nvSpPr>
          <p:cNvPr id="28" name="TextBox 27"/>
          <p:cNvSpPr txBox="1"/>
          <p:nvPr/>
        </p:nvSpPr>
        <p:spPr>
          <a:xfrm>
            <a:off x="685800" y="5458968"/>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Blackout curtains, oatmeal, with black rod</a:t>
            </a:r>
          </a:p>
        </p:txBody>
      </p:sp>
      <p:sp>
        <p:nvSpPr>
          <p:cNvPr id="29" name="TextBox 28"/>
          <p:cNvSpPr txBox="1"/>
          <p:nvPr/>
        </p:nvSpPr>
        <p:spPr>
          <a:xfrm>
            <a:off x="4129887" y="5458968"/>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4.5 × 9 ft panels</a:t>
            </a:r>
          </a:p>
        </p:txBody>
      </p:sp>
      <p:sp>
        <p:nvSpPr>
          <p:cNvPr id="30" name="Rectangle 29"/>
          <p:cNvSpPr/>
          <p:nvPr/>
        </p:nvSpPr>
        <p:spPr>
          <a:xfrm>
            <a:off x="685800" y="5715000"/>
            <a:ext cx="5135727" cy="10972"/>
          </a:xfrm>
          <a:prstGeom prst="rect">
            <a:avLst/>
          </a:prstGeom>
          <a:solidFill>
            <a:srgbClr val="D2C6B4"/>
          </a:solidFill>
          <a:ln>
            <a:noFill/>
          </a:ln>
        </p:spPr>
        <p:txBody>
          <a:bodyPr rtlCol="0" anchor="ctr"/>
          <a:lstStyle/>
          <a:p>
            <a:pPr algn="ctr"/>
          </a:p>
        </p:txBody>
      </p:sp>
      <p:pic>
        <p:nvPicPr>
          <p:cNvPr id="31" name="static-photo" descr="image.jpg"/>
          <p:cNvPicPr>
            <a:picLocks noChangeAspect="1"/>
          </p:cNvPicPr>
          <p:nvPr/>
        </p:nvPicPr>
        <p:blipFill>
          <a:blip r:embed="rId4"/>
          <a:stretch>
            <a:fillRect/>
          </a:stretch>
        </p:blipFill>
        <p:spPr>
          <a:xfrm>
            <a:off x="6370167" y="1325880"/>
            <a:ext cx="5135727" cy="1051560"/>
          </a:xfrm>
          <a:prstGeom prst="rect">
            <a:avLst/>
          </a:prstGeom>
        </p:spPr>
      </p:pic>
      <p:sp>
        <p:nvSpPr>
          <p:cNvPr id="32" name="TextBox 31"/>
          <p:cNvSpPr txBox="1"/>
          <p:nvPr/>
        </p:nvSpPr>
        <p:spPr>
          <a:xfrm>
            <a:off x="6370167" y="2560320"/>
            <a:ext cx="5135727" cy="411480"/>
          </a:xfrm>
          <a:prstGeom prst="rect">
            <a:avLst/>
          </a:prstGeom>
          <a:noFill/>
        </p:spPr>
        <p:txBody>
          <a:bodyPr wrap="square" lIns="0" rIns="0" tIns="0" bIns="0">
            <a:spAutoFit/>
          </a:bodyPr>
          <a:lstStyle/>
          <a:p>
            <a:pPr algn="l">
              <a:lnSpc>
                <a:spcPct val="92000"/>
              </a:lnSpc>
            </a:pPr>
            <a:r>
              <a:rPr sz="2400" b="0" i="0">
                <a:solidFill>
                  <a:srgbClr val="1B1815"/>
                </a:solidFill>
                <a:latin typeface="Cormorant Garamond"/>
                <a:ea typeface="Plus Jakarta Sans"/>
                <a:cs typeface="Plus Jakarta Sans"/>
              </a:rPr>
              <a:t>Bathroom</a:t>
            </a:r>
          </a:p>
        </p:txBody>
      </p:sp>
      <p:sp>
        <p:nvSpPr>
          <p:cNvPr id="33" name="Rectangle 32"/>
          <p:cNvSpPr/>
          <p:nvPr/>
        </p:nvSpPr>
        <p:spPr>
          <a:xfrm>
            <a:off x="6370167" y="3035808"/>
            <a:ext cx="5135727" cy="10972"/>
          </a:xfrm>
          <a:prstGeom prst="rect">
            <a:avLst/>
          </a:prstGeom>
          <a:solidFill>
            <a:srgbClr val="D2C6B4"/>
          </a:solidFill>
          <a:ln>
            <a:noFill/>
          </a:ln>
        </p:spPr>
        <p:txBody>
          <a:bodyPr rtlCol="0" anchor="ctr"/>
          <a:lstStyle/>
          <a:p>
            <a:pPr algn="ctr"/>
          </a:p>
        </p:txBody>
      </p:sp>
      <p:sp>
        <p:nvSpPr>
          <p:cNvPr id="34" name="TextBox 33"/>
          <p:cNvSpPr txBox="1"/>
          <p:nvPr/>
        </p:nvSpPr>
        <p:spPr>
          <a:xfrm>
            <a:off x="6370167" y="310896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Bath towels</a:t>
            </a:r>
          </a:p>
        </p:txBody>
      </p:sp>
      <p:sp>
        <p:nvSpPr>
          <p:cNvPr id="35" name="TextBox 34"/>
          <p:cNvSpPr txBox="1"/>
          <p:nvPr/>
        </p:nvSpPr>
        <p:spPr>
          <a:xfrm>
            <a:off x="9814255" y="310896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75 × 150 cm</a:t>
            </a:r>
          </a:p>
        </p:txBody>
      </p:sp>
      <p:sp>
        <p:nvSpPr>
          <p:cNvPr id="36" name="Rectangle 35"/>
          <p:cNvSpPr/>
          <p:nvPr/>
        </p:nvSpPr>
        <p:spPr>
          <a:xfrm>
            <a:off x="6370167" y="3364991"/>
            <a:ext cx="5135727" cy="10972"/>
          </a:xfrm>
          <a:prstGeom prst="rect">
            <a:avLst/>
          </a:prstGeom>
          <a:solidFill>
            <a:srgbClr val="D2C6B4"/>
          </a:solidFill>
          <a:ln>
            <a:noFill/>
          </a:ln>
        </p:spPr>
        <p:txBody>
          <a:bodyPr rtlCol="0" anchor="ctr"/>
          <a:lstStyle/>
          <a:p>
            <a:pPr algn="ctr"/>
          </a:p>
        </p:txBody>
      </p:sp>
      <p:sp>
        <p:nvSpPr>
          <p:cNvPr id="37" name="TextBox 36"/>
          <p:cNvSpPr txBox="1"/>
          <p:nvPr/>
        </p:nvSpPr>
        <p:spPr>
          <a:xfrm>
            <a:off x="6370167" y="343814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Hand towels and face towels</a:t>
            </a:r>
          </a:p>
        </p:txBody>
      </p:sp>
      <p:sp>
        <p:nvSpPr>
          <p:cNvPr id="38" name="TextBox 37"/>
          <p:cNvSpPr txBox="1"/>
          <p:nvPr/>
        </p:nvSpPr>
        <p:spPr>
          <a:xfrm>
            <a:off x="9814255" y="343814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40 × 60 · 30 × 30 cm</a:t>
            </a:r>
          </a:p>
        </p:txBody>
      </p:sp>
      <p:sp>
        <p:nvSpPr>
          <p:cNvPr id="39" name="Rectangle 38"/>
          <p:cNvSpPr/>
          <p:nvPr/>
        </p:nvSpPr>
        <p:spPr>
          <a:xfrm>
            <a:off x="6370167" y="3694176"/>
            <a:ext cx="5135727" cy="10972"/>
          </a:xfrm>
          <a:prstGeom prst="rect">
            <a:avLst/>
          </a:prstGeom>
          <a:solidFill>
            <a:srgbClr val="D2C6B4"/>
          </a:solidFill>
          <a:ln>
            <a:noFill/>
          </a:ln>
        </p:spPr>
        <p:txBody>
          <a:bodyPr rtlCol="0" anchor="ctr"/>
          <a:lstStyle/>
          <a:p>
            <a:pPr algn="ctr"/>
          </a:p>
        </p:txBody>
      </p:sp>
      <p:sp>
        <p:nvSpPr>
          <p:cNvPr id="40" name="TextBox 39"/>
          <p:cNvSpPr txBox="1"/>
          <p:nvPr/>
        </p:nvSpPr>
        <p:spPr>
          <a:xfrm>
            <a:off x="6370167" y="3767328"/>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Bath mats</a:t>
            </a:r>
          </a:p>
        </p:txBody>
      </p:sp>
      <p:sp>
        <p:nvSpPr>
          <p:cNvPr id="41" name="TextBox 40"/>
          <p:cNvSpPr txBox="1"/>
          <p:nvPr/>
        </p:nvSpPr>
        <p:spPr>
          <a:xfrm>
            <a:off x="9814255" y="3767328"/>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50 × 80 cm</a:t>
            </a:r>
          </a:p>
        </p:txBody>
      </p:sp>
      <p:sp>
        <p:nvSpPr>
          <p:cNvPr id="42" name="Rectangle 41"/>
          <p:cNvSpPr/>
          <p:nvPr/>
        </p:nvSpPr>
        <p:spPr>
          <a:xfrm>
            <a:off x="6370167" y="4023360"/>
            <a:ext cx="5135727" cy="10972"/>
          </a:xfrm>
          <a:prstGeom prst="rect">
            <a:avLst/>
          </a:prstGeom>
          <a:solidFill>
            <a:srgbClr val="D2C6B4"/>
          </a:solidFill>
          <a:ln>
            <a:noFill/>
          </a:ln>
        </p:spPr>
        <p:txBody>
          <a:bodyPr rtlCol="0" anchor="ctr"/>
          <a:lstStyle/>
          <a:p>
            <a:pPr algn="ctr"/>
          </a:p>
        </p:txBody>
      </p:sp>
      <p:sp>
        <p:nvSpPr>
          <p:cNvPr id="43" name="TextBox 42"/>
          <p:cNvSpPr txBox="1"/>
          <p:nvPr/>
        </p:nvSpPr>
        <p:spPr>
          <a:xfrm>
            <a:off x="6370167" y="4096512"/>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Refillable dispensers — shampoo, conditioner, body wash, hand wash</a:t>
            </a:r>
          </a:p>
        </p:txBody>
      </p:sp>
      <p:sp>
        <p:nvSpPr>
          <p:cNvPr id="44" name="TextBox 43"/>
          <p:cNvSpPr txBox="1"/>
          <p:nvPr/>
        </p:nvSpPr>
        <p:spPr>
          <a:xfrm>
            <a:off x="9814255" y="4096512"/>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300 ml</a:t>
            </a:r>
          </a:p>
        </p:txBody>
      </p:sp>
      <p:sp>
        <p:nvSpPr>
          <p:cNvPr id="45" name="Rectangle 44"/>
          <p:cNvSpPr/>
          <p:nvPr/>
        </p:nvSpPr>
        <p:spPr>
          <a:xfrm>
            <a:off x="6370167" y="4480560"/>
            <a:ext cx="5135727" cy="10972"/>
          </a:xfrm>
          <a:prstGeom prst="rect">
            <a:avLst/>
          </a:prstGeom>
          <a:solidFill>
            <a:srgbClr val="D2C6B4"/>
          </a:solidFill>
          <a:ln>
            <a:noFill/>
          </a:ln>
        </p:spPr>
        <p:txBody>
          <a:bodyPr rtlCol="0" anchor="ctr"/>
          <a:lstStyle/>
          <a:p>
            <a:pPr algn="ctr"/>
          </a:p>
        </p:txBody>
      </p:sp>
      <p:sp>
        <p:nvSpPr>
          <p:cNvPr id="46" name="TextBox 45"/>
          <p:cNvSpPr txBox="1"/>
          <p:nvPr/>
        </p:nvSpPr>
        <p:spPr>
          <a:xfrm>
            <a:off x="6370167" y="4553712"/>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Mirror, shelf, towel rail and hooks</a:t>
            </a:r>
          </a:p>
        </p:txBody>
      </p:sp>
      <p:sp>
        <p:nvSpPr>
          <p:cNvPr id="47" name="TextBox 46"/>
          <p:cNvSpPr txBox="1"/>
          <p:nvPr/>
        </p:nvSpPr>
        <p:spPr>
          <a:xfrm>
            <a:off x="9814255" y="4553712"/>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60 × 80 cm mirror</a:t>
            </a:r>
          </a:p>
        </p:txBody>
      </p:sp>
      <p:sp>
        <p:nvSpPr>
          <p:cNvPr id="48" name="Rectangle 47"/>
          <p:cNvSpPr/>
          <p:nvPr/>
        </p:nvSpPr>
        <p:spPr>
          <a:xfrm>
            <a:off x="6370167" y="4809744"/>
            <a:ext cx="5135727" cy="10972"/>
          </a:xfrm>
          <a:prstGeom prst="rect">
            <a:avLst/>
          </a:prstGeom>
          <a:solidFill>
            <a:srgbClr val="D2C6B4"/>
          </a:solidFill>
          <a:ln>
            <a:noFill/>
          </a:ln>
        </p:spPr>
        <p:txBody>
          <a:bodyPr rtlCol="0" anchor="ctr"/>
          <a:lstStyle/>
          <a:p>
            <a:pPr algn="ctr"/>
          </a:p>
        </p:txBody>
      </p:sp>
      <p:sp>
        <p:nvSpPr>
          <p:cNvPr id="49" name="TextBox 48"/>
          <p:cNvSpPr txBox="1"/>
          <p:nvPr/>
        </p:nvSpPr>
        <p:spPr>
          <a:xfrm>
            <a:off x="6370167" y="4882896"/>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Bin, toilet brush, bucket and mug</a:t>
            </a:r>
          </a:p>
        </p:txBody>
      </p:sp>
      <p:sp>
        <p:nvSpPr>
          <p:cNvPr id="50" name="TextBox 49"/>
          <p:cNvSpPr txBox="1"/>
          <p:nvPr/>
        </p:nvSpPr>
        <p:spPr>
          <a:xfrm>
            <a:off x="9814255" y="4882896"/>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a:t>
            </a:r>
          </a:p>
        </p:txBody>
      </p:sp>
      <p:sp>
        <p:nvSpPr>
          <p:cNvPr id="51" name="Rectangle 50"/>
          <p:cNvSpPr/>
          <p:nvPr/>
        </p:nvSpPr>
        <p:spPr>
          <a:xfrm>
            <a:off x="6370167" y="5138928"/>
            <a:ext cx="5135727" cy="10972"/>
          </a:xfrm>
          <a:prstGeom prst="rect">
            <a:avLst/>
          </a:prstGeom>
          <a:solidFill>
            <a:srgbClr val="D2C6B4"/>
          </a:solidFill>
          <a:ln>
            <a:noFill/>
          </a:ln>
        </p:spPr>
        <p:txBody>
          <a:bodyPr rtlCol="0" anchor="ctr"/>
          <a:lstStyle/>
          <a:p>
            <a:pPr algn="ctr"/>
          </a:p>
        </p:txBody>
      </p:sp>
      <p:sp>
        <p:nvSpPr>
          <p:cNvPr id="52" name="TextBox 51"/>
          <p:cNvSpPr txBox="1"/>
          <p:nvPr/>
        </p:nvSpPr>
        <p:spPr>
          <a:xfrm>
            <a:off x="6370167" y="521208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Hair dryer</a:t>
            </a:r>
          </a:p>
        </p:txBody>
      </p:sp>
      <p:sp>
        <p:nvSpPr>
          <p:cNvPr id="53" name="TextBox 52"/>
          <p:cNvSpPr txBox="1"/>
          <p:nvPr/>
        </p:nvSpPr>
        <p:spPr>
          <a:xfrm>
            <a:off x="9814255" y="521208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1200 W</a:t>
            </a:r>
          </a:p>
        </p:txBody>
      </p:sp>
      <p:sp>
        <p:nvSpPr>
          <p:cNvPr id="54" name="Rectangle 53"/>
          <p:cNvSpPr/>
          <p:nvPr/>
        </p:nvSpPr>
        <p:spPr>
          <a:xfrm>
            <a:off x="6370167" y="5468112"/>
            <a:ext cx="5135727" cy="10972"/>
          </a:xfrm>
          <a:prstGeom prst="rect">
            <a:avLst/>
          </a:prstGeom>
          <a:solidFill>
            <a:srgbClr val="D2C6B4"/>
          </a:solidFill>
          <a:ln>
            <a:noFill/>
          </a:ln>
        </p:spPr>
        <p:txBody>
          <a:bodyPr rtlCol="0" anchor="ctr"/>
          <a:lstStyle/>
          <a:p>
            <a:pPr algn="ctr"/>
          </a:p>
        </p:txBody>
      </p:sp>
      <p:sp>
        <p:nvSpPr>
          <p:cNvPr id="55" name="TextBox 54"/>
          <p:cNvSpPr txBox="1"/>
          <p:nvPr/>
        </p:nvSpPr>
        <p:spPr>
          <a:xfrm>
            <a:off x="6370167" y="554126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Upgraded shower head</a:t>
            </a:r>
          </a:p>
        </p:txBody>
      </p:sp>
      <p:sp>
        <p:nvSpPr>
          <p:cNvPr id="56" name="TextBox 55"/>
          <p:cNvSpPr txBox="1"/>
          <p:nvPr/>
        </p:nvSpPr>
        <p:spPr>
          <a:xfrm>
            <a:off x="9814255" y="554126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a:t>
            </a:r>
          </a:p>
        </p:txBody>
      </p:sp>
      <p:sp>
        <p:nvSpPr>
          <p:cNvPr id="57" name="Rectangle 56"/>
          <p:cNvSpPr/>
          <p:nvPr/>
        </p:nvSpPr>
        <p:spPr>
          <a:xfrm>
            <a:off x="6370167" y="5797296"/>
            <a:ext cx="5135727" cy="10972"/>
          </a:xfrm>
          <a:prstGeom prst="rect">
            <a:avLst/>
          </a:prstGeom>
          <a:solidFill>
            <a:srgbClr val="D2C6B4"/>
          </a:solidFill>
          <a:ln>
            <a:noFill/>
          </a:ln>
        </p:spPr>
        <p:txBody>
          <a:bodyPr rtlCol="0" anchor="ctr"/>
          <a:lstStyle/>
          <a:p>
            <a:pPr algn="ct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288"/>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900"/>
                                        <p:tgtEl>
                                          <p:spTgt spid="9"/>
                                        </p:tgtEl>
                                      </p:cBhvr>
                                    </p:animEffect>
                                    <p:anim calcmode="lin" valueType="num">
                                      <p:cBhvr>
                                        <p:cTn id="11" dur="900" decel="100000"/>
                                        <p:tgtEl>
                                          <p:spTgt spid="9"/>
                                        </p:tgtEl>
                                        <p:attrNameLst>
                                          <p:attrName>ppt_x</p:attrName>
                                        </p:attrNameLst>
                                      </p:cBhvr>
                                      <p:tavLst>
                                        <p:tav tm="0">
                                          <p:val>
                                            <p:strVal val="#ppt_x"/>
                                          </p:val>
                                        </p:tav>
                                        <p:tav tm="100000">
                                          <p:val>
                                            <p:strVal val="#ppt_x"/>
                                          </p:val>
                                        </p:tav>
                                      </p:tavLst>
                                    </p:anim>
                                    <p:anim calcmode="lin" valueType="num">
                                      <p:cBhvr>
                                        <p:cTn id="12" dur="900" decel="100000"/>
                                        <p:tgtEl>
                                          <p:spTgt spid="9"/>
                                        </p:tgtEl>
                                        <p:attrNameLst>
                                          <p:attrName>ppt_y</p:attrName>
                                        </p:attrNameLst>
                                      </p:cBhvr>
                                      <p:tavLst>
                                        <p:tav tm="0">
                                          <p:val>
                                            <p:strVal val="#ppt_y+.035"/>
                                          </p:val>
                                        </p:tav>
                                        <p:tav tm="100000">
                                          <p:val>
                                            <p:strVal val="#ppt_y"/>
                                          </p:val>
                                        </p:tav>
                                      </p:tavLst>
                                    </p:anim>
                                  </p:childTnLst>
                                </p:cTn>
                              </p:par>
                              <p:par>
                                <p:cTn id="13" presetID="42" presetClass="entr" presetSubtype="0" fill="hold" grpId="0" nodeType="withEffect">
                                  <p:stCondLst>
                                    <p:cond delay="326"/>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900"/>
                                        <p:tgtEl>
                                          <p:spTgt spid="32"/>
                                        </p:tgtEl>
                                      </p:cBhvr>
                                    </p:animEffect>
                                    <p:anim calcmode="lin" valueType="num">
                                      <p:cBhvr>
                                        <p:cTn id="16" dur="900" decel="100000"/>
                                        <p:tgtEl>
                                          <p:spTgt spid="32"/>
                                        </p:tgtEl>
                                        <p:attrNameLst>
                                          <p:attrName>ppt_x</p:attrName>
                                        </p:attrNameLst>
                                      </p:cBhvr>
                                      <p:tavLst>
                                        <p:tav tm="0">
                                          <p:val>
                                            <p:strVal val="#ppt_x"/>
                                          </p:val>
                                        </p:tav>
                                        <p:tav tm="100000">
                                          <p:val>
                                            <p:strVal val="#ppt_x"/>
                                          </p:val>
                                        </p:tav>
                                      </p:tavLst>
                                    </p:anim>
                                    <p:anim calcmode="lin" valueType="num">
                                      <p:cBhvr>
                                        <p:cTn id="17" dur="900" decel="100000"/>
                                        <p:tgtEl>
                                          <p:spTgt spid="32"/>
                                        </p:tgtEl>
                                        <p:attrNameLst>
                                          <p:attrName>ppt_y</p:attrName>
                                        </p:attrNameLst>
                                      </p:cBhvr>
                                      <p:tavLst>
                                        <p:tav tm="0">
                                          <p:val>
                                            <p:strVal val="#ppt_y+.035"/>
                                          </p:val>
                                        </p:tav>
                                        <p:tav tm="100000">
                                          <p:val>
                                            <p:strVal val="#ppt_y"/>
                                          </p:val>
                                        </p:tav>
                                      </p:tavLst>
                                    </p:anim>
                                  </p:childTnLst>
                                </p:cTn>
                              </p:par>
                              <p:par>
                                <p:cTn id="18" presetID="22" presetClass="entr" presetSubtype="8" fill="hold" grpId="0" nodeType="withEffect">
                                  <p:stCondLst>
                                    <p:cond delay="364"/>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700"/>
                                        <p:tgtEl>
                                          <p:spTgt spid="10"/>
                                        </p:tgtEl>
                                      </p:cBhvr>
                                    </p:animEffect>
                                  </p:childTnLst>
                                </p:cTn>
                              </p:par>
                              <p:par>
                                <p:cTn id="21" presetID="22" presetClass="entr" presetSubtype="8" fill="hold" grpId="0" nodeType="withEffect">
                                  <p:stCondLst>
                                    <p:cond delay="402"/>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700"/>
                                        <p:tgtEl>
                                          <p:spTgt spid="33"/>
                                        </p:tgtEl>
                                      </p:cBhvr>
                                    </p:animEffect>
                                  </p:childTnLst>
                                </p:cTn>
                              </p:par>
                              <p:par>
                                <p:cTn id="24" presetID="10" presetClass="entr" presetSubtype="0" fill="hold" grpId="0" nodeType="withEffect">
                                  <p:stCondLst>
                                    <p:cond delay="44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700"/>
                                        <p:tgtEl>
                                          <p:spTgt spid="11"/>
                                        </p:tgtEl>
                                      </p:cBhvr>
                                    </p:animEffect>
                                  </p:childTnLst>
                                </p:cTn>
                              </p:par>
                              <p:par>
                                <p:cTn id="27" presetID="10" presetClass="entr" presetSubtype="0" fill="hold" grpId="0" nodeType="withEffect">
                                  <p:stCondLst>
                                    <p:cond delay="478"/>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700"/>
                                        <p:tgtEl>
                                          <p:spTgt spid="12"/>
                                        </p:tgtEl>
                                      </p:cBhvr>
                                    </p:animEffect>
                                  </p:childTnLst>
                                </p:cTn>
                              </p:par>
                              <p:par>
                                <p:cTn id="30" presetID="10" presetClass="entr" presetSubtype="0" fill="hold" grpId="0" nodeType="withEffect">
                                  <p:stCondLst>
                                    <p:cond delay="516"/>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700"/>
                                        <p:tgtEl>
                                          <p:spTgt spid="34"/>
                                        </p:tgtEl>
                                      </p:cBhvr>
                                    </p:animEffect>
                                  </p:childTnLst>
                                </p:cTn>
                              </p:par>
                              <p:par>
                                <p:cTn id="33" presetID="10" presetClass="entr" presetSubtype="0" fill="hold" grpId="0" nodeType="withEffect">
                                  <p:stCondLst>
                                    <p:cond delay="554"/>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700"/>
                                        <p:tgtEl>
                                          <p:spTgt spid="35"/>
                                        </p:tgtEl>
                                      </p:cBhvr>
                                    </p:animEffect>
                                  </p:childTnLst>
                                </p:cTn>
                              </p:par>
                              <p:par>
                                <p:cTn id="36" presetID="22" presetClass="entr" presetSubtype="8" fill="hold" grpId="0" nodeType="withEffect">
                                  <p:stCondLst>
                                    <p:cond delay="592"/>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700"/>
                                        <p:tgtEl>
                                          <p:spTgt spid="13"/>
                                        </p:tgtEl>
                                      </p:cBhvr>
                                    </p:animEffect>
                                  </p:childTnLst>
                                </p:cTn>
                              </p:par>
                              <p:par>
                                <p:cTn id="39" presetID="10" presetClass="entr" presetSubtype="0" fill="hold" grpId="0" nodeType="withEffect">
                                  <p:stCondLst>
                                    <p:cond delay="63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700"/>
                                        <p:tgtEl>
                                          <p:spTgt spid="14"/>
                                        </p:tgtEl>
                                      </p:cBhvr>
                                    </p:animEffect>
                                  </p:childTnLst>
                                </p:cTn>
                              </p:par>
                              <p:par>
                                <p:cTn id="42" presetID="10" presetClass="entr" presetSubtype="0" fill="hold" grpId="0" nodeType="withEffect">
                                  <p:stCondLst>
                                    <p:cond delay="668"/>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700"/>
                                        <p:tgtEl>
                                          <p:spTgt spid="15"/>
                                        </p:tgtEl>
                                      </p:cBhvr>
                                    </p:animEffect>
                                  </p:childTnLst>
                                </p:cTn>
                              </p:par>
                              <p:par>
                                <p:cTn id="45" presetID="22" presetClass="entr" presetSubtype="8" fill="hold" grpId="0" nodeType="withEffect">
                                  <p:stCondLst>
                                    <p:cond delay="706"/>
                                  </p:stCondLst>
                                  <p:childTnLst>
                                    <p:set>
                                      <p:cBhvr>
                                        <p:cTn id="46" dur="1" fill="hold">
                                          <p:stCondLst>
                                            <p:cond delay="0"/>
                                          </p:stCondLst>
                                        </p:cTn>
                                        <p:tgtEl>
                                          <p:spTgt spid="36"/>
                                        </p:tgtEl>
                                        <p:attrNameLst>
                                          <p:attrName>style.visibility</p:attrName>
                                        </p:attrNameLst>
                                      </p:cBhvr>
                                      <p:to>
                                        <p:strVal val="visible"/>
                                      </p:to>
                                    </p:set>
                                    <p:animEffect transition="in" filter="wipe(left)">
                                      <p:cBhvr>
                                        <p:cTn id="47" dur="700"/>
                                        <p:tgtEl>
                                          <p:spTgt spid="36"/>
                                        </p:tgtEl>
                                      </p:cBhvr>
                                    </p:animEffect>
                                  </p:childTnLst>
                                </p:cTn>
                              </p:par>
                              <p:par>
                                <p:cTn id="48" presetID="10" presetClass="entr" presetSubtype="0" fill="hold" grpId="0" nodeType="withEffect">
                                  <p:stCondLst>
                                    <p:cond delay="744"/>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700"/>
                                        <p:tgtEl>
                                          <p:spTgt spid="37"/>
                                        </p:tgtEl>
                                      </p:cBhvr>
                                    </p:animEffect>
                                  </p:childTnLst>
                                </p:cTn>
                              </p:par>
                              <p:par>
                                <p:cTn id="51" presetID="10" presetClass="entr" presetSubtype="0" fill="hold" grpId="0" nodeType="withEffect">
                                  <p:stCondLst>
                                    <p:cond delay="782"/>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700"/>
                                        <p:tgtEl>
                                          <p:spTgt spid="38"/>
                                        </p:tgtEl>
                                      </p:cBhvr>
                                    </p:animEffect>
                                  </p:childTnLst>
                                </p:cTn>
                              </p:par>
                              <p:par>
                                <p:cTn id="54" presetID="22" presetClass="entr" presetSubtype="8" fill="hold" grpId="0" nodeType="withEffect">
                                  <p:stCondLst>
                                    <p:cond delay="820"/>
                                  </p:stCondLst>
                                  <p:childTnLst>
                                    <p:set>
                                      <p:cBhvr>
                                        <p:cTn id="55" dur="1" fill="hold">
                                          <p:stCondLst>
                                            <p:cond delay="0"/>
                                          </p:stCondLst>
                                        </p:cTn>
                                        <p:tgtEl>
                                          <p:spTgt spid="16"/>
                                        </p:tgtEl>
                                        <p:attrNameLst>
                                          <p:attrName>style.visibility</p:attrName>
                                        </p:attrNameLst>
                                      </p:cBhvr>
                                      <p:to>
                                        <p:strVal val="visible"/>
                                      </p:to>
                                    </p:set>
                                    <p:animEffect transition="in" filter="wipe(left)">
                                      <p:cBhvr>
                                        <p:cTn id="56" dur="700"/>
                                        <p:tgtEl>
                                          <p:spTgt spid="16"/>
                                        </p:tgtEl>
                                      </p:cBhvr>
                                    </p:animEffect>
                                  </p:childTnLst>
                                </p:cTn>
                              </p:par>
                              <p:par>
                                <p:cTn id="57" presetID="10" presetClass="entr" presetSubtype="0" fill="hold" grpId="0" nodeType="withEffect">
                                  <p:stCondLst>
                                    <p:cond delay="858"/>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700"/>
                                        <p:tgtEl>
                                          <p:spTgt spid="17"/>
                                        </p:tgtEl>
                                      </p:cBhvr>
                                    </p:animEffect>
                                  </p:childTnLst>
                                </p:cTn>
                              </p:par>
                              <p:par>
                                <p:cTn id="60" presetID="10" presetClass="entr" presetSubtype="0" fill="hold" grpId="0" nodeType="withEffect">
                                  <p:stCondLst>
                                    <p:cond delay="896"/>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700"/>
                                        <p:tgtEl>
                                          <p:spTgt spid="18"/>
                                        </p:tgtEl>
                                      </p:cBhvr>
                                    </p:animEffect>
                                  </p:childTnLst>
                                </p:cTn>
                              </p:par>
                              <p:par>
                                <p:cTn id="63" presetID="22" presetClass="entr" presetSubtype="8" fill="hold" grpId="0" nodeType="withEffect">
                                  <p:stCondLst>
                                    <p:cond delay="934"/>
                                  </p:stCondLst>
                                  <p:childTnLst>
                                    <p:set>
                                      <p:cBhvr>
                                        <p:cTn id="64" dur="1" fill="hold">
                                          <p:stCondLst>
                                            <p:cond delay="0"/>
                                          </p:stCondLst>
                                        </p:cTn>
                                        <p:tgtEl>
                                          <p:spTgt spid="39"/>
                                        </p:tgtEl>
                                        <p:attrNameLst>
                                          <p:attrName>style.visibility</p:attrName>
                                        </p:attrNameLst>
                                      </p:cBhvr>
                                      <p:to>
                                        <p:strVal val="visible"/>
                                      </p:to>
                                    </p:set>
                                    <p:animEffect transition="in" filter="wipe(left)">
                                      <p:cBhvr>
                                        <p:cTn id="65" dur="700"/>
                                        <p:tgtEl>
                                          <p:spTgt spid="39"/>
                                        </p:tgtEl>
                                      </p:cBhvr>
                                    </p:animEffect>
                                  </p:childTnLst>
                                </p:cTn>
                              </p:par>
                              <p:par>
                                <p:cTn id="66" presetID="10" presetClass="entr" presetSubtype="0" fill="hold" grpId="0" nodeType="withEffect">
                                  <p:stCondLst>
                                    <p:cond delay="972"/>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700"/>
                                        <p:tgtEl>
                                          <p:spTgt spid="40"/>
                                        </p:tgtEl>
                                      </p:cBhvr>
                                    </p:animEffect>
                                  </p:childTnLst>
                                </p:cTn>
                              </p:par>
                              <p:par>
                                <p:cTn id="69" presetID="10" presetClass="entr" presetSubtype="0" fill="hold" grpId="0" nodeType="withEffect">
                                  <p:stCondLst>
                                    <p:cond delay="101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700"/>
                                        <p:tgtEl>
                                          <p:spTgt spid="41"/>
                                        </p:tgtEl>
                                      </p:cBhvr>
                                    </p:animEffect>
                                  </p:childTnLst>
                                </p:cTn>
                              </p:par>
                              <p:par>
                                <p:cTn id="72" presetID="22" presetClass="entr" presetSubtype="8" fill="hold" grpId="0" nodeType="withEffect">
                                  <p:stCondLst>
                                    <p:cond delay="1048"/>
                                  </p:stCondLst>
                                  <p:childTnLst>
                                    <p:set>
                                      <p:cBhvr>
                                        <p:cTn id="73" dur="1" fill="hold">
                                          <p:stCondLst>
                                            <p:cond delay="0"/>
                                          </p:stCondLst>
                                        </p:cTn>
                                        <p:tgtEl>
                                          <p:spTgt spid="19"/>
                                        </p:tgtEl>
                                        <p:attrNameLst>
                                          <p:attrName>style.visibility</p:attrName>
                                        </p:attrNameLst>
                                      </p:cBhvr>
                                      <p:to>
                                        <p:strVal val="visible"/>
                                      </p:to>
                                    </p:set>
                                    <p:animEffect transition="in" filter="wipe(left)">
                                      <p:cBhvr>
                                        <p:cTn id="74" dur="700"/>
                                        <p:tgtEl>
                                          <p:spTgt spid="19"/>
                                        </p:tgtEl>
                                      </p:cBhvr>
                                    </p:animEffect>
                                  </p:childTnLst>
                                </p:cTn>
                              </p:par>
                              <p:par>
                                <p:cTn id="75" presetID="10" presetClass="entr" presetSubtype="0" fill="hold" grpId="0" nodeType="withEffect">
                                  <p:stCondLst>
                                    <p:cond delay="1086"/>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700"/>
                                        <p:tgtEl>
                                          <p:spTgt spid="20"/>
                                        </p:tgtEl>
                                      </p:cBhvr>
                                    </p:animEffect>
                                  </p:childTnLst>
                                </p:cTn>
                              </p:par>
                              <p:par>
                                <p:cTn id="78" presetID="10" presetClass="entr" presetSubtype="0" fill="hold" grpId="0" nodeType="withEffect">
                                  <p:stCondLst>
                                    <p:cond delay="1124"/>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700"/>
                                        <p:tgtEl>
                                          <p:spTgt spid="21"/>
                                        </p:tgtEl>
                                      </p:cBhvr>
                                    </p:animEffect>
                                  </p:childTnLst>
                                </p:cTn>
                              </p:par>
                              <p:par>
                                <p:cTn id="81" presetID="22" presetClass="entr" presetSubtype="8" fill="hold" grpId="0" nodeType="withEffect">
                                  <p:stCondLst>
                                    <p:cond delay="1162"/>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700"/>
                                        <p:tgtEl>
                                          <p:spTgt spid="42"/>
                                        </p:tgtEl>
                                      </p:cBhvr>
                                    </p:animEffect>
                                  </p:childTnLst>
                                </p:cTn>
                              </p:par>
                              <p:par>
                                <p:cTn id="84" presetID="10" presetClass="entr" presetSubtype="0" fill="hold" grpId="0" nodeType="withEffect">
                                  <p:stCondLst>
                                    <p:cond delay="120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700"/>
                                        <p:tgtEl>
                                          <p:spTgt spid="43"/>
                                        </p:tgtEl>
                                      </p:cBhvr>
                                    </p:animEffect>
                                  </p:childTnLst>
                                </p:cTn>
                              </p:par>
                              <p:par>
                                <p:cTn id="87" presetID="10" presetClass="entr" presetSubtype="0" fill="hold" grpId="0" nodeType="withEffect">
                                  <p:stCondLst>
                                    <p:cond delay="1238"/>
                                  </p:stCondLst>
                                  <p:childTnLst>
                                    <p:set>
                                      <p:cBhvr>
                                        <p:cTn id="88" dur="1" fill="hold">
                                          <p:stCondLst>
                                            <p:cond delay="0"/>
                                          </p:stCondLst>
                                        </p:cTn>
                                        <p:tgtEl>
                                          <p:spTgt spid="44"/>
                                        </p:tgtEl>
                                        <p:attrNameLst>
                                          <p:attrName>style.visibility</p:attrName>
                                        </p:attrNameLst>
                                      </p:cBhvr>
                                      <p:to>
                                        <p:strVal val="visible"/>
                                      </p:to>
                                    </p:set>
                                    <p:animEffect transition="in" filter="fade">
                                      <p:cBhvr>
                                        <p:cTn id="89" dur="700"/>
                                        <p:tgtEl>
                                          <p:spTgt spid="44"/>
                                        </p:tgtEl>
                                      </p:cBhvr>
                                    </p:animEffect>
                                  </p:childTnLst>
                                </p:cTn>
                              </p:par>
                              <p:par>
                                <p:cTn id="90" presetID="22" presetClass="entr" presetSubtype="8" fill="hold" grpId="0" nodeType="withEffect">
                                  <p:stCondLst>
                                    <p:cond delay="1276"/>
                                  </p:stCondLst>
                                  <p:childTnLst>
                                    <p:set>
                                      <p:cBhvr>
                                        <p:cTn id="91" dur="1" fill="hold">
                                          <p:stCondLst>
                                            <p:cond delay="0"/>
                                          </p:stCondLst>
                                        </p:cTn>
                                        <p:tgtEl>
                                          <p:spTgt spid="22"/>
                                        </p:tgtEl>
                                        <p:attrNameLst>
                                          <p:attrName>style.visibility</p:attrName>
                                        </p:attrNameLst>
                                      </p:cBhvr>
                                      <p:to>
                                        <p:strVal val="visible"/>
                                      </p:to>
                                    </p:set>
                                    <p:animEffect transition="in" filter="wipe(left)">
                                      <p:cBhvr>
                                        <p:cTn id="92" dur="700"/>
                                        <p:tgtEl>
                                          <p:spTgt spid="22"/>
                                        </p:tgtEl>
                                      </p:cBhvr>
                                    </p:animEffect>
                                  </p:childTnLst>
                                </p:cTn>
                              </p:par>
                              <p:par>
                                <p:cTn id="93" presetID="42" presetClass="entr" presetSubtype="0" fill="hold" grpId="0" nodeType="withEffect">
                                  <p:stCondLst>
                                    <p:cond delay="1314"/>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900"/>
                                        <p:tgtEl>
                                          <p:spTgt spid="23"/>
                                        </p:tgtEl>
                                      </p:cBhvr>
                                    </p:animEffect>
                                    <p:anim calcmode="lin" valueType="num">
                                      <p:cBhvr>
                                        <p:cTn id="96" dur="900" decel="100000"/>
                                        <p:tgtEl>
                                          <p:spTgt spid="23"/>
                                        </p:tgtEl>
                                        <p:attrNameLst>
                                          <p:attrName>ppt_x</p:attrName>
                                        </p:attrNameLst>
                                      </p:cBhvr>
                                      <p:tavLst>
                                        <p:tav tm="0">
                                          <p:val>
                                            <p:strVal val="#ppt_x"/>
                                          </p:val>
                                        </p:tav>
                                        <p:tav tm="100000">
                                          <p:val>
                                            <p:strVal val="#ppt_x"/>
                                          </p:val>
                                        </p:tav>
                                      </p:tavLst>
                                    </p:anim>
                                    <p:anim calcmode="lin" valueType="num">
                                      <p:cBhvr>
                                        <p:cTn id="97" dur="900" decel="100000"/>
                                        <p:tgtEl>
                                          <p:spTgt spid="23"/>
                                        </p:tgtEl>
                                        <p:attrNameLst>
                                          <p:attrName>ppt_y</p:attrName>
                                        </p:attrNameLst>
                                      </p:cBhvr>
                                      <p:tavLst>
                                        <p:tav tm="0">
                                          <p:val>
                                            <p:strVal val="#ppt_y+.035"/>
                                          </p:val>
                                        </p:tav>
                                        <p:tav tm="100000">
                                          <p:val>
                                            <p:strVal val="#ppt_y"/>
                                          </p:val>
                                        </p:tav>
                                      </p:tavLst>
                                    </p:anim>
                                  </p:childTnLst>
                                </p:cTn>
                              </p:par>
                              <p:par>
                                <p:cTn id="98" presetID="22" presetClass="entr" presetSubtype="8" fill="hold" grpId="0" nodeType="withEffect">
                                  <p:stCondLst>
                                    <p:cond delay="1352"/>
                                  </p:stCondLst>
                                  <p:childTnLst>
                                    <p:set>
                                      <p:cBhvr>
                                        <p:cTn id="99" dur="1" fill="hold">
                                          <p:stCondLst>
                                            <p:cond delay="0"/>
                                          </p:stCondLst>
                                        </p:cTn>
                                        <p:tgtEl>
                                          <p:spTgt spid="45"/>
                                        </p:tgtEl>
                                        <p:attrNameLst>
                                          <p:attrName>style.visibility</p:attrName>
                                        </p:attrNameLst>
                                      </p:cBhvr>
                                      <p:to>
                                        <p:strVal val="visible"/>
                                      </p:to>
                                    </p:set>
                                    <p:animEffect transition="in" filter="wipe(left)">
                                      <p:cBhvr>
                                        <p:cTn id="100" dur="700"/>
                                        <p:tgtEl>
                                          <p:spTgt spid="45"/>
                                        </p:tgtEl>
                                      </p:cBhvr>
                                    </p:animEffect>
                                  </p:childTnLst>
                                </p:cTn>
                              </p:par>
                              <p:par>
                                <p:cTn id="101" presetID="10" presetClass="entr" presetSubtype="0" fill="hold" grpId="0" nodeType="withEffect">
                                  <p:stCondLst>
                                    <p:cond delay="1390"/>
                                  </p:stCondLst>
                                  <p:childTnLst>
                                    <p:set>
                                      <p:cBhvr>
                                        <p:cTn id="102" dur="1" fill="hold">
                                          <p:stCondLst>
                                            <p:cond delay="0"/>
                                          </p:stCondLst>
                                        </p:cTn>
                                        <p:tgtEl>
                                          <p:spTgt spid="46"/>
                                        </p:tgtEl>
                                        <p:attrNameLst>
                                          <p:attrName>style.visibility</p:attrName>
                                        </p:attrNameLst>
                                      </p:cBhvr>
                                      <p:to>
                                        <p:strVal val="visible"/>
                                      </p:to>
                                    </p:set>
                                    <p:animEffect transition="in" filter="fade">
                                      <p:cBhvr>
                                        <p:cTn id="103" dur="700"/>
                                        <p:tgtEl>
                                          <p:spTgt spid="46"/>
                                        </p:tgtEl>
                                      </p:cBhvr>
                                    </p:animEffect>
                                  </p:childTnLst>
                                </p:cTn>
                              </p:par>
                              <p:par>
                                <p:cTn id="104" presetID="10" presetClass="entr" presetSubtype="0" fill="hold" grpId="0" nodeType="withEffect">
                                  <p:stCondLst>
                                    <p:cond delay="1428"/>
                                  </p:stCondLst>
                                  <p:childTnLst>
                                    <p:set>
                                      <p:cBhvr>
                                        <p:cTn id="105" dur="1" fill="hold">
                                          <p:stCondLst>
                                            <p:cond delay="0"/>
                                          </p:stCondLst>
                                        </p:cTn>
                                        <p:tgtEl>
                                          <p:spTgt spid="47"/>
                                        </p:tgtEl>
                                        <p:attrNameLst>
                                          <p:attrName>style.visibility</p:attrName>
                                        </p:attrNameLst>
                                      </p:cBhvr>
                                      <p:to>
                                        <p:strVal val="visible"/>
                                      </p:to>
                                    </p:set>
                                    <p:animEffect transition="in" filter="fade">
                                      <p:cBhvr>
                                        <p:cTn id="106" dur="700"/>
                                        <p:tgtEl>
                                          <p:spTgt spid="47"/>
                                        </p:tgtEl>
                                      </p:cBhvr>
                                    </p:animEffect>
                                  </p:childTnLst>
                                </p:cTn>
                              </p:par>
                              <p:par>
                                <p:cTn id="107" presetID="22" presetClass="entr" presetSubtype="8" fill="hold" grpId="0" nodeType="withEffect">
                                  <p:stCondLst>
                                    <p:cond delay="1466"/>
                                  </p:stCondLst>
                                  <p:childTnLst>
                                    <p:set>
                                      <p:cBhvr>
                                        <p:cTn id="108" dur="1" fill="hold">
                                          <p:stCondLst>
                                            <p:cond delay="0"/>
                                          </p:stCondLst>
                                        </p:cTn>
                                        <p:tgtEl>
                                          <p:spTgt spid="48"/>
                                        </p:tgtEl>
                                        <p:attrNameLst>
                                          <p:attrName>style.visibility</p:attrName>
                                        </p:attrNameLst>
                                      </p:cBhvr>
                                      <p:to>
                                        <p:strVal val="visible"/>
                                      </p:to>
                                    </p:set>
                                    <p:animEffect transition="in" filter="wipe(left)">
                                      <p:cBhvr>
                                        <p:cTn id="109" dur="700"/>
                                        <p:tgtEl>
                                          <p:spTgt spid="48"/>
                                        </p:tgtEl>
                                      </p:cBhvr>
                                    </p:animEffect>
                                  </p:childTnLst>
                                </p:cTn>
                              </p:par>
                              <p:par>
                                <p:cTn id="110" presetID="10" presetClass="entr" presetSubtype="0" fill="hold" grpId="0" nodeType="withEffect">
                                  <p:stCondLst>
                                    <p:cond delay="1504"/>
                                  </p:stCondLst>
                                  <p:childTnLst>
                                    <p:set>
                                      <p:cBhvr>
                                        <p:cTn id="111" dur="1" fill="hold">
                                          <p:stCondLst>
                                            <p:cond delay="0"/>
                                          </p:stCondLst>
                                        </p:cTn>
                                        <p:tgtEl>
                                          <p:spTgt spid="49"/>
                                        </p:tgtEl>
                                        <p:attrNameLst>
                                          <p:attrName>style.visibility</p:attrName>
                                        </p:attrNameLst>
                                      </p:cBhvr>
                                      <p:to>
                                        <p:strVal val="visible"/>
                                      </p:to>
                                    </p:set>
                                    <p:animEffect transition="in" filter="fade">
                                      <p:cBhvr>
                                        <p:cTn id="112" dur="700"/>
                                        <p:tgtEl>
                                          <p:spTgt spid="49"/>
                                        </p:tgtEl>
                                      </p:cBhvr>
                                    </p:animEffect>
                                  </p:childTnLst>
                                </p:cTn>
                              </p:par>
                              <p:par>
                                <p:cTn id="113" presetID="10" presetClass="entr" presetSubtype="0" fill="hold" grpId="0" nodeType="withEffect">
                                  <p:stCondLst>
                                    <p:cond delay="1542"/>
                                  </p:stCondLst>
                                  <p:childTnLst>
                                    <p:set>
                                      <p:cBhvr>
                                        <p:cTn id="114" dur="1" fill="hold">
                                          <p:stCondLst>
                                            <p:cond delay="0"/>
                                          </p:stCondLst>
                                        </p:cTn>
                                        <p:tgtEl>
                                          <p:spTgt spid="50"/>
                                        </p:tgtEl>
                                        <p:attrNameLst>
                                          <p:attrName>style.visibility</p:attrName>
                                        </p:attrNameLst>
                                      </p:cBhvr>
                                      <p:to>
                                        <p:strVal val="visible"/>
                                      </p:to>
                                    </p:set>
                                    <p:animEffect transition="in" filter="fade">
                                      <p:cBhvr>
                                        <p:cTn id="115" dur="700"/>
                                        <p:tgtEl>
                                          <p:spTgt spid="50"/>
                                        </p:tgtEl>
                                      </p:cBhvr>
                                    </p:animEffect>
                                  </p:childTnLst>
                                </p:cTn>
                              </p:par>
                              <p:par>
                                <p:cTn id="116" presetID="22" presetClass="entr" presetSubtype="8" fill="hold" grpId="0" nodeType="withEffect">
                                  <p:stCondLst>
                                    <p:cond delay="1580"/>
                                  </p:stCondLst>
                                  <p:childTnLst>
                                    <p:set>
                                      <p:cBhvr>
                                        <p:cTn id="117" dur="1" fill="hold">
                                          <p:stCondLst>
                                            <p:cond delay="0"/>
                                          </p:stCondLst>
                                        </p:cTn>
                                        <p:tgtEl>
                                          <p:spTgt spid="24"/>
                                        </p:tgtEl>
                                        <p:attrNameLst>
                                          <p:attrName>style.visibility</p:attrName>
                                        </p:attrNameLst>
                                      </p:cBhvr>
                                      <p:to>
                                        <p:strVal val="visible"/>
                                      </p:to>
                                    </p:set>
                                    <p:animEffect transition="in" filter="wipe(left)">
                                      <p:cBhvr>
                                        <p:cTn id="118" dur="700"/>
                                        <p:tgtEl>
                                          <p:spTgt spid="24"/>
                                        </p:tgtEl>
                                      </p:cBhvr>
                                    </p:animEffect>
                                  </p:childTnLst>
                                </p:cTn>
                              </p:par>
                              <p:par>
                                <p:cTn id="119" presetID="10" presetClass="entr" presetSubtype="0" fill="hold" grpId="0" nodeType="withEffect">
                                  <p:stCondLst>
                                    <p:cond delay="1618"/>
                                  </p:stCondLst>
                                  <p:childTnLst>
                                    <p:set>
                                      <p:cBhvr>
                                        <p:cTn id="120" dur="1" fill="hold">
                                          <p:stCondLst>
                                            <p:cond delay="0"/>
                                          </p:stCondLst>
                                        </p:cTn>
                                        <p:tgtEl>
                                          <p:spTgt spid="25"/>
                                        </p:tgtEl>
                                        <p:attrNameLst>
                                          <p:attrName>style.visibility</p:attrName>
                                        </p:attrNameLst>
                                      </p:cBhvr>
                                      <p:to>
                                        <p:strVal val="visible"/>
                                      </p:to>
                                    </p:set>
                                    <p:animEffect transition="in" filter="fade">
                                      <p:cBhvr>
                                        <p:cTn id="121" dur="700"/>
                                        <p:tgtEl>
                                          <p:spTgt spid="25"/>
                                        </p:tgtEl>
                                      </p:cBhvr>
                                    </p:animEffect>
                                  </p:childTnLst>
                                </p:cTn>
                              </p:par>
                              <p:par>
                                <p:cTn id="122" presetID="10" presetClass="entr" presetSubtype="0" fill="hold" grpId="0" nodeType="withEffect">
                                  <p:stCondLst>
                                    <p:cond delay="1656"/>
                                  </p:stCondLst>
                                  <p:childTnLst>
                                    <p:set>
                                      <p:cBhvr>
                                        <p:cTn id="123" dur="1" fill="hold">
                                          <p:stCondLst>
                                            <p:cond delay="0"/>
                                          </p:stCondLst>
                                        </p:cTn>
                                        <p:tgtEl>
                                          <p:spTgt spid="26"/>
                                        </p:tgtEl>
                                        <p:attrNameLst>
                                          <p:attrName>style.visibility</p:attrName>
                                        </p:attrNameLst>
                                      </p:cBhvr>
                                      <p:to>
                                        <p:strVal val="visible"/>
                                      </p:to>
                                    </p:set>
                                    <p:animEffect transition="in" filter="fade">
                                      <p:cBhvr>
                                        <p:cTn id="124" dur="700"/>
                                        <p:tgtEl>
                                          <p:spTgt spid="26"/>
                                        </p:tgtEl>
                                      </p:cBhvr>
                                    </p:animEffect>
                                  </p:childTnLst>
                                </p:cTn>
                              </p:par>
                              <p:par>
                                <p:cTn id="125" presetID="22" presetClass="entr" presetSubtype="8" fill="hold" grpId="0" nodeType="withEffect">
                                  <p:stCondLst>
                                    <p:cond delay="1694"/>
                                  </p:stCondLst>
                                  <p:childTnLst>
                                    <p:set>
                                      <p:cBhvr>
                                        <p:cTn id="126" dur="1" fill="hold">
                                          <p:stCondLst>
                                            <p:cond delay="0"/>
                                          </p:stCondLst>
                                        </p:cTn>
                                        <p:tgtEl>
                                          <p:spTgt spid="51"/>
                                        </p:tgtEl>
                                        <p:attrNameLst>
                                          <p:attrName>style.visibility</p:attrName>
                                        </p:attrNameLst>
                                      </p:cBhvr>
                                      <p:to>
                                        <p:strVal val="visible"/>
                                      </p:to>
                                    </p:set>
                                    <p:animEffect transition="in" filter="wipe(left)">
                                      <p:cBhvr>
                                        <p:cTn id="127" dur="700"/>
                                        <p:tgtEl>
                                          <p:spTgt spid="51"/>
                                        </p:tgtEl>
                                      </p:cBhvr>
                                    </p:animEffect>
                                  </p:childTnLst>
                                </p:cTn>
                              </p:par>
                              <p:par>
                                <p:cTn id="128" presetID="10" presetClass="entr" presetSubtype="0" fill="hold" grpId="0" nodeType="withEffect">
                                  <p:stCondLst>
                                    <p:cond delay="1732"/>
                                  </p:stCondLst>
                                  <p:childTnLst>
                                    <p:set>
                                      <p:cBhvr>
                                        <p:cTn id="129" dur="1" fill="hold">
                                          <p:stCondLst>
                                            <p:cond delay="0"/>
                                          </p:stCondLst>
                                        </p:cTn>
                                        <p:tgtEl>
                                          <p:spTgt spid="52"/>
                                        </p:tgtEl>
                                        <p:attrNameLst>
                                          <p:attrName>style.visibility</p:attrName>
                                        </p:attrNameLst>
                                      </p:cBhvr>
                                      <p:to>
                                        <p:strVal val="visible"/>
                                      </p:to>
                                    </p:set>
                                    <p:animEffect transition="in" filter="fade">
                                      <p:cBhvr>
                                        <p:cTn id="130" dur="700"/>
                                        <p:tgtEl>
                                          <p:spTgt spid="52"/>
                                        </p:tgtEl>
                                      </p:cBhvr>
                                    </p:animEffect>
                                  </p:childTnLst>
                                </p:cTn>
                              </p:par>
                              <p:par>
                                <p:cTn id="131" presetID="10" presetClass="entr" presetSubtype="0" fill="hold" grpId="0" nodeType="withEffect">
                                  <p:stCondLst>
                                    <p:cond delay="177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700"/>
                                        <p:tgtEl>
                                          <p:spTgt spid="53"/>
                                        </p:tgtEl>
                                      </p:cBhvr>
                                    </p:animEffect>
                                  </p:childTnLst>
                                </p:cTn>
                              </p:par>
                              <p:par>
                                <p:cTn id="134" presetID="22" presetClass="entr" presetSubtype="8" fill="hold" grpId="0" nodeType="withEffect">
                                  <p:stCondLst>
                                    <p:cond delay="1808"/>
                                  </p:stCondLst>
                                  <p:childTnLst>
                                    <p:set>
                                      <p:cBhvr>
                                        <p:cTn id="135" dur="1" fill="hold">
                                          <p:stCondLst>
                                            <p:cond delay="0"/>
                                          </p:stCondLst>
                                        </p:cTn>
                                        <p:tgtEl>
                                          <p:spTgt spid="27"/>
                                        </p:tgtEl>
                                        <p:attrNameLst>
                                          <p:attrName>style.visibility</p:attrName>
                                        </p:attrNameLst>
                                      </p:cBhvr>
                                      <p:to>
                                        <p:strVal val="visible"/>
                                      </p:to>
                                    </p:set>
                                    <p:animEffect transition="in" filter="wipe(left)">
                                      <p:cBhvr>
                                        <p:cTn id="136" dur="700"/>
                                        <p:tgtEl>
                                          <p:spTgt spid="27"/>
                                        </p:tgtEl>
                                      </p:cBhvr>
                                    </p:animEffect>
                                  </p:childTnLst>
                                </p:cTn>
                              </p:par>
                              <p:par>
                                <p:cTn id="137" presetID="10" presetClass="entr" presetSubtype="0" fill="hold" grpId="0" nodeType="withEffect">
                                  <p:stCondLst>
                                    <p:cond delay="1846"/>
                                  </p:stCondLst>
                                  <p:childTnLst>
                                    <p:set>
                                      <p:cBhvr>
                                        <p:cTn id="138" dur="1" fill="hold">
                                          <p:stCondLst>
                                            <p:cond delay="0"/>
                                          </p:stCondLst>
                                        </p:cTn>
                                        <p:tgtEl>
                                          <p:spTgt spid="28"/>
                                        </p:tgtEl>
                                        <p:attrNameLst>
                                          <p:attrName>style.visibility</p:attrName>
                                        </p:attrNameLst>
                                      </p:cBhvr>
                                      <p:to>
                                        <p:strVal val="visible"/>
                                      </p:to>
                                    </p:set>
                                    <p:animEffect transition="in" filter="fade">
                                      <p:cBhvr>
                                        <p:cTn id="139" dur="700"/>
                                        <p:tgtEl>
                                          <p:spTgt spid="28"/>
                                        </p:tgtEl>
                                      </p:cBhvr>
                                    </p:animEffect>
                                  </p:childTnLst>
                                </p:cTn>
                              </p:par>
                              <p:par>
                                <p:cTn id="140" presetID="10" presetClass="entr" presetSubtype="0" fill="hold" grpId="0" nodeType="withEffect">
                                  <p:stCondLst>
                                    <p:cond delay="1884"/>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700"/>
                                        <p:tgtEl>
                                          <p:spTgt spid="29"/>
                                        </p:tgtEl>
                                      </p:cBhvr>
                                    </p:animEffect>
                                  </p:childTnLst>
                                </p:cTn>
                              </p:par>
                              <p:par>
                                <p:cTn id="143" presetID="22" presetClass="entr" presetSubtype="8" fill="hold" grpId="0" nodeType="withEffect">
                                  <p:stCondLst>
                                    <p:cond delay="1922"/>
                                  </p:stCondLst>
                                  <p:childTnLst>
                                    <p:set>
                                      <p:cBhvr>
                                        <p:cTn id="144" dur="1" fill="hold">
                                          <p:stCondLst>
                                            <p:cond delay="0"/>
                                          </p:stCondLst>
                                        </p:cTn>
                                        <p:tgtEl>
                                          <p:spTgt spid="54"/>
                                        </p:tgtEl>
                                        <p:attrNameLst>
                                          <p:attrName>style.visibility</p:attrName>
                                        </p:attrNameLst>
                                      </p:cBhvr>
                                      <p:to>
                                        <p:strVal val="visible"/>
                                      </p:to>
                                    </p:set>
                                    <p:animEffect transition="in" filter="wipe(left)">
                                      <p:cBhvr>
                                        <p:cTn id="145" dur="700"/>
                                        <p:tgtEl>
                                          <p:spTgt spid="54"/>
                                        </p:tgtEl>
                                      </p:cBhvr>
                                    </p:animEffect>
                                  </p:childTnLst>
                                </p:cTn>
                              </p:par>
                              <p:par>
                                <p:cTn id="146" presetID="10" presetClass="entr" presetSubtype="0" fill="hold" grpId="0" nodeType="withEffect">
                                  <p:stCondLst>
                                    <p:cond delay="1960"/>
                                  </p:stCondLst>
                                  <p:childTnLst>
                                    <p:set>
                                      <p:cBhvr>
                                        <p:cTn id="147" dur="1" fill="hold">
                                          <p:stCondLst>
                                            <p:cond delay="0"/>
                                          </p:stCondLst>
                                        </p:cTn>
                                        <p:tgtEl>
                                          <p:spTgt spid="55"/>
                                        </p:tgtEl>
                                        <p:attrNameLst>
                                          <p:attrName>style.visibility</p:attrName>
                                        </p:attrNameLst>
                                      </p:cBhvr>
                                      <p:to>
                                        <p:strVal val="visible"/>
                                      </p:to>
                                    </p:set>
                                    <p:animEffect transition="in" filter="fade">
                                      <p:cBhvr>
                                        <p:cTn id="148" dur="700"/>
                                        <p:tgtEl>
                                          <p:spTgt spid="55"/>
                                        </p:tgtEl>
                                      </p:cBhvr>
                                    </p:animEffect>
                                  </p:childTnLst>
                                </p:cTn>
                              </p:par>
                              <p:par>
                                <p:cTn id="149" presetID="10" presetClass="entr" presetSubtype="0" fill="hold" grpId="0" nodeType="withEffect">
                                  <p:stCondLst>
                                    <p:cond delay="1998"/>
                                  </p:stCondLst>
                                  <p:childTnLst>
                                    <p:set>
                                      <p:cBhvr>
                                        <p:cTn id="150" dur="1" fill="hold">
                                          <p:stCondLst>
                                            <p:cond delay="0"/>
                                          </p:stCondLst>
                                        </p:cTn>
                                        <p:tgtEl>
                                          <p:spTgt spid="56"/>
                                        </p:tgtEl>
                                        <p:attrNameLst>
                                          <p:attrName>style.visibility</p:attrName>
                                        </p:attrNameLst>
                                      </p:cBhvr>
                                      <p:to>
                                        <p:strVal val="visible"/>
                                      </p:to>
                                    </p:set>
                                    <p:animEffect transition="in" filter="fade">
                                      <p:cBhvr>
                                        <p:cTn id="151" dur="700"/>
                                        <p:tgtEl>
                                          <p:spTgt spid="56"/>
                                        </p:tgtEl>
                                      </p:cBhvr>
                                    </p:animEffect>
                                  </p:childTnLst>
                                </p:cTn>
                              </p:par>
                              <p:par>
                                <p:cTn id="152" presetID="22" presetClass="entr" presetSubtype="8" fill="hold" grpId="0" nodeType="withEffect">
                                  <p:stCondLst>
                                    <p:cond delay="2036"/>
                                  </p:stCondLst>
                                  <p:childTnLst>
                                    <p:set>
                                      <p:cBhvr>
                                        <p:cTn id="153" dur="1" fill="hold">
                                          <p:stCondLst>
                                            <p:cond delay="0"/>
                                          </p:stCondLst>
                                        </p:cTn>
                                        <p:tgtEl>
                                          <p:spTgt spid="30"/>
                                        </p:tgtEl>
                                        <p:attrNameLst>
                                          <p:attrName>style.visibility</p:attrName>
                                        </p:attrNameLst>
                                      </p:cBhvr>
                                      <p:to>
                                        <p:strVal val="visible"/>
                                      </p:to>
                                    </p:set>
                                    <p:animEffect transition="in" filter="wipe(left)">
                                      <p:cBhvr>
                                        <p:cTn id="154" dur="700"/>
                                        <p:tgtEl>
                                          <p:spTgt spid="30"/>
                                        </p:tgtEl>
                                      </p:cBhvr>
                                    </p:animEffect>
                                  </p:childTnLst>
                                </p:cTn>
                              </p:par>
                              <p:par>
                                <p:cTn id="155" presetID="22" presetClass="entr" presetSubtype="8" fill="hold" grpId="0" nodeType="withEffect">
                                  <p:stCondLst>
                                    <p:cond delay="2074"/>
                                  </p:stCondLst>
                                  <p:childTnLst>
                                    <p:set>
                                      <p:cBhvr>
                                        <p:cTn id="156" dur="1" fill="hold">
                                          <p:stCondLst>
                                            <p:cond delay="0"/>
                                          </p:stCondLst>
                                        </p:cTn>
                                        <p:tgtEl>
                                          <p:spTgt spid="57"/>
                                        </p:tgtEl>
                                        <p:attrNameLst>
                                          <p:attrName>style.visibility</p:attrName>
                                        </p:attrNameLst>
                                      </p:cBhvr>
                                      <p:to>
                                        <p:strVal val="visible"/>
                                      </p:to>
                                    </p:set>
                                    <p:animEffect transition="in" filter="wipe(left)">
                                      <p:cBhvr>
                                        <p:cTn id="157" dur="7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32" grpId="0" animBg="1"/>
      <p:bldP spid="10" grpId="0" animBg="1"/>
      <p:bldP spid="33" grpId="0" animBg="1"/>
      <p:bldP spid="11" grpId="0" animBg="1"/>
      <p:bldP spid="12" grpId="0" animBg="1"/>
      <p:bldP spid="34" grpId="0" animBg="1"/>
      <p:bldP spid="35" grpId="0" animBg="1"/>
      <p:bldP spid="13" grpId="0" animBg="1"/>
      <p:bldP spid="14" grpId="0" animBg="1"/>
      <p:bldP spid="15" grpId="0" animBg="1"/>
      <p:bldP spid="36" grpId="0" animBg="1"/>
      <p:bldP spid="37" grpId="0" animBg="1"/>
      <p:bldP spid="38" grpId="0" animBg="1"/>
      <p:bldP spid="16" grpId="0" animBg="1"/>
      <p:bldP spid="17" grpId="0" animBg="1"/>
      <p:bldP spid="18" grpId="0" animBg="1"/>
      <p:bldP spid="39" grpId="0" animBg="1"/>
      <p:bldP spid="40" grpId="0" animBg="1"/>
      <p:bldP spid="41" grpId="0" animBg="1"/>
      <p:bldP spid="19" grpId="0" animBg="1"/>
      <p:bldP spid="20" grpId="0" animBg="1"/>
      <p:bldP spid="21" grpId="0" animBg="1"/>
      <p:bldP spid="42" grpId="0" animBg="1"/>
      <p:bldP spid="43" grpId="0" animBg="1"/>
      <p:bldP spid="44" grpId="0" animBg="1"/>
      <p:bldP spid="22" grpId="0" animBg="1"/>
      <p:bldP spid="23" grpId="0" animBg="1"/>
      <p:bldP spid="45" grpId="0" animBg="1"/>
      <p:bldP spid="46" grpId="0" animBg="1"/>
      <p:bldP spid="47" grpId="0" animBg="1"/>
      <p:bldP spid="48" grpId="0" animBg="1"/>
      <p:bldP spid="49" grpId="0" animBg="1"/>
      <p:bldP spid="50" grpId="0" animBg="1"/>
      <p:bldP spid="24" grpId="0" animBg="1"/>
      <p:bldP spid="25" grpId="0" animBg="1"/>
      <p:bldP spid="26" grpId="0" animBg="1"/>
      <p:bldP spid="51" grpId="0" animBg="1"/>
      <p:bldP spid="52" grpId="0" animBg="1"/>
      <p:bldP spid="53" grpId="0" animBg="1"/>
      <p:bldP spid="27" grpId="0" animBg="1"/>
      <p:bldP spid="28" grpId="0" animBg="1"/>
      <p:bldP spid="29" grpId="0" animBg="1"/>
      <p:bldP spid="54" grpId="0" animBg="1"/>
      <p:bldP spid="55" grpId="0" animBg="1"/>
      <p:bldP spid="56" grpId="0" animBg="1"/>
      <p:bldP spid="30" grpId="0" animBg="1"/>
      <p:bldP spid="57"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EDE6DA"/>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8A7F71"/>
                </a:solidFill>
                <a:latin typeface="Plus Jakarta Sans"/>
                <a:ea typeface="Plus Jakarta Sans"/>
                <a:cs typeface="Plus Jakarta Sans"/>
              </a:rPr>
              <a:t>08 / 17</a:t>
            </a:r>
          </a:p>
        </p:txBody>
      </p:sp>
      <p:sp>
        <p:nvSpPr>
          <p:cNvPr id="7" name="TextBox 6"/>
          <p:cNvSpPr txBox="1"/>
          <p:nvPr/>
        </p:nvSpPr>
        <p:spPr>
          <a:xfrm>
            <a:off x="685800" y="914400"/>
            <a:ext cx="73152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EVERYTHING INCLUDED, WITH SIZES  ·  3 OF 4</a:t>
            </a:r>
          </a:p>
        </p:txBody>
      </p:sp>
      <p:pic>
        <p:nvPicPr>
          <p:cNvPr id="8" name="static-photo" descr="image.jpg"/>
          <p:cNvPicPr>
            <a:picLocks noChangeAspect="1"/>
          </p:cNvPicPr>
          <p:nvPr/>
        </p:nvPicPr>
        <p:blipFill>
          <a:blip r:embed="rId3"/>
          <a:stretch>
            <a:fillRect/>
          </a:stretch>
        </p:blipFill>
        <p:spPr>
          <a:xfrm>
            <a:off x="685800" y="1325880"/>
            <a:ext cx="5135727" cy="1051560"/>
          </a:xfrm>
          <a:prstGeom prst="rect">
            <a:avLst/>
          </a:prstGeom>
        </p:spPr>
      </p:pic>
      <p:sp>
        <p:nvSpPr>
          <p:cNvPr id="10" name="TextBox 9"/>
          <p:cNvSpPr txBox="1"/>
          <p:nvPr/>
        </p:nvSpPr>
        <p:spPr>
          <a:xfrm>
            <a:off x="685800" y="2560320"/>
            <a:ext cx="5135727" cy="411480"/>
          </a:xfrm>
          <a:prstGeom prst="rect">
            <a:avLst/>
          </a:prstGeom>
          <a:noFill/>
        </p:spPr>
        <p:txBody>
          <a:bodyPr wrap="square" lIns="0" rIns="0" tIns="0" bIns="0">
            <a:spAutoFit/>
          </a:bodyPr>
          <a:lstStyle/>
          <a:p>
            <a:pPr algn="l">
              <a:lnSpc>
                <a:spcPct val="92000"/>
              </a:lnSpc>
            </a:pPr>
            <a:r>
              <a:rPr sz="2400" b="0" i="0">
                <a:solidFill>
                  <a:srgbClr val="1B1815"/>
                </a:solidFill>
                <a:latin typeface="Cormorant Garamond"/>
                <a:ea typeface="Plus Jakarta Sans"/>
                <a:cs typeface="Plus Jakarta Sans"/>
              </a:rPr>
              <a:t>Kitchenette</a:t>
            </a:r>
          </a:p>
        </p:txBody>
      </p:sp>
      <p:sp>
        <p:nvSpPr>
          <p:cNvPr id="11" name="Rectangle 10"/>
          <p:cNvSpPr/>
          <p:nvPr/>
        </p:nvSpPr>
        <p:spPr>
          <a:xfrm>
            <a:off x="685800" y="3035808"/>
            <a:ext cx="5135727" cy="10972"/>
          </a:xfrm>
          <a:prstGeom prst="rect">
            <a:avLst/>
          </a:prstGeom>
          <a:solidFill>
            <a:srgbClr val="D2C6B4"/>
          </a:solidFill>
          <a:ln>
            <a:noFill/>
          </a:ln>
        </p:spPr>
        <p:txBody>
          <a:bodyPr rtlCol="0" anchor="ctr"/>
          <a:lstStyle/>
          <a:p>
            <a:pPr algn="ctr"/>
          </a:p>
        </p:txBody>
      </p:sp>
      <p:sp>
        <p:nvSpPr>
          <p:cNvPr id="12" name="TextBox 11"/>
          <p:cNvSpPr txBox="1"/>
          <p:nvPr/>
        </p:nvSpPr>
        <p:spPr>
          <a:xfrm>
            <a:off x="685800" y="310896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Induction hob</a:t>
            </a:r>
          </a:p>
        </p:txBody>
      </p:sp>
      <p:sp>
        <p:nvSpPr>
          <p:cNvPr id="13" name="TextBox 12"/>
          <p:cNvSpPr txBox="1"/>
          <p:nvPr/>
        </p:nvSpPr>
        <p:spPr>
          <a:xfrm>
            <a:off x="4129887" y="310896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2000 W</a:t>
            </a:r>
          </a:p>
        </p:txBody>
      </p:sp>
      <p:sp>
        <p:nvSpPr>
          <p:cNvPr id="14" name="Rectangle 13"/>
          <p:cNvSpPr/>
          <p:nvPr/>
        </p:nvSpPr>
        <p:spPr>
          <a:xfrm>
            <a:off x="685800" y="3364991"/>
            <a:ext cx="5135727" cy="10972"/>
          </a:xfrm>
          <a:prstGeom prst="rect">
            <a:avLst/>
          </a:prstGeom>
          <a:solidFill>
            <a:srgbClr val="D2C6B4"/>
          </a:solidFill>
          <a:ln>
            <a:noFill/>
          </a:ln>
        </p:spPr>
        <p:txBody>
          <a:bodyPr rtlCol="0" anchor="ctr"/>
          <a:lstStyle/>
          <a:p>
            <a:pPr algn="ctr"/>
          </a:p>
        </p:txBody>
      </p:sp>
      <p:sp>
        <p:nvSpPr>
          <p:cNvPr id="15" name="TextBox 14"/>
          <p:cNvSpPr txBox="1"/>
          <p:nvPr/>
        </p:nvSpPr>
        <p:spPr>
          <a:xfrm>
            <a:off x="685800" y="343814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Electric kettle</a:t>
            </a:r>
          </a:p>
        </p:txBody>
      </p:sp>
      <p:sp>
        <p:nvSpPr>
          <p:cNvPr id="16" name="TextBox 15"/>
          <p:cNvSpPr txBox="1"/>
          <p:nvPr/>
        </p:nvSpPr>
        <p:spPr>
          <a:xfrm>
            <a:off x="4129887" y="343814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1.5 L</a:t>
            </a:r>
          </a:p>
        </p:txBody>
      </p:sp>
      <p:sp>
        <p:nvSpPr>
          <p:cNvPr id="17" name="Rectangle 16"/>
          <p:cNvSpPr/>
          <p:nvPr/>
        </p:nvSpPr>
        <p:spPr>
          <a:xfrm>
            <a:off x="685800" y="3694176"/>
            <a:ext cx="5135727" cy="10972"/>
          </a:xfrm>
          <a:prstGeom prst="rect">
            <a:avLst/>
          </a:prstGeom>
          <a:solidFill>
            <a:srgbClr val="D2C6B4"/>
          </a:solidFill>
          <a:ln>
            <a:noFill/>
          </a:ln>
        </p:spPr>
        <p:txBody>
          <a:bodyPr rtlCol="0" anchor="ctr"/>
          <a:lstStyle/>
          <a:p>
            <a:pPr algn="ctr"/>
          </a:p>
        </p:txBody>
      </p:sp>
      <p:sp>
        <p:nvSpPr>
          <p:cNvPr id="18" name="TextBox 17"/>
          <p:cNvSpPr txBox="1"/>
          <p:nvPr/>
        </p:nvSpPr>
        <p:spPr>
          <a:xfrm>
            <a:off x="685800" y="3767328"/>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Crockery, cutlery and glassware for two</a:t>
            </a:r>
          </a:p>
        </p:txBody>
      </p:sp>
      <p:sp>
        <p:nvSpPr>
          <p:cNvPr id="19" name="TextBox 18"/>
          <p:cNvSpPr txBox="1"/>
          <p:nvPr/>
        </p:nvSpPr>
        <p:spPr>
          <a:xfrm>
            <a:off x="4129887" y="3767328"/>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a:t>
            </a:r>
          </a:p>
        </p:txBody>
      </p:sp>
      <p:sp>
        <p:nvSpPr>
          <p:cNvPr id="20" name="Rectangle 19"/>
          <p:cNvSpPr/>
          <p:nvPr/>
        </p:nvSpPr>
        <p:spPr>
          <a:xfrm>
            <a:off x="685800" y="4023360"/>
            <a:ext cx="5135727" cy="10972"/>
          </a:xfrm>
          <a:prstGeom prst="rect">
            <a:avLst/>
          </a:prstGeom>
          <a:solidFill>
            <a:srgbClr val="D2C6B4"/>
          </a:solidFill>
          <a:ln>
            <a:noFill/>
          </a:ln>
        </p:spPr>
        <p:txBody>
          <a:bodyPr rtlCol="0" anchor="ctr"/>
          <a:lstStyle/>
          <a:p>
            <a:pPr algn="ctr"/>
          </a:p>
        </p:txBody>
      </p:sp>
      <p:sp>
        <p:nvSpPr>
          <p:cNvPr id="21" name="TextBox 20"/>
          <p:cNvSpPr txBox="1"/>
          <p:nvPr/>
        </p:nvSpPr>
        <p:spPr>
          <a:xfrm>
            <a:off x="685800" y="4096512"/>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Pan and pot</a:t>
            </a:r>
          </a:p>
        </p:txBody>
      </p:sp>
      <p:sp>
        <p:nvSpPr>
          <p:cNvPr id="22" name="TextBox 21"/>
          <p:cNvSpPr txBox="1"/>
          <p:nvPr/>
        </p:nvSpPr>
        <p:spPr>
          <a:xfrm>
            <a:off x="4129887" y="4096512"/>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24 cm · 2 L</a:t>
            </a:r>
          </a:p>
        </p:txBody>
      </p:sp>
      <p:sp>
        <p:nvSpPr>
          <p:cNvPr id="23" name="Rectangle 22"/>
          <p:cNvSpPr/>
          <p:nvPr/>
        </p:nvSpPr>
        <p:spPr>
          <a:xfrm>
            <a:off x="685800" y="4352544"/>
            <a:ext cx="5135727" cy="10972"/>
          </a:xfrm>
          <a:prstGeom prst="rect">
            <a:avLst/>
          </a:prstGeom>
          <a:solidFill>
            <a:srgbClr val="D2C6B4"/>
          </a:solidFill>
          <a:ln>
            <a:noFill/>
          </a:ln>
        </p:spPr>
        <p:txBody>
          <a:bodyPr rtlCol="0" anchor="ctr"/>
          <a:lstStyle/>
          <a:p>
            <a:pPr algn="ctr"/>
          </a:p>
        </p:txBody>
      </p:sp>
      <p:sp>
        <p:nvSpPr>
          <p:cNvPr id="24" name="TextBox 23"/>
          <p:cNvSpPr txBox="1"/>
          <p:nvPr/>
        </p:nvSpPr>
        <p:spPr>
          <a:xfrm>
            <a:off x="685800" y="4425696"/>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Chopping board and knife</a:t>
            </a:r>
          </a:p>
        </p:txBody>
      </p:sp>
      <p:sp>
        <p:nvSpPr>
          <p:cNvPr id="25" name="TextBox 24"/>
          <p:cNvSpPr txBox="1"/>
          <p:nvPr/>
        </p:nvSpPr>
        <p:spPr>
          <a:xfrm>
            <a:off x="4129887" y="4425696"/>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30 × 20 cm</a:t>
            </a:r>
          </a:p>
        </p:txBody>
      </p:sp>
      <p:sp>
        <p:nvSpPr>
          <p:cNvPr id="26" name="Rectangle 25"/>
          <p:cNvSpPr/>
          <p:nvPr/>
        </p:nvSpPr>
        <p:spPr>
          <a:xfrm>
            <a:off x="685800" y="4681728"/>
            <a:ext cx="5135727" cy="10972"/>
          </a:xfrm>
          <a:prstGeom prst="rect">
            <a:avLst/>
          </a:prstGeom>
          <a:solidFill>
            <a:srgbClr val="D2C6B4"/>
          </a:solidFill>
          <a:ln>
            <a:noFill/>
          </a:ln>
        </p:spPr>
        <p:txBody>
          <a:bodyPr rtlCol="0" anchor="ctr"/>
          <a:lstStyle/>
          <a:p>
            <a:pPr algn="ctr"/>
          </a:p>
        </p:txBody>
      </p:sp>
      <p:sp>
        <p:nvSpPr>
          <p:cNvPr id="27" name="TextBox 26"/>
          <p:cNvSpPr txBox="1"/>
          <p:nvPr/>
        </p:nvSpPr>
        <p:spPr>
          <a:xfrm>
            <a:off x="685800" y="475488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Storage jars, tea and coffee station on a brass tray</a:t>
            </a:r>
          </a:p>
        </p:txBody>
      </p:sp>
      <p:sp>
        <p:nvSpPr>
          <p:cNvPr id="28" name="TextBox 27"/>
          <p:cNvSpPr txBox="1"/>
          <p:nvPr/>
        </p:nvSpPr>
        <p:spPr>
          <a:xfrm>
            <a:off x="4129887" y="475488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35 cm tray</a:t>
            </a:r>
          </a:p>
        </p:txBody>
      </p:sp>
      <p:sp>
        <p:nvSpPr>
          <p:cNvPr id="29" name="Rectangle 28"/>
          <p:cNvSpPr/>
          <p:nvPr/>
        </p:nvSpPr>
        <p:spPr>
          <a:xfrm>
            <a:off x="685800" y="5138928"/>
            <a:ext cx="5135727" cy="10972"/>
          </a:xfrm>
          <a:prstGeom prst="rect">
            <a:avLst/>
          </a:prstGeom>
          <a:solidFill>
            <a:srgbClr val="D2C6B4"/>
          </a:solidFill>
          <a:ln>
            <a:noFill/>
          </a:ln>
        </p:spPr>
        <p:txBody>
          <a:bodyPr rtlCol="0" anchor="ctr"/>
          <a:lstStyle/>
          <a:p>
            <a:pPr algn="ctr"/>
          </a:p>
        </p:txBody>
      </p:sp>
      <p:sp>
        <p:nvSpPr>
          <p:cNvPr id="30" name="TextBox 29"/>
          <p:cNvSpPr txBox="1"/>
          <p:nvPr/>
        </p:nvSpPr>
        <p:spPr>
          <a:xfrm>
            <a:off x="685800" y="521208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Dish rack and bin</a:t>
            </a:r>
          </a:p>
        </p:txBody>
      </p:sp>
      <p:sp>
        <p:nvSpPr>
          <p:cNvPr id="31" name="TextBox 30"/>
          <p:cNvSpPr txBox="1"/>
          <p:nvPr/>
        </p:nvSpPr>
        <p:spPr>
          <a:xfrm>
            <a:off x="4129887" y="521208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a:t>
            </a:r>
          </a:p>
        </p:txBody>
      </p:sp>
      <p:sp>
        <p:nvSpPr>
          <p:cNvPr id="32" name="Rectangle 31"/>
          <p:cNvSpPr/>
          <p:nvPr/>
        </p:nvSpPr>
        <p:spPr>
          <a:xfrm>
            <a:off x="685800" y="5468112"/>
            <a:ext cx="5135727" cy="10972"/>
          </a:xfrm>
          <a:prstGeom prst="rect">
            <a:avLst/>
          </a:prstGeom>
          <a:solidFill>
            <a:srgbClr val="D2C6B4"/>
          </a:solidFill>
          <a:ln>
            <a:noFill/>
          </a:ln>
        </p:spPr>
        <p:txBody>
          <a:bodyPr rtlCol="0" anchor="ctr"/>
          <a:lstStyle/>
          <a:p>
            <a:pPr algn="ctr"/>
          </a:p>
        </p:txBody>
      </p:sp>
      <p:pic>
        <p:nvPicPr>
          <p:cNvPr id="33" name="static-photo" descr="image.jpg"/>
          <p:cNvPicPr>
            <a:picLocks noChangeAspect="1"/>
          </p:cNvPicPr>
          <p:nvPr/>
        </p:nvPicPr>
        <p:blipFill>
          <a:blip r:embed="rId4"/>
          <a:stretch>
            <a:fillRect/>
          </a:stretch>
        </p:blipFill>
        <p:spPr>
          <a:xfrm>
            <a:off x="6370167" y="1325880"/>
            <a:ext cx="5135727" cy="1051560"/>
          </a:xfrm>
          <a:prstGeom prst="rect">
            <a:avLst/>
          </a:prstGeom>
        </p:spPr>
      </p:pic>
      <p:sp>
        <p:nvSpPr>
          <p:cNvPr id="34" name="TextBox 33"/>
          <p:cNvSpPr txBox="1"/>
          <p:nvPr/>
        </p:nvSpPr>
        <p:spPr>
          <a:xfrm>
            <a:off x="6370167" y="2560320"/>
            <a:ext cx="5135727" cy="411480"/>
          </a:xfrm>
          <a:prstGeom prst="rect">
            <a:avLst/>
          </a:prstGeom>
          <a:noFill/>
        </p:spPr>
        <p:txBody>
          <a:bodyPr wrap="square" lIns="0" rIns="0" tIns="0" bIns="0">
            <a:spAutoFit/>
          </a:bodyPr>
          <a:lstStyle/>
          <a:p>
            <a:pPr algn="l">
              <a:lnSpc>
                <a:spcPct val="92000"/>
              </a:lnSpc>
            </a:pPr>
            <a:r>
              <a:rPr sz="2400" b="0" i="0">
                <a:solidFill>
                  <a:srgbClr val="1B1815"/>
                </a:solidFill>
                <a:latin typeface="Cormorant Garamond"/>
                <a:ea typeface="Plus Jakarta Sans"/>
                <a:cs typeface="Plus Jakarta Sans"/>
              </a:rPr>
              <a:t>Safety, utility and access</a:t>
            </a:r>
          </a:p>
        </p:txBody>
      </p:sp>
      <p:sp>
        <p:nvSpPr>
          <p:cNvPr id="35" name="Rectangle 34"/>
          <p:cNvSpPr/>
          <p:nvPr/>
        </p:nvSpPr>
        <p:spPr>
          <a:xfrm>
            <a:off x="6370167" y="3035808"/>
            <a:ext cx="5135727" cy="10972"/>
          </a:xfrm>
          <a:prstGeom prst="rect">
            <a:avLst/>
          </a:prstGeom>
          <a:solidFill>
            <a:srgbClr val="D2C6B4"/>
          </a:solidFill>
          <a:ln>
            <a:noFill/>
          </a:ln>
        </p:spPr>
        <p:txBody>
          <a:bodyPr rtlCol="0" anchor="ctr"/>
          <a:lstStyle/>
          <a:p>
            <a:pPr algn="ctr"/>
          </a:p>
        </p:txBody>
      </p:sp>
      <p:sp>
        <p:nvSpPr>
          <p:cNvPr id="36" name="TextBox 35"/>
          <p:cNvSpPr txBox="1"/>
          <p:nvPr/>
        </p:nvSpPr>
        <p:spPr>
          <a:xfrm>
            <a:off x="6370167" y="310896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Keyless smart lock — fingerprint, PIN and key backup</a:t>
            </a:r>
          </a:p>
        </p:txBody>
      </p:sp>
      <p:sp>
        <p:nvSpPr>
          <p:cNvPr id="37" name="TextBox 36"/>
          <p:cNvSpPr txBox="1"/>
          <p:nvPr/>
        </p:nvSpPr>
        <p:spPr>
          <a:xfrm>
            <a:off x="9814255" y="310896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Fits 35–60 mm doors</a:t>
            </a:r>
          </a:p>
        </p:txBody>
      </p:sp>
      <p:sp>
        <p:nvSpPr>
          <p:cNvPr id="38" name="Rectangle 37"/>
          <p:cNvSpPr/>
          <p:nvPr/>
        </p:nvSpPr>
        <p:spPr>
          <a:xfrm>
            <a:off x="6370167" y="3493008"/>
            <a:ext cx="5135727" cy="10972"/>
          </a:xfrm>
          <a:prstGeom prst="rect">
            <a:avLst/>
          </a:prstGeom>
          <a:solidFill>
            <a:srgbClr val="D2C6B4"/>
          </a:solidFill>
          <a:ln>
            <a:noFill/>
          </a:ln>
        </p:spPr>
        <p:txBody>
          <a:bodyPr rtlCol="0" anchor="ctr"/>
          <a:lstStyle/>
          <a:p>
            <a:pPr algn="ctr"/>
          </a:p>
        </p:txBody>
      </p:sp>
      <p:sp>
        <p:nvSpPr>
          <p:cNvPr id="39" name="TextBox 38"/>
          <p:cNvSpPr txBox="1"/>
          <p:nvPr/>
        </p:nvSpPr>
        <p:spPr>
          <a:xfrm>
            <a:off x="6370167" y="356616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Water purifier</a:t>
            </a:r>
          </a:p>
        </p:txBody>
      </p:sp>
      <p:sp>
        <p:nvSpPr>
          <p:cNvPr id="40" name="TextBox 39"/>
          <p:cNvSpPr txBox="1"/>
          <p:nvPr/>
        </p:nvSpPr>
        <p:spPr>
          <a:xfrm>
            <a:off x="9814255" y="356616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7 L RO</a:t>
            </a:r>
          </a:p>
        </p:txBody>
      </p:sp>
      <p:sp>
        <p:nvSpPr>
          <p:cNvPr id="41" name="Rectangle 40"/>
          <p:cNvSpPr/>
          <p:nvPr/>
        </p:nvSpPr>
        <p:spPr>
          <a:xfrm>
            <a:off x="6370167" y="3822191"/>
            <a:ext cx="5135727" cy="10972"/>
          </a:xfrm>
          <a:prstGeom prst="rect">
            <a:avLst/>
          </a:prstGeom>
          <a:solidFill>
            <a:srgbClr val="D2C6B4"/>
          </a:solidFill>
          <a:ln>
            <a:noFill/>
          </a:ln>
        </p:spPr>
        <p:txBody>
          <a:bodyPr rtlCol="0" anchor="ctr"/>
          <a:lstStyle/>
          <a:p>
            <a:pPr algn="ctr"/>
          </a:p>
        </p:txBody>
      </p:sp>
      <p:sp>
        <p:nvSpPr>
          <p:cNvPr id="42" name="TextBox 41"/>
          <p:cNvSpPr txBox="1"/>
          <p:nvPr/>
        </p:nvSpPr>
        <p:spPr>
          <a:xfrm>
            <a:off x="6370167" y="389534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Smoke alarm, fire extinguisher, fire blanket, first-aid kit</a:t>
            </a:r>
          </a:p>
        </p:txBody>
      </p:sp>
      <p:sp>
        <p:nvSpPr>
          <p:cNvPr id="43" name="TextBox 42"/>
          <p:cNvSpPr txBox="1"/>
          <p:nvPr/>
        </p:nvSpPr>
        <p:spPr>
          <a:xfrm>
            <a:off x="9814255" y="389534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2 kg ABC</a:t>
            </a:r>
          </a:p>
        </p:txBody>
      </p:sp>
      <p:sp>
        <p:nvSpPr>
          <p:cNvPr id="44" name="Rectangle 43"/>
          <p:cNvSpPr/>
          <p:nvPr/>
        </p:nvSpPr>
        <p:spPr>
          <a:xfrm>
            <a:off x="6370167" y="4279392"/>
            <a:ext cx="5135727" cy="10972"/>
          </a:xfrm>
          <a:prstGeom prst="rect">
            <a:avLst/>
          </a:prstGeom>
          <a:solidFill>
            <a:srgbClr val="D2C6B4"/>
          </a:solidFill>
          <a:ln>
            <a:noFill/>
          </a:ln>
        </p:spPr>
        <p:txBody>
          <a:bodyPr rtlCol="0" anchor="ctr"/>
          <a:lstStyle/>
          <a:p>
            <a:pPr algn="ctr"/>
          </a:p>
        </p:txBody>
      </p:sp>
      <p:sp>
        <p:nvSpPr>
          <p:cNvPr id="45" name="TextBox 44"/>
          <p:cNvSpPr txBox="1"/>
          <p:nvPr/>
        </p:nvSpPr>
        <p:spPr>
          <a:xfrm>
            <a:off x="6370167" y="435254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Iron and board, drying rack, laundry basket</a:t>
            </a:r>
          </a:p>
        </p:txBody>
      </p:sp>
      <p:sp>
        <p:nvSpPr>
          <p:cNvPr id="46" name="TextBox 45"/>
          <p:cNvSpPr txBox="1"/>
          <p:nvPr/>
        </p:nvSpPr>
        <p:spPr>
          <a:xfrm>
            <a:off x="9814255" y="435254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a:t>
            </a:r>
          </a:p>
        </p:txBody>
      </p:sp>
      <p:sp>
        <p:nvSpPr>
          <p:cNvPr id="47" name="Rectangle 46"/>
          <p:cNvSpPr/>
          <p:nvPr/>
        </p:nvSpPr>
        <p:spPr>
          <a:xfrm>
            <a:off x="6370167" y="4608576"/>
            <a:ext cx="5135727" cy="10972"/>
          </a:xfrm>
          <a:prstGeom prst="rect">
            <a:avLst/>
          </a:prstGeom>
          <a:solidFill>
            <a:srgbClr val="D2C6B4"/>
          </a:solidFill>
          <a:ln>
            <a:noFill/>
          </a:ln>
        </p:spPr>
        <p:txBody>
          <a:bodyPr rtlCol="0" anchor="ctr"/>
          <a:lstStyle/>
          <a:p>
            <a:pPr algn="ctr"/>
          </a:p>
        </p:txBody>
      </p:sp>
      <p:sp>
        <p:nvSpPr>
          <p:cNvPr id="48" name="TextBox 47"/>
          <p:cNvSpPr txBox="1"/>
          <p:nvPr/>
        </p:nvSpPr>
        <p:spPr>
          <a:xfrm>
            <a:off x="6370167" y="4681728"/>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Hangers, extension boards, cleaning set</a:t>
            </a:r>
          </a:p>
        </p:txBody>
      </p:sp>
      <p:sp>
        <p:nvSpPr>
          <p:cNvPr id="49" name="TextBox 48"/>
          <p:cNvSpPr txBox="1"/>
          <p:nvPr/>
        </p:nvSpPr>
        <p:spPr>
          <a:xfrm>
            <a:off x="9814255" y="4681728"/>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4-socket</a:t>
            </a:r>
          </a:p>
        </p:txBody>
      </p:sp>
      <p:sp>
        <p:nvSpPr>
          <p:cNvPr id="50" name="Rectangle 49"/>
          <p:cNvSpPr/>
          <p:nvPr/>
        </p:nvSpPr>
        <p:spPr>
          <a:xfrm>
            <a:off x="6370167" y="4937760"/>
            <a:ext cx="5135727" cy="10972"/>
          </a:xfrm>
          <a:prstGeom prst="rect">
            <a:avLst/>
          </a:prstGeom>
          <a:solidFill>
            <a:srgbClr val="D2C6B4"/>
          </a:solidFill>
          <a:ln>
            <a:noFill/>
          </a:ln>
        </p:spPr>
        <p:txBody>
          <a:bodyPr rtlCol="0" anchor="ctr"/>
          <a:lstStyle/>
          <a:p>
            <a:pPr algn="ct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
        <p:nvSpPr>
          <p:cNvPr id="9" name="static-tag"/>
          <p:cNvSpPr txBox="1"/>
          <p:nvPr/>
        </p:nvSpPr>
        <p:spPr>
          <a:xfrm>
            <a:off x="822960" y="2057399"/>
            <a:ext cx="4861407" cy="228600"/>
          </a:xfrm>
          <a:prstGeom prst="rect">
            <a:avLst/>
          </a:prstGeom>
          <a:noFill/>
        </p:spPr>
        <p:txBody>
          <a:bodyPr wrap="square" lIns="0" rIns="0" tIns="0" bIns="0">
            <a:spAutoFit/>
          </a:bodyPr>
          <a:lstStyle/>
          <a:p>
            <a:pPr algn="l"/>
            <a:r>
              <a:rPr sz="700" b="1" i="0" spc="250">
                <a:solidFill>
                  <a:srgbClr val="FFFFFF"/>
                </a:solidFill>
                <a:latin typeface="Plus Jakarta Sans"/>
                <a:ea typeface="Plus Jakarta Sans"/>
                <a:cs typeface="Plus Jakarta Sans"/>
              </a:rPr>
              <a:t>SAMPLE IMAGE</a:t>
            </a:r>
          </a:p>
        </p:txBody>
      </p:sp>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296"/>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900"/>
                                        <p:tgtEl>
                                          <p:spTgt spid="10"/>
                                        </p:tgtEl>
                                      </p:cBhvr>
                                    </p:animEffect>
                                    <p:anim calcmode="lin" valueType="num">
                                      <p:cBhvr>
                                        <p:cTn id="11" dur="900" decel="100000"/>
                                        <p:tgtEl>
                                          <p:spTgt spid="10"/>
                                        </p:tgtEl>
                                        <p:attrNameLst>
                                          <p:attrName>ppt_x</p:attrName>
                                        </p:attrNameLst>
                                      </p:cBhvr>
                                      <p:tavLst>
                                        <p:tav tm="0">
                                          <p:val>
                                            <p:strVal val="#ppt_x"/>
                                          </p:val>
                                        </p:tav>
                                        <p:tav tm="100000">
                                          <p:val>
                                            <p:strVal val="#ppt_x"/>
                                          </p:val>
                                        </p:tav>
                                      </p:tavLst>
                                    </p:anim>
                                    <p:anim calcmode="lin" valueType="num">
                                      <p:cBhvr>
                                        <p:cTn id="12" dur="900" decel="100000"/>
                                        <p:tgtEl>
                                          <p:spTgt spid="10"/>
                                        </p:tgtEl>
                                        <p:attrNameLst>
                                          <p:attrName>ppt_y</p:attrName>
                                        </p:attrNameLst>
                                      </p:cBhvr>
                                      <p:tavLst>
                                        <p:tav tm="0">
                                          <p:val>
                                            <p:strVal val="#ppt_y+.035"/>
                                          </p:val>
                                        </p:tav>
                                        <p:tav tm="100000">
                                          <p:val>
                                            <p:strVal val="#ppt_y"/>
                                          </p:val>
                                        </p:tav>
                                      </p:tavLst>
                                    </p:anim>
                                  </p:childTnLst>
                                </p:cTn>
                              </p:par>
                              <p:par>
                                <p:cTn id="13" presetID="42" presetClass="entr" presetSubtype="0" fill="hold" grpId="0" nodeType="withEffect">
                                  <p:stCondLst>
                                    <p:cond delay="342"/>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900"/>
                                        <p:tgtEl>
                                          <p:spTgt spid="34"/>
                                        </p:tgtEl>
                                      </p:cBhvr>
                                    </p:animEffect>
                                    <p:anim calcmode="lin" valueType="num">
                                      <p:cBhvr>
                                        <p:cTn id="16" dur="900" decel="100000"/>
                                        <p:tgtEl>
                                          <p:spTgt spid="34"/>
                                        </p:tgtEl>
                                        <p:attrNameLst>
                                          <p:attrName>ppt_x</p:attrName>
                                        </p:attrNameLst>
                                      </p:cBhvr>
                                      <p:tavLst>
                                        <p:tav tm="0">
                                          <p:val>
                                            <p:strVal val="#ppt_x"/>
                                          </p:val>
                                        </p:tav>
                                        <p:tav tm="100000">
                                          <p:val>
                                            <p:strVal val="#ppt_x"/>
                                          </p:val>
                                        </p:tav>
                                      </p:tavLst>
                                    </p:anim>
                                    <p:anim calcmode="lin" valueType="num">
                                      <p:cBhvr>
                                        <p:cTn id="17" dur="900" decel="100000"/>
                                        <p:tgtEl>
                                          <p:spTgt spid="34"/>
                                        </p:tgtEl>
                                        <p:attrNameLst>
                                          <p:attrName>ppt_y</p:attrName>
                                        </p:attrNameLst>
                                      </p:cBhvr>
                                      <p:tavLst>
                                        <p:tav tm="0">
                                          <p:val>
                                            <p:strVal val="#ppt_y+.035"/>
                                          </p:val>
                                        </p:tav>
                                        <p:tav tm="100000">
                                          <p:val>
                                            <p:strVal val="#ppt_y"/>
                                          </p:val>
                                        </p:tav>
                                      </p:tavLst>
                                    </p:anim>
                                  </p:childTnLst>
                                </p:cTn>
                              </p:par>
                              <p:par>
                                <p:cTn id="18" presetID="22" presetClass="entr" presetSubtype="8" fill="hold" grpId="0" nodeType="withEffect">
                                  <p:stCondLst>
                                    <p:cond delay="388"/>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700"/>
                                        <p:tgtEl>
                                          <p:spTgt spid="11"/>
                                        </p:tgtEl>
                                      </p:cBhvr>
                                    </p:animEffect>
                                  </p:childTnLst>
                                </p:cTn>
                              </p:par>
                              <p:par>
                                <p:cTn id="21" presetID="22" presetClass="entr" presetSubtype="8" fill="hold" grpId="0" nodeType="withEffect">
                                  <p:stCondLst>
                                    <p:cond delay="434"/>
                                  </p:stCondLst>
                                  <p:childTnLst>
                                    <p:set>
                                      <p:cBhvr>
                                        <p:cTn id="22" dur="1" fill="hold">
                                          <p:stCondLst>
                                            <p:cond delay="0"/>
                                          </p:stCondLst>
                                        </p:cTn>
                                        <p:tgtEl>
                                          <p:spTgt spid="35"/>
                                        </p:tgtEl>
                                        <p:attrNameLst>
                                          <p:attrName>style.visibility</p:attrName>
                                        </p:attrNameLst>
                                      </p:cBhvr>
                                      <p:to>
                                        <p:strVal val="visible"/>
                                      </p:to>
                                    </p:set>
                                    <p:animEffect transition="in" filter="wipe(left)">
                                      <p:cBhvr>
                                        <p:cTn id="23" dur="700"/>
                                        <p:tgtEl>
                                          <p:spTgt spid="35"/>
                                        </p:tgtEl>
                                      </p:cBhvr>
                                    </p:animEffect>
                                  </p:childTnLst>
                                </p:cTn>
                              </p:par>
                              <p:par>
                                <p:cTn id="24" presetID="10" presetClass="entr" presetSubtype="0" fill="hold" grpId="0" nodeType="withEffect">
                                  <p:stCondLst>
                                    <p:cond delay="48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childTnLst>
                                </p:cTn>
                              </p:par>
                              <p:par>
                                <p:cTn id="27" presetID="10" presetClass="entr" presetSubtype="0" fill="hold" grpId="0" nodeType="withEffect">
                                  <p:stCondLst>
                                    <p:cond delay="526"/>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700"/>
                                        <p:tgtEl>
                                          <p:spTgt spid="13"/>
                                        </p:tgtEl>
                                      </p:cBhvr>
                                    </p:animEffect>
                                  </p:childTnLst>
                                </p:cTn>
                              </p:par>
                              <p:par>
                                <p:cTn id="30" presetID="10" presetClass="entr" presetSubtype="0" fill="hold" grpId="0" nodeType="withEffect">
                                  <p:stCondLst>
                                    <p:cond delay="572"/>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700"/>
                                        <p:tgtEl>
                                          <p:spTgt spid="36"/>
                                        </p:tgtEl>
                                      </p:cBhvr>
                                    </p:animEffect>
                                  </p:childTnLst>
                                </p:cTn>
                              </p:par>
                              <p:par>
                                <p:cTn id="33" presetID="10" presetClass="entr" presetSubtype="0" fill="hold" grpId="0" nodeType="withEffect">
                                  <p:stCondLst>
                                    <p:cond delay="618"/>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700"/>
                                        <p:tgtEl>
                                          <p:spTgt spid="37"/>
                                        </p:tgtEl>
                                      </p:cBhvr>
                                    </p:animEffect>
                                  </p:childTnLst>
                                </p:cTn>
                              </p:par>
                              <p:par>
                                <p:cTn id="36" presetID="22" presetClass="entr" presetSubtype="8" fill="hold" grpId="0" nodeType="withEffect">
                                  <p:stCondLst>
                                    <p:cond delay="664"/>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700"/>
                                        <p:tgtEl>
                                          <p:spTgt spid="14"/>
                                        </p:tgtEl>
                                      </p:cBhvr>
                                    </p:animEffect>
                                  </p:childTnLst>
                                </p:cTn>
                              </p:par>
                              <p:par>
                                <p:cTn id="39" presetID="10" presetClass="entr" presetSubtype="0" fill="hold" grpId="0" nodeType="withEffect">
                                  <p:stCondLst>
                                    <p:cond delay="71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700"/>
                                        <p:tgtEl>
                                          <p:spTgt spid="15"/>
                                        </p:tgtEl>
                                      </p:cBhvr>
                                    </p:animEffect>
                                  </p:childTnLst>
                                </p:cTn>
                              </p:par>
                              <p:par>
                                <p:cTn id="42" presetID="10" presetClass="entr" presetSubtype="0" fill="hold" grpId="0" nodeType="withEffect">
                                  <p:stCondLst>
                                    <p:cond delay="756"/>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700"/>
                                        <p:tgtEl>
                                          <p:spTgt spid="16"/>
                                        </p:tgtEl>
                                      </p:cBhvr>
                                    </p:animEffect>
                                  </p:childTnLst>
                                </p:cTn>
                              </p:par>
                              <p:par>
                                <p:cTn id="45" presetID="22" presetClass="entr" presetSubtype="8" fill="hold" grpId="0" nodeType="withEffect">
                                  <p:stCondLst>
                                    <p:cond delay="802"/>
                                  </p:stCondLst>
                                  <p:childTnLst>
                                    <p:set>
                                      <p:cBhvr>
                                        <p:cTn id="46" dur="1" fill="hold">
                                          <p:stCondLst>
                                            <p:cond delay="0"/>
                                          </p:stCondLst>
                                        </p:cTn>
                                        <p:tgtEl>
                                          <p:spTgt spid="38"/>
                                        </p:tgtEl>
                                        <p:attrNameLst>
                                          <p:attrName>style.visibility</p:attrName>
                                        </p:attrNameLst>
                                      </p:cBhvr>
                                      <p:to>
                                        <p:strVal val="visible"/>
                                      </p:to>
                                    </p:set>
                                    <p:animEffect transition="in" filter="wipe(left)">
                                      <p:cBhvr>
                                        <p:cTn id="47" dur="700"/>
                                        <p:tgtEl>
                                          <p:spTgt spid="38"/>
                                        </p:tgtEl>
                                      </p:cBhvr>
                                    </p:animEffect>
                                  </p:childTnLst>
                                </p:cTn>
                              </p:par>
                              <p:par>
                                <p:cTn id="48" presetID="10" presetClass="entr" presetSubtype="0" fill="hold" grpId="0" nodeType="withEffect">
                                  <p:stCondLst>
                                    <p:cond delay="848"/>
                                  </p:stCondLst>
                                  <p:childTnLst>
                                    <p:set>
                                      <p:cBhvr>
                                        <p:cTn id="49" dur="1" fill="hold">
                                          <p:stCondLst>
                                            <p:cond delay="0"/>
                                          </p:stCondLst>
                                        </p:cTn>
                                        <p:tgtEl>
                                          <p:spTgt spid="39"/>
                                        </p:tgtEl>
                                        <p:attrNameLst>
                                          <p:attrName>style.visibility</p:attrName>
                                        </p:attrNameLst>
                                      </p:cBhvr>
                                      <p:to>
                                        <p:strVal val="visible"/>
                                      </p:to>
                                    </p:set>
                                    <p:animEffect transition="in" filter="fade">
                                      <p:cBhvr>
                                        <p:cTn id="50" dur="700"/>
                                        <p:tgtEl>
                                          <p:spTgt spid="39"/>
                                        </p:tgtEl>
                                      </p:cBhvr>
                                    </p:animEffect>
                                  </p:childTnLst>
                                </p:cTn>
                              </p:par>
                              <p:par>
                                <p:cTn id="51" presetID="10" presetClass="entr" presetSubtype="0" fill="hold" grpId="0" nodeType="withEffect">
                                  <p:stCondLst>
                                    <p:cond delay="894"/>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700"/>
                                        <p:tgtEl>
                                          <p:spTgt spid="40"/>
                                        </p:tgtEl>
                                      </p:cBhvr>
                                    </p:animEffect>
                                  </p:childTnLst>
                                </p:cTn>
                              </p:par>
                              <p:par>
                                <p:cTn id="54" presetID="22" presetClass="entr" presetSubtype="8" fill="hold" grpId="0" nodeType="withEffect">
                                  <p:stCondLst>
                                    <p:cond delay="940"/>
                                  </p:stCondLst>
                                  <p:childTnLst>
                                    <p:set>
                                      <p:cBhvr>
                                        <p:cTn id="55" dur="1" fill="hold">
                                          <p:stCondLst>
                                            <p:cond delay="0"/>
                                          </p:stCondLst>
                                        </p:cTn>
                                        <p:tgtEl>
                                          <p:spTgt spid="17"/>
                                        </p:tgtEl>
                                        <p:attrNameLst>
                                          <p:attrName>style.visibility</p:attrName>
                                        </p:attrNameLst>
                                      </p:cBhvr>
                                      <p:to>
                                        <p:strVal val="visible"/>
                                      </p:to>
                                    </p:set>
                                    <p:animEffect transition="in" filter="wipe(left)">
                                      <p:cBhvr>
                                        <p:cTn id="56" dur="700"/>
                                        <p:tgtEl>
                                          <p:spTgt spid="17"/>
                                        </p:tgtEl>
                                      </p:cBhvr>
                                    </p:animEffect>
                                  </p:childTnLst>
                                </p:cTn>
                              </p:par>
                              <p:par>
                                <p:cTn id="57" presetID="10" presetClass="entr" presetSubtype="0" fill="hold" grpId="0" nodeType="withEffect">
                                  <p:stCondLst>
                                    <p:cond delay="986"/>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700"/>
                                        <p:tgtEl>
                                          <p:spTgt spid="18"/>
                                        </p:tgtEl>
                                      </p:cBhvr>
                                    </p:animEffect>
                                  </p:childTnLst>
                                </p:cTn>
                              </p:par>
                              <p:par>
                                <p:cTn id="60" presetID="10" presetClass="entr" presetSubtype="0" fill="hold" grpId="0" nodeType="withEffect">
                                  <p:stCondLst>
                                    <p:cond delay="1032"/>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700"/>
                                        <p:tgtEl>
                                          <p:spTgt spid="19"/>
                                        </p:tgtEl>
                                      </p:cBhvr>
                                    </p:animEffect>
                                  </p:childTnLst>
                                </p:cTn>
                              </p:par>
                              <p:par>
                                <p:cTn id="63" presetID="22" presetClass="entr" presetSubtype="8" fill="hold" grpId="0" nodeType="withEffect">
                                  <p:stCondLst>
                                    <p:cond delay="1078"/>
                                  </p:stCondLst>
                                  <p:childTnLst>
                                    <p:set>
                                      <p:cBhvr>
                                        <p:cTn id="64" dur="1" fill="hold">
                                          <p:stCondLst>
                                            <p:cond delay="0"/>
                                          </p:stCondLst>
                                        </p:cTn>
                                        <p:tgtEl>
                                          <p:spTgt spid="41"/>
                                        </p:tgtEl>
                                        <p:attrNameLst>
                                          <p:attrName>style.visibility</p:attrName>
                                        </p:attrNameLst>
                                      </p:cBhvr>
                                      <p:to>
                                        <p:strVal val="visible"/>
                                      </p:to>
                                    </p:set>
                                    <p:animEffect transition="in" filter="wipe(left)">
                                      <p:cBhvr>
                                        <p:cTn id="65" dur="700"/>
                                        <p:tgtEl>
                                          <p:spTgt spid="41"/>
                                        </p:tgtEl>
                                      </p:cBhvr>
                                    </p:animEffect>
                                  </p:childTnLst>
                                </p:cTn>
                              </p:par>
                              <p:par>
                                <p:cTn id="66" presetID="10" presetClass="entr" presetSubtype="0" fill="hold" grpId="0" nodeType="withEffect">
                                  <p:stCondLst>
                                    <p:cond delay="1124"/>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700"/>
                                        <p:tgtEl>
                                          <p:spTgt spid="42"/>
                                        </p:tgtEl>
                                      </p:cBhvr>
                                    </p:animEffect>
                                  </p:childTnLst>
                                </p:cTn>
                              </p:par>
                              <p:par>
                                <p:cTn id="69" presetID="10" presetClass="entr" presetSubtype="0" fill="hold" grpId="0" nodeType="withEffect">
                                  <p:stCondLst>
                                    <p:cond delay="117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700"/>
                                        <p:tgtEl>
                                          <p:spTgt spid="43"/>
                                        </p:tgtEl>
                                      </p:cBhvr>
                                    </p:animEffect>
                                  </p:childTnLst>
                                </p:cTn>
                              </p:par>
                              <p:par>
                                <p:cTn id="72" presetID="22" presetClass="entr" presetSubtype="8" fill="hold" grpId="0" nodeType="withEffect">
                                  <p:stCondLst>
                                    <p:cond delay="1216"/>
                                  </p:stCondLst>
                                  <p:childTnLst>
                                    <p:set>
                                      <p:cBhvr>
                                        <p:cTn id="73" dur="1" fill="hold">
                                          <p:stCondLst>
                                            <p:cond delay="0"/>
                                          </p:stCondLst>
                                        </p:cTn>
                                        <p:tgtEl>
                                          <p:spTgt spid="20"/>
                                        </p:tgtEl>
                                        <p:attrNameLst>
                                          <p:attrName>style.visibility</p:attrName>
                                        </p:attrNameLst>
                                      </p:cBhvr>
                                      <p:to>
                                        <p:strVal val="visible"/>
                                      </p:to>
                                    </p:set>
                                    <p:animEffect transition="in" filter="wipe(left)">
                                      <p:cBhvr>
                                        <p:cTn id="74" dur="700"/>
                                        <p:tgtEl>
                                          <p:spTgt spid="20"/>
                                        </p:tgtEl>
                                      </p:cBhvr>
                                    </p:animEffect>
                                  </p:childTnLst>
                                </p:cTn>
                              </p:par>
                              <p:par>
                                <p:cTn id="75" presetID="10" presetClass="entr" presetSubtype="0" fill="hold" grpId="0" nodeType="withEffect">
                                  <p:stCondLst>
                                    <p:cond delay="1262"/>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700"/>
                                        <p:tgtEl>
                                          <p:spTgt spid="21"/>
                                        </p:tgtEl>
                                      </p:cBhvr>
                                    </p:animEffect>
                                  </p:childTnLst>
                                </p:cTn>
                              </p:par>
                              <p:par>
                                <p:cTn id="78" presetID="10" presetClass="entr" presetSubtype="0" fill="hold" grpId="0" nodeType="withEffect">
                                  <p:stCondLst>
                                    <p:cond delay="1308"/>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childTnLst>
                                </p:cTn>
                              </p:par>
                              <p:par>
                                <p:cTn id="81" presetID="22" presetClass="entr" presetSubtype="8" fill="hold" grpId="0" nodeType="withEffect">
                                  <p:stCondLst>
                                    <p:cond delay="1354"/>
                                  </p:stCondLst>
                                  <p:childTnLst>
                                    <p:set>
                                      <p:cBhvr>
                                        <p:cTn id="82" dur="1" fill="hold">
                                          <p:stCondLst>
                                            <p:cond delay="0"/>
                                          </p:stCondLst>
                                        </p:cTn>
                                        <p:tgtEl>
                                          <p:spTgt spid="44"/>
                                        </p:tgtEl>
                                        <p:attrNameLst>
                                          <p:attrName>style.visibility</p:attrName>
                                        </p:attrNameLst>
                                      </p:cBhvr>
                                      <p:to>
                                        <p:strVal val="visible"/>
                                      </p:to>
                                    </p:set>
                                    <p:animEffect transition="in" filter="wipe(left)">
                                      <p:cBhvr>
                                        <p:cTn id="83" dur="700"/>
                                        <p:tgtEl>
                                          <p:spTgt spid="44"/>
                                        </p:tgtEl>
                                      </p:cBhvr>
                                    </p:animEffect>
                                  </p:childTnLst>
                                </p:cTn>
                              </p:par>
                              <p:par>
                                <p:cTn id="84" presetID="22" presetClass="entr" presetSubtype="8" fill="hold" grpId="0" nodeType="withEffect">
                                  <p:stCondLst>
                                    <p:cond delay="1400"/>
                                  </p:stCondLst>
                                  <p:childTnLst>
                                    <p:set>
                                      <p:cBhvr>
                                        <p:cTn id="85" dur="1" fill="hold">
                                          <p:stCondLst>
                                            <p:cond delay="0"/>
                                          </p:stCondLst>
                                        </p:cTn>
                                        <p:tgtEl>
                                          <p:spTgt spid="23"/>
                                        </p:tgtEl>
                                        <p:attrNameLst>
                                          <p:attrName>style.visibility</p:attrName>
                                        </p:attrNameLst>
                                      </p:cBhvr>
                                      <p:to>
                                        <p:strVal val="visible"/>
                                      </p:to>
                                    </p:set>
                                    <p:animEffect transition="in" filter="wipe(left)">
                                      <p:cBhvr>
                                        <p:cTn id="86" dur="700"/>
                                        <p:tgtEl>
                                          <p:spTgt spid="23"/>
                                        </p:tgtEl>
                                      </p:cBhvr>
                                    </p:animEffect>
                                  </p:childTnLst>
                                </p:cTn>
                              </p:par>
                              <p:par>
                                <p:cTn id="87" presetID="10" presetClass="entr" presetSubtype="0" fill="hold" grpId="0" nodeType="withEffect">
                                  <p:stCondLst>
                                    <p:cond delay="1446"/>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700"/>
                                        <p:tgtEl>
                                          <p:spTgt spid="24"/>
                                        </p:tgtEl>
                                      </p:cBhvr>
                                    </p:animEffect>
                                  </p:childTnLst>
                                </p:cTn>
                              </p:par>
                              <p:par>
                                <p:cTn id="90" presetID="10" presetClass="entr" presetSubtype="0" fill="hold" grpId="0" nodeType="withEffect">
                                  <p:stCondLst>
                                    <p:cond delay="1492"/>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700"/>
                                        <p:tgtEl>
                                          <p:spTgt spid="25"/>
                                        </p:tgtEl>
                                      </p:cBhvr>
                                    </p:animEffect>
                                  </p:childTnLst>
                                </p:cTn>
                              </p:par>
                              <p:par>
                                <p:cTn id="93" presetID="10" presetClass="entr" presetSubtype="0" fill="hold" grpId="0" nodeType="withEffect">
                                  <p:stCondLst>
                                    <p:cond delay="1538"/>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700"/>
                                        <p:tgtEl>
                                          <p:spTgt spid="45"/>
                                        </p:tgtEl>
                                      </p:cBhvr>
                                    </p:animEffect>
                                  </p:childTnLst>
                                </p:cTn>
                              </p:par>
                              <p:par>
                                <p:cTn id="96" presetID="22" presetClass="entr" presetSubtype="8" fill="hold" grpId="0" nodeType="withEffect">
                                  <p:stCondLst>
                                    <p:cond delay="1584"/>
                                  </p:stCondLst>
                                  <p:childTnLst>
                                    <p:set>
                                      <p:cBhvr>
                                        <p:cTn id="97" dur="1" fill="hold">
                                          <p:stCondLst>
                                            <p:cond delay="0"/>
                                          </p:stCondLst>
                                        </p:cTn>
                                        <p:tgtEl>
                                          <p:spTgt spid="47"/>
                                        </p:tgtEl>
                                        <p:attrNameLst>
                                          <p:attrName>style.visibility</p:attrName>
                                        </p:attrNameLst>
                                      </p:cBhvr>
                                      <p:to>
                                        <p:strVal val="visible"/>
                                      </p:to>
                                    </p:set>
                                    <p:animEffect transition="in" filter="wipe(left)">
                                      <p:cBhvr>
                                        <p:cTn id="98" dur="700"/>
                                        <p:tgtEl>
                                          <p:spTgt spid="47"/>
                                        </p:tgtEl>
                                      </p:cBhvr>
                                    </p:animEffect>
                                  </p:childTnLst>
                                </p:cTn>
                              </p:par>
                              <p:par>
                                <p:cTn id="99" presetID="10" presetClass="entr" presetSubtype="0" fill="hold" grpId="0" nodeType="withEffect">
                                  <p:stCondLst>
                                    <p:cond delay="163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700"/>
                                        <p:tgtEl>
                                          <p:spTgt spid="46"/>
                                        </p:tgtEl>
                                      </p:cBhvr>
                                    </p:animEffect>
                                  </p:childTnLst>
                                </p:cTn>
                              </p:par>
                              <p:par>
                                <p:cTn id="102" presetID="22" presetClass="entr" presetSubtype="8" fill="hold" grpId="0" nodeType="withEffect">
                                  <p:stCondLst>
                                    <p:cond delay="1676"/>
                                  </p:stCondLst>
                                  <p:childTnLst>
                                    <p:set>
                                      <p:cBhvr>
                                        <p:cTn id="103" dur="1" fill="hold">
                                          <p:stCondLst>
                                            <p:cond delay="0"/>
                                          </p:stCondLst>
                                        </p:cTn>
                                        <p:tgtEl>
                                          <p:spTgt spid="26"/>
                                        </p:tgtEl>
                                        <p:attrNameLst>
                                          <p:attrName>style.visibility</p:attrName>
                                        </p:attrNameLst>
                                      </p:cBhvr>
                                      <p:to>
                                        <p:strVal val="visible"/>
                                      </p:to>
                                    </p:set>
                                    <p:animEffect transition="in" filter="wipe(left)">
                                      <p:cBhvr>
                                        <p:cTn id="104" dur="700"/>
                                        <p:tgtEl>
                                          <p:spTgt spid="26"/>
                                        </p:tgtEl>
                                      </p:cBhvr>
                                    </p:animEffect>
                                  </p:childTnLst>
                                </p:cTn>
                              </p:par>
                              <p:par>
                                <p:cTn id="105" presetID="10" presetClass="entr" presetSubtype="0" fill="hold" grpId="0" nodeType="withEffect">
                                  <p:stCondLst>
                                    <p:cond delay="1722"/>
                                  </p:stCondLst>
                                  <p:childTnLst>
                                    <p:set>
                                      <p:cBhvr>
                                        <p:cTn id="106" dur="1" fill="hold">
                                          <p:stCondLst>
                                            <p:cond delay="0"/>
                                          </p:stCondLst>
                                        </p:cTn>
                                        <p:tgtEl>
                                          <p:spTgt spid="27"/>
                                        </p:tgtEl>
                                        <p:attrNameLst>
                                          <p:attrName>style.visibility</p:attrName>
                                        </p:attrNameLst>
                                      </p:cBhvr>
                                      <p:to>
                                        <p:strVal val="visible"/>
                                      </p:to>
                                    </p:set>
                                    <p:animEffect transition="in" filter="fade">
                                      <p:cBhvr>
                                        <p:cTn id="107" dur="700"/>
                                        <p:tgtEl>
                                          <p:spTgt spid="27"/>
                                        </p:tgtEl>
                                      </p:cBhvr>
                                    </p:animEffect>
                                  </p:childTnLst>
                                </p:cTn>
                              </p:par>
                              <p:par>
                                <p:cTn id="108" presetID="10" presetClass="entr" presetSubtype="0" fill="hold" grpId="0" nodeType="withEffect">
                                  <p:stCondLst>
                                    <p:cond delay="1768"/>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700"/>
                                        <p:tgtEl>
                                          <p:spTgt spid="28"/>
                                        </p:tgtEl>
                                      </p:cBhvr>
                                    </p:animEffect>
                                  </p:childTnLst>
                                </p:cTn>
                              </p:par>
                              <p:par>
                                <p:cTn id="111" presetID="10" presetClass="entr" presetSubtype="0" fill="hold" grpId="0" nodeType="withEffect">
                                  <p:stCondLst>
                                    <p:cond delay="1814"/>
                                  </p:stCondLst>
                                  <p:childTnLst>
                                    <p:set>
                                      <p:cBhvr>
                                        <p:cTn id="112" dur="1" fill="hold">
                                          <p:stCondLst>
                                            <p:cond delay="0"/>
                                          </p:stCondLst>
                                        </p:cTn>
                                        <p:tgtEl>
                                          <p:spTgt spid="48"/>
                                        </p:tgtEl>
                                        <p:attrNameLst>
                                          <p:attrName>style.visibility</p:attrName>
                                        </p:attrNameLst>
                                      </p:cBhvr>
                                      <p:to>
                                        <p:strVal val="visible"/>
                                      </p:to>
                                    </p:set>
                                    <p:animEffect transition="in" filter="fade">
                                      <p:cBhvr>
                                        <p:cTn id="113" dur="700"/>
                                        <p:tgtEl>
                                          <p:spTgt spid="48"/>
                                        </p:tgtEl>
                                      </p:cBhvr>
                                    </p:animEffect>
                                  </p:childTnLst>
                                </p:cTn>
                              </p:par>
                              <p:par>
                                <p:cTn id="114" presetID="22" presetClass="entr" presetSubtype="8" fill="hold" grpId="0" nodeType="withEffect">
                                  <p:stCondLst>
                                    <p:cond delay="1860"/>
                                  </p:stCondLst>
                                  <p:childTnLst>
                                    <p:set>
                                      <p:cBhvr>
                                        <p:cTn id="115" dur="1" fill="hold">
                                          <p:stCondLst>
                                            <p:cond delay="0"/>
                                          </p:stCondLst>
                                        </p:cTn>
                                        <p:tgtEl>
                                          <p:spTgt spid="50"/>
                                        </p:tgtEl>
                                        <p:attrNameLst>
                                          <p:attrName>style.visibility</p:attrName>
                                        </p:attrNameLst>
                                      </p:cBhvr>
                                      <p:to>
                                        <p:strVal val="visible"/>
                                      </p:to>
                                    </p:set>
                                    <p:animEffect transition="in" filter="wipe(left)">
                                      <p:cBhvr>
                                        <p:cTn id="116" dur="700"/>
                                        <p:tgtEl>
                                          <p:spTgt spid="50"/>
                                        </p:tgtEl>
                                      </p:cBhvr>
                                    </p:animEffect>
                                  </p:childTnLst>
                                </p:cTn>
                              </p:par>
                              <p:par>
                                <p:cTn id="117" presetID="10" presetClass="entr" presetSubtype="0" fill="hold" grpId="0" nodeType="withEffect">
                                  <p:stCondLst>
                                    <p:cond delay="1906"/>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9" dur="700"/>
                                        <p:tgtEl>
                                          <p:spTgt spid="49"/>
                                        </p:tgtEl>
                                      </p:cBhvr>
                                    </p:animEffect>
                                  </p:childTnLst>
                                </p:cTn>
                              </p:par>
                              <p:par>
                                <p:cTn id="120" presetID="22" presetClass="entr" presetSubtype="8" fill="hold" grpId="0" nodeType="withEffect">
                                  <p:stCondLst>
                                    <p:cond delay="1952"/>
                                  </p:stCondLst>
                                  <p:childTnLst>
                                    <p:set>
                                      <p:cBhvr>
                                        <p:cTn id="121" dur="1" fill="hold">
                                          <p:stCondLst>
                                            <p:cond delay="0"/>
                                          </p:stCondLst>
                                        </p:cTn>
                                        <p:tgtEl>
                                          <p:spTgt spid="29"/>
                                        </p:tgtEl>
                                        <p:attrNameLst>
                                          <p:attrName>style.visibility</p:attrName>
                                        </p:attrNameLst>
                                      </p:cBhvr>
                                      <p:to>
                                        <p:strVal val="visible"/>
                                      </p:to>
                                    </p:set>
                                    <p:animEffect transition="in" filter="wipe(left)">
                                      <p:cBhvr>
                                        <p:cTn id="122" dur="700"/>
                                        <p:tgtEl>
                                          <p:spTgt spid="29"/>
                                        </p:tgtEl>
                                      </p:cBhvr>
                                    </p:animEffect>
                                  </p:childTnLst>
                                </p:cTn>
                              </p:par>
                              <p:par>
                                <p:cTn id="123" presetID="10" presetClass="entr" presetSubtype="0" fill="hold" grpId="0" nodeType="withEffect">
                                  <p:stCondLst>
                                    <p:cond delay="1998"/>
                                  </p:stCondLst>
                                  <p:childTnLst>
                                    <p:set>
                                      <p:cBhvr>
                                        <p:cTn id="124" dur="1" fill="hold">
                                          <p:stCondLst>
                                            <p:cond delay="0"/>
                                          </p:stCondLst>
                                        </p:cTn>
                                        <p:tgtEl>
                                          <p:spTgt spid="30"/>
                                        </p:tgtEl>
                                        <p:attrNameLst>
                                          <p:attrName>style.visibility</p:attrName>
                                        </p:attrNameLst>
                                      </p:cBhvr>
                                      <p:to>
                                        <p:strVal val="visible"/>
                                      </p:to>
                                    </p:set>
                                    <p:animEffect transition="in" filter="fade">
                                      <p:cBhvr>
                                        <p:cTn id="125" dur="700"/>
                                        <p:tgtEl>
                                          <p:spTgt spid="30"/>
                                        </p:tgtEl>
                                      </p:cBhvr>
                                    </p:animEffect>
                                  </p:childTnLst>
                                </p:cTn>
                              </p:par>
                              <p:par>
                                <p:cTn id="126" presetID="10" presetClass="entr" presetSubtype="0" fill="hold" grpId="0" nodeType="withEffect">
                                  <p:stCondLst>
                                    <p:cond delay="2044"/>
                                  </p:stCondLst>
                                  <p:childTnLst>
                                    <p:set>
                                      <p:cBhvr>
                                        <p:cTn id="127" dur="1" fill="hold">
                                          <p:stCondLst>
                                            <p:cond delay="0"/>
                                          </p:stCondLst>
                                        </p:cTn>
                                        <p:tgtEl>
                                          <p:spTgt spid="31"/>
                                        </p:tgtEl>
                                        <p:attrNameLst>
                                          <p:attrName>style.visibility</p:attrName>
                                        </p:attrNameLst>
                                      </p:cBhvr>
                                      <p:to>
                                        <p:strVal val="visible"/>
                                      </p:to>
                                    </p:set>
                                    <p:animEffect transition="in" filter="fade">
                                      <p:cBhvr>
                                        <p:cTn id="128" dur="700"/>
                                        <p:tgtEl>
                                          <p:spTgt spid="31"/>
                                        </p:tgtEl>
                                      </p:cBhvr>
                                    </p:animEffect>
                                  </p:childTnLst>
                                </p:cTn>
                              </p:par>
                              <p:par>
                                <p:cTn id="129" presetID="22" presetClass="entr" presetSubtype="8" fill="hold" grpId="0" nodeType="withEffect">
                                  <p:stCondLst>
                                    <p:cond delay="2090"/>
                                  </p:stCondLst>
                                  <p:childTnLst>
                                    <p:set>
                                      <p:cBhvr>
                                        <p:cTn id="130" dur="1" fill="hold">
                                          <p:stCondLst>
                                            <p:cond delay="0"/>
                                          </p:stCondLst>
                                        </p:cTn>
                                        <p:tgtEl>
                                          <p:spTgt spid="32"/>
                                        </p:tgtEl>
                                        <p:attrNameLst>
                                          <p:attrName>style.visibility</p:attrName>
                                        </p:attrNameLst>
                                      </p:cBhvr>
                                      <p:to>
                                        <p:strVal val="visible"/>
                                      </p:to>
                                    </p:set>
                                    <p:animEffect transition="in" filter="wipe(left)">
                                      <p:cBhvr>
                                        <p:cTn id="131" dur="7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34" grpId="0" animBg="1"/>
      <p:bldP spid="11" grpId="0" animBg="1"/>
      <p:bldP spid="35" grpId="0" animBg="1"/>
      <p:bldP spid="12" grpId="0" animBg="1"/>
      <p:bldP spid="13" grpId="0" animBg="1"/>
      <p:bldP spid="36" grpId="0" animBg="1"/>
      <p:bldP spid="37" grpId="0" animBg="1"/>
      <p:bldP spid="14" grpId="0" animBg="1"/>
      <p:bldP spid="15" grpId="0" animBg="1"/>
      <p:bldP spid="16" grpId="0" animBg="1"/>
      <p:bldP spid="38" grpId="0" animBg="1"/>
      <p:bldP spid="39" grpId="0" animBg="1"/>
      <p:bldP spid="40" grpId="0" animBg="1"/>
      <p:bldP spid="17" grpId="0" animBg="1"/>
      <p:bldP spid="18" grpId="0" animBg="1"/>
      <p:bldP spid="19" grpId="0" animBg="1"/>
      <p:bldP spid="41" grpId="0" animBg="1"/>
      <p:bldP spid="42" grpId="0" animBg="1"/>
      <p:bldP spid="43" grpId="0" animBg="1"/>
      <p:bldP spid="20" grpId="0" animBg="1"/>
      <p:bldP spid="21" grpId="0" animBg="1"/>
      <p:bldP spid="22" grpId="0" animBg="1"/>
      <p:bldP spid="44" grpId="0" animBg="1"/>
      <p:bldP spid="23" grpId="0" animBg="1"/>
      <p:bldP spid="24" grpId="0" animBg="1"/>
      <p:bldP spid="25" grpId="0" animBg="1"/>
      <p:bldP spid="45" grpId="0" animBg="1"/>
      <p:bldP spid="47" grpId="0" animBg="1"/>
      <p:bldP spid="46" grpId="0" animBg="1"/>
      <p:bldP spid="26" grpId="0" animBg="1"/>
      <p:bldP spid="27" grpId="0" animBg="1"/>
      <p:bldP spid="28" grpId="0" animBg="1"/>
      <p:bldP spid="48" grpId="0" animBg="1"/>
      <p:bldP spid="50" grpId="0" animBg="1"/>
      <p:bldP spid="49" grpId="0" animBg="1"/>
      <p:bldP spid="29" grpId="0" animBg="1"/>
      <p:bldP spid="30" grpId="0" animBg="1"/>
      <p:bldP spid="31" grpId="0" animBg="1"/>
      <p:bldP spid="32"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EDE6DA"/>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8A7F71"/>
                </a:solidFill>
                <a:latin typeface="Plus Jakarta Sans"/>
                <a:ea typeface="Plus Jakarta Sans"/>
                <a:cs typeface="Plus Jakarta Sans"/>
              </a:rPr>
              <a:t>09 / 17</a:t>
            </a:r>
          </a:p>
        </p:txBody>
      </p:sp>
      <p:sp>
        <p:nvSpPr>
          <p:cNvPr id="7" name="TextBox 6"/>
          <p:cNvSpPr txBox="1"/>
          <p:nvPr/>
        </p:nvSpPr>
        <p:spPr>
          <a:xfrm>
            <a:off x="685800" y="914400"/>
            <a:ext cx="73152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EVERYTHING INCLUDED, WITH SIZES  ·  4 OF 4</a:t>
            </a:r>
          </a:p>
        </p:txBody>
      </p:sp>
      <p:pic>
        <p:nvPicPr>
          <p:cNvPr id="8" name="static-photo" descr="image.jpg"/>
          <p:cNvPicPr>
            <a:picLocks noChangeAspect="1"/>
          </p:cNvPicPr>
          <p:nvPr/>
        </p:nvPicPr>
        <p:blipFill>
          <a:blip r:embed="rId3"/>
          <a:stretch>
            <a:fillRect/>
          </a:stretch>
        </p:blipFill>
        <p:spPr>
          <a:xfrm>
            <a:off x="685800" y="1325880"/>
            <a:ext cx="5135727" cy="1051560"/>
          </a:xfrm>
          <a:prstGeom prst="rect">
            <a:avLst/>
          </a:prstGeom>
        </p:spPr>
      </p:pic>
      <p:sp>
        <p:nvSpPr>
          <p:cNvPr id="9" name="TextBox 8"/>
          <p:cNvSpPr txBox="1"/>
          <p:nvPr/>
        </p:nvSpPr>
        <p:spPr>
          <a:xfrm>
            <a:off x="685800" y="2560320"/>
            <a:ext cx="5135727" cy="411480"/>
          </a:xfrm>
          <a:prstGeom prst="rect">
            <a:avLst/>
          </a:prstGeom>
          <a:noFill/>
        </p:spPr>
        <p:txBody>
          <a:bodyPr wrap="square" lIns="0" rIns="0" tIns="0" bIns="0">
            <a:spAutoFit/>
          </a:bodyPr>
          <a:lstStyle/>
          <a:p>
            <a:pPr algn="l">
              <a:lnSpc>
                <a:spcPct val="92000"/>
              </a:lnSpc>
            </a:pPr>
            <a:r>
              <a:rPr sz="2400" b="0" i="0">
                <a:solidFill>
                  <a:srgbClr val="1B1815"/>
                </a:solidFill>
                <a:latin typeface="Cormorant Garamond"/>
                <a:ea typeface="Plus Jakarta Sans"/>
                <a:cs typeface="Plus Jakarta Sans"/>
              </a:rPr>
              <a:t>Styling and welcome</a:t>
            </a:r>
          </a:p>
        </p:txBody>
      </p:sp>
      <p:sp>
        <p:nvSpPr>
          <p:cNvPr id="10" name="Rectangle 9"/>
          <p:cNvSpPr/>
          <p:nvPr/>
        </p:nvSpPr>
        <p:spPr>
          <a:xfrm>
            <a:off x="685800" y="3035808"/>
            <a:ext cx="5135727" cy="10972"/>
          </a:xfrm>
          <a:prstGeom prst="rect">
            <a:avLst/>
          </a:prstGeom>
          <a:solidFill>
            <a:srgbClr val="D2C6B4"/>
          </a:solidFill>
          <a:ln>
            <a:noFill/>
          </a:ln>
        </p:spPr>
        <p:txBody>
          <a:bodyPr rtlCol="0" anchor="ctr"/>
          <a:lstStyle/>
          <a:p>
            <a:pPr algn="ctr"/>
          </a:p>
        </p:txBody>
      </p:sp>
      <p:sp>
        <p:nvSpPr>
          <p:cNvPr id="11" name="TextBox 10"/>
          <p:cNvSpPr txBox="1"/>
          <p:nvPr/>
        </p:nvSpPr>
        <p:spPr>
          <a:xfrm>
            <a:off x="685800" y="3108960"/>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Framed prints, black frames</a:t>
            </a:r>
          </a:p>
        </p:txBody>
      </p:sp>
      <p:sp>
        <p:nvSpPr>
          <p:cNvPr id="12" name="TextBox 11"/>
          <p:cNvSpPr txBox="1"/>
          <p:nvPr/>
        </p:nvSpPr>
        <p:spPr>
          <a:xfrm>
            <a:off x="4129887" y="3108960"/>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A2 · 42 × 59 cm</a:t>
            </a:r>
          </a:p>
        </p:txBody>
      </p:sp>
      <p:sp>
        <p:nvSpPr>
          <p:cNvPr id="13" name="Rectangle 12"/>
          <p:cNvSpPr/>
          <p:nvPr/>
        </p:nvSpPr>
        <p:spPr>
          <a:xfrm>
            <a:off x="685800" y="3364991"/>
            <a:ext cx="5135727" cy="10972"/>
          </a:xfrm>
          <a:prstGeom prst="rect">
            <a:avLst/>
          </a:prstGeom>
          <a:solidFill>
            <a:srgbClr val="D2C6B4"/>
          </a:solidFill>
          <a:ln>
            <a:noFill/>
          </a:ln>
        </p:spPr>
        <p:txBody>
          <a:bodyPr rtlCol="0" anchor="ctr"/>
          <a:lstStyle/>
          <a:p>
            <a:pPr algn="ctr"/>
          </a:p>
        </p:txBody>
      </p:sp>
      <p:sp>
        <p:nvSpPr>
          <p:cNvPr id="14" name="TextBox 13"/>
          <p:cNvSpPr txBox="1"/>
          <p:nvPr/>
        </p:nvSpPr>
        <p:spPr>
          <a:xfrm>
            <a:off x="685800" y="3438144"/>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Plants in pots, plus a woven basket planter</a:t>
            </a:r>
          </a:p>
        </p:txBody>
      </p:sp>
      <p:sp>
        <p:nvSpPr>
          <p:cNvPr id="15" name="TextBox 14"/>
          <p:cNvSpPr txBox="1"/>
          <p:nvPr/>
        </p:nvSpPr>
        <p:spPr>
          <a:xfrm>
            <a:off x="4129887" y="3438144"/>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60–120 cm</a:t>
            </a:r>
          </a:p>
        </p:txBody>
      </p:sp>
      <p:sp>
        <p:nvSpPr>
          <p:cNvPr id="16" name="Rectangle 15"/>
          <p:cNvSpPr/>
          <p:nvPr/>
        </p:nvSpPr>
        <p:spPr>
          <a:xfrm>
            <a:off x="685800" y="3694176"/>
            <a:ext cx="5135727" cy="10972"/>
          </a:xfrm>
          <a:prstGeom prst="rect">
            <a:avLst/>
          </a:prstGeom>
          <a:solidFill>
            <a:srgbClr val="D2C6B4"/>
          </a:solidFill>
          <a:ln>
            <a:noFill/>
          </a:ln>
        </p:spPr>
        <p:txBody>
          <a:bodyPr rtlCol="0" anchor="ctr"/>
          <a:lstStyle/>
          <a:p>
            <a:pPr algn="ctr"/>
          </a:p>
        </p:txBody>
      </p:sp>
      <p:sp>
        <p:nvSpPr>
          <p:cNvPr id="17" name="TextBox 16"/>
          <p:cNvSpPr txBox="1"/>
          <p:nvPr/>
        </p:nvSpPr>
        <p:spPr>
          <a:xfrm>
            <a:off x="685800" y="3767328"/>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Tray, vase, books, candle and coasters, styled on the day</a:t>
            </a:r>
          </a:p>
        </p:txBody>
      </p:sp>
      <p:sp>
        <p:nvSpPr>
          <p:cNvPr id="18" name="TextBox 17"/>
          <p:cNvSpPr txBox="1"/>
          <p:nvPr/>
        </p:nvSpPr>
        <p:spPr>
          <a:xfrm>
            <a:off x="4129887" y="3767328"/>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a:t>
            </a:r>
          </a:p>
        </p:txBody>
      </p:sp>
      <p:sp>
        <p:nvSpPr>
          <p:cNvPr id="19" name="Rectangle 18"/>
          <p:cNvSpPr/>
          <p:nvPr/>
        </p:nvSpPr>
        <p:spPr>
          <a:xfrm>
            <a:off x="685800" y="4151376"/>
            <a:ext cx="5135727" cy="10972"/>
          </a:xfrm>
          <a:prstGeom prst="rect">
            <a:avLst/>
          </a:prstGeom>
          <a:solidFill>
            <a:srgbClr val="D2C6B4"/>
          </a:solidFill>
          <a:ln>
            <a:noFill/>
          </a:ln>
        </p:spPr>
        <p:txBody>
          <a:bodyPr rtlCol="0" anchor="ctr"/>
          <a:lstStyle/>
          <a:p>
            <a:pPr algn="ctr"/>
          </a:p>
        </p:txBody>
      </p:sp>
      <p:sp>
        <p:nvSpPr>
          <p:cNvPr id="20" name="TextBox 19"/>
          <p:cNvSpPr txBox="1"/>
          <p:nvPr/>
        </p:nvSpPr>
        <p:spPr>
          <a:xfrm>
            <a:off x="685800" y="4224528"/>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Scent diffuser with first refill</a:t>
            </a:r>
          </a:p>
        </p:txBody>
      </p:sp>
      <p:sp>
        <p:nvSpPr>
          <p:cNvPr id="21" name="TextBox 20"/>
          <p:cNvSpPr txBox="1"/>
          <p:nvPr/>
        </p:nvSpPr>
        <p:spPr>
          <a:xfrm>
            <a:off x="4129887" y="4224528"/>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200 ml</a:t>
            </a:r>
          </a:p>
        </p:txBody>
      </p:sp>
      <p:sp>
        <p:nvSpPr>
          <p:cNvPr id="22" name="Rectangle 21"/>
          <p:cNvSpPr/>
          <p:nvPr/>
        </p:nvSpPr>
        <p:spPr>
          <a:xfrm>
            <a:off x="685800" y="4480560"/>
            <a:ext cx="5135727" cy="10972"/>
          </a:xfrm>
          <a:prstGeom prst="rect">
            <a:avLst/>
          </a:prstGeom>
          <a:solidFill>
            <a:srgbClr val="D2C6B4"/>
          </a:solidFill>
          <a:ln>
            <a:noFill/>
          </a:ln>
        </p:spPr>
        <p:txBody>
          <a:bodyPr rtlCol="0" anchor="ctr"/>
          <a:lstStyle/>
          <a:p>
            <a:pPr algn="ctr"/>
          </a:p>
        </p:txBody>
      </p:sp>
      <p:sp>
        <p:nvSpPr>
          <p:cNvPr id="23" name="TextBox 22"/>
          <p:cNvSpPr txBox="1"/>
          <p:nvPr/>
        </p:nvSpPr>
        <p:spPr>
          <a:xfrm>
            <a:off x="685800" y="4553712"/>
            <a:ext cx="3398367" cy="274320"/>
          </a:xfrm>
          <a:prstGeom prst="rect">
            <a:avLst/>
          </a:prstGeom>
          <a:noFill/>
        </p:spPr>
        <p:txBody>
          <a:bodyPr wrap="square" lIns="0" rIns="0" tIns="0" bIns="0">
            <a:spAutoFit/>
          </a:bodyPr>
          <a:lstStyle/>
          <a:p>
            <a:pPr algn="l">
              <a:lnSpc>
                <a:spcPct val="110000"/>
              </a:lnSpc>
            </a:pPr>
            <a:r>
              <a:rPr sz="1000" b="0" i="0">
                <a:solidFill>
                  <a:srgbClr val="1B1815"/>
                </a:solidFill>
                <a:latin typeface="Plus Jakarta Sans"/>
                <a:ea typeface="Plus Jakarta Sans"/>
                <a:cs typeface="Plus Jakarta Sans"/>
              </a:rPr>
              <a:t>Welcome basket and a printed house guide</a:t>
            </a:r>
          </a:p>
        </p:txBody>
      </p:sp>
      <p:sp>
        <p:nvSpPr>
          <p:cNvPr id="24" name="TextBox 23"/>
          <p:cNvSpPr txBox="1"/>
          <p:nvPr/>
        </p:nvSpPr>
        <p:spPr>
          <a:xfrm>
            <a:off x="4129887" y="4553712"/>
            <a:ext cx="1691640" cy="274320"/>
          </a:xfrm>
          <a:prstGeom prst="rect">
            <a:avLst/>
          </a:prstGeom>
          <a:noFill/>
        </p:spPr>
        <p:txBody>
          <a:bodyPr wrap="square" lIns="0" rIns="0" tIns="0" bIns="0">
            <a:spAutoFit/>
          </a:bodyPr>
          <a:lstStyle/>
          <a:p>
            <a:pPr algn="r"/>
            <a:r>
              <a:rPr sz="1000" b="1" i="0">
                <a:solidFill>
                  <a:srgbClr val="B8845A"/>
                </a:solidFill>
                <a:latin typeface="Plus Jakarta Sans"/>
                <a:ea typeface="Plus Jakarta Sans"/>
                <a:cs typeface="Plus Jakarta Sans"/>
              </a:rPr>
              <a:t>A5, bound</a:t>
            </a:r>
          </a:p>
        </p:txBody>
      </p:sp>
      <p:sp>
        <p:nvSpPr>
          <p:cNvPr id="25" name="Rectangle 24"/>
          <p:cNvSpPr/>
          <p:nvPr/>
        </p:nvSpPr>
        <p:spPr>
          <a:xfrm>
            <a:off x="685800" y="4809744"/>
            <a:ext cx="5135727" cy="10972"/>
          </a:xfrm>
          <a:prstGeom prst="rect">
            <a:avLst/>
          </a:prstGeom>
          <a:solidFill>
            <a:srgbClr val="D2C6B4"/>
          </a:solidFill>
          <a:ln>
            <a:noFill/>
          </a:ln>
        </p:spPr>
        <p:txBody>
          <a:bodyPr rtlCol="0" anchor="ctr"/>
          <a:lstStyle/>
          <a:p>
            <a:pPr algn="ctr"/>
          </a:p>
        </p:txBody>
      </p:sp>
      <p:pic>
        <p:nvPicPr>
          <p:cNvPr id="26" name="static-photo" descr="image.jpg"/>
          <p:cNvPicPr>
            <a:picLocks noChangeAspect="1"/>
          </p:cNvPicPr>
          <p:nvPr/>
        </p:nvPicPr>
        <p:blipFill>
          <a:blip r:embed="rId4"/>
          <a:stretch>
            <a:fillRect/>
          </a:stretch>
        </p:blipFill>
        <p:spPr>
          <a:xfrm>
            <a:off x="6370167" y="1325880"/>
            <a:ext cx="5135727" cy="3246120"/>
          </a:xfrm>
          <a:prstGeom prst="rect">
            <a:avLst/>
          </a:prstGeom>
        </p:spPr>
      </p:pic>
      <p:sp>
        <p:nvSpPr>
          <p:cNvPr id="27" name="Rectangle 26"/>
          <p:cNvSpPr/>
          <p:nvPr/>
        </p:nvSpPr>
        <p:spPr>
          <a:xfrm>
            <a:off x="6370167" y="4754880"/>
            <a:ext cx="5135727" cy="1417320"/>
          </a:xfrm>
          <a:prstGeom prst="rect">
            <a:avLst/>
          </a:prstGeom>
          <a:solidFill>
            <a:srgbClr val="E2D8C8"/>
          </a:solidFill>
          <a:ln>
            <a:noFill/>
          </a:ln>
        </p:spPr>
        <p:txBody>
          <a:bodyPr rtlCol="0" anchor="ctr"/>
          <a:lstStyle/>
          <a:p>
            <a:pPr algn="ctr"/>
          </a:p>
        </p:txBody>
      </p:sp>
      <p:sp>
        <p:nvSpPr>
          <p:cNvPr id="28" name="TextBox 27"/>
          <p:cNvSpPr txBox="1"/>
          <p:nvPr/>
        </p:nvSpPr>
        <p:spPr>
          <a:xfrm>
            <a:off x="6644487" y="4892040"/>
            <a:ext cx="4587087" cy="365760"/>
          </a:xfrm>
          <a:prstGeom prst="rect">
            <a:avLst/>
          </a:prstGeom>
          <a:noFill/>
        </p:spPr>
        <p:txBody>
          <a:bodyPr wrap="square" lIns="0" rIns="0" tIns="0" bIns="0">
            <a:spAutoFit/>
          </a:bodyPr>
          <a:lstStyle/>
          <a:p>
            <a:pPr algn="l">
              <a:lnSpc>
                <a:spcPct val="92000"/>
              </a:lnSpc>
            </a:pPr>
            <a:r>
              <a:rPr sz="2000" b="0" i="0">
                <a:solidFill>
                  <a:srgbClr val="1B1815"/>
                </a:solidFill>
                <a:latin typeface="Cormorant Garamond"/>
                <a:ea typeface="Plus Jakarta Sans"/>
                <a:cs typeface="Plus Jakarta Sans"/>
              </a:rPr>
              <a:t>Fridge and microwave?</a:t>
            </a:r>
          </a:p>
        </p:txBody>
      </p:sp>
      <p:sp>
        <p:nvSpPr>
          <p:cNvPr id="29" name="TextBox 28"/>
          <p:cNvSpPr txBox="1"/>
          <p:nvPr/>
        </p:nvSpPr>
        <p:spPr>
          <a:xfrm>
            <a:off x="6644487" y="5303520"/>
            <a:ext cx="4587087" cy="822960"/>
          </a:xfrm>
          <a:prstGeom prst="rect">
            <a:avLst/>
          </a:prstGeom>
          <a:noFill/>
        </p:spPr>
        <p:txBody>
          <a:bodyPr wrap="square" lIns="0" rIns="0" tIns="0" bIns="0">
            <a:spAutoFit/>
          </a:bodyPr>
          <a:lstStyle/>
          <a:p>
            <a:pPr algn="l">
              <a:lnSpc>
                <a:spcPct val="140000"/>
              </a:lnSpc>
            </a:pPr>
            <a:r>
              <a:rPr sz="1050" b="0" i="0">
                <a:solidFill>
                  <a:srgbClr val="4A423A"/>
                </a:solidFill>
                <a:latin typeface="Plus Jakarta Sans"/>
                <a:ea typeface="Plus Jakarta Sans"/>
                <a:cs typeface="Plus Jakarta Sans"/>
              </a:rPr>
              <a:t>Not included as standard — most studios don’t need them, and it keeps your price down. Add either as an add-on if you want them.</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4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900"/>
                                        <p:tgtEl>
                                          <p:spTgt spid="9"/>
                                        </p:tgtEl>
                                      </p:cBhvr>
                                    </p:animEffect>
                                    <p:anim calcmode="lin" valueType="num">
                                      <p:cBhvr>
                                        <p:cTn id="11" dur="900" decel="100000"/>
                                        <p:tgtEl>
                                          <p:spTgt spid="9"/>
                                        </p:tgtEl>
                                        <p:attrNameLst>
                                          <p:attrName>ppt_x</p:attrName>
                                        </p:attrNameLst>
                                      </p:cBhvr>
                                      <p:tavLst>
                                        <p:tav tm="0">
                                          <p:val>
                                            <p:strVal val="#ppt_x"/>
                                          </p:val>
                                        </p:tav>
                                        <p:tav tm="100000">
                                          <p:val>
                                            <p:strVal val="#ppt_x"/>
                                          </p:val>
                                        </p:tav>
                                      </p:tavLst>
                                    </p:anim>
                                    <p:anim calcmode="lin" valueType="num">
                                      <p:cBhvr>
                                        <p:cTn id="12" dur="900" decel="100000"/>
                                        <p:tgtEl>
                                          <p:spTgt spid="9"/>
                                        </p:tgtEl>
                                        <p:attrNameLst>
                                          <p:attrName>ppt_y</p:attrName>
                                        </p:attrNameLst>
                                      </p:cBhvr>
                                      <p:tavLst>
                                        <p:tav tm="0">
                                          <p:val>
                                            <p:strVal val="#ppt_y+.035"/>
                                          </p:val>
                                        </p:tav>
                                        <p:tav tm="100000">
                                          <p:val>
                                            <p:strVal val="#ppt_y"/>
                                          </p:val>
                                        </p:tav>
                                      </p:tavLst>
                                    </p:anim>
                                  </p:childTnLst>
                                </p:cTn>
                              </p:par>
                              <p:par>
                                <p:cTn id="13" presetID="22" presetClass="entr" presetSubtype="8" fill="hold" grpId="0" nodeType="withEffect">
                                  <p:stCondLst>
                                    <p:cond delay="43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700"/>
                                        <p:tgtEl>
                                          <p:spTgt spid="10"/>
                                        </p:tgtEl>
                                      </p:cBhvr>
                                    </p:animEffect>
                                  </p:childTnLst>
                                </p:cTn>
                              </p:par>
                              <p:par>
                                <p:cTn id="16" presetID="10" presetClass="entr" presetSubtype="0" fill="hold" grpId="0" nodeType="withEffect">
                                  <p:stCondLst>
                                    <p:cond delay="52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00"/>
                                        <p:tgtEl>
                                          <p:spTgt spid="11"/>
                                        </p:tgtEl>
                                      </p:cBhvr>
                                    </p:animEffect>
                                  </p:childTnLst>
                                </p:cTn>
                              </p:par>
                              <p:par>
                                <p:cTn id="19" presetID="10" presetClass="entr" presetSubtype="0" fill="hold" grpId="0" nodeType="withEffect">
                                  <p:stCondLst>
                                    <p:cond delay="61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00"/>
                                        <p:tgtEl>
                                          <p:spTgt spid="12"/>
                                        </p:tgtEl>
                                      </p:cBhvr>
                                    </p:animEffect>
                                  </p:childTnLst>
                                </p:cTn>
                              </p:par>
                              <p:par>
                                <p:cTn id="22" presetID="22" presetClass="entr" presetSubtype="8" fill="hold" grpId="0" nodeType="withEffect">
                                  <p:stCondLst>
                                    <p:cond delay="70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700"/>
                                        <p:tgtEl>
                                          <p:spTgt spid="13"/>
                                        </p:tgtEl>
                                      </p:cBhvr>
                                    </p:animEffect>
                                  </p:childTnLst>
                                </p:cTn>
                              </p:par>
                              <p:par>
                                <p:cTn id="25" presetID="10" presetClass="entr" presetSubtype="0" fill="hold" grpId="0" nodeType="withEffect">
                                  <p:stCondLst>
                                    <p:cond delay="79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700"/>
                                        <p:tgtEl>
                                          <p:spTgt spid="14"/>
                                        </p:tgtEl>
                                      </p:cBhvr>
                                    </p:animEffect>
                                  </p:childTnLst>
                                </p:cTn>
                              </p:par>
                              <p:par>
                                <p:cTn id="28" presetID="10" presetClass="entr" presetSubtype="0" fill="hold" grpId="0" nodeType="withEffect">
                                  <p:stCondLst>
                                    <p:cond delay="88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700"/>
                                        <p:tgtEl>
                                          <p:spTgt spid="15"/>
                                        </p:tgtEl>
                                      </p:cBhvr>
                                    </p:animEffect>
                                  </p:childTnLst>
                                </p:cTn>
                              </p:par>
                              <p:par>
                                <p:cTn id="31" presetID="22" presetClass="entr" presetSubtype="8" fill="hold" grpId="0" nodeType="withEffect">
                                  <p:stCondLst>
                                    <p:cond delay="97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700"/>
                                        <p:tgtEl>
                                          <p:spTgt spid="16"/>
                                        </p:tgtEl>
                                      </p:cBhvr>
                                    </p:animEffect>
                                  </p:childTnLst>
                                </p:cTn>
                              </p:par>
                              <p:par>
                                <p:cTn id="34" presetID="10" presetClass="entr" presetSubtype="0" fill="hold" grpId="0" nodeType="withEffect">
                                  <p:stCondLst>
                                    <p:cond delay="106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700"/>
                                        <p:tgtEl>
                                          <p:spTgt spid="17"/>
                                        </p:tgtEl>
                                      </p:cBhvr>
                                    </p:animEffect>
                                  </p:childTnLst>
                                </p:cTn>
                              </p:par>
                              <p:par>
                                <p:cTn id="37" presetID="10" presetClass="entr" presetSubtype="0" fill="hold" grpId="0" nodeType="withEffect">
                                  <p:stCondLst>
                                    <p:cond delay="115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700"/>
                                        <p:tgtEl>
                                          <p:spTgt spid="18"/>
                                        </p:tgtEl>
                                      </p:cBhvr>
                                    </p:animEffect>
                                  </p:childTnLst>
                                </p:cTn>
                              </p:par>
                              <p:par>
                                <p:cTn id="40" presetID="22" presetClass="entr" presetSubtype="8" fill="hold" grpId="0" nodeType="withEffect">
                                  <p:stCondLst>
                                    <p:cond delay="124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700"/>
                                        <p:tgtEl>
                                          <p:spTgt spid="19"/>
                                        </p:tgtEl>
                                      </p:cBhvr>
                                    </p:animEffect>
                                  </p:childTnLst>
                                </p:cTn>
                              </p:par>
                              <p:par>
                                <p:cTn id="43" presetID="10" presetClass="entr" presetSubtype="0" fill="hold" grpId="0" nodeType="withEffect">
                                  <p:stCondLst>
                                    <p:cond delay="133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700"/>
                                        <p:tgtEl>
                                          <p:spTgt spid="20"/>
                                        </p:tgtEl>
                                      </p:cBhvr>
                                    </p:animEffect>
                                  </p:childTnLst>
                                </p:cTn>
                              </p:par>
                              <p:par>
                                <p:cTn id="46" presetID="10" presetClass="entr" presetSubtype="0" fill="hold" grpId="0" nodeType="withEffect">
                                  <p:stCondLst>
                                    <p:cond delay="142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700"/>
                                        <p:tgtEl>
                                          <p:spTgt spid="21"/>
                                        </p:tgtEl>
                                      </p:cBhvr>
                                    </p:animEffect>
                                  </p:childTnLst>
                                </p:cTn>
                              </p:par>
                              <p:par>
                                <p:cTn id="49" presetID="22" presetClass="entr" presetSubtype="8" fill="hold" grpId="0" nodeType="withEffect">
                                  <p:stCondLst>
                                    <p:cond delay="151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700"/>
                                        <p:tgtEl>
                                          <p:spTgt spid="22"/>
                                        </p:tgtEl>
                                      </p:cBhvr>
                                    </p:animEffect>
                                  </p:childTnLst>
                                </p:cTn>
                              </p:par>
                              <p:par>
                                <p:cTn id="52" presetID="10" presetClass="entr" presetSubtype="0" fill="hold" grpId="0" nodeType="withEffect">
                                  <p:stCondLst>
                                    <p:cond delay="160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700"/>
                                        <p:tgtEl>
                                          <p:spTgt spid="23"/>
                                        </p:tgtEl>
                                      </p:cBhvr>
                                    </p:animEffect>
                                  </p:childTnLst>
                                </p:cTn>
                              </p:par>
                              <p:par>
                                <p:cTn id="55" presetID="10" presetClass="entr" presetSubtype="0" fill="hold" grpId="0" nodeType="withEffect">
                                  <p:stCondLst>
                                    <p:cond delay="169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700"/>
                                        <p:tgtEl>
                                          <p:spTgt spid="24"/>
                                        </p:tgtEl>
                                      </p:cBhvr>
                                    </p:animEffect>
                                  </p:childTnLst>
                                </p:cTn>
                              </p:par>
                              <p:par>
                                <p:cTn id="58" presetID="22" presetClass="entr" presetSubtype="8" fill="hold" grpId="0" nodeType="withEffect">
                                  <p:stCondLst>
                                    <p:cond delay="1780"/>
                                  </p:stCondLst>
                                  <p:childTnLst>
                                    <p:set>
                                      <p:cBhvr>
                                        <p:cTn id="59" dur="1" fill="hold">
                                          <p:stCondLst>
                                            <p:cond delay="0"/>
                                          </p:stCondLst>
                                        </p:cTn>
                                        <p:tgtEl>
                                          <p:spTgt spid="25"/>
                                        </p:tgtEl>
                                        <p:attrNameLst>
                                          <p:attrName>style.visibility</p:attrName>
                                        </p:attrNameLst>
                                      </p:cBhvr>
                                      <p:to>
                                        <p:strVal val="visible"/>
                                      </p:to>
                                    </p:set>
                                    <p:animEffect transition="in" filter="wipe(left)">
                                      <p:cBhvr>
                                        <p:cTn id="60" dur="700"/>
                                        <p:tgtEl>
                                          <p:spTgt spid="25"/>
                                        </p:tgtEl>
                                      </p:cBhvr>
                                    </p:animEffect>
                                  </p:childTnLst>
                                </p:cTn>
                              </p:par>
                              <p:par>
                                <p:cTn id="61" presetID="10" presetClass="entr" presetSubtype="0" fill="hold" grpId="0" nodeType="withEffect">
                                  <p:stCondLst>
                                    <p:cond delay="187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700"/>
                                        <p:tgtEl>
                                          <p:spTgt spid="27"/>
                                        </p:tgtEl>
                                      </p:cBhvr>
                                    </p:animEffect>
                                  </p:childTnLst>
                                </p:cTn>
                              </p:par>
                              <p:par>
                                <p:cTn id="64" presetID="42" presetClass="entr" presetSubtype="0" fill="hold" grpId="0" nodeType="withEffect">
                                  <p:stCondLst>
                                    <p:cond delay="196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900"/>
                                        <p:tgtEl>
                                          <p:spTgt spid="28"/>
                                        </p:tgtEl>
                                      </p:cBhvr>
                                    </p:animEffect>
                                    <p:anim calcmode="lin" valueType="num">
                                      <p:cBhvr>
                                        <p:cTn id="67" dur="900" decel="100000"/>
                                        <p:tgtEl>
                                          <p:spTgt spid="28"/>
                                        </p:tgtEl>
                                        <p:attrNameLst>
                                          <p:attrName>ppt_x</p:attrName>
                                        </p:attrNameLst>
                                      </p:cBhvr>
                                      <p:tavLst>
                                        <p:tav tm="0">
                                          <p:val>
                                            <p:strVal val="#ppt_x"/>
                                          </p:val>
                                        </p:tav>
                                        <p:tav tm="100000">
                                          <p:val>
                                            <p:strVal val="#ppt_x"/>
                                          </p:val>
                                        </p:tav>
                                      </p:tavLst>
                                    </p:anim>
                                    <p:anim calcmode="lin" valueType="num">
                                      <p:cBhvr>
                                        <p:cTn id="68" dur="900" decel="100000"/>
                                        <p:tgtEl>
                                          <p:spTgt spid="28"/>
                                        </p:tgtEl>
                                        <p:attrNameLst>
                                          <p:attrName>ppt_y</p:attrName>
                                        </p:attrNameLst>
                                      </p:cBhvr>
                                      <p:tavLst>
                                        <p:tav tm="0">
                                          <p:val>
                                            <p:strVal val="#ppt_y+.035"/>
                                          </p:val>
                                        </p:tav>
                                        <p:tav tm="100000">
                                          <p:val>
                                            <p:strVal val="#ppt_y"/>
                                          </p:val>
                                        </p:tav>
                                      </p:tavLst>
                                    </p:anim>
                                  </p:childTnLst>
                                </p:cTn>
                              </p:par>
                              <p:par>
                                <p:cTn id="69" presetID="10" presetClass="entr" presetSubtype="0" fill="hold" grpId="0" nodeType="withEffect">
                                  <p:stCondLst>
                                    <p:cond delay="205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7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29"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958A7B"/>
                </a:solidFill>
                <a:latin typeface="Plus Jakarta Sans"/>
                <a:ea typeface="Plus Jakarta Sans"/>
                <a:cs typeface="Plus Jakarta Sans"/>
              </a:rPr>
              <a:t>10 / 17</a:t>
            </a:r>
          </a:p>
        </p:txBody>
      </p:sp>
      <p:pic>
        <p:nvPicPr>
          <p:cNvPr id="7" name="static-photo" descr="image.jpg"/>
          <p:cNvPicPr>
            <a:picLocks noChangeAspect="1"/>
          </p:cNvPicPr>
          <p:nvPr/>
        </p:nvPicPr>
        <p:blipFill>
          <a:blip r:embed="rId3"/>
          <a:stretch>
            <a:fillRect/>
          </a:stretch>
        </p:blipFill>
        <p:spPr>
          <a:xfrm>
            <a:off x="0" y="0"/>
            <a:ext cx="4754880" cy="6858000"/>
          </a:xfrm>
          <a:prstGeom prst="rect">
            <a:avLst/>
          </a:prstGeom>
        </p:spPr>
      </p:pic>
      <p:sp>
        <p:nvSpPr>
          <p:cNvPr id="9" name="TextBox 8"/>
          <p:cNvSpPr txBox="1"/>
          <p:nvPr/>
        </p:nvSpPr>
        <p:spPr>
          <a:xfrm>
            <a:off x="5349240" y="100584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AND THE PART NOBODY ELSE DOES</a:t>
            </a:r>
          </a:p>
        </p:txBody>
      </p:sp>
      <p:sp>
        <p:nvSpPr>
          <p:cNvPr id="10" name="TextBox 9"/>
          <p:cNvSpPr txBox="1"/>
          <p:nvPr/>
        </p:nvSpPr>
        <p:spPr>
          <a:xfrm>
            <a:off x="5349240" y="1280160"/>
            <a:ext cx="6217920" cy="822960"/>
          </a:xfrm>
          <a:prstGeom prst="rect">
            <a:avLst/>
          </a:prstGeom>
          <a:noFill/>
        </p:spPr>
        <p:txBody>
          <a:bodyPr wrap="square" lIns="0" rIns="0" tIns="0" bIns="0">
            <a:spAutoFit/>
          </a:bodyPr>
          <a:lstStyle/>
          <a:p>
            <a:pPr algn="l">
              <a:lnSpc>
                <a:spcPct val="92000"/>
              </a:lnSpc>
            </a:pPr>
            <a:r>
              <a:rPr sz="3800" b="0" i="0">
                <a:solidFill>
                  <a:srgbClr val="EFE6D8"/>
                </a:solidFill>
                <a:latin typeface="Cormorant Garamond"/>
                <a:ea typeface="Plus Jakarta Sans"/>
                <a:cs typeface="Plus Jakarta Sans"/>
              </a:rPr>
              <a:t>Not a kit. A finished room.</a:t>
            </a:r>
          </a:p>
        </p:txBody>
      </p:sp>
      <p:sp>
        <p:nvSpPr>
          <p:cNvPr id="11" name="Rectangle 10"/>
          <p:cNvSpPr/>
          <p:nvPr/>
        </p:nvSpPr>
        <p:spPr>
          <a:xfrm>
            <a:off x="5349240" y="2286000"/>
            <a:ext cx="6156655" cy="10972"/>
          </a:xfrm>
          <a:prstGeom prst="rect">
            <a:avLst/>
          </a:prstGeom>
          <a:solidFill>
            <a:srgbClr val="39322B"/>
          </a:solidFill>
          <a:ln>
            <a:noFill/>
          </a:ln>
        </p:spPr>
        <p:txBody>
          <a:bodyPr rtlCol="0" anchor="ctr"/>
          <a:lstStyle/>
          <a:p>
            <a:pPr algn="ctr"/>
          </a:p>
        </p:txBody>
      </p:sp>
      <p:sp>
        <p:nvSpPr>
          <p:cNvPr id="12" name="TextBox 11"/>
          <p:cNvSpPr txBox="1"/>
          <p:nvPr/>
        </p:nvSpPr>
        <p:spPr>
          <a:xfrm>
            <a:off x="5349240" y="2395728"/>
            <a:ext cx="2377440" cy="365760"/>
          </a:xfrm>
          <a:prstGeom prst="rect">
            <a:avLst/>
          </a:prstGeom>
          <a:noFill/>
        </p:spPr>
        <p:txBody>
          <a:bodyPr wrap="square" lIns="0" rIns="0" tIns="0" bIns="0">
            <a:spAutoFit/>
          </a:bodyPr>
          <a:lstStyle/>
          <a:p>
            <a:pPr algn="l">
              <a:lnSpc>
                <a:spcPct val="92000"/>
              </a:lnSpc>
            </a:pPr>
            <a:r>
              <a:rPr sz="1900" b="0" i="0">
                <a:solidFill>
                  <a:srgbClr val="EFE6D8"/>
                </a:solidFill>
                <a:latin typeface="Cormorant Garamond"/>
                <a:ea typeface="Plus Jakarta Sans"/>
                <a:cs typeface="Plus Jakarta Sans"/>
              </a:rPr>
              <a:t>Design plan</a:t>
            </a:r>
          </a:p>
        </p:txBody>
      </p:sp>
      <p:sp>
        <p:nvSpPr>
          <p:cNvPr id="13" name="TextBox 12"/>
          <p:cNvSpPr txBox="1"/>
          <p:nvPr/>
        </p:nvSpPr>
        <p:spPr>
          <a:xfrm>
            <a:off x="7863840" y="2450592"/>
            <a:ext cx="3642055" cy="411480"/>
          </a:xfrm>
          <a:prstGeom prst="rect">
            <a:avLst/>
          </a:prstGeom>
          <a:noFill/>
        </p:spPr>
        <p:txBody>
          <a:bodyPr wrap="square" lIns="0" rIns="0" tIns="0" bIns="0">
            <a:spAutoFit/>
          </a:bodyPr>
          <a:lstStyle/>
          <a:p>
            <a:pPr algn="l">
              <a:lnSpc>
                <a:spcPct val="130000"/>
              </a:lnSpc>
            </a:pPr>
            <a:r>
              <a:rPr sz="1050" b="0" i="0">
                <a:solidFill>
                  <a:srgbClr val="CFC5B6"/>
                </a:solidFill>
                <a:latin typeface="Plus Jakarta Sans"/>
                <a:ea typeface="Plus Jakarta Sans"/>
                <a:cs typeface="Plus Jakarta Sans"/>
              </a:rPr>
              <a:t>A full layout before anything is ordered, so the room works as a whole</a:t>
            </a:r>
          </a:p>
        </p:txBody>
      </p:sp>
      <p:sp>
        <p:nvSpPr>
          <p:cNvPr id="14" name="Rectangle 13"/>
          <p:cNvSpPr/>
          <p:nvPr/>
        </p:nvSpPr>
        <p:spPr>
          <a:xfrm>
            <a:off x="5349240" y="2889504"/>
            <a:ext cx="6156655" cy="10972"/>
          </a:xfrm>
          <a:prstGeom prst="rect">
            <a:avLst/>
          </a:prstGeom>
          <a:solidFill>
            <a:srgbClr val="39322B"/>
          </a:solidFill>
          <a:ln>
            <a:noFill/>
          </a:ln>
        </p:spPr>
        <p:txBody>
          <a:bodyPr rtlCol="0" anchor="ctr"/>
          <a:lstStyle/>
          <a:p>
            <a:pPr algn="ctr"/>
          </a:p>
        </p:txBody>
      </p:sp>
      <p:sp>
        <p:nvSpPr>
          <p:cNvPr id="15" name="TextBox 14"/>
          <p:cNvSpPr txBox="1"/>
          <p:nvPr/>
        </p:nvSpPr>
        <p:spPr>
          <a:xfrm>
            <a:off x="5349240" y="2999232"/>
            <a:ext cx="2377440" cy="365760"/>
          </a:xfrm>
          <a:prstGeom prst="rect">
            <a:avLst/>
          </a:prstGeom>
          <a:noFill/>
        </p:spPr>
        <p:txBody>
          <a:bodyPr wrap="square" lIns="0" rIns="0" tIns="0" bIns="0">
            <a:spAutoFit/>
          </a:bodyPr>
          <a:lstStyle/>
          <a:p>
            <a:pPr algn="l">
              <a:lnSpc>
                <a:spcPct val="92000"/>
              </a:lnSpc>
            </a:pPr>
            <a:r>
              <a:rPr sz="1900" b="0" i="0">
                <a:solidFill>
                  <a:srgbClr val="EFE6D8"/>
                </a:solidFill>
                <a:latin typeface="Cormorant Garamond"/>
                <a:ea typeface="Plus Jakarta Sans"/>
                <a:cs typeface="Plus Jakarta Sans"/>
              </a:rPr>
              <a:t>Sourcing and delivery</a:t>
            </a:r>
          </a:p>
        </p:txBody>
      </p:sp>
      <p:sp>
        <p:nvSpPr>
          <p:cNvPr id="16" name="TextBox 15"/>
          <p:cNvSpPr txBox="1"/>
          <p:nvPr/>
        </p:nvSpPr>
        <p:spPr>
          <a:xfrm>
            <a:off x="7863840" y="3054096"/>
            <a:ext cx="3642055" cy="411480"/>
          </a:xfrm>
          <a:prstGeom prst="rect">
            <a:avLst/>
          </a:prstGeom>
          <a:noFill/>
        </p:spPr>
        <p:txBody>
          <a:bodyPr wrap="square" lIns="0" rIns="0" tIns="0" bIns="0">
            <a:spAutoFit/>
          </a:bodyPr>
          <a:lstStyle/>
          <a:p>
            <a:pPr algn="l">
              <a:lnSpc>
                <a:spcPct val="130000"/>
              </a:lnSpc>
            </a:pPr>
            <a:r>
              <a:rPr sz="1050" b="0" i="0">
                <a:solidFill>
                  <a:srgbClr val="CFC5B6"/>
                </a:solidFill>
                <a:latin typeface="Plus Jakarta Sans"/>
                <a:ea typeface="Plus Jakarta Sans"/>
                <a:cs typeface="Plus Jakarta Sans"/>
              </a:rPr>
              <a:t>One order, one contact — not fifteen sellers</a:t>
            </a:r>
          </a:p>
        </p:txBody>
      </p:sp>
      <p:sp>
        <p:nvSpPr>
          <p:cNvPr id="17" name="Rectangle 16"/>
          <p:cNvSpPr/>
          <p:nvPr/>
        </p:nvSpPr>
        <p:spPr>
          <a:xfrm>
            <a:off x="5349240" y="3493008"/>
            <a:ext cx="6156655" cy="10972"/>
          </a:xfrm>
          <a:prstGeom prst="rect">
            <a:avLst/>
          </a:prstGeom>
          <a:solidFill>
            <a:srgbClr val="39322B"/>
          </a:solidFill>
          <a:ln>
            <a:noFill/>
          </a:ln>
        </p:spPr>
        <p:txBody>
          <a:bodyPr rtlCol="0" anchor="ctr"/>
          <a:lstStyle/>
          <a:p>
            <a:pPr algn="ctr"/>
          </a:p>
        </p:txBody>
      </p:sp>
      <p:sp>
        <p:nvSpPr>
          <p:cNvPr id="18" name="TextBox 17"/>
          <p:cNvSpPr txBox="1"/>
          <p:nvPr/>
        </p:nvSpPr>
        <p:spPr>
          <a:xfrm>
            <a:off x="5349240" y="3602736"/>
            <a:ext cx="2377440" cy="365760"/>
          </a:xfrm>
          <a:prstGeom prst="rect">
            <a:avLst/>
          </a:prstGeom>
          <a:noFill/>
        </p:spPr>
        <p:txBody>
          <a:bodyPr wrap="square" lIns="0" rIns="0" tIns="0" bIns="0">
            <a:spAutoFit/>
          </a:bodyPr>
          <a:lstStyle/>
          <a:p>
            <a:pPr algn="l">
              <a:lnSpc>
                <a:spcPct val="92000"/>
              </a:lnSpc>
            </a:pPr>
            <a:r>
              <a:rPr sz="1900" b="0" i="0">
                <a:solidFill>
                  <a:srgbClr val="EFE6D8"/>
                </a:solidFill>
                <a:latin typeface="Cormorant Garamond"/>
                <a:ea typeface="Plus Jakarta Sans"/>
                <a:cs typeface="Plus Jakarta Sans"/>
              </a:rPr>
              <a:t>Full install day</a:t>
            </a:r>
          </a:p>
        </p:txBody>
      </p:sp>
      <p:sp>
        <p:nvSpPr>
          <p:cNvPr id="19" name="TextBox 18"/>
          <p:cNvSpPr txBox="1"/>
          <p:nvPr/>
        </p:nvSpPr>
        <p:spPr>
          <a:xfrm>
            <a:off x="7863840" y="3657600"/>
            <a:ext cx="3642055" cy="411480"/>
          </a:xfrm>
          <a:prstGeom prst="rect">
            <a:avLst/>
          </a:prstGeom>
          <a:noFill/>
        </p:spPr>
        <p:txBody>
          <a:bodyPr wrap="square" lIns="0" rIns="0" tIns="0" bIns="0">
            <a:spAutoFit/>
          </a:bodyPr>
          <a:lstStyle/>
          <a:p>
            <a:pPr algn="l">
              <a:lnSpc>
                <a:spcPct val="130000"/>
              </a:lnSpc>
            </a:pPr>
            <a:r>
              <a:rPr sz="1050" b="0" i="0">
                <a:solidFill>
                  <a:srgbClr val="CFC5B6"/>
                </a:solidFill>
                <a:latin typeface="Plus Jakarta Sans"/>
                <a:ea typeface="Plus Jakarta Sans"/>
                <a:cs typeface="Plus Jakarta Sans"/>
              </a:rPr>
              <a:t>Assembled, hung, placed and styled by our team</a:t>
            </a:r>
          </a:p>
        </p:txBody>
      </p:sp>
      <p:sp>
        <p:nvSpPr>
          <p:cNvPr id="20" name="Rectangle 19"/>
          <p:cNvSpPr/>
          <p:nvPr/>
        </p:nvSpPr>
        <p:spPr>
          <a:xfrm>
            <a:off x="5349240" y="4096512"/>
            <a:ext cx="6156655" cy="10972"/>
          </a:xfrm>
          <a:prstGeom prst="rect">
            <a:avLst/>
          </a:prstGeom>
          <a:solidFill>
            <a:srgbClr val="39322B"/>
          </a:solidFill>
          <a:ln>
            <a:noFill/>
          </a:ln>
        </p:spPr>
        <p:txBody>
          <a:bodyPr rtlCol="0" anchor="ctr"/>
          <a:lstStyle/>
          <a:p>
            <a:pPr algn="ctr"/>
          </a:p>
        </p:txBody>
      </p:sp>
      <p:sp>
        <p:nvSpPr>
          <p:cNvPr id="21" name="TextBox 20"/>
          <p:cNvSpPr txBox="1"/>
          <p:nvPr/>
        </p:nvSpPr>
        <p:spPr>
          <a:xfrm>
            <a:off x="5349240" y="4206240"/>
            <a:ext cx="2377440" cy="365760"/>
          </a:xfrm>
          <a:prstGeom prst="rect">
            <a:avLst/>
          </a:prstGeom>
          <a:noFill/>
        </p:spPr>
        <p:txBody>
          <a:bodyPr wrap="square" lIns="0" rIns="0" tIns="0" bIns="0">
            <a:spAutoFit/>
          </a:bodyPr>
          <a:lstStyle/>
          <a:p>
            <a:pPr algn="l">
              <a:lnSpc>
                <a:spcPct val="92000"/>
              </a:lnSpc>
            </a:pPr>
            <a:r>
              <a:rPr sz="1900" b="0" i="0">
                <a:solidFill>
                  <a:srgbClr val="EFE6D8"/>
                </a:solidFill>
                <a:latin typeface="Cormorant Garamond"/>
                <a:ea typeface="Plus Jakarta Sans"/>
                <a:cs typeface="Plus Jakarta Sans"/>
              </a:rPr>
              <a:t>Deep clean</a:t>
            </a:r>
          </a:p>
        </p:txBody>
      </p:sp>
      <p:sp>
        <p:nvSpPr>
          <p:cNvPr id="22" name="TextBox 21"/>
          <p:cNvSpPr txBox="1"/>
          <p:nvPr/>
        </p:nvSpPr>
        <p:spPr>
          <a:xfrm>
            <a:off x="7863840" y="4261104"/>
            <a:ext cx="3642055" cy="411480"/>
          </a:xfrm>
          <a:prstGeom prst="rect">
            <a:avLst/>
          </a:prstGeom>
          <a:noFill/>
        </p:spPr>
        <p:txBody>
          <a:bodyPr wrap="square" lIns="0" rIns="0" tIns="0" bIns="0">
            <a:spAutoFit/>
          </a:bodyPr>
          <a:lstStyle/>
          <a:p>
            <a:pPr algn="l">
              <a:lnSpc>
                <a:spcPct val="130000"/>
              </a:lnSpc>
            </a:pPr>
            <a:r>
              <a:rPr sz="1050" b="0" i="0">
                <a:solidFill>
                  <a:srgbClr val="CFC5B6"/>
                </a:solidFill>
                <a:latin typeface="Plus Jakarta Sans"/>
                <a:ea typeface="Plus Jakarta Sans"/>
                <a:cs typeface="Plus Jakarta Sans"/>
              </a:rPr>
              <a:t>Guest-ready, not builder-dusty</a:t>
            </a:r>
          </a:p>
        </p:txBody>
      </p:sp>
      <p:sp>
        <p:nvSpPr>
          <p:cNvPr id="23" name="Rectangle 22"/>
          <p:cNvSpPr/>
          <p:nvPr/>
        </p:nvSpPr>
        <p:spPr>
          <a:xfrm>
            <a:off x="5349240" y="4700016"/>
            <a:ext cx="6156655" cy="10972"/>
          </a:xfrm>
          <a:prstGeom prst="rect">
            <a:avLst/>
          </a:prstGeom>
          <a:solidFill>
            <a:srgbClr val="39322B"/>
          </a:solidFill>
          <a:ln>
            <a:noFill/>
          </a:ln>
        </p:spPr>
        <p:txBody>
          <a:bodyPr rtlCol="0" anchor="ctr"/>
          <a:lstStyle/>
          <a:p>
            <a:pPr algn="ctr"/>
          </a:p>
        </p:txBody>
      </p:sp>
      <p:sp>
        <p:nvSpPr>
          <p:cNvPr id="24" name="TextBox 23"/>
          <p:cNvSpPr txBox="1"/>
          <p:nvPr/>
        </p:nvSpPr>
        <p:spPr>
          <a:xfrm>
            <a:off x="5349240" y="4809744"/>
            <a:ext cx="2377440" cy="365760"/>
          </a:xfrm>
          <a:prstGeom prst="rect">
            <a:avLst/>
          </a:prstGeom>
          <a:noFill/>
        </p:spPr>
        <p:txBody>
          <a:bodyPr wrap="square" lIns="0" rIns="0" tIns="0" bIns="0">
            <a:spAutoFit/>
          </a:bodyPr>
          <a:lstStyle/>
          <a:p>
            <a:pPr algn="l">
              <a:lnSpc>
                <a:spcPct val="92000"/>
              </a:lnSpc>
            </a:pPr>
            <a:r>
              <a:rPr sz="1900" b="0" i="0">
                <a:solidFill>
                  <a:srgbClr val="EFE6D8"/>
                </a:solidFill>
                <a:latin typeface="Cormorant Garamond"/>
                <a:ea typeface="Plus Jakarta Sans"/>
                <a:cs typeface="Plus Jakarta Sans"/>
              </a:rPr>
              <a:t>Professional shoot</a:t>
            </a:r>
          </a:p>
        </p:txBody>
      </p:sp>
      <p:sp>
        <p:nvSpPr>
          <p:cNvPr id="25" name="TextBox 24"/>
          <p:cNvSpPr txBox="1"/>
          <p:nvPr/>
        </p:nvSpPr>
        <p:spPr>
          <a:xfrm>
            <a:off x="7863840" y="4864608"/>
            <a:ext cx="3642055" cy="411480"/>
          </a:xfrm>
          <a:prstGeom prst="rect">
            <a:avLst/>
          </a:prstGeom>
          <a:noFill/>
        </p:spPr>
        <p:txBody>
          <a:bodyPr wrap="square" lIns="0" rIns="0" tIns="0" bIns="0">
            <a:spAutoFit/>
          </a:bodyPr>
          <a:lstStyle/>
          <a:p>
            <a:pPr algn="l">
              <a:lnSpc>
                <a:spcPct val="130000"/>
              </a:lnSpc>
            </a:pPr>
            <a:r>
              <a:rPr sz="1050" b="0" i="0">
                <a:solidFill>
                  <a:srgbClr val="CFC5B6"/>
                </a:solidFill>
                <a:latin typeface="Plus Jakarta Sans"/>
                <a:ea typeface="Plus Jakarta Sans"/>
                <a:cs typeface="Plus Jakarta Sans"/>
              </a:rPr>
              <a:t>20+ edited images, ready to upload the same evening</a:t>
            </a:r>
          </a:p>
        </p:txBody>
      </p:sp>
      <p:sp>
        <p:nvSpPr>
          <p:cNvPr id="26" name="Rectangle 25"/>
          <p:cNvSpPr/>
          <p:nvPr/>
        </p:nvSpPr>
        <p:spPr>
          <a:xfrm>
            <a:off x="5349240" y="5303520"/>
            <a:ext cx="6156655" cy="10972"/>
          </a:xfrm>
          <a:prstGeom prst="rect">
            <a:avLst/>
          </a:prstGeom>
          <a:solidFill>
            <a:srgbClr val="39322B"/>
          </a:solidFill>
          <a:ln>
            <a:noFill/>
          </a:ln>
        </p:spPr>
        <p:txBody>
          <a:bodyPr rtlCol="0" anchor="ctr"/>
          <a:lstStyle/>
          <a:p>
            <a:pPr algn="ctr"/>
          </a:p>
        </p:txBody>
      </p:sp>
      <p:sp>
        <p:nvSpPr>
          <p:cNvPr id="27" name="TextBox 26"/>
          <p:cNvSpPr txBox="1"/>
          <p:nvPr/>
        </p:nvSpPr>
        <p:spPr>
          <a:xfrm>
            <a:off x="5349240" y="5486400"/>
            <a:ext cx="6217920" cy="548640"/>
          </a:xfrm>
          <a:prstGeom prst="rect">
            <a:avLst/>
          </a:prstGeom>
          <a:noFill/>
        </p:spPr>
        <p:txBody>
          <a:bodyPr wrap="square" lIns="0" rIns="0" tIns="0" bIns="0">
            <a:spAutoFit/>
          </a:bodyPr>
          <a:lstStyle/>
          <a:p>
            <a:pPr algn="l">
              <a:lnSpc>
                <a:spcPct val="105000"/>
              </a:lnSpc>
            </a:pPr>
            <a:r>
              <a:rPr sz="1700" b="0" i="1">
                <a:solidFill>
                  <a:srgbClr val="C4A06A"/>
                </a:solidFill>
                <a:latin typeface="Cormorant Garamond"/>
                <a:ea typeface="Plus Jakarta Sans"/>
                <a:cs typeface="Plus Jakarta Sans"/>
              </a:rPr>
              <a:t>Photographs are 80% of the booking decision. A kit without a shoot is half a job.</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
        <p:nvSpPr>
          <p:cNvPr id="8" name="static-tag"/>
          <p:cNvSpPr txBox="1"/>
          <p:nvPr/>
        </p:nvSpPr>
        <p:spPr>
          <a:xfrm>
            <a:off x="137160" y="6537960"/>
            <a:ext cx="4480560" cy="228600"/>
          </a:xfrm>
          <a:prstGeom prst="rect">
            <a:avLst/>
          </a:prstGeom>
          <a:noFill/>
        </p:spPr>
        <p:txBody>
          <a:bodyPr wrap="square" lIns="0" rIns="0" tIns="0" bIns="0">
            <a:spAutoFit/>
          </a:bodyPr>
          <a:lstStyle/>
          <a:p>
            <a:pPr algn="l"/>
            <a:r>
              <a:rPr sz="700" b="1" i="0" spc="250">
                <a:solidFill>
                  <a:srgbClr val="FFFFFF"/>
                </a:solidFill>
                <a:latin typeface="Plus Jakarta Sans"/>
                <a:ea typeface="Plus Jakarta Sans"/>
                <a:cs typeface="Plus Jakarta Sans"/>
              </a:rPr>
              <a:t>SAMPLE IMAGE</a:t>
            </a:r>
          </a:p>
        </p:txBody>
      </p:sp>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00"/>
                                        <p:tgtEl>
                                          <p:spTgt spid="9"/>
                                        </p:tgtEl>
                                      </p:cBhvr>
                                    </p:animEffect>
                                  </p:childTnLst>
                                </p:cTn>
                              </p:par>
                              <p:par>
                                <p:cTn id="8" presetID="42" presetClass="entr" presetSubtype="0" fill="hold" grpId="0" nodeType="withEffect">
                                  <p:stCondLst>
                                    <p:cond delay="3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900"/>
                                        <p:tgtEl>
                                          <p:spTgt spid="10"/>
                                        </p:tgtEl>
                                      </p:cBhvr>
                                    </p:animEffect>
                                    <p:anim calcmode="lin" valueType="num">
                                      <p:cBhvr>
                                        <p:cTn id="11" dur="900" decel="100000"/>
                                        <p:tgtEl>
                                          <p:spTgt spid="10"/>
                                        </p:tgtEl>
                                        <p:attrNameLst>
                                          <p:attrName>ppt_x</p:attrName>
                                        </p:attrNameLst>
                                      </p:cBhvr>
                                      <p:tavLst>
                                        <p:tav tm="0">
                                          <p:val>
                                            <p:strVal val="#ppt_x"/>
                                          </p:val>
                                        </p:tav>
                                        <p:tav tm="100000">
                                          <p:val>
                                            <p:strVal val="#ppt_x"/>
                                          </p:val>
                                        </p:tav>
                                      </p:tavLst>
                                    </p:anim>
                                    <p:anim calcmode="lin" valueType="num">
                                      <p:cBhvr>
                                        <p:cTn id="12" dur="900" decel="100000"/>
                                        <p:tgtEl>
                                          <p:spTgt spid="10"/>
                                        </p:tgtEl>
                                        <p:attrNameLst>
                                          <p:attrName>ppt_y</p:attrName>
                                        </p:attrNameLst>
                                      </p:cBhvr>
                                      <p:tavLst>
                                        <p:tav tm="0">
                                          <p:val>
                                            <p:strVal val="#ppt_y+.035"/>
                                          </p:val>
                                        </p:tav>
                                        <p:tav tm="100000">
                                          <p:val>
                                            <p:strVal val="#ppt_y"/>
                                          </p:val>
                                        </p:tav>
                                      </p:tavLst>
                                    </p:anim>
                                  </p:childTnLst>
                                </p:cTn>
                              </p:par>
                              <p:par>
                                <p:cTn id="13" presetID="22" presetClass="entr" presetSubtype="8" fill="hold" grpId="0" nodeType="withEffect">
                                  <p:stCondLst>
                                    <p:cond delay="45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700"/>
                                        <p:tgtEl>
                                          <p:spTgt spid="11"/>
                                        </p:tgtEl>
                                      </p:cBhvr>
                                    </p:animEffect>
                                  </p:childTnLst>
                                </p:cTn>
                              </p:par>
                              <p:par>
                                <p:cTn id="16" presetID="42" presetClass="entr" presetSubtype="0" fill="hold" grpId="0" nodeType="withEffect">
                                  <p:stCondLst>
                                    <p:cond delay="55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900"/>
                                        <p:tgtEl>
                                          <p:spTgt spid="12"/>
                                        </p:tgtEl>
                                      </p:cBhvr>
                                    </p:animEffect>
                                    <p:anim calcmode="lin" valueType="num">
                                      <p:cBhvr>
                                        <p:cTn id="19" dur="900" decel="100000"/>
                                        <p:tgtEl>
                                          <p:spTgt spid="12"/>
                                        </p:tgtEl>
                                        <p:attrNameLst>
                                          <p:attrName>ppt_x</p:attrName>
                                        </p:attrNameLst>
                                      </p:cBhvr>
                                      <p:tavLst>
                                        <p:tav tm="0">
                                          <p:val>
                                            <p:strVal val="#ppt_x"/>
                                          </p:val>
                                        </p:tav>
                                        <p:tav tm="100000">
                                          <p:val>
                                            <p:strVal val="#ppt_x"/>
                                          </p:val>
                                        </p:tav>
                                      </p:tavLst>
                                    </p:anim>
                                    <p:anim calcmode="lin" valueType="num">
                                      <p:cBhvr>
                                        <p:cTn id="20" dur="900" decel="100000"/>
                                        <p:tgtEl>
                                          <p:spTgt spid="12"/>
                                        </p:tgtEl>
                                        <p:attrNameLst>
                                          <p:attrName>ppt_y</p:attrName>
                                        </p:attrNameLst>
                                      </p:cBhvr>
                                      <p:tavLst>
                                        <p:tav tm="0">
                                          <p:val>
                                            <p:strVal val="#ppt_y+.035"/>
                                          </p:val>
                                        </p:tav>
                                        <p:tav tm="100000">
                                          <p:val>
                                            <p:strVal val="#ppt_y"/>
                                          </p:val>
                                        </p:tav>
                                      </p:tavLst>
                                    </p:anim>
                                  </p:childTnLst>
                                </p:cTn>
                              </p:par>
                              <p:par>
                                <p:cTn id="21" presetID="10" presetClass="entr" presetSubtype="0" fill="hold" grpId="0" nodeType="withEffect">
                                  <p:stCondLst>
                                    <p:cond delay="65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700"/>
                                        <p:tgtEl>
                                          <p:spTgt spid="13"/>
                                        </p:tgtEl>
                                      </p:cBhvr>
                                    </p:animEffect>
                                  </p:childTnLst>
                                </p:cTn>
                              </p:par>
                              <p:par>
                                <p:cTn id="24" presetID="22" presetClass="entr" presetSubtype="8" fill="hold" grpId="0" nodeType="withEffect">
                                  <p:stCondLst>
                                    <p:cond delay="75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700"/>
                                        <p:tgtEl>
                                          <p:spTgt spid="14"/>
                                        </p:tgtEl>
                                      </p:cBhvr>
                                    </p:animEffect>
                                  </p:childTnLst>
                                </p:cTn>
                              </p:par>
                              <p:par>
                                <p:cTn id="27" presetID="42" presetClass="entr" presetSubtype="0" fill="hold" grpId="0" nodeType="withEffect">
                                  <p:stCondLst>
                                    <p:cond delay="85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900"/>
                                        <p:tgtEl>
                                          <p:spTgt spid="15"/>
                                        </p:tgtEl>
                                      </p:cBhvr>
                                    </p:animEffect>
                                    <p:anim calcmode="lin" valueType="num">
                                      <p:cBhvr>
                                        <p:cTn id="30" dur="900" decel="100000"/>
                                        <p:tgtEl>
                                          <p:spTgt spid="15"/>
                                        </p:tgtEl>
                                        <p:attrNameLst>
                                          <p:attrName>ppt_x</p:attrName>
                                        </p:attrNameLst>
                                      </p:cBhvr>
                                      <p:tavLst>
                                        <p:tav tm="0">
                                          <p:val>
                                            <p:strVal val="#ppt_x"/>
                                          </p:val>
                                        </p:tav>
                                        <p:tav tm="100000">
                                          <p:val>
                                            <p:strVal val="#ppt_x"/>
                                          </p:val>
                                        </p:tav>
                                      </p:tavLst>
                                    </p:anim>
                                    <p:anim calcmode="lin" valueType="num">
                                      <p:cBhvr>
                                        <p:cTn id="31" dur="900" decel="100000"/>
                                        <p:tgtEl>
                                          <p:spTgt spid="15"/>
                                        </p:tgtEl>
                                        <p:attrNameLst>
                                          <p:attrName>ppt_y</p:attrName>
                                        </p:attrNameLst>
                                      </p:cBhvr>
                                      <p:tavLst>
                                        <p:tav tm="0">
                                          <p:val>
                                            <p:strVal val="#ppt_y+.035"/>
                                          </p:val>
                                        </p:tav>
                                        <p:tav tm="100000">
                                          <p:val>
                                            <p:strVal val="#ppt_y"/>
                                          </p:val>
                                        </p:tav>
                                      </p:tavLst>
                                    </p:anim>
                                  </p:childTnLst>
                                </p:cTn>
                              </p:par>
                              <p:par>
                                <p:cTn id="32" presetID="10" presetClass="entr" presetSubtype="0" fill="hold" grpId="0" nodeType="withEffect">
                                  <p:stCondLst>
                                    <p:cond delay="95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700"/>
                                        <p:tgtEl>
                                          <p:spTgt spid="16"/>
                                        </p:tgtEl>
                                      </p:cBhvr>
                                    </p:animEffect>
                                  </p:childTnLst>
                                </p:cTn>
                              </p:par>
                              <p:par>
                                <p:cTn id="35" presetID="22" presetClass="entr" presetSubtype="8" fill="hold" grpId="0" nodeType="withEffect">
                                  <p:stCondLst>
                                    <p:cond delay="105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700"/>
                                        <p:tgtEl>
                                          <p:spTgt spid="17"/>
                                        </p:tgtEl>
                                      </p:cBhvr>
                                    </p:animEffect>
                                  </p:childTnLst>
                                </p:cTn>
                              </p:par>
                              <p:par>
                                <p:cTn id="38" presetID="42" presetClass="entr" presetSubtype="0" fill="hold" grpId="0" nodeType="withEffect">
                                  <p:stCondLst>
                                    <p:cond delay="115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900"/>
                                        <p:tgtEl>
                                          <p:spTgt spid="18"/>
                                        </p:tgtEl>
                                      </p:cBhvr>
                                    </p:animEffect>
                                    <p:anim calcmode="lin" valueType="num">
                                      <p:cBhvr>
                                        <p:cTn id="41" dur="900" decel="100000"/>
                                        <p:tgtEl>
                                          <p:spTgt spid="18"/>
                                        </p:tgtEl>
                                        <p:attrNameLst>
                                          <p:attrName>ppt_x</p:attrName>
                                        </p:attrNameLst>
                                      </p:cBhvr>
                                      <p:tavLst>
                                        <p:tav tm="0">
                                          <p:val>
                                            <p:strVal val="#ppt_x"/>
                                          </p:val>
                                        </p:tav>
                                        <p:tav tm="100000">
                                          <p:val>
                                            <p:strVal val="#ppt_x"/>
                                          </p:val>
                                        </p:tav>
                                      </p:tavLst>
                                    </p:anim>
                                    <p:anim calcmode="lin" valueType="num">
                                      <p:cBhvr>
                                        <p:cTn id="42" dur="900" decel="100000"/>
                                        <p:tgtEl>
                                          <p:spTgt spid="18"/>
                                        </p:tgtEl>
                                        <p:attrNameLst>
                                          <p:attrName>ppt_y</p:attrName>
                                        </p:attrNameLst>
                                      </p:cBhvr>
                                      <p:tavLst>
                                        <p:tav tm="0">
                                          <p:val>
                                            <p:strVal val="#ppt_y+.035"/>
                                          </p:val>
                                        </p:tav>
                                        <p:tav tm="100000">
                                          <p:val>
                                            <p:strVal val="#ppt_y"/>
                                          </p:val>
                                        </p:tav>
                                      </p:tavLst>
                                    </p:anim>
                                  </p:childTnLst>
                                </p:cTn>
                              </p:par>
                              <p:par>
                                <p:cTn id="43" presetID="10" presetClass="entr" presetSubtype="0" fill="hold" grpId="0" nodeType="withEffect">
                                  <p:stCondLst>
                                    <p:cond delay="125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700"/>
                                        <p:tgtEl>
                                          <p:spTgt spid="19"/>
                                        </p:tgtEl>
                                      </p:cBhvr>
                                    </p:animEffect>
                                  </p:childTnLst>
                                </p:cTn>
                              </p:par>
                              <p:par>
                                <p:cTn id="46" presetID="22" presetClass="entr" presetSubtype="8" fill="hold" grpId="0" nodeType="withEffect">
                                  <p:stCondLst>
                                    <p:cond delay="1350"/>
                                  </p:stCondLst>
                                  <p:childTnLst>
                                    <p:set>
                                      <p:cBhvr>
                                        <p:cTn id="47" dur="1" fill="hold">
                                          <p:stCondLst>
                                            <p:cond delay="0"/>
                                          </p:stCondLst>
                                        </p:cTn>
                                        <p:tgtEl>
                                          <p:spTgt spid="20"/>
                                        </p:tgtEl>
                                        <p:attrNameLst>
                                          <p:attrName>style.visibility</p:attrName>
                                        </p:attrNameLst>
                                      </p:cBhvr>
                                      <p:to>
                                        <p:strVal val="visible"/>
                                      </p:to>
                                    </p:set>
                                    <p:animEffect transition="in" filter="wipe(left)">
                                      <p:cBhvr>
                                        <p:cTn id="48" dur="700"/>
                                        <p:tgtEl>
                                          <p:spTgt spid="20"/>
                                        </p:tgtEl>
                                      </p:cBhvr>
                                    </p:animEffect>
                                  </p:childTnLst>
                                </p:cTn>
                              </p:par>
                              <p:par>
                                <p:cTn id="49" presetID="42" presetClass="entr" presetSubtype="0" fill="hold" grpId="0" nodeType="withEffect">
                                  <p:stCondLst>
                                    <p:cond delay="145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900"/>
                                        <p:tgtEl>
                                          <p:spTgt spid="21"/>
                                        </p:tgtEl>
                                      </p:cBhvr>
                                    </p:animEffect>
                                    <p:anim calcmode="lin" valueType="num">
                                      <p:cBhvr>
                                        <p:cTn id="52" dur="900" decel="100000"/>
                                        <p:tgtEl>
                                          <p:spTgt spid="21"/>
                                        </p:tgtEl>
                                        <p:attrNameLst>
                                          <p:attrName>ppt_x</p:attrName>
                                        </p:attrNameLst>
                                      </p:cBhvr>
                                      <p:tavLst>
                                        <p:tav tm="0">
                                          <p:val>
                                            <p:strVal val="#ppt_x"/>
                                          </p:val>
                                        </p:tav>
                                        <p:tav tm="100000">
                                          <p:val>
                                            <p:strVal val="#ppt_x"/>
                                          </p:val>
                                        </p:tav>
                                      </p:tavLst>
                                    </p:anim>
                                    <p:anim calcmode="lin" valueType="num">
                                      <p:cBhvr>
                                        <p:cTn id="53" dur="900" decel="100000"/>
                                        <p:tgtEl>
                                          <p:spTgt spid="21"/>
                                        </p:tgtEl>
                                        <p:attrNameLst>
                                          <p:attrName>ppt_y</p:attrName>
                                        </p:attrNameLst>
                                      </p:cBhvr>
                                      <p:tavLst>
                                        <p:tav tm="0">
                                          <p:val>
                                            <p:strVal val="#ppt_y+.035"/>
                                          </p:val>
                                        </p:tav>
                                        <p:tav tm="100000">
                                          <p:val>
                                            <p:strVal val="#ppt_y"/>
                                          </p:val>
                                        </p:tav>
                                      </p:tavLst>
                                    </p:anim>
                                  </p:childTnLst>
                                </p:cTn>
                              </p:par>
                              <p:par>
                                <p:cTn id="54" presetID="10" presetClass="entr" presetSubtype="0" fill="hold" grpId="0" nodeType="withEffect">
                                  <p:stCondLst>
                                    <p:cond delay="155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700"/>
                                        <p:tgtEl>
                                          <p:spTgt spid="22"/>
                                        </p:tgtEl>
                                      </p:cBhvr>
                                    </p:animEffect>
                                  </p:childTnLst>
                                </p:cTn>
                              </p:par>
                              <p:par>
                                <p:cTn id="57" presetID="22" presetClass="entr" presetSubtype="8" fill="hold" grpId="0" nodeType="withEffect">
                                  <p:stCondLst>
                                    <p:cond delay="1650"/>
                                  </p:stCondLst>
                                  <p:childTnLst>
                                    <p:set>
                                      <p:cBhvr>
                                        <p:cTn id="58" dur="1" fill="hold">
                                          <p:stCondLst>
                                            <p:cond delay="0"/>
                                          </p:stCondLst>
                                        </p:cTn>
                                        <p:tgtEl>
                                          <p:spTgt spid="23"/>
                                        </p:tgtEl>
                                        <p:attrNameLst>
                                          <p:attrName>style.visibility</p:attrName>
                                        </p:attrNameLst>
                                      </p:cBhvr>
                                      <p:to>
                                        <p:strVal val="visible"/>
                                      </p:to>
                                    </p:set>
                                    <p:animEffect transition="in" filter="wipe(left)">
                                      <p:cBhvr>
                                        <p:cTn id="59" dur="700"/>
                                        <p:tgtEl>
                                          <p:spTgt spid="23"/>
                                        </p:tgtEl>
                                      </p:cBhvr>
                                    </p:animEffect>
                                  </p:childTnLst>
                                </p:cTn>
                              </p:par>
                              <p:par>
                                <p:cTn id="60" presetID="42" presetClass="entr" presetSubtype="0" fill="hold" grpId="0" nodeType="withEffect">
                                  <p:stCondLst>
                                    <p:cond delay="175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900"/>
                                        <p:tgtEl>
                                          <p:spTgt spid="24"/>
                                        </p:tgtEl>
                                      </p:cBhvr>
                                    </p:animEffect>
                                    <p:anim calcmode="lin" valueType="num">
                                      <p:cBhvr>
                                        <p:cTn id="63" dur="900" decel="100000"/>
                                        <p:tgtEl>
                                          <p:spTgt spid="24"/>
                                        </p:tgtEl>
                                        <p:attrNameLst>
                                          <p:attrName>ppt_x</p:attrName>
                                        </p:attrNameLst>
                                      </p:cBhvr>
                                      <p:tavLst>
                                        <p:tav tm="0">
                                          <p:val>
                                            <p:strVal val="#ppt_x"/>
                                          </p:val>
                                        </p:tav>
                                        <p:tav tm="100000">
                                          <p:val>
                                            <p:strVal val="#ppt_x"/>
                                          </p:val>
                                        </p:tav>
                                      </p:tavLst>
                                    </p:anim>
                                    <p:anim calcmode="lin" valueType="num">
                                      <p:cBhvr>
                                        <p:cTn id="64" dur="900" decel="100000"/>
                                        <p:tgtEl>
                                          <p:spTgt spid="24"/>
                                        </p:tgtEl>
                                        <p:attrNameLst>
                                          <p:attrName>ppt_y</p:attrName>
                                        </p:attrNameLst>
                                      </p:cBhvr>
                                      <p:tavLst>
                                        <p:tav tm="0">
                                          <p:val>
                                            <p:strVal val="#ppt_y+.035"/>
                                          </p:val>
                                        </p:tav>
                                        <p:tav tm="100000">
                                          <p:val>
                                            <p:strVal val="#ppt_y"/>
                                          </p:val>
                                        </p:tav>
                                      </p:tavLst>
                                    </p:anim>
                                  </p:childTnLst>
                                </p:cTn>
                              </p:par>
                              <p:par>
                                <p:cTn id="65" presetID="10" presetClass="entr" presetSubtype="0" fill="hold" grpId="0" nodeType="withEffect">
                                  <p:stCondLst>
                                    <p:cond delay="185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700"/>
                                        <p:tgtEl>
                                          <p:spTgt spid="25"/>
                                        </p:tgtEl>
                                      </p:cBhvr>
                                    </p:animEffect>
                                  </p:childTnLst>
                                </p:cTn>
                              </p:par>
                              <p:par>
                                <p:cTn id="68" presetID="22" presetClass="entr" presetSubtype="8" fill="hold" grpId="0" nodeType="withEffect">
                                  <p:stCondLst>
                                    <p:cond delay="1950"/>
                                  </p:stCondLst>
                                  <p:childTnLst>
                                    <p:set>
                                      <p:cBhvr>
                                        <p:cTn id="69" dur="1" fill="hold">
                                          <p:stCondLst>
                                            <p:cond delay="0"/>
                                          </p:stCondLst>
                                        </p:cTn>
                                        <p:tgtEl>
                                          <p:spTgt spid="26"/>
                                        </p:tgtEl>
                                        <p:attrNameLst>
                                          <p:attrName>style.visibility</p:attrName>
                                        </p:attrNameLst>
                                      </p:cBhvr>
                                      <p:to>
                                        <p:strVal val="visible"/>
                                      </p:to>
                                    </p:set>
                                    <p:animEffect transition="in" filter="wipe(left)">
                                      <p:cBhvr>
                                        <p:cTn id="70" dur="700"/>
                                        <p:tgtEl>
                                          <p:spTgt spid="26"/>
                                        </p:tgtEl>
                                      </p:cBhvr>
                                    </p:animEffect>
                                  </p:childTnLst>
                                </p:cTn>
                              </p:par>
                              <p:par>
                                <p:cTn id="71" presetID="42" presetClass="entr" presetSubtype="0" fill="hold" grpId="0" nodeType="withEffect">
                                  <p:stCondLst>
                                    <p:cond delay="205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900"/>
                                        <p:tgtEl>
                                          <p:spTgt spid="27"/>
                                        </p:tgtEl>
                                      </p:cBhvr>
                                    </p:animEffect>
                                    <p:anim calcmode="lin" valueType="num">
                                      <p:cBhvr>
                                        <p:cTn id="74" dur="900" decel="100000"/>
                                        <p:tgtEl>
                                          <p:spTgt spid="27"/>
                                        </p:tgtEl>
                                        <p:attrNameLst>
                                          <p:attrName>ppt_x</p:attrName>
                                        </p:attrNameLst>
                                      </p:cBhvr>
                                      <p:tavLst>
                                        <p:tav tm="0">
                                          <p:val>
                                            <p:strVal val="#ppt_x"/>
                                          </p:val>
                                        </p:tav>
                                        <p:tav tm="100000">
                                          <p:val>
                                            <p:strVal val="#ppt_x"/>
                                          </p:val>
                                        </p:tav>
                                      </p:tavLst>
                                    </p:anim>
                                    <p:anim calcmode="lin" valueType="num">
                                      <p:cBhvr>
                                        <p:cTn id="75" dur="900" decel="100000"/>
                                        <p:tgtEl>
                                          <p:spTgt spid="27"/>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958A7B"/>
                </a:solidFill>
                <a:latin typeface="Plus Jakarta Sans"/>
                <a:ea typeface="Plus Jakarta Sans"/>
                <a:cs typeface="Plus Jakarta Sans"/>
              </a:rPr>
              <a:t>11 / 17</a:t>
            </a:r>
          </a:p>
        </p:txBody>
      </p:sp>
      <p:sp>
        <p:nvSpPr>
          <p:cNvPr id="7" name="TextBox 6"/>
          <p:cNvSpPr txBox="1"/>
          <p:nvPr/>
        </p:nvSpPr>
        <p:spPr>
          <a:xfrm>
            <a:off x="685800" y="91440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TWO VERSIONS</a:t>
            </a:r>
          </a:p>
        </p:txBody>
      </p:sp>
      <p:sp>
        <p:nvSpPr>
          <p:cNvPr id="8" name="TextBox 7"/>
          <p:cNvSpPr txBox="1"/>
          <p:nvPr/>
        </p:nvSpPr>
        <p:spPr>
          <a:xfrm>
            <a:off x="685800" y="1170432"/>
            <a:ext cx="10058400" cy="822960"/>
          </a:xfrm>
          <a:prstGeom prst="rect">
            <a:avLst/>
          </a:prstGeom>
          <a:noFill/>
        </p:spPr>
        <p:txBody>
          <a:bodyPr wrap="square" lIns="0" rIns="0" tIns="0" bIns="0">
            <a:spAutoFit/>
          </a:bodyPr>
          <a:lstStyle/>
          <a:p>
            <a:pPr algn="l">
              <a:lnSpc>
                <a:spcPct val="92000"/>
              </a:lnSpc>
            </a:pPr>
            <a:r>
              <a:rPr sz="4000" b="0" i="0">
                <a:solidFill>
                  <a:srgbClr val="EFE6D8"/>
                </a:solidFill>
                <a:latin typeface="Cormorant Garamond"/>
                <a:ea typeface="Plus Jakarta Sans"/>
                <a:cs typeface="Plus Jakarta Sans"/>
              </a:rPr>
              <a:t>Choose your Noir.</a:t>
            </a:r>
          </a:p>
        </p:txBody>
      </p:sp>
      <p:sp>
        <p:nvSpPr>
          <p:cNvPr id="9" name="Rectangle 8"/>
          <p:cNvSpPr/>
          <p:nvPr/>
        </p:nvSpPr>
        <p:spPr>
          <a:xfrm>
            <a:off x="685800" y="2103120"/>
            <a:ext cx="5227167" cy="4023360"/>
          </a:xfrm>
          <a:prstGeom prst="rect">
            <a:avLst/>
          </a:prstGeom>
          <a:solidFill>
            <a:srgbClr val="201C19"/>
          </a:solidFill>
          <a:ln>
            <a:noFill/>
          </a:ln>
        </p:spPr>
        <p:txBody>
          <a:bodyPr rtlCol="0" anchor="ctr"/>
          <a:lstStyle/>
          <a:p>
            <a:pPr algn="ctr"/>
          </a:p>
        </p:txBody>
      </p:sp>
      <p:pic>
        <p:nvPicPr>
          <p:cNvPr id="10" name="static-photo" descr="image.jpg"/>
          <p:cNvPicPr>
            <a:picLocks noChangeAspect="1"/>
          </p:cNvPicPr>
          <p:nvPr/>
        </p:nvPicPr>
        <p:blipFill>
          <a:blip r:embed="rId3"/>
          <a:stretch>
            <a:fillRect/>
          </a:stretch>
        </p:blipFill>
        <p:spPr>
          <a:xfrm>
            <a:off x="4449927" y="2103120"/>
            <a:ext cx="1463040" cy="4023360"/>
          </a:xfrm>
          <a:prstGeom prst="rect">
            <a:avLst/>
          </a:prstGeom>
        </p:spPr>
      </p:pic>
      <p:sp>
        <p:nvSpPr>
          <p:cNvPr id="11" name="Rounded Rectangle 10"/>
          <p:cNvSpPr/>
          <p:nvPr/>
        </p:nvSpPr>
        <p:spPr>
          <a:xfrm>
            <a:off x="1005840" y="2423160"/>
            <a:ext cx="1051560" cy="310896"/>
          </a:xfrm>
          <a:prstGeom prst="roundRect">
            <a:avLst>
              <a:gd name="adj" fmla="val 50000"/>
            </a:avLst>
          </a:prstGeom>
          <a:solidFill>
            <a:srgbClr val="D93A2F"/>
          </a:solidFill>
          <a:ln>
            <a:noFill/>
          </a:ln>
        </p:spPr>
        <p:txBody>
          <a:bodyPr rtlCol="0" anchor="ctr"/>
          <a:lstStyle/>
          <a:p>
            <a:pPr algn="ctr"/>
          </a:p>
        </p:txBody>
      </p:sp>
      <p:sp>
        <p:nvSpPr>
          <p:cNvPr id="12" name="TextBox 11"/>
          <p:cNvSpPr txBox="1"/>
          <p:nvPr/>
        </p:nvSpPr>
        <p:spPr>
          <a:xfrm>
            <a:off x="1005840" y="2478024"/>
            <a:ext cx="1051560" cy="228600"/>
          </a:xfrm>
          <a:prstGeom prst="rect">
            <a:avLst/>
          </a:prstGeom>
          <a:noFill/>
        </p:spPr>
        <p:txBody>
          <a:bodyPr wrap="square" lIns="0" rIns="0" tIns="0" bIns="0">
            <a:spAutoFit/>
          </a:bodyPr>
          <a:lstStyle/>
          <a:p>
            <a:pPr algn="ctr"/>
            <a:r>
              <a:rPr sz="850" b="1" i="0" spc="150">
                <a:solidFill>
                  <a:srgbClr val="FFFFFF"/>
                </a:solidFill>
                <a:latin typeface="Plus Jakarta Sans"/>
                <a:ea typeface="Plus Jakarta Sans"/>
                <a:cs typeface="Plus Jakarta Sans"/>
              </a:rPr>
              <a:t>35% OFF</a:t>
            </a:r>
          </a:p>
        </p:txBody>
      </p:sp>
      <p:sp>
        <p:nvSpPr>
          <p:cNvPr id="13" name="TextBox 12"/>
          <p:cNvSpPr txBox="1"/>
          <p:nvPr/>
        </p:nvSpPr>
        <p:spPr>
          <a:xfrm>
            <a:off x="1005840" y="2852927"/>
            <a:ext cx="3200400" cy="548640"/>
          </a:xfrm>
          <a:prstGeom prst="rect">
            <a:avLst/>
          </a:prstGeom>
          <a:noFill/>
        </p:spPr>
        <p:txBody>
          <a:bodyPr wrap="square" lIns="0" rIns="0" tIns="0" bIns="0">
            <a:spAutoFit/>
          </a:bodyPr>
          <a:lstStyle/>
          <a:p>
            <a:pPr algn="l">
              <a:lnSpc>
                <a:spcPct val="92000"/>
              </a:lnSpc>
            </a:pPr>
            <a:r>
              <a:rPr sz="3000" b="0" i="0">
                <a:solidFill>
                  <a:srgbClr val="EFE6D8"/>
                </a:solidFill>
                <a:latin typeface="Cormorant Garamond"/>
                <a:ea typeface="Plus Jakarta Sans"/>
                <a:cs typeface="Plus Jakarta Sans"/>
              </a:rPr>
              <a:t>Core</a:t>
            </a:r>
          </a:p>
        </p:txBody>
      </p:sp>
      <p:sp>
        <p:nvSpPr>
          <p:cNvPr id="14" name="TextBox 13"/>
          <p:cNvSpPr txBox="1"/>
          <p:nvPr/>
        </p:nvSpPr>
        <p:spPr>
          <a:xfrm>
            <a:off x="1005840" y="3429000"/>
            <a:ext cx="3108960" cy="320040"/>
          </a:xfrm>
          <a:prstGeom prst="rect">
            <a:avLst/>
          </a:prstGeom>
          <a:noFill/>
        </p:spPr>
        <p:txBody>
          <a:bodyPr wrap="square" lIns="0" rIns="0" tIns="0" bIns="0">
            <a:spAutoFit/>
          </a:bodyPr>
          <a:lstStyle/>
          <a:p>
            <a:pPr algn="l"/>
            <a:r>
              <a:rPr sz="1500" b="0" i="0" strike="sngStrike">
                <a:solidFill>
                  <a:srgbClr val="958A7B"/>
                </a:solidFill>
                <a:latin typeface="Plus Jakarta Sans"/>
                <a:ea typeface="Plus Jakarta Sans"/>
                <a:cs typeface="Plus Jakarta Sans"/>
              </a:rPr>
              <a:t>₹3,21,538</a:t>
            </a:r>
          </a:p>
        </p:txBody>
      </p:sp>
      <p:sp>
        <p:nvSpPr>
          <p:cNvPr id="15" name="TextBox 14"/>
          <p:cNvSpPr txBox="1"/>
          <p:nvPr/>
        </p:nvSpPr>
        <p:spPr>
          <a:xfrm>
            <a:off x="1005840" y="3675887"/>
            <a:ext cx="3291840" cy="731520"/>
          </a:xfrm>
          <a:prstGeom prst="rect">
            <a:avLst/>
          </a:prstGeom>
          <a:noFill/>
        </p:spPr>
        <p:txBody>
          <a:bodyPr wrap="square" lIns="0" rIns="0" tIns="0" bIns="0">
            <a:spAutoFit/>
          </a:bodyPr>
          <a:lstStyle/>
          <a:p>
            <a:pPr algn="l">
              <a:lnSpc>
                <a:spcPct val="90000"/>
              </a:lnSpc>
            </a:pPr>
            <a:r>
              <a:rPr sz="4600" b="0" i="0">
                <a:solidFill>
                  <a:srgbClr val="EFE6D8"/>
                </a:solidFill>
                <a:latin typeface="Cormorant Garamond"/>
                <a:ea typeface="Plus Jakarta Sans"/>
                <a:cs typeface="Plus Jakarta Sans"/>
              </a:rPr>
              <a:t>₹2,09,000</a:t>
            </a:r>
          </a:p>
        </p:txBody>
      </p:sp>
      <p:sp>
        <p:nvSpPr>
          <p:cNvPr id="16" name="TextBox 15"/>
          <p:cNvSpPr txBox="1"/>
          <p:nvPr/>
        </p:nvSpPr>
        <p:spPr>
          <a:xfrm>
            <a:off x="1005840" y="4389120"/>
            <a:ext cx="3108960" cy="228600"/>
          </a:xfrm>
          <a:prstGeom prst="rect">
            <a:avLst/>
          </a:prstGeom>
          <a:noFill/>
        </p:spPr>
        <p:txBody>
          <a:bodyPr wrap="square" lIns="0" rIns="0" tIns="0" bIns="0">
            <a:spAutoFit/>
          </a:bodyPr>
          <a:lstStyle/>
          <a:p>
            <a:pPr algn="l"/>
            <a:r>
              <a:rPr sz="850" b="0" i="0">
                <a:solidFill>
                  <a:srgbClr val="958A7B"/>
                </a:solidFill>
                <a:latin typeface="Plus Jakarta Sans"/>
                <a:ea typeface="Plus Jakarta Sans"/>
                <a:cs typeface="Plus Jakarta Sans"/>
              </a:rPr>
              <a:t>plus GST</a:t>
            </a:r>
          </a:p>
        </p:txBody>
      </p:sp>
      <p:sp>
        <p:nvSpPr>
          <p:cNvPr id="17" name="TextBox 16"/>
          <p:cNvSpPr txBox="1"/>
          <p:nvPr/>
        </p:nvSpPr>
        <p:spPr>
          <a:xfrm>
            <a:off x="1005840" y="4754879"/>
            <a:ext cx="228600" cy="228600"/>
          </a:xfrm>
          <a:prstGeom prst="rect">
            <a:avLst/>
          </a:prstGeom>
          <a:noFill/>
        </p:spPr>
        <p:txBody>
          <a:bodyPr wrap="square" lIns="0" rIns="0" tIns="0" bIns="0">
            <a:spAutoFit/>
          </a:bodyPr>
          <a:lstStyle/>
          <a:p>
            <a:pPr algn="l"/>
            <a:r>
              <a:rPr sz="1000" b="1" i="0">
                <a:solidFill>
                  <a:srgbClr val="C4A06A"/>
                </a:solidFill>
                <a:latin typeface="Plus Jakarta Sans"/>
                <a:ea typeface="Plus Jakarta Sans"/>
                <a:cs typeface="Plus Jakarta Sans"/>
              </a:rPr>
              <a:t>✓</a:t>
            </a:r>
          </a:p>
        </p:txBody>
      </p:sp>
      <p:sp>
        <p:nvSpPr>
          <p:cNvPr id="18" name="TextBox 17"/>
          <p:cNvSpPr txBox="1"/>
          <p:nvPr/>
        </p:nvSpPr>
        <p:spPr>
          <a:xfrm>
            <a:off x="1252728" y="4754879"/>
            <a:ext cx="3017520" cy="228600"/>
          </a:xfrm>
          <a:prstGeom prst="rect">
            <a:avLst/>
          </a:prstGeom>
          <a:noFill/>
        </p:spPr>
        <p:txBody>
          <a:bodyPr wrap="square" lIns="0" rIns="0" tIns="0" bIns="0">
            <a:spAutoFit/>
          </a:bodyPr>
          <a:lstStyle/>
          <a:p>
            <a:pPr algn="l"/>
            <a:r>
              <a:rPr sz="950" b="0" i="0">
                <a:solidFill>
                  <a:srgbClr val="EFE6D8"/>
                </a:solidFill>
                <a:latin typeface="Plus Jakarta Sans"/>
                <a:ea typeface="Plus Jakarta Sans"/>
                <a:cs typeface="Plus Jakarta Sans"/>
              </a:rPr>
              <a:t>Everything listed in this brochure</a:t>
            </a:r>
          </a:p>
        </p:txBody>
      </p:sp>
      <p:sp>
        <p:nvSpPr>
          <p:cNvPr id="19" name="TextBox 18"/>
          <p:cNvSpPr txBox="1"/>
          <p:nvPr/>
        </p:nvSpPr>
        <p:spPr>
          <a:xfrm>
            <a:off x="1005840" y="5029199"/>
            <a:ext cx="228600" cy="228600"/>
          </a:xfrm>
          <a:prstGeom prst="rect">
            <a:avLst/>
          </a:prstGeom>
          <a:noFill/>
        </p:spPr>
        <p:txBody>
          <a:bodyPr wrap="square" lIns="0" rIns="0" tIns="0" bIns="0">
            <a:spAutoFit/>
          </a:bodyPr>
          <a:lstStyle/>
          <a:p>
            <a:pPr algn="l"/>
            <a:r>
              <a:rPr sz="1000" b="1" i="0">
                <a:solidFill>
                  <a:srgbClr val="958A7B"/>
                </a:solidFill>
                <a:latin typeface="Plus Jakarta Sans"/>
                <a:ea typeface="Plus Jakarta Sans"/>
                <a:cs typeface="Plus Jakarta Sans"/>
              </a:rPr>
              <a:t>—</a:t>
            </a:r>
          </a:p>
        </p:txBody>
      </p:sp>
      <p:sp>
        <p:nvSpPr>
          <p:cNvPr id="20" name="TextBox 19"/>
          <p:cNvSpPr txBox="1"/>
          <p:nvPr/>
        </p:nvSpPr>
        <p:spPr>
          <a:xfrm>
            <a:off x="1252728" y="5029199"/>
            <a:ext cx="3017520" cy="228600"/>
          </a:xfrm>
          <a:prstGeom prst="rect">
            <a:avLst/>
          </a:prstGeom>
          <a:noFill/>
        </p:spPr>
        <p:txBody>
          <a:bodyPr wrap="square" lIns="0" rIns="0" tIns="0" bIns="0">
            <a:spAutoFit/>
          </a:bodyPr>
          <a:lstStyle/>
          <a:p>
            <a:pPr algn="l"/>
            <a:r>
              <a:rPr sz="950" b="0" i="0">
                <a:solidFill>
                  <a:srgbClr val="958A7B"/>
                </a:solidFill>
                <a:latin typeface="Plus Jakarta Sans"/>
                <a:ea typeface="Plus Jakarta Sans"/>
                <a:cs typeface="Plus Jakarta Sans"/>
              </a:rPr>
              <a:t>Charcoal matte paint, two walls</a:t>
            </a:r>
          </a:p>
        </p:txBody>
      </p:sp>
      <p:sp>
        <p:nvSpPr>
          <p:cNvPr id="21" name="TextBox 20"/>
          <p:cNvSpPr txBox="1"/>
          <p:nvPr/>
        </p:nvSpPr>
        <p:spPr>
          <a:xfrm>
            <a:off x="1005840" y="5303519"/>
            <a:ext cx="228600" cy="228600"/>
          </a:xfrm>
          <a:prstGeom prst="rect">
            <a:avLst/>
          </a:prstGeom>
          <a:noFill/>
        </p:spPr>
        <p:txBody>
          <a:bodyPr wrap="square" lIns="0" rIns="0" tIns="0" bIns="0">
            <a:spAutoFit/>
          </a:bodyPr>
          <a:lstStyle/>
          <a:p>
            <a:pPr algn="l"/>
            <a:r>
              <a:rPr sz="1000" b="1" i="0">
                <a:solidFill>
                  <a:srgbClr val="958A7B"/>
                </a:solidFill>
                <a:latin typeface="Plus Jakarta Sans"/>
                <a:ea typeface="Plus Jakarta Sans"/>
                <a:cs typeface="Plus Jakarta Sans"/>
              </a:rPr>
              <a:t>—</a:t>
            </a:r>
          </a:p>
        </p:txBody>
      </p:sp>
      <p:sp>
        <p:nvSpPr>
          <p:cNvPr id="22" name="TextBox 21"/>
          <p:cNvSpPr txBox="1"/>
          <p:nvPr/>
        </p:nvSpPr>
        <p:spPr>
          <a:xfrm>
            <a:off x="1252728" y="5303519"/>
            <a:ext cx="3017520" cy="228600"/>
          </a:xfrm>
          <a:prstGeom prst="rect">
            <a:avLst/>
          </a:prstGeom>
          <a:noFill/>
        </p:spPr>
        <p:txBody>
          <a:bodyPr wrap="square" lIns="0" rIns="0" tIns="0" bIns="0">
            <a:spAutoFit/>
          </a:bodyPr>
          <a:lstStyle/>
          <a:p>
            <a:pPr algn="l"/>
            <a:r>
              <a:rPr sz="950" b="0" i="0">
                <a:solidFill>
                  <a:srgbClr val="958A7B"/>
                </a:solidFill>
                <a:latin typeface="Plus Jakarta Sans"/>
                <a:ea typeface="Plus Jakarta Sans"/>
                <a:cs typeface="Plus Jakarta Sans"/>
              </a:rPr>
              <a:t>Warm wood vinyl plank flooring</a:t>
            </a:r>
          </a:p>
        </p:txBody>
      </p:sp>
      <p:sp>
        <p:nvSpPr>
          <p:cNvPr id="23" name="TextBox 22"/>
          <p:cNvSpPr txBox="1"/>
          <p:nvPr/>
        </p:nvSpPr>
        <p:spPr>
          <a:xfrm>
            <a:off x="1005840" y="5577840"/>
            <a:ext cx="228600" cy="228600"/>
          </a:xfrm>
          <a:prstGeom prst="rect">
            <a:avLst/>
          </a:prstGeom>
          <a:noFill/>
        </p:spPr>
        <p:txBody>
          <a:bodyPr wrap="square" lIns="0" rIns="0" tIns="0" bIns="0">
            <a:spAutoFit/>
          </a:bodyPr>
          <a:lstStyle/>
          <a:p>
            <a:pPr algn="l"/>
            <a:r>
              <a:rPr sz="1000" b="1" i="0">
                <a:solidFill>
                  <a:srgbClr val="958A7B"/>
                </a:solidFill>
                <a:latin typeface="Plus Jakarta Sans"/>
                <a:ea typeface="Plus Jakarta Sans"/>
                <a:cs typeface="Plus Jakarta Sans"/>
              </a:rPr>
              <a:t>—</a:t>
            </a:r>
          </a:p>
        </p:txBody>
      </p:sp>
      <p:sp>
        <p:nvSpPr>
          <p:cNvPr id="24" name="TextBox 23"/>
          <p:cNvSpPr txBox="1"/>
          <p:nvPr/>
        </p:nvSpPr>
        <p:spPr>
          <a:xfrm>
            <a:off x="1252728" y="5577840"/>
            <a:ext cx="3017520" cy="228600"/>
          </a:xfrm>
          <a:prstGeom prst="rect">
            <a:avLst/>
          </a:prstGeom>
          <a:noFill/>
        </p:spPr>
        <p:txBody>
          <a:bodyPr wrap="square" lIns="0" rIns="0" tIns="0" bIns="0">
            <a:spAutoFit/>
          </a:bodyPr>
          <a:lstStyle/>
          <a:p>
            <a:pPr algn="l"/>
            <a:r>
              <a:rPr sz="950" b="0" i="0">
                <a:solidFill>
                  <a:srgbClr val="958A7B"/>
                </a:solidFill>
                <a:latin typeface="Plus Jakarta Sans"/>
                <a:ea typeface="Plus Jakarta Sans"/>
                <a:cs typeface="Plus Jakarta Sans"/>
              </a:rPr>
              <a:t>Wardrobe refinished in matte black</a:t>
            </a:r>
          </a:p>
        </p:txBody>
      </p:sp>
      <p:sp>
        <p:nvSpPr>
          <p:cNvPr id="25" name="TextBox 24"/>
          <p:cNvSpPr txBox="1"/>
          <p:nvPr/>
        </p:nvSpPr>
        <p:spPr>
          <a:xfrm>
            <a:off x="1005840" y="5779007"/>
            <a:ext cx="3291840" cy="274320"/>
          </a:xfrm>
          <a:prstGeom prst="rect">
            <a:avLst/>
          </a:prstGeom>
          <a:noFill/>
        </p:spPr>
        <p:txBody>
          <a:bodyPr wrap="square" lIns="0" rIns="0" tIns="0" bIns="0">
            <a:spAutoFit/>
          </a:bodyPr>
          <a:lstStyle/>
          <a:p>
            <a:pPr algn="l"/>
            <a:r>
              <a:rPr sz="900" b="0" i="1">
                <a:solidFill>
                  <a:srgbClr val="B8845A"/>
                </a:solidFill>
                <a:latin typeface="Plus Jakarta Sans"/>
                <a:ea typeface="Plus Jakarta Sans"/>
                <a:cs typeface="Plus Jakarta Sans"/>
              </a:rPr>
              <a:t>If your floor and walls are already presentable.</a:t>
            </a:r>
          </a:p>
        </p:txBody>
      </p:sp>
      <p:sp>
        <p:nvSpPr>
          <p:cNvPr id="26" name="Rectangle 25"/>
          <p:cNvSpPr/>
          <p:nvPr/>
        </p:nvSpPr>
        <p:spPr>
          <a:xfrm>
            <a:off x="6278727" y="2103120"/>
            <a:ext cx="5227167" cy="4023360"/>
          </a:xfrm>
          <a:prstGeom prst="rect">
            <a:avLst/>
          </a:prstGeom>
          <a:solidFill>
            <a:srgbClr val="201C19"/>
          </a:solidFill>
          <a:ln w="12700">
            <a:solidFill>
              <a:srgbClr val="C4A06A"/>
            </a:solidFill>
          </a:ln>
        </p:spPr>
        <p:txBody>
          <a:bodyPr rtlCol="0" anchor="ctr"/>
          <a:lstStyle/>
          <a:p>
            <a:pPr algn="ctr"/>
          </a:p>
        </p:txBody>
      </p:sp>
      <p:pic>
        <p:nvPicPr>
          <p:cNvPr id="27" name="static-photo" descr="image.jpg"/>
          <p:cNvPicPr>
            <a:picLocks noChangeAspect="1"/>
          </p:cNvPicPr>
          <p:nvPr/>
        </p:nvPicPr>
        <p:blipFill>
          <a:blip r:embed="rId4"/>
          <a:stretch>
            <a:fillRect/>
          </a:stretch>
        </p:blipFill>
        <p:spPr>
          <a:xfrm>
            <a:off x="10042855" y="2103120"/>
            <a:ext cx="1463040" cy="4023360"/>
          </a:xfrm>
          <a:prstGeom prst="rect">
            <a:avLst/>
          </a:prstGeom>
        </p:spPr>
      </p:pic>
      <p:sp>
        <p:nvSpPr>
          <p:cNvPr id="28" name="Rounded Rectangle 27"/>
          <p:cNvSpPr/>
          <p:nvPr/>
        </p:nvSpPr>
        <p:spPr>
          <a:xfrm>
            <a:off x="6598767" y="2423160"/>
            <a:ext cx="1051560" cy="310896"/>
          </a:xfrm>
          <a:prstGeom prst="roundRect">
            <a:avLst>
              <a:gd name="adj" fmla="val 50000"/>
            </a:avLst>
          </a:prstGeom>
          <a:solidFill>
            <a:srgbClr val="D93A2F"/>
          </a:solidFill>
          <a:ln>
            <a:noFill/>
          </a:ln>
        </p:spPr>
        <p:txBody>
          <a:bodyPr rtlCol="0" anchor="ctr"/>
          <a:lstStyle/>
          <a:p>
            <a:pPr algn="ctr"/>
          </a:p>
        </p:txBody>
      </p:sp>
      <p:sp>
        <p:nvSpPr>
          <p:cNvPr id="29" name="TextBox 28"/>
          <p:cNvSpPr txBox="1"/>
          <p:nvPr/>
        </p:nvSpPr>
        <p:spPr>
          <a:xfrm>
            <a:off x="6598767" y="2478024"/>
            <a:ext cx="1051560" cy="228600"/>
          </a:xfrm>
          <a:prstGeom prst="rect">
            <a:avLst/>
          </a:prstGeom>
          <a:noFill/>
        </p:spPr>
        <p:txBody>
          <a:bodyPr wrap="square" lIns="0" rIns="0" tIns="0" bIns="0">
            <a:spAutoFit/>
          </a:bodyPr>
          <a:lstStyle/>
          <a:p>
            <a:pPr algn="ctr"/>
            <a:r>
              <a:rPr sz="850" b="1" i="0" spc="150">
                <a:solidFill>
                  <a:srgbClr val="FFFFFF"/>
                </a:solidFill>
                <a:latin typeface="Plus Jakarta Sans"/>
                <a:ea typeface="Plus Jakarta Sans"/>
                <a:cs typeface="Plus Jakarta Sans"/>
              </a:rPr>
              <a:t>35% OFF</a:t>
            </a:r>
          </a:p>
        </p:txBody>
      </p:sp>
      <p:sp>
        <p:nvSpPr>
          <p:cNvPr id="30" name="TextBox 29"/>
          <p:cNvSpPr txBox="1"/>
          <p:nvPr/>
        </p:nvSpPr>
        <p:spPr>
          <a:xfrm>
            <a:off x="6598767" y="2852927"/>
            <a:ext cx="3200400" cy="548640"/>
          </a:xfrm>
          <a:prstGeom prst="rect">
            <a:avLst/>
          </a:prstGeom>
          <a:noFill/>
        </p:spPr>
        <p:txBody>
          <a:bodyPr wrap="square" lIns="0" rIns="0" tIns="0" bIns="0">
            <a:spAutoFit/>
          </a:bodyPr>
          <a:lstStyle/>
          <a:p>
            <a:pPr algn="l">
              <a:lnSpc>
                <a:spcPct val="92000"/>
              </a:lnSpc>
            </a:pPr>
            <a:r>
              <a:rPr sz="3000" b="0" i="1">
                <a:solidFill>
                  <a:srgbClr val="C4A06A"/>
                </a:solidFill>
                <a:latin typeface="Cormorant Garamond"/>
                <a:ea typeface="Plus Jakarta Sans"/>
                <a:cs typeface="Plus Jakarta Sans"/>
              </a:rPr>
              <a:t>Full Noir</a:t>
            </a:r>
          </a:p>
        </p:txBody>
      </p:sp>
      <p:sp>
        <p:nvSpPr>
          <p:cNvPr id="31" name="TextBox 30"/>
          <p:cNvSpPr txBox="1"/>
          <p:nvPr/>
        </p:nvSpPr>
        <p:spPr>
          <a:xfrm>
            <a:off x="6598767" y="3429000"/>
            <a:ext cx="3108960" cy="320040"/>
          </a:xfrm>
          <a:prstGeom prst="rect">
            <a:avLst/>
          </a:prstGeom>
          <a:noFill/>
        </p:spPr>
        <p:txBody>
          <a:bodyPr wrap="square" lIns="0" rIns="0" tIns="0" bIns="0">
            <a:spAutoFit/>
          </a:bodyPr>
          <a:lstStyle/>
          <a:p>
            <a:pPr algn="l"/>
            <a:r>
              <a:rPr sz="1500" b="0" i="0" strike="sngStrike">
                <a:solidFill>
                  <a:srgbClr val="958A7B"/>
                </a:solidFill>
                <a:latin typeface="Plus Jakarta Sans"/>
                <a:ea typeface="Plus Jakarta Sans"/>
                <a:cs typeface="Plus Jakarta Sans"/>
              </a:rPr>
              <a:t>₹4,29,231</a:t>
            </a:r>
          </a:p>
        </p:txBody>
      </p:sp>
      <p:sp>
        <p:nvSpPr>
          <p:cNvPr id="32" name="TextBox 31"/>
          <p:cNvSpPr txBox="1"/>
          <p:nvPr/>
        </p:nvSpPr>
        <p:spPr>
          <a:xfrm>
            <a:off x="6598767" y="3675887"/>
            <a:ext cx="3291840" cy="731520"/>
          </a:xfrm>
          <a:prstGeom prst="rect">
            <a:avLst/>
          </a:prstGeom>
          <a:noFill/>
        </p:spPr>
        <p:txBody>
          <a:bodyPr wrap="square" lIns="0" rIns="0" tIns="0" bIns="0">
            <a:spAutoFit/>
          </a:bodyPr>
          <a:lstStyle/>
          <a:p>
            <a:pPr algn="l">
              <a:lnSpc>
                <a:spcPct val="90000"/>
              </a:lnSpc>
            </a:pPr>
            <a:r>
              <a:rPr sz="4600" b="0" i="0">
                <a:solidFill>
                  <a:srgbClr val="EFE6D8"/>
                </a:solidFill>
                <a:latin typeface="Cormorant Garamond"/>
                <a:ea typeface="Plus Jakarta Sans"/>
                <a:cs typeface="Plus Jakarta Sans"/>
              </a:rPr>
              <a:t>₹2,79,000</a:t>
            </a:r>
          </a:p>
        </p:txBody>
      </p:sp>
      <p:sp>
        <p:nvSpPr>
          <p:cNvPr id="33" name="TextBox 32"/>
          <p:cNvSpPr txBox="1"/>
          <p:nvPr/>
        </p:nvSpPr>
        <p:spPr>
          <a:xfrm>
            <a:off x="6598767" y="4389120"/>
            <a:ext cx="3108960" cy="228600"/>
          </a:xfrm>
          <a:prstGeom prst="rect">
            <a:avLst/>
          </a:prstGeom>
          <a:noFill/>
        </p:spPr>
        <p:txBody>
          <a:bodyPr wrap="square" lIns="0" rIns="0" tIns="0" bIns="0">
            <a:spAutoFit/>
          </a:bodyPr>
          <a:lstStyle/>
          <a:p>
            <a:pPr algn="l"/>
            <a:r>
              <a:rPr sz="850" b="0" i="0">
                <a:solidFill>
                  <a:srgbClr val="958A7B"/>
                </a:solidFill>
                <a:latin typeface="Plus Jakarta Sans"/>
                <a:ea typeface="Plus Jakarta Sans"/>
                <a:cs typeface="Plus Jakarta Sans"/>
              </a:rPr>
              <a:t>plus GST</a:t>
            </a:r>
          </a:p>
        </p:txBody>
      </p:sp>
      <p:sp>
        <p:nvSpPr>
          <p:cNvPr id="34" name="TextBox 33"/>
          <p:cNvSpPr txBox="1"/>
          <p:nvPr/>
        </p:nvSpPr>
        <p:spPr>
          <a:xfrm>
            <a:off x="6598767" y="4754879"/>
            <a:ext cx="228600" cy="228600"/>
          </a:xfrm>
          <a:prstGeom prst="rect">
            <a:avLst/>
          </a:prstGeom>
          <a:noFill/>
        </p:spPr>
        <p:txBody>
          <a:bodyPr wrap="square" lIns="0" rIns="0" tIns="0" bIns="0">
            <a:spAutoFit/>
          </a:bodyPr>
          <a:lstStyle/>
          <a:p>
            <a:pPr algn="l"/>
            <a:r>
              <a:rPr sz="1000" b="1" i="0">
                <a:solidFill>
                  <a:srgbClr val="C4A06A"/>
                </a:solidFill>
                <a:latin typeface="Plus Jakarta Sans"/>
                <a:ea typeface="Plus Jakarta Sans"/>
                <a:cs typeface="Plus Jakarta Sans"/>
              </a:rPr>
              <a:t>✓</a:t>
            </a:r>
          </a:p>
        </p:txBody>
      </p:sp>
      <p:sp>
        <p:nvSpPr>
          <p:cNvPr id="35" name="TextBox 34"/>
          <p:cNvSpPr txBox="1"/>
          <p:nvPr/>
        </p:nvSpPr>
        <p:spPr>
          <a:xfrm>
            <a:off x="6845655" y="4754879"/>
            <a:ext cx="3017520" cy="228600"/>
          </a:xfrm>
          <a:prstGeom prst="rect">
            <a:avLst/>
          </a:prstGeom>
          <a:noFill/>
        </p:spPr>
        <p:txBody>
          <a:bodyPr wrap="square" lIns="0" rIns="0" tIns="0" bIns="0">
            <a:spAutoFit/>
          </a:bodyPr>
          <a:lstStyle/>
          <a:p>
            <a:pPr algn="l"/>
            <a:r>
              <a:rPr sz="950" b="0" i="0">
                <a:solidFill>
                  <a:srgbClr val="EFE6D8"/>
                </a:solidFill>
                <a:latin typeface="Plus Jakarta Sans"/>
                <a:ea typeface="Plus Jakarta Sans"/>
                <a:cs typeface="Plus Jakarta Sans"/>
              </a:rPr>
              <a:t>Everything listed in this brochure</a:t>
            </a:r>
          </a:p>
        </p:txBody>
      </p:sp>
      <p:sp>
        <p:nvSpPr>
          <p:cNvPr id="36" name="TextBox 35"/>
          <p:cNvSpPr txBox="1"/>
          <p:nvPr/>
        </p:nvSpPr>
        <p:spPr>
          <a:xfrm>
            <a:off x="6598767" y="5029199"/>
            <a:ext cx="228600" cy="228600"/>
          </a:xfrm>
          <a:prstGeom prst="rect">
            <a:avLst/>
          </a:prstGeom>
          <a:noFill/>
        </p:spPr>
        <p:txBody>
          <a:bodyPr wrap="square" lIns="0" rIns="0" tIns="0" bIns="0">
            <a:spAutoFit/>
          </a:bodyPr>
          <a:lstStyle/>
          <a:p>
            <a:pPr algn="l"/>
            <a:r>
              <a:rPr sz="1000" b="1" i="0">
                <a:solidFill>
                  <a:srgbClr val="C4A06A"/>
                </a:solidFill>
                <a:latin typeface="Plus Jakarta Sans"/>
                <a:ea typeface="Plus Jakarta Sans"/>
                <a:cs typeface="Plus Jakarta Sans"/>
              </a:rPr>
              <a:t>✓</a:t>
            </a:r>
          </a:p>
        </p:txBody>
      </p:sp>
      <p:sp>
        <p:nvSpPr>
          <p:cNvPr id="37" name="TextBox 36"/>
          <p:cNvSpPr txBox="1"/>
          <p:nvPr/>
        </p:nvSpPr>
        <p:spPr>
          <a:xfrm>
            <a:off x="6845655" y="5029199"/>
            <a:ext cx="3017520" cy="228600"/>
          </a:xfrm>
          <a:prstGeom prst="rect">
            <a:avLst/>
          </a:prstGeom>
          <a:noFill/>
        </p:spPr>
        <p:txBody>
          <a:bodyPr wrap="square" lIns="0" rIns="0" tIns="0" bIns="0">
            <a:spAutoFit/>
          </a:bodyPr>
          <a:lstStyle/>
          <a:p>
            <a:pPr algn="l"/>
            <a:r>
              <a:rPr sz="950" b="0" i="0">
                <a:solidFill>
                  <a:srgbClr val="EFE6D8"/>
                </a:solidFill>
                <a:latin typeface="Plus Jakarta Sans"/>
                <a:ea typeface="Plus Jakarta Sans"/>
                <a:cs typeface="Plus Jakarta Sans"/>
              </a:rPr>
              <a:t>Charcoal matte paint, two walls</a:t>
            </a:r>
          </a:p>
        </p:txBody>
      </p:sp>
      <p:sp>
        <p:nvSpPr>
          <p:cNvPr id="38" name="TextBox 37"/>
          <p:cNvSpPr txBox="1"/>
          <p:nvPr/>
        </p:nvSpPr>
        <p:spPr>
          <a:xfrm>
            <a:off x="6598767" y="5303519"/>
            <a:ext cx="228600" cy="228600"/>
          </a:xfrm>
          <a:prstGeom prst="rect">
            <a:avLst/>
          </a:prstGeom>
          <a:noFill/>
        </p:spPr>
        <p:txBody>
          <a:bodyPr wrap="square" lIns="0" rIns="0" tIns="0" bIns="0">
            <a:spAutoFit/>
          </a:bodyPr>
          <a:lstStyle/>
          <a:p>
            <a:pPr algn="l"/>
            <a:r>
              <a:rPr sz="1000" b="1" i="0">
                <a:solidFill>
                  <a:srgbClr val="C4A06A"/>
                </a:solidFill>
                <a:latin typeface="Plus Jakarta Sans"/>
                <a:ea typeface="Plus Jakarta Sans"/>
                <a:cs typeface="Plus Jakarta Sans"/>
              </a:rPr>
              <a:t>✓</a:t>
            </a:r>
          </a:p>
        </p:txBody>
      </p:sp>
      <p:sp>
        <p:nvSpPr>
          <p:cNvPr id="39" name="TextBox 38"/>
          <p:cNvSpPr txBox="1"/>
          <p:nvPr/>
        </p:nvSpPr>
        <p:spPr>
          <a:xfrm>
            <a:off x="6845655" y="5303519"/>
            <a:ext cx="3017520" cy="228600"/>
          </a:xfrm>
          <a:prstGeom prst="rect">
            <a:avLst/>
          </a:prstGeom>
          <a:noFill/>
        </p:spPr>
        <p:txBody>
          <a:bodyPr wrap="square" lIns="0" rIns="0" tIns="0" bIns="0">
            <a:spAutoFit/>
          </a:bodyPr>
          <a:lstStyle/>
          <a:p>
            <a:pPr algn="l"/>
            <a:r>
              <a:rPr sz="950" b="0" i="0">
                <a:solidFill>
                  <a:srgbClr val="EFE6D8"/>
                </a:solidFill>
                <a:latin typeface="Plus Jakarta Sans"/>
                <a:ea typeface="Plus Jakarta Sans"/>
                <a:cs typeface="Plus Jakarta Sans"/>
              </a:rPr>
              <a:t>Warm wood vinyl plank flooring</a:t>
            </a:r>
          </a:p>
        </p:txBody>
      </p:sp>
      <p:sp>
        <p:nvSpPr>
          <p:cNvPr id="40" name="TextBox 39"/>
          <p:cNvSpPr txBox="1"/>
          <p:nvPr/>
        </p:nvSpPr>
        <p:spPr>
          <a:xfrm>
            <a:off x="6598767" y="5577840"/>
            <a:ext cx="228600" cy="228600"/>
          </a:xfrm>
          <a:prstGeom prst="rect">
            <a:avLst/>
          </a:prstGeom>
          <a:noFill/>
        </p:spPr>
        <p:txBody>
          <a:bodyPr wrap="square" lIns="0" rIns="0" tIns="0" bIns="0">
            <a:spAutoFit/>
          </a:bodyPr>
          <a:lstStyle/>
          <a:p>
            <a:pPr algn="l"/>
            <a:r>
              <a:rPr sz="1000" b="1" i="0">
                <a:solidFill>
                  <a:srgbClr val="C4A06A"/>
                </a:solidFill>
                <a:latin typeface="Plus Jakarta Sans"/>
                <a:ea typeface="Plus Jakarta Sans"/>
                <a:cs typeface="Plus Jakarta Sans"/>
              </a:rPr>
              <a:t>✓</a:t>
            </a:r>
          </a:p>
        </p:txBody>
      </p:sp>
      <p:sp>
        <p:nvSpPr>
          <p:cNvPr id="41" name="TextBox 40"/>
          <p:cNvSpPr txBox="1"/>
          <p:nvPr/>
        </p:nvSpPr>
        <p:spPr>
          <a:xfrm>
            <a:off x="6845655" y="5577840"/>
            <a:ext cx="3017520" cy="228600"/>
          </a:xfrm>
          <a:prstGeom prst="rect">
            <a:avLst/>
          </a:prstGeom>
          <a:noFill/>
        </p:spPr>
        <p:txBody>
          <a:bodyPr wrap="square" lIns="0" rIns="0" tIns="0" bIns="0">
            <a:spAutoFit/>
          </a:bodyPr>
          <a:lstStyle/>
          <a:p>
            <a:pPr algn="l"/>
            <a:r>
              <a:rPr sz="950" b="0" i="0">
                <a:solidFill>
                  <a:srgbClr val="EFE6D8"/>
                </a:solidFill>
                <a:latin typeface="Plus Jakarta Sans"/>
                <a:ea typeface="Plus Jakarta Sans"/>
                <a:cs typeface="Plus Jakarta Sans"/>
              </a:rPr>
              <a:t>Wardrobe refinished in matte black</a:t>
            </a:r>
          </a:p>
        </p:txBody>
      </p:sp>
      <p:sp>
        <p:nvSpPr>
          <p:cNvPr id="42" name="TextBox 41"/>
          <p:cNvSpPr txBox="1"/>
          <p:nvPr/>
        </p:nvSpPr>
        <p:spPr>
          <a:xfrm>
            <a:off x="6598767" y="5779007"/>
            <a:ext cx="3291840" cy="274320"/>
          </a:xfrm>
          <a:prstGeom prst="rect">
            <a:avLst/>
          </a:prstGeom>
          <a:noFill/>
        </p:spPr>
        <p:txBody>
          <a:bodyPr wrap="square" lIns="0" rIns="0" tIns="0" bIns="0">
            <a:spAutoFit/>
          </a:bodyPr>
          <a:lstStyle/>
          <a:p>
            <a:pPr algn="l"/>
            <a:r>
              <a:rPr sz="900" b="0" i="1">
                <a:solidFill>
                  <a:srgbClr val="B8845A"/>
                </a:solidFill>
                <a:latin typeface="Plus Jakarta Sans"/>
                <a:ea typeface="Plus Jakarta Sans"/>
                <a:cs typeface="Plus Jakarta Sans"/>
              </a:rPr>
              <a:t>If the room still looks like a builder handed it over.</a:t>
            </a:r>
          </a:p>
        </p:txBody>
      </p:sp>
      <p:sp>
        <p:nvSpPr>
          <p:cNvPr id="43" name="TextBox 42"/>
          <p:cNvSpPr txBox="1"/>
          <p:nvPr/>
        </p:nvSpPr>
        <p:spPr>
          <a:xfrm>
            <a:off x="685800" y="6199632"/>
            <a:ext cx="10789920" cy="228600"/>
          </a:xfrm>
          <a:prstGeom prst="rect">
            <a:avLst/>
          </a:prstGeom>
          <a:noFill/>
        </p:spPr>
        <p:txBody>
          <a:bodyPr wrap="square" lIns="0" rIns="0" tIns="0" bIns="0">
            <a:spAutoFit/>
          </a:bodyPr>
          <a:lstStyle/>
          <a:p>
            <a:pPr algn="l"/>
            <a:r>
              <a:rPr sz="750" b="0" i="0">
                <a:solidFill>
                  <a:srgbClr val="958A7B"/>
                </a:solidFill>
                <a:latin typeface="Plus Jakarta Sans"/>
                <a:ea typeface="Plus Jakarta Sans"/>
                <a:cs typeface="Plus Jakarta Sans"/>
              </a:rPr>
              <a:t>Plus applicable GST. For studios up to 350 sq ft. Delivery and installation included in Goa, Mumbai, Bengaluru, Delhi NCR and Lucknow; outside these, at cost.</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04"/>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358"/>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childTnLst>
                                </p:cTn>
                              </p:par>
                              <p:par>
                                <p:cTn id="16" presetID="10" presetClass="entr" presetSubtype="0" fill="hold" grpId="0" nodeType="withEffect">
                                  <p:stCondLst>
                                    <p:cond delay="412"/>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700"/>
                                        <p:tgtEl>
                                          <p:spTgt spid="26"/>
                                        </p:tgtEl>
                                      </p:cBhvr>
                                    </p:animEffect>
                                  </p:childTnLst>
                                </p:cTn>
                              </p:par>
                              <p:par>
                                <p:cTn id="19" presetID="10" presetClass="entr" presetSubtype="0" fill="hold" grpId="0" nodeType="withEffect">
                                  <p:stCondLst>
                                    <p:cond delay="466"/>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00"/>
                                        <p:tgtEl>
                                          <p:spTgt spid="11"/>
                                        </p:tgtEl>
                                      </p:cBhvr>
                                    </p:animEffect>
                                  </p:childTnLst>
                                </p:cTn>
                              </p:par>
                              <p:par>
                                <p:cTn id="22" presetID="10" presetClass="entr" presetSubtype="0" fill="hold" grpId="0" nodeType="withEffect">
                                  <p:stCondLst>
                                    <p:cond delay="52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700"/>
                                        <p:tgtEl>
                                          <p:spTgt spid="12"/>
                                        </p:tgtEl>
                                      </p:cBhvr>
                                    </p:animEffect>
                                  </p:childTnLst>
                                </p:cTn>
                              </p:par>
                              <p:par>
                                <p:cTn id="25" presetID="10" presetClass="entr" presetSubtype="0" fill="hold" grpId="0" nodeType="withEffect">
                                  <p:stCondLst>
                                    <p:cond delay="574"/>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700"/>
                                        <p:tgtEl>
                                          <p:spTgt spid="28"/>
                                        </p:tgtEl>
                                      </p:cBhvr>
                                    </p:animEffect>
                                  </p:childTnLst>
                                </p:cTn>
                              </p:par>
                              <p:par>
                                <p:cTn id="28" presetID="10" presetClass="entr" presetSubtype="0" fill="hold" grpId="0" nodeType="withEffect">
                                  <p:stCondLst>
                                    <p:cond delay="628"/>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700"/>
                                        <p:tgtEl>
                                          <p:spTgt spid="29"/>
                                        </p:tgtEl>
                                      </p:cBhvr>
                                    </p:animEffect>
                                  </p:childTnLst>
                                </p:cTn>
                              </p:par>
                              <p:par>
                                <p:cTn id="31" presetID="42" presetClass="entr" presetSubtype="0" fill="hold" grpId="0" nodeType="withEffect">
                                  <p:stCondLst>
                                    <p:cond delay="682"/>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900"/>
                                        <p:tgtEl>
                                          <p:spTgt spid="13"/>
                                        </p:tgtEl>
                                      </p:cBhvr>
                                    </p:animEffect>
                                    <p:anim calcmode="lin" valueType="num">
                                      <p:cBhvr>
                                        <p:cTn id="34" dur="900" decel="100000"/>
                                        <p:tgtEl>
                                          <p:spTgt spid="13"/>
                                        </p:tgtEl>
                                        <p:attrNameLst>
                                          <p:attrName>ppt_x</p:attrName>
                                        </p:attrNameLst>
                                      </p:cBhvr>
                                      <p:tavLst>
                                        <p:tav tm="0">
                                          <p:val>
                                            <p:strVal val="#ppt_x"/>
                                          </p:val>
                                        </p:tav>
                                        <p:tav tm="100000">
                                          <p:val>
                                            <p:strVal val="#ppt_x"/>
                                          </p:val>
                                        </p:tav>
                                      </p:tavLst>
                                    </p:anim>
                                    <p:anim calcmode="lin" valueType="num">
                                      <p:cBhvr>
                                        <p:cTn id="35" dur="900" decel="100000"/>
                                        <p:tgtEl>
                                          <p:spTgt spid="13"/>
                                        </p:tgtEl>
                                        <p:attrNameLst>
                                          <p:attrName>ppt_y</p:attrName>
                                        </p:attrNameLst>
                                      </p:cBhvr>
                                      <p:tavLst>
                                        <p:tav tm="0">
                                          <p:val>
                                            <p:strVal val="#ppt_y+.035"/>
                                          </p:val>
                                        </p:tav>
                                        <p:tav tm="100000">
                                          <p:val>
                                            <p:strVal val="#ppt_y"/>
                                          </p:val>
                                        </p:tav>
                                      </p:tavLst>
                                    </p:anim>
                                  </p:childTnLst>
                                </p:cTn>
                              </p:par>
                              <p:par>
                                <p:cTn id="36" presetID="42" presetClass="entr" presetSubtype="0" fill="hold" grpId="0" nodeType="withEffect">
                                  <p:stCondLst>
                                    <p:cond delay="736"/>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900"/>
                                        <p:tgtEl>
                                          <p:spTgt spid="30"/>
                                        </p:tgtEl>
                                      </p:cBhvr>
                                    </p:animEffect>
                                    <p:anim calcmode="lin" valueType="num">
                                      <p:cBhvr>
                                        <p:cTn id="39" dur="900" decel="100000"/>
                                        <p:tgtEl>
                                          <p:spTgt spid="30"/>
                                        </p:tgtEl>
                                        <p:attrNameLst>
                                          <p:attrName>ppt_x</p:attrName>
                                        </p:attrNameLst>
                                      </p:cBhvr>
                                      <p:tavLst>
                                        <p:tav tm="0">
                                          <p:val>
                                            <p:strVal val="#ppt_x"/>
                                          </p:val>
                                        </p:tav>
                                        <p:tav tm="100000">
                                          <p:val>
                                            <p:strVal val="#ppt_x"/>
                                          </p:val>
                                        </p:tav>
                                      </p:tavLst>
                                    </p:anim>
                                    <p:anim calcmode="lin" valueType="num">
                                      <p:cBhvr>
                                        <p:cTn id="40" dur="900" decel="100000"/>
                                        <p:tgtEl>
                                          <p:spTgt spid="30"/>
                                        </p:tgtEl>
                                        <p:attrNameLst>
                                          <p:attrName>ppt_y</p:attrName>
                                        </p:attrNameLst>
                                      </p:cBhvr>
                                      <p:tavLst>
                                        <p:tav tm="0">
                                          <p:val>
                                            <p:strVal val="#ppt_y+.035"/>
                                          </p:val>
                                        </p:tav>
                                        <p:tav tm="100000">
                                          <p:val>
                                            <p:strVal val="#ppt_y"/>
                                          </p:val>
                                        </p:tav>
                                      </p:tavLst>
                                    </p:anim>
                                  </p:childTnLst>
                                </p:cTn>
                              </p:par>
                              <p:par>
                                <p:cTn id="41" presetID="10" presetClass="entr" presetSubtype="0" fill="hold" grpId="0" nodeType="withEffect">
                                  <p:stCondLst>
                                    <p:cond delay="79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700"/>
                                        <p:tgtEl>
                                          <p:spTgt spid="14"/>
                                        </p:tgtEl>
                                      </p:cBhvr>
                                    </p:animEffect>
                                  </p:childTnLst>
                                </p:cTn>
                              </p:par>
                              <p:par>
                                <p:cTn id="44" presetID="42" presetClass="entr" presetSubtype="0" fill="hold" grpId="0" nodeType="withEffect">
                                  <p:stCondLst>
                                    <p:cond delay="844"/>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900"/>
                                        <p:tgtEl>
                                          <p:spTgt spid="15"/>
                                        </p:tgtEl>
                                      </p:cBhvr>
                                    </p:animEffect>
                                    <p:anim calcmode="lin" valueType="num">
                                      <p:cBhvr>
                                        <p:cTn id="47" dur="900" decel="100000"/>
                                        <p:tgtEl>
                                          <p:spTgt spid="15"/>
                                        </p:tgtEl>
                                        <p:attrNameLst>
                                          <p:attrName>ppt_x</p:attrName>
                                        </p:attrNameLst>
                                      </p:cBhvr>
                                      <p:tavLst>
                                        <p:tav tm="0">
                                          <p:val>
                                            <p:strVal val="#ppt_x"/>
                                          </p:val>
                                        </p:tav>
                                        <p:tav tm="100000">
                                          <p:val>
                                            <p:strVal val="#ppt_x"/>
                                          </p:val>
                                        </p:tav>
                                      </p:tavLst>
                                    </p:anim>
                                    <p:anim calcmode="lin" valueType="num">
                                      <p:cBhvr>
                                        <p:cTn id="48" dur="900" decel="100000"/>
                                        <p:tgtEl>
                                          <p:spTgt spid="15"/>
                                        </p:tgtEl>
                                        <p:attrNameLst>
                                          <p:attrName>ppt_y</p:attrName>
                                        </p:attrNameLst>
                                      </p:cBhvr>
                                      <p:tavLst>
                                        <p:tav tm="0">
                                          <p:val>
                                            <p:strVal val="#ppt_y+.035"/>
                                          </p:val>
                                        </p:tav>
                                        <p:tav tm="100000">
                                          <p:val>
                                            <p:strVal val="#ppt_y"/>
                                          </p:val>
                                        </p:tav>
                                      </p:tavLst>
                                    </p:anim>
                                  </p:childTnLst>
                                </p:cTn>
                              </p:par>
                              <p:par>
                                <p:cTn id="49" presetID="10" presetClass="entr" presetSubtype="0" fill="hold" grpId="0" nodeType="withEffect">
                                  <p:stCondLst>
                                    <p:cond delay="898"/>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700"/>
                                        <p:tgtEl>
                                          <p:spTgt spid="31"/>
                                        </p:tgtEl>
                                      </p:cBhvr>
                                    </p:animEffect>
                                  </p:childTnLst>
                                </p:cTn>
                              </p:par>
                              <p:par>
                                <p:cTn id="52" presetID="42" presetClass="entr" presetSubtype="0" fill="hold" grpId="0" nodeType="withEffect">
                                  <p:stCondLst>
                                    <p:cond delay="952"/>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900"/>
                                        <p:tgtEl>
                                          <p:spTgt spid="32"/>
                                        </p:tgtEl>
                                      </p:cBhvr>
                                    </p:animEffect>
                                    <p:anim calcmode="lin" valueType="num">
                                      <p:cBhvr>
                                        <p:cTn id="55" dur="900" decel="100000"/>
                                        <p:tgtEl>
                                          <p:spTgt spid="32"/>
                                        </p:tgtEl>
                                        <p:attrNameLst>
                                          <p:attrName>ppt_x</p:attrName>
                                        </p:attrNameLst>
                                      </p:cBhvr>
                                      <p:tavLst>
                                        <p:tav tm="0">
                                          <p:val>
                                            <p:strVal val="#ppt_x"/>
                                          </p:val>
                                        </p:tav>
                                        <p:tav tm="100000">
                                          <p:val>
                                            <p:strVal val="#ppt_x"/>
                                          </p:val>
                                        </p:tav>
                                      </p:tavLst>
                                    </p:anim>
                                    <p:anim calcmode="lin" valueType="num">
                                      <p:cBhvr>
                                        <p:cTn id="56" dur="900" decel="100000"/>
                                        <p:tgtEl>
                                          <p:spTgt spid="32"/>
                                        </p:tgtEl>
                                        <p:attrNameLst>
                                          <p:attrName>ppt_y</p:attrName>
                                        </p:attrNameLst>
                                      </p:cBhvr>
                                      <p:tavLst>
                                        <p:tav tm="0">
                                          <p:val>
                                            <p:strVal val="#ppt_y+.035"/>
                                          </p:val>
                                        </p:tav>
                                        <p:tav tm="100000">
                                          <p:val>
                                            <p:strVal val="#ppt_y"/>
                                          </p:val>
                                        </p:tav>
                                      </p:tavLst>
                                    </p:anim>
                                  </p:childTnLst>
                                </p:cTn>
                              </p:par>
                              <p:par>
                                <p:cTn id="57" presetID="10" presetClass="entr" presetSubtype="0" fill="hold" grpId="0" nodeType="withEffect">
                                  <p:stCondLst>
                                    <p:cond delay="1006"/>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700"/>
                                        <p:tgtEl>
                                          <p:spTgt spid="16"/>
                                        </p:tgtEl>
                                      </p:cBhvr>
                                    </p:animEffect>
                                  </p:childTnLst>
                                </p:cTn>
                              </p:par>
                              <p:par>
                                <p:cTn id="60" presetID="10" presetClass="entr" presetSubtype="0" fill="hold" grpId="0" nodeType="withEffect">
                                  <p:stCondLst>
                                    <p:cond delay="106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700"/>
                                        <p:tgtEl>
                                          <p:spTgt spid="33"/>
                                        </p:tgtEl>
                                      </p:cBhvr>
                                    </p:animEffect>
                                  </p:childTnLst>
                                </p:cTn>
                              </p:par>
                              <p:par>
                                <p:cTn id="63" presetID="10" presetClass="entr" presetSubtype="0" fill="hold" grpId="0" nodeType="withEffect">
                                  <p:stCondLst>
                                    <p:cond delay="1114"/>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700"/>
                                        <p:tgtEl>
                                          <p:spTgt spid="17"/>
                                        </p:tgtEl>
                                      </p:cBhvr>
                                    </p:animEffect>
                                  </p:childTnLst>
                                </p:cTn>
                              </p:par>
                              <p:par>
                                <p:cTn id="66" presetID="10" presetClass="entr" presetSubtype="0" fill="hold" grpId="0" nodeType="withEffect">
                                  <p:stCondLst>
                                    <p:cond delay="1168"/>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700"/>
                                        <p:tgtEl>
                                          <p:spTgt spid="18"/>
                                        </p:tgtEl>
                                      </p:cBhvr>
                                    </p:animEffect>
                                  </p:childTnLst>
                                </p:cTn>
                              </p:par>
                              <p:par>
                                <p:cTn id="69" presetID="10" presetClass="entr" presetSubtype="0" fill="hold" grpId="0" nodeType="withEffect">
                                  <p:stCondLst>
                                    <p:cond delay="1222"/>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700"/>
                                        <p:tgtEl>
                                          <p:spTgt spid="34"/>
                                        </p:tgtEl>
                                      </p:cBhvr>
                                    </p:animEffect>
                                  </p:childTnLst>
                                </p:cTn>
                              </p:par>
                              <p:par>
                                <p:cTn id="72" presetID="10" presetClass="entr" presetSubtype="0" fill="hold" grpId="0" nodeType="withEffect">
                                  <p:stCondLst>
                                    <p:cond delay="1276"/>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700"/>
                                        <p:tgtEl>
                                          <p:spTgt spid="35"/>
                                        </p:tgtEl>
                                      </p:cBhvr>
                                    </p:animEffect>
                                  </p:childTnLst>
                                </p:cTn>
                              </p:par>
                              <p:par>
                                <p:cTn id="75" presetID="10" presetClass="entr" presetSubtype="0" fill="hold" grpId="0" nodeType="withEffect">
                                  <p:stCondLst>
                                    <p:cond delay="133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700"/>
                                        <p:tgtEl>
                                          <p:spTgt spid="19"/>
                                        </p:tgtEl>
                                      </p:cBhvr>
                                    </p:animEffect>
                                  </p:childTnLst>
                                </p:cTn>
                              </p:par>
                              <p:par>
                                <p:cTn id="78" presetID="10" presetClass="entr" presetSubtype="0" fill="hold" grpId="0" nodeType="withEffect">
                                  <p:stCondLst>
                                    <p:cond delay="1384"/>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700"/>
                                        <p:tgtEl>
                                          <p:spTgt spid="20"/>
                                        </p:tgtEl>
                                      </p:cBhvr>
                                    </p:animEffect>
                                  </p:childTnLst>
                                </p:cTn>
                              </p:par>
                              <p:par>
                                <p:cTn id="81" presetID="10" presetClass="entr" presetSubtype="0" fill="hold" grpId="0" nodeType="withEffect">
                                  <p:stCondLst>
                                    <p:cond delay="1438"/>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700"/>
                                        <p:tgtEl>
                                          <p:spTgt spid="36"/>
                                        </p:tgtEl>
                                      </p:cBhvr>
                                    </p:animEffect>
                                  </p:childTnLst>
                                </p:cTn>
                              </p:par>
                              <p:par>
                                <p:cTn id="84" presetID="10" presetClass="entr" presetSubtype="0" fill="hold" grpId="0" nodeType="withEffect">
                                  <p:stCondLst>
                                    <p:cond delay="1492"/>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700"/>
                                        <p:tgtEl>
                                          <p:spTgt spid="37"/>
                                        </p:tgtEl>
                                      </p:cBhvr>
                                    </p:animEffect>
                                  </p:childTnLst>
                                </p:cTn>
                              </p:par>
                              <p:par>
                                <p:cTn id="87" presetID="10" presetClass="entr" presetSubtype="0" fill="hold" grpId="0" nodeType="withEffect">
                                  <p:stCondLst>
                                    <p:cond delay="1546"/>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700"/>
                                        <p:tgtEl>
                                          <p:spTgt spid="21"/>
                                        </p:tgtEl>
                                      </p:cBhvr>
                                    </p:animEffect>
                                  </p:childTnLst>
                                </p:cTn>
                              </p:par>
                              <p:par>
                                <p:cTn id="90" presetID="10" presetClass="entr" presetSubtype="0" fill="hold" grpId="0" nodeType="withEffect">
                                  <p:stCondLst>
                                    <p:cond delay="160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700"/>
                                        <p:tgtEl>
                                          <p:spTgt spid="23"/>
                                        </p:tgtEl>
                                      </p:cBhvr>
                                    </p:animEffect>
                                  </p:childTnLst>
                                </p:cTn>
                              </p:par>
                              <p:par>
                                <p:cTn id="93" presetID="10" presetClass="entr" presetSubtype="0" fill="hold" grpId="0" nodeType="withEffect">
                                  <p:stCondLst>
                                    <p:cond delay="1654"/>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700"/>
                                        <p:tgtEl>
                                          <p:spTgt spid="22"/>
                                        </p:tgtEl>
                                      </p:cBhvr>
                                    </p:animEffect>
                                  </p:childTnLst>
                                </p:cTn>
                              </p:par>
                              <p:par>
                                <p:cTn id="96" presetID="10" presetClass="entr" presetSubtype="0" fill="hold" grpId="0" nodeType="withEffect">
                                  <p:stCondLst>
                                    <p:cond delay="1708"/>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700"/>
                                        <p:tgtEl>
                                          <p:spTgt spid="24"/>
                                        </p:tgtEl>
                                      </p:cBhvr>
                                    </p:animEffect>
                                  </p:childTnLst>
                                </p:cTn>
                              </p:par>
                              <p:par>
                                <p:cTn id="99" presetID="10" presetClass="entr" presetSubtype="0" fill="hold" grpId="0" nodeType="withEffect">
                                  <p:stCondLst>
                                    <p:cond delay="1762"/>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700"/>
                                        <p:tgtEl>
                                          <p:spTgt spid="38"/>
                                        </p:tgtEl>
                                      </p:cBhvr>
                                    </p:animEffect>
                                  </p:childTnLst>
                                </p:cTn>
                              </p:par>
                              <p:par>
                                <p:cTn id="102" presetID="10" presetClass="entr" presetSubtype="0" fill="hold" grpId="0" nodeType="withEffect">
                                  <p:stCondLst>
                                    <p:cond delay="1816"/>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700"/>
                                        <p:tgtEl>
                                          <p:spTgt spid="40"/>
                                        </p:tgtEl>
                                      </p:cBhvr>
                                    </p:animEffect>
                                  </p:childTnLst>
                                </p:cTn>
                              </p:par>
                              <p:par>
                                <p:cTn id="105" presetID="10" presetClass="entr" presetSubtype="0" fill="hold" grpId="0" nodeType="withEffect">
                                  <p:stCondLst>
                                    <p:cond delay="187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700"/>
                                        <p:tgtEl>
                                          <p:spTgt spid="39"/>
                                        </p:tgtEl>
                                      </p:cBhvr>
                                    </p:animEffect>
                                  </p:childTnLst>
                                </p:cTn>
                              </p:par>
                              <p:par>
                                <p:cTn id="108" presetID="10" presetClass="entr" presetSubtype="0" fill="hold" grpId="0" nodeType="withEffect">
                                  <p:stCondLst>
                                    <p:cond delay="1924"/>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0" dur="700"/>
                                        <p:tgtEl>
                                          <p:spTgt spid="41"/>
                                        </p:tgtEl>
                                      </p:cBhvr>
                                    </p:animEffect>
                                  </p:childTnLst>
                                </p:cTn>
                              </p:par>
                              <p:par>
                                <p:cTn id="111" presetID="10" presetClass="entr" presetSubtype="0" fill="hold" grpId="0" nodeType="withEffect">
                                  <p:stCondLst>
                                    <p:cond delay="1978"/>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700"/>
                                        <p:tgtEl>
                                          <p:spTgt spid="25"/>
                                        </p:tgtEl>
                                      </p:cBhvr>
                                    </p:animEffect>
                                  </p:childTnLst>
                                </p:cTn>
                              </p:par>
                              <p:par>
                                <p:cTn id="114" presetID="10" presetClass="entr" presetSubtype="0" fill="hold" grpId="0" nodeType="withEffect">
                                  <p:stCondLst>
                                    <p:cond delay="2032"/>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700"/>
                                        <p:tgtEl>
                                          <p:spTgt spid="42"/>
                                        </p:tgtEl>
                                      </p:cBhvr>
                                    </p:animEffect>
                                  </p:childTnLst>
                                </p:cTn>
                              </p:par>
                              <p:par>
                                <p:cTn id="117" presetID="10" presetClass="entr" presetSubtype="0" fill="hold" grpId="0" nodeType="withEffect">
                                  <p:stCondLst>
                                    <p:cond delay="2086"/>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7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26" grpId="0" animBg="1"/>
      <p:bldP spid="11" grpId="0" animBg="1"/>
      <p:bldP spid="12" grpId="0" animBg="1"/>
      <p:bldP spid="28" grpId="0" animBg="1"/>
      <p:bldP spid="29" grpId="0" animBg="1"/>
      <p:bldP spid="13" grpId="0" animBg="1"/>
      <p:bldP spid="30" grpId="0" animBg="1"/>
      <p:bldP spid="14" grpId="0" animBg="1"/>
      <p:bldP spid="15" grpId="0" animBg="1"/>
      <p:bldP spid="31" grpId="0" animBg="1"/>
      <p:bldP spid="32" grpId="0" animBg="1"/>
      <p:bldP spid="16" grpId="0" animBg="1"/>
      <p:bldP spid="33" grpId="0" animBg="1"/>
      <p:bldP spid="17" grpId="0" animBg="1"/>
      <p:bldP spid="18" grpId="0" animBg="1"/>
      <p:bldP spid="34" grpId="0" animBg="1"/>
      <p:bldP spid="35" grpId="0" animBg="1"/>
      <p:bldP spid="19" grpId="0" animBg="1"/>
      <p:bldP spid="20" grpId="0" animBg="1"/>
      <p:bldP spid="36" grpId="0" animBg="1"/>
      <p:bldP spid="37" grpId="0" animBg="1"/>
      <p:bldP spid="21" grpId="0" animBg="1"/>
      <p:bldP spid="23" grpId="0" animBg="1"/>
      <p:bldP spid="22" grpId="0" animBg="1"/>
      <p:bldP spid="24" grpId="0" animBg="1"/>
      <p:bldP spid="38" grpId="0" animBg="1"/>
      <p:bldP spid="40" grpId="0" animBg="1"/>
      <p:bldP spid="39" grpId="0" animBg="1"/>
      <p:bldP spid="41" grpId="0" animBg="1"/>
      <p:bldP spid="25" grpId="0" animBg="1"/>
      <p:bldP spid="42" grpId="0" animBg="1"/>
      <p:bldP spid="4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EDE6DA"/>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8A7F71"/>
                </a:solidFill>
                <a:latin typeface="Plus Jakarta Sans"/>
                <a:ea typeface="Plus Jakarta Sans"/>
                <a:cs typeface="Plus Jakarta Sans"/>
              </a:rPr>
              <a:t>12 / 17</a:t>
            </a:r>
          </a:p>
        </p:txBody>
      </p:sp>
      <p:pic>
        <p:nvPicPr>
          <p:cNvPr id="7" name="static-photo" descr="image.jpg"/>
          <p:cNvPicPr>
            <a:picLocks noChangeAspect="1"/>
          </p:cNvPicPr>
          <p:nvPr/>
        </p:nvPicPr>
        <p:blipFill>
          <a:blip r:embed="rId3"/>
          <a:stretch>
            <a:fillRect/>
          </a:stretch>
        </p:blipFill>
        <p:spPr>
          <a:xfrm>
            <a:off x="8138160" y="0"/>
            <a:ext cx="4053535" cy="6858000"/>
          </a:xfrm>
          <a:prstGeom prst="rect">
            <a:avLst/>
          </a:prstGeom>
        </p:spPr>
      </p:pic>
      <p:sp>
        <p:nvSpPr>
          <p:cNvPr id="8" name="TextBox 7"/>
          <p:cNvSpPr txBox="1"/>
          <p:nvPr/>
        </p:nvSpPr>
        <p:spPr>
          <a:xfrm>
            <a:off x="685800" y="100584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ADD WHAT YOU NEED</a:t>
            </a:r>
          </a:p>
        </p:txBody>
      </p:sp>
      <p:sp>
        <p:nvSpPr>
          <p:cNvPr id="9" name="TextBox 8"/>
          <p:cNvSpPr txBox="1"/>
          <p:nvPr/>
        </p:nvSpPr>
        <p:spPr>
          <a:xfrm>
            <a:off x="685800" y="1280160"/>
            <a:ext cx="6858000" cy="822960"/>
          </a:xfrm>
          <a:prstGeom prst="rect">
            <a:avLst/>
          </a:prstGeom>
          <a:noFill/>
        </p:spPr>
        <p:txBody>
          <a:bodyPr wrap="square" lIns="0" rIns="0" tIns="0" bIns="0">
            <a:spAutoFit/>
          </a:bodyPr>
          <a:lstStyle/>
          <a:p>
            <a:pPr algn="l">
              <a:lnSpc>
                <a:spcPct val="92000"/>
              </a:lnSpc>
            </a:pPr>
            <a:r>
              <a:rPr sz="4000" b="0" i="0">
                <a:solidFill>
                  <a:srgbClr val="1B1815"/>
                </a:solidFill>
                <a:latin typeface="Cormorant Garamond"/>
                <a:ea typeface="Plus Jakarta Sans"/>
                <a:cs typeface="Plus Jakarta Sans"/>
              </a:rPr>
              <a:t>Make it yours.</a:t>
            </a:r>
          </a:p>
        </p:txBody>
      </p:sp>
      <p:sp>
        <p:nvSpPr>
          <p:cNvPr id="10" name="Rectangle 9"/>
          <p:cNvSpPr/>
          <p:nvPr/>
        </p:nvSpPr>
        <p:spPr>
          <a:xfrm>
            <a:off x="685800" y="2286000"/>
            <a:ext cx="6766560" cy="10972"/>
          </a:xfrm>
          <a:prstGeom prst="rect">
            <a:avLst/>
          </a:prstGeom>
          <a:solidFill>
            <a:srgbClr val="D2C6B4"/>
          </a:solidFill>
          <a:ln>
            <a:noFill/>
          </a:ln>
        </p:spPr>
        <p:txBody>
          <a:bodyPr rtlCol="0" anchor="ctr"/>
          <a:lstStyle/>
          <a:p>
            <a:pPr algn="ctr"/>
          </a:p>
        </p:txBody>
      </p:sp>
      <p:sp>
        <p:nvSpPr>
          <p:cNvPr id="11" name="TextBox 10"/>
          <p:cNvSpPr txBox="1"/>
          <p:nvPr/>
        </p:nvSpPr>
        <p:spPr>
          <a:xfrm>
            <a:off x="685800" y="2414016"/>
            <a:ext cx="5212080" cy="274320"/>
          </a:xfrm>
          <a:prstGeom prst="rect">
            <a:avLst/>
          </a:prstGeom>
          <a:noFill/>
        </p:spPr>
        <p:txBody>
          <a:bodyPr wrap="square" lIns="0" rIns="0" tIns="0" bIns="0">
            <a:spAutoFit/>
          </a:bodyPr>
          <a:lstStyle/>
          <a:p>
            <a:pPr algn="l"/>
            <a:r>
              <a:rPr sz="1100" b="0" i="0">
                <a:solidFill>
                  <a:srgbClr val="1B1815"/>
                </a:solidFill>
                <a:latin typeface="Plus Jakarta Sans"/>
                <a:ea typeface="Plus Jakarta Sans"/>
                <a:cs typeface="Plus Jakarta Sans"/>
              </a:rPr>
              <a:t>Mini fridge, 45–50 L</a:t>
            </a:r>
          </a:p>
        </p:txBody>
      </p:sp>
      <p:sp>
        <p:nvSpPr>
          <p:cNvPr id="12" name="TextBox 11"/>
          <p:cNvSpPr txBox="1"/>
          <p:nvPr/>
        </p:nvSpPr>
        <p:spPr>
          <a:xfrm>
            <a:off x="5806440" y="2340864"/>
            <a:ext cx="1645920" cy="320040"/>
          </a:xfrm>
          <a:prstGeom prst="rect">
            <a:avLst/>
          </a:prstGeom>
          <a:noFill/>
        </p:spPr>
        <p:txBody>
          <a:bodyPr wrap="square" lIns="0" rIns="0" tIns="0" bIns="0">
            <a:spAutoFit/>
          </a:bodyPr>
          <a:lstStyle/>
          <a:p>
            <a:pPr algn="r">
              <a:lnSpc>
                <a:spcPct val="92000"/>
              </a:lnSpc>
            </a:pPr>
            <a:r>
              <a:rPr sz="1700" b="0" i="0">
                <a:solidFill>
                  <a:srgbClr val="B8845A"/>
                </a:solidFill>
                <a:latin typeface="Cormorant Garamond"/>
                <a:ea typeface="Plus Jakarta Sans"/>
                <a:cs typeface="Plus Jakarta Sans"/>
              </a:rPr>
              <a:t>₹14,000</a:t>
            </a:r>
          </a:p>
        </p:txBody>
      </p:sp>
      <p:sp>
        <p:nvSpPr>
          <p:cNvPr id="13" name="Rectangle 12"/>
          <p:cNvSpPr/>
          <p:nvPr/>
        </p:nvSpPr>
        <p:spPr>
          <a:xfrm>
            <a:off x="685800" y="2743200"/>
            <a:ext cx="6766560" cy="10972"/>
          </a:xfrm>
          <a:prstGeom prst="rect">
            <a:avLst/>
          </a:prstGeom>
          <a:solidFill>
            <a:srgbClr val="D2C6B4"/>
          </a:solidFill>
          <a:ln>
            <a:noFill/>
          </a:ln>
        </p:spPr>
        <p:txBody>
          <a:bodyPr rtlCol="0" anchor="ctr"/>
          <a:lstStyle/>
          <a:p>
            <a:pPr algn="ctr"/>
          </a:p>
        </p:txBody>
      </p:sp>
      <p:sp>
        <p:nvSpPr>
          <p:cNvPr id="14" name="TextBox 13"/>
          <p:cNvSpPr txBox="1"/>
          <p:nvPr/>
        </p:nvSpPr>
        <p:spPr>
          <a:xfrm>
            <a:off x="685800" y="2871216"/>
            <a:ext cx="5212080" cy="274320"/>
          </a:xfrm>
          <a:prstGeom prst="rect">
            <a:avLst/>
          </a:prstGeom>
          <a:noFill/>
        </p:spPr>
        <p:txBody>
          <a:bodyPr wrap="square" lIns="0" rIns="0" tIns="0" bIns="0">
            <a:spAutoFit/>
          </a:bodyPr>
          <a:lstStyle/>
          <a:p>
            <a:pPr algn="l"/>
            <a:r>
              <a:rPr sz="1100" b="0" i="0">
                <a:solidFill>
                  <a:srgbClr val="1B1815"/>
                </a:solidFill>
                <a:latin typeface="Plus Jakarta Sans"/>
                <a:ea typeface="Plus Jakarta Sans"/>
                <a:cs typeface="Plus Jakarta Sans"/>
              </a:rPr>
              <a:t>Microwave, 20 L</a:t>
            </a:r>
          </a:p>
        </p:txBody>
      </p:sp>
      <p:sp>
        <p:nvSpPr>
          <p:cNvPr id="15" name="TextBox 14"/>
          <p:cNvSpPr txBox="1"/>
          <p:nvPr/>
        </p:nvSpPr>
        <p:spPr>
          <a:xfrm>
            <a:off x="5806440" y="2798064"/>
            <a:ext cx="1645920" cy="320040"/>
          </a:xfrm>
          <a:prstGeom prst="rect">
            <a:avLst/>
          </a:prstGeom>
          <a:noFill/>
        </p:spPr>
        <p:txBody>
          <a:bodyPr wrap="square" lIns="0" rIns="0" tIns="0" bIns="0">
            <a:spAutoFit/>
          </a:bodyPr>
          <a:lstStyle/>
          <a:p>
            <a:pPr algn="r">
              <a:lnSpc>
                <a:spcPct val="92000"/>
              </a:lnSpc>
            </a:pPr>
            <a:r>
              <a:rPr sz="1700" b="0" i="0">
                <a:solidFill>
                  <a:srgbClr val="B8845A"/>
                </a:solidFill>
                <a:latin typeface="Cormorant Garamond"/>
                <a:ea typeface="Plus Jakarta Sans"/>
                <a:cs typeface="Plus Jakarta Sans"/>
              </a:rPr>
              <a:t>₹10,000</a:t>
            </a:r>
          </a:p>
        </p:txBody>
      </p:sp>
      <p:sp>
        <p:nvSpPr>
          <p:cNvPr id="16" name="Rectangle 15"/>
          <p:cNvSpPr/>
          <p:nvPr/>
        </p:nvSpPr>
        <p:spPr>
          <a:xfrm>
            <a:off x="685800" y="3200400"/>
            <a:ext cx="6766560" cy="10972"/>
          </a:xfrm>
          <a:prstGeom prst="rect">
            <a:avLst/>
          </a:prstGeom>
          <a:solidFill>
            <a:srgbClr val="D2C6B4"/>
          </a:solidFill>
          <a:ln>
            <a:noFill/>
          </a:ln>
        </p:spPr>
        <p:txBody>
          <a:bodyPr rtlCol="0" anchor="ctr"/>
          <a:lstStyle/>
          <a:p>
            <a:pPr algn="ctr"/>
          </a:p>
        </p:txBody>
      </p:sp>
      <p:sp>
        <p:nvSpPr>
          <p:cNvPr id="17" name="TextBox 16"/>
          <p:cNvSpPr txBox="1"/>
          <p:nvPr/>
        </p:nvSpPr>
        <p:spPr>
          <a:xfrm>
            <a:off x="685800" y="3328416"/>
            <a:ext cx="5212080" cy="274320"/>
          </a:xfrm>
          <a:prstGeom prst="rect">
            <a:avLst/>
          </a:prstGeom>
          <a:noFill/>
        </p:spPr>
        <p:txBody>
          <a:bodyPr wrap="square" lIns="0" rIns="0" tIns="0" bIns="0">
            <a:spAutoFit/>
          </a:bodyPr>
          <a:lstStyle/>
          <a:p>
            <a:pPr algn="l"/>
            <a:r>
              <a:rPr sz="1100" b="0" i="0">
                <a:solidFill>
                  <a:srgbClr val="1B1815"/>
                </a:solidFill>
                <a:latin typeface="Plus Jakarta Sans"/>
                <a:ea typeface="Plus Jakarta Sans"/>
                <a:cs typeface="Plus Jakarta Sans"/>
              </a:rPr>
              <a:t>WiFi router with guest network, set up</a:t>
            </a:r>
          </a:p>
        </p:txBody>
      </p:sp>
      <p:sp>
        <p:nvSpPr>
          <p:cNvPr id="18" name="TextBox 17"/>
          <p:cNvSpPr txBox="1"/>
          <p:nvPr/>
        </p:nvSpPr>
        <p:spPr>
          <a:xfrm>
            <a:off x="5806440" y="3255264"/>
            <a:ext cx="1645920" cy="320040"/>
          </a:xfrm>
          <a:prstGeom prst="rect">
            <a:avLst/>
          </a:prstGeom>
          <a:noFill/>
        </p:spPr>
        <p:txBody>
          <a:bodyPr wrap="square" lIns="0" rIns="0" tIns="0" bIns="0">
            <a:spAutoFit/>
          </a:bodyPr>
          <a:lstStyle/>
          <a:p>
            <a:pPr algn="r">
              <a:lnSpc>
                <a:spcPct val="92000"/>
              </a:lnSpc>
            </a:pPr>
            <a:r>
              <a:rPr sz="1700" b="0" i="0">
                <a:solidFill>
                  <a:srgbClr val="B8845A"/>
                </a:solidFill>
                <a:latin typeface="Cormorant Garamond"/>
                <a:ea typeface="Plus Jakarta Sans"/>
                <a:cs typeface="Plus Jakarta Sans"/>
              </a:rPr>
              <a:t>₹4,500</a:t>
            </a:r>
          </a:p>
        </p:txBody>
      </p:sp>
      <p:sp>
        <p:nvSpPr>
          <p:cNvPr id="19" name="Rectangle 18"/>
          <p:cNvSpPr/>
          <p:nvPr/>
        </p:nvSpPr>
        <p:spPr>
          <a:xfrm>
            <a:off x="685800" y="3657600"/>
            <a:ext cx="6766560" cy="10972"/>
          </a:xfrm>
          <a:prstGeom prst="rect">
            <a:avLst/>
          </a:prstGeom>
          <a:solidFill>
            <a:srgbClr val="D2C6B4"/>
          </a:solidFill>
          <a:ln>
            <a:noFill/>
          </a:ln>
        </p:spPr>
        <p:txBody>
          <a:bodyPr rtlCol="0" anchor="ctr"/>
          <a:lstStyle/>
          <a:p>
            <a:pPr algn="ctr"/>
          </a:p>
        </p:txBody>
      </p:sp>
      <p:sp>
        <p:nvSpPr>
          <p:cNvPr id="20" name="TextBox 19"/>
          <p:cNvSpPr txBox="1"/>
          <p:nvPr/>
        </p:nvSpPr>
        <p:spPr>
          <a:xfrm>
            <a:off x="685800" y="3785615"/>
            <a:ext cx="5212080" cy="274320"/>
          </a:xfrm>
          <a:prstGeom prst="rect">
            <a:avLst/>
          </a:prstGeom>
          <a:noFill/>
        </p:spPr>
        <p:txBody>
          <a:bodyPr wrap="square" lIns="0" rIns="0" tIns="0" bIns="0">
            <a:spAutoFit/>
          </a:bodyPr>
          <a:lstStyle/>
          <a:p>
            <a:pPr algn="l"/>
            <a:r>
              <a:rPr sz="1100" b="0" i="0">
                <a:solidFill>
                  <a:srgbClr val="1B1815"/>
                </a:solidFill>
                <a:latin typeface="Plus Jakarta Sans"/>
                <a:ea typeface="Plus Jakarta Sans"/>
                <a:cs typeface="Plus Jakarta Sans"/>
              </a:rPr>
              <a:t>Smart TV 32" with streaming stick, wall-mounted</a:t>
            </a:r>
          </a:p>
        </p:txBody>
      </p:sp>
      <p:sp>
        <p:nvSpPr>
          <p:cNvPr id="21" name="TextBox 20"/>
          <p:cNvSpPr txBox="1"/>
          <p:nvPr/>
        </p:nvSpPr>
        <p:spPr>
          <a:xfrm>
            <a:off x="5806440" y="3712463"/>
            <a:ext cx="1645920" cy="320040"/>
          </a:xfrm>
          <a:prstGeom prst="rect">
            <a:avLst/>
          </a:prstGeom>
          <a:noFill/>
        </p:spPr>
        <p:txBody>
          <a:bodyPr wrap="square" lIns="0" rIns="0" tIns="0" bIns="0">
            <a:spAutoFit/>
          </a:bodyPr>
          <a:lstStyle/>
          <a:p>
            <a:pPr algn="r">
              <a:lnSpc>
                <a:spcPct val="92000"/>
              </a:lnSpc>
            </a:pPr>
            <a:r>
              <a:rPr sz="1700" b="0" i="0">
                <a:solidFill>
                  <a:srgbClr val="B8845A"/>
                </a:solidFill>
                <a:latin typeface="Cormorant Garamond"/>
                <a:ea typeface="Plus Jakarta Sans"/>
                <a:cs typeface="Plus Jakarta Sans"/>
              </a:rPr>
              <a:t>₹22,000</a:t>
            </a:r>
          </a:p>
        </p:txBody>
      </p:sp>
      <p:sp>
        <p:nvSpPr>
          <p:cNvPr id="22" name="Rectangle 21"/>
          <p:cNvSpPr/>
          <p:nvPr/>
        </p:nvSpPr>
        <p:spPr>
          <a:xfrm>
            <a:off x="685800" y="4114800"/>
            <a:ext cx="6766560" cy="10972"/>
          </a:xfrm>
          <a:prstGeom prst="rect">
            <a:avLst/>
          </a:prstGeom>
          <a:solidFill>
            <a:srgbClr val="D2C6B4"/>
          </a:solidFill>
          <a:ln>
            <a:noFill/>
          </a:ln>
        </p:spPr>
        <p:txBody>
          <a:bodyPr rtlCol="0" anchor="ctr"/>
          <a:lstStyle/>
          <a:p>
            <a:pPr algn="ctr"/>
          </a:p>
        </p:txBody>
      </p:sp>
      <p:sp>
        <p:nvSpPr>
          <p:cNvPr id="23" name="TextBox 22"/>
          <p:cNvSpPr txBox="1"/>
          <p:nvPr/>
        </p:nvSpPr>
        <p:spPr>
          <a:xfrm>
            <a:off x="685800" y="4242816"/>
            <a:ext cx="5212080" cy="274320"/>
          </a:xfrm>
          <a:prstGeom prst="rect">
            <a:avLst/>
          </a:prstGeom>
          <a:noFill/>
        </p:spPr>
        <p:txBody>
          <a:bodyPr wrap="square" lIns="0" rIns="0" tIns="0" bIns="0">
            <a:spAutoFit/>
          </a:bodyPr>
          <a:lstStyle/>
          <a:p>
            <a:pPr algn="l"/>
            <a:r>
              <a:rPr sz="1100" b="0" i="0">
                <a:solidFill>
                  <a:srgbClr val="1B1815"/>
                </a:solidFill>
                <a:latin typeface="Plus Jakarta Sans"/>
                <a:ea typeface="Plus Jakarta Sans"/>
                <a:cs typeface="Plus Jakarta Sans"/>
              </a:rPr>
              <a:t>Round table with chair — eating or working</a:t>
            </a:r>
          </a:p>
        </p:txBody>
      </p:sp>
      <p:sp>
        <p:nvSpPr>
          <p:cNvPr id="24" name="TextBox 23"/>
          <p:cNvSpPr txBox="1"/>
          <p:nvPr/>
        </p:nvSpPr>
        <p:spPr>
          <a:xfrm>
            <a:off x="5806440" y="4169663"/>
            <a:ext cx="1645920" cy="320040"/>
          </a:xfrm>
          <a:prstGeom prst="rect">
            <a:avLst/>
          </a:prstGeom>
          <a:noFill/>
        </p:spPr>
        <p:txBody>
          <a:bodyPr wrap="square" lIns="0" rIns="0" tIns="0" bIns="0">
            <a:spAutoFit/>
          </a:bodyPr>
          <a:lstStyle/>
          <a:p>
            <a:pPr algn="r">
              <a:lnSpc>
                <a:spcPct val="92000"/>
              </a:lnSpc>
            </a:pPr>
            <a:r>
              <a:rPr sz="1700" b="0" i="0">
                <a:solidFill>
                  <a:srgbClr val="B8845A"/>
                </a:solidFill>
                <a:latin typeface="Cormorant Garamond"/>
                <a:ea typeface="Plus Jakarta Sans"/>
                <a:cs typeface="Plus Jakarta Sans"/>
              </a:rPr>
              <a:t>₹9,500</a:t>
            </a:r>
          </a:p>
        </p:txBody>
      </p:sp>
      <p:sp>
        <p:nvSpPr>
          <p:cNvPr id="25" name="Rectangle 24"/>
          <p:cNvSpPr/>
          <p:nvPr/>
        </p:nvSpPr>
        <p:spPr>
          <a:xfrm>
            <a:off x="685800" y="4572000"/>
            <a:ext cx="6766560" cy="10972"/>
          </a:xfrm>
          <a:prstGeom prst="rect">
            <a:avLst/>
          </a:prstGeom>
          <a:solidFill>
            <a:srgbClr val="D2C6B4"/>
          </a:solidFill>
          <a:ln>
            <a:noFill/>
          </a:ln>
        </p:spPr>
        <p:txBody>
          <a:bodyPr rtlCol="0" anchor="ctr"/>
          <a:lstStyle/>
          <a:p>
            <a:pPr algn="ctr"/>
          </a:p>
        </p:txBody>
      </p:sp>
      <p:sp>
        <p:nvSpPr>
          <p:cNvPr id="26" name="TextBox 25"/>
          <p:cNvSpPr txBox="1"/>
          <p:nvPr/>
        </p:nvSpPr>
        <p:spPr>
          <a:xfrm>
            <a:off x="685800" y="4700016"/>
            <a:ext cx="5212080" cy="274320"/>
          </a:xfrm>
          <a:prstGeom prst="rect">
            <a:avLst/>
          </a:prstGeom>
          <a:noFill/>
        </p:spPr>
        <p:txBody>
          <a:bodyPr wrap="square" lIns="0" rIns="0" tIns="0" bIns="0">
            <a:spAutoFit/>
          </a:bodyPr>
          <a:lstStyle/>
          <a:p>
            <a:pPr algn="l"/>
            <a:r>
              <a:rPr sz="1100" b="0" i="0">
                <a:solidFill>
                  <a:srgbClr val="1B1815"/>
                </a:solidFill>
                <a:latin typeface="Plus Jakarta Sans"/>
                <a:ea typeface="Plus Jakarta Sans"/>
                <a:cs typeface="Plus Jakarta Sans"/>
              </a:rPr>
              <a:t>Branded amenity kit — tissue, toiletries, coasters, welcome card</a:t>
            </a:r>
          </a:p>
        </p:txBody>
      </p:sp>
      <p:sp>
        <p:nvSpPr>
          <p:cNvPr id="27" name="TextBox 26"/>
          <p:cNvSpPr txBox="1"/>
          <p:nvPr/>
        </p:nvSpPr>
        <p:spPr>
          <a:xfrm>
            <a:off x="5806440" y="4626864"/>
            <a:ext cx="1645920" cy="320040"/>
          </a:xfrm>
          <a:prstGeom prst="rect">
            <a:avLst/>
          </a:prstGeom>
          <a:noFill/>
        </p:spPr>
        <p:txBody>
          <a:bodyPr wrap="square" lIns="0" rIns="0" tIns="0" bIns="0">
            <a:spAutoFit/>
          </a:bodyPr>
          <a:lstStyle/>
          <a:p>
            <a:pPr algn="r">
              <a:lnSpc>
                <a:spcPct val="92000"/>
              </a:lnSpc>
            </a:pPr>
            <a:r>
              <a:rPr sz="1700" b="0" i="0">
                <a:solidFill>
                  <a:srgbClr val="B8845A"/>
                </a:solidFill>
                <a:latin typeface="Cormorant Garamond"/>
                <a:ea typeface="Plus Jakarta Sans"/>
                <a:cs typeface="Plus Jakarta Sans"/>
              </a:rPr>
              <a:t>₹8,000</a:t>
            </a:r>
          </a:p>
        </p:txBody>
      </p:sp>
      <p:sp>
        <p:nvSpPr>
          <p:cNvPr id="28" name="Rectangle 27"/>
          <p:cNvSpPr/>
          <p:nvPr/>
        </p:nvSpPr>
        <p:spPr>
          <a:xfrm>
            <a:off x="685800" y="5029200"/>
            <a:ext cx="6766560" cy="10972"/>
          </a:xfrm>
          <a:prstGeom prst="rect">
            <a:avLst/>
          </a:prstGeom>
          <a:solidFill>
            <a:srgbClr val="D2C6B4"/>
          </a:solidFill>
          <a:ln>
            <a:noFill/>
          </a:ln>
        </p:spPr>
        <p:txBody>
          <a:bodyPr rtlCol="0" anchor="ctr"/>
          <a:lstStyle/>
          <a:p>
            <a:pPr algn="ctr"/>
          </a:p>
        </p:txBody>
      </p:sp>
      <p:sp>
        <p:nvSpPr>
          <p:cNvPr id="29" name="TextBox 28"/>
          <p:cNvSpPr txBox="1"/>
          <p:nvPr/>
        </p:nvSpPr>
        <p:spPr>
          <a:xfrm>
            <a:off x="685800" y="5157216"/>
            <a:ext cx="5212080" cy="274320"/>
          </a:xfrm>
          <a:prstGeom prst="rect">
            <a:avLst/>
          </a:prstGeom>
          <a:noFill/>
        </p:spPr>
        <p:txBody>
          <a:bodyPr wrap="square" lIns="0" rIns="0" tIns="0" bIns="0">
            <a:spAutoFit/>
          </a:bodyPr>
          <a:lstStyle/>
          <a:p>
            <a:pPr algn="l"/>
            <a:r>
              <a:rPr sz="1100" b="0" i="0">
                <a:solidFill>
                  <a:srgbClr val="1B1815"/>
                </a:solidFill>
                <a:latin typeface="Plus Jakarta Sans"/>
                <a:ea typeface="Plus Jakarta Sans"/>
                <a:cs typeface="Plus Jakarta Sans"/>
              </a:rPr>
              <a:t>Reels package — vertical video for Instagram and your listing</a:t>
            </a:r>
          </a:p>
        </p:txBody>
      </p:sp>
      <p:sp>
        <p:nvSpPr>
          <p:cNvPr id="30" name="TextBox 29"/>
          <p:cNvSpPr txBox="1"/>
          <p:nvPr/>
        </p:nvSpPr>
        <p:spPr>
          <a:xfrm>
            <a:off x="5806440" y="5084064"/>
            <a:ext cx="1645920" cy="320040"/>
          </a:xfrm>
          <a:prstGeom prst="rect">
            <a:avLst/>
          </a:prstGeom>
          <a:noFill/>
        </p:spPr>
        <p:txBody>
          <a:bodyPr wrap="square" lIns="0" rIns="0" tIns="0" bIns="0">
            <a:spAutoFit/>
          </a:bodyPr>
          <a:lstStyle/>
          <a:p>
            <a:pPr algn="r">
              <a:lnSpc>
                <a:spcPct val="92000"/>
              </a:lnSpc>
            </a:pPr>
            <a:r>
              <a:rPr sz="1700" b="0" i="0">
                <a:solidFill>
                  <a:srgbClr val="B8845A"/>
                </a:solidFill>
                <a:latin typeface="Cormorant Garamond"/>
                <a:ea typeface="Plus Jakarta Sans"/>
                <a:cs typeface="Plus Jakarta Sans"/>
              </a:rPr>
              <a:t>₹15,000</a:t>
            </a:r>
          </a:p>
        </p:txBody>
      </p:sp>
      <p:sp>
        <p:nvSpPr>
          <p:cNvPr id="31" name="Rectangle 30"/>
          <p:cNvSpPr/>
          <p:nvPr/>
        </p:nvSpPr>
        <p:spPr>
          <a:xfrm>
            <a:off x="685800" y="5486400"/>
            <a:ext cx="6766560" cy="10972"/>
          </a:xfrm>
          <a:prstGeom prst="rect">
            <a:avLst/>
          </a:prstGeom>
          <a:solidFill>
            <a:srgbClr val="D2C6B4"/>
          </a:solidFill>
          <a:ln>
            <a:noFill/>
          </a:ln>
        </p:spPr>
        <p:txBody>
          <a:bodyPr rtlCol="0" anchor="ctr"/>
          <a:lstStyle/>
          <a:p>
            <a:pPr algn="ctr"/>
          </a:p>
        </p:txBody>
      </p:sp>
      <p:sp>
        <p:nvSpPr>
          <p:cNvPr id="32" name="TextBox 31"/>
          <p:cNvSpPr txBox="1"/>
          <p:nvPr/>
        </p:nvSpPr>
        <p:spPr>
          <a:xfrm>
            <a:off x="685800" y="5614416"/>
            <a:ext cx="5212080" cy="274320"/>
          </a:xfrm>
          <a:prstGeom prst="rect">
            <a:avLst/>
          </a:prstGeom>
          <a:noFill/>
        </p:spPr>
        <p:txBody>
          <a:bodyPr wrap="square" lIns="0" rIns="0" tIns="0" bIns="0">
            <a:spAutoFit/>
          </a:bodyPr>
          <a:lstStyle/>
          <a:p>
            <a:pPr algn="l"/>
            <a:r>
              <a:rPr sz="1100" b="0" i="0">
                <a:solidFill>
                  <a:srgbClr val="1B1815"/>
                </a:solidFill>
                <a:latin typeface="Plus Jakarta Sans"/>
                <a:ea typeface="Plus Jakarta Sans"/>
                <a:cs typeface="Plus Jakarta Sans"/>
              </a:rPr>
              <a:t>Restock subscription — linen, toiletries, consumables</a:t>
            </a:r>
          </a:p>
        </p:txBody>
      </p:sp>
      <p:sp>
        <p:nvSpPr>
          <p:cNvPr id="33" name="TextBox 32"/>
          <p:cNvSpPr txBox="1"/>
          <p:nvPr/>
        </p:nvSpPr>
        <p:spPr>
          <a:xfrm>
            <a:off x="5806440" y="5541264"/>
            <a:ext cx="1645920" cy="320040"/>
          </a:xfrm>
          <a:prstGeom prst="rect">
            <a:avLst/>
          </a:prstGeom>
          <a:noFill/>
        </p:spPr>
        <p:txBody>
          <a:bodyPr wrap="square" lIns="0" rIns="0" tIns="0" bIns="0">
            <a:spAutoFit/>
          </a:bodyPr>
          <a:lstStyle/>
          <a:p>
            <a:pPr algn="r">
              <a:lnSpc>
                <a:spcPct val="92000"/>
              </a:lnSpc>
            </a:pPr>
            <a:r>
              <a:rPr sz="1700" b="0" i="0">
                <a:solidFill>
                  <a:srgbClr val="B8845A"/>
                </a:solidFill>
                <a:latin typeface="Cormorant Garamond"/>
                <a:ea typeface="Plus Jakarta Sans"/>
                <a:cs typeface="Plus Jakarta Sans"/>
              </a:rPr>
              <a:t>₹2,500 / month</a:t>
            </a:r>
          </a:p>
        </p:txBody>
      </p:sp>
      <p:sp>
        <p:nvSpPr>
          <p:cNvPr id="34" name="Rectangle 33"/>
          <p:cNvSpPr/>
          <p:nvPr/>
        </p:nvSpPr>
        <p:spPr>
          <a:xfrm>
            <a:off x="685800" y="5943600"/>
            <a:ext cx="6766560" cy="10972"/>
          </a:xfrm>
          <a:prstGeom prst="rect">
            <a:avLst/>
          </a:prstGeom>
          <a:solidFill>
            <a:srgbClr val="D2C6B4"/>
          </a:solidFill>
          <a:ln>
            <a:noFill/>
          </a:ln>
        </p:spPr>
        <p:txBody>
          <a:bodyPr rtlCol="0" anchor="ctr"/>
          <a:lstStyle/>
          <a:p>
            <a:pPr algn="ctr"/>
          </a:p>
        </p:txBody>
      </p:sp>
      <p:sp>
        <p:nvSpPr>
          <p:cNvPr id="35" name="TextBox 34"/>
          <p:cNvSpPr txBox="1"/>
          <p:nvPr/>
        </p:nvSpPr>
        <p:spPr>
          <a:xfrm>
            <a:off x="685800" y="6126480"/>
            <a:ext cx="6766560" cy="228600"/>
          </a:xfrm>
          <a:prstGeom prst="rect">
            <a:avLst/>
          </a:prstGeom>
          <a:noFill/>
        </p:spPr>
        <p:txBody>
          <a:bodyPr wrap="square" lIns="0" rIns="0" tIns="0" bIns="0">
            <a:spAutoFit/>
          </a:bodyPr>
          <a:lstStyle/>
          <a:p>
            <a:pPr algn="l"/>
            <a:r>
              <a:rPr sz="800" b="0" i="0">
                <a:solidFill>
                  <a:srgbClr val="8A7F71"/>
                </a:solidFill>
                <a:latin typeface="Plus Jakarta Sans"/>
                <a:ea typeface="Plus Jakarta Sans"/>
                <a:cs typeface="Plus Jakarta Sans"/>
              </a:rPr>
              <a:t>Add-ons plus applicable GST. Installed on the same day.</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par>
                                <p:cTn id="8" presetID="42" presetClass="entr" presetSubtype="0" fill="hold" grpId="0" nodeType="withEffect">
                                  <p:stCondLst>
                                    <p:cond delay="317"/>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900"/>
                                        <p:tgtEl>
                                          <p:spTgt spid="9"/>
                                        </p:tgtEl>
                                      </p:cBhvr>
                                    </p:animEffect>
                                    <p:anim calcmode="lin" valueType="num">
                                      <p:cBhvr>
                                        <p:cTn id="11" dur="900" decel="100000"/>
                                        <p:tgtEl>
                                          <p:spTgt spid="9"/>
                                        </p:tgtEl>
                                        <p:attrNameLst>
                                          <p:attrName>ppt_x</p:attrName>
                                        </p:attrNameLst>
                                      </p:cBhvr>
                                      <p:tavLst>
                                        <p:tav tm="0">
                                          <p:val>
                                            <p:strVal val="#ppt_x"/>
                                          </p:val>
                                        </p:tav>
                                        <p:tav tm="100000">
                                          <p:val>
                                            <p:strVal val="#ppt_x"/>
                                          </p:val>
                                        </p:tav>
                                      </p:tavLst>
                                    </p:anim>
                                    <p:anim calcmode="lin" valueType="num">
                                      <p:cBhvr>
                                        <p:cTn id="12" dur="900" decel="100000"/>
                                        <p:tgtEl>
                                          <p:spTgt spid="9"/>
                                        </p:tgtEl>
                                        <p:attrNameLst>
                                          <p:attrName>ppt_y</p:attrName>
                                        </p:attrNameLst>
                                      </p:cBhvr>
                                      <p:tavLst>
                                        <p:tav tm="0">
                                          <p:val>
                                            <p:strVal val="#ppt_y+.035"/>
                                          </p:val>
                                        </p:tav>
                                        <p:tav tm="100000">
                                          <p:val>
                                            <p:strVal val="#ppt_y"/>
                                          </p:val>
                                        </p:tav>
                                      </p:tavLst>
                                    </p:anim>
                                  </p:childTnLst>
                                </p:cTn>
                              </p:par>
                              <p:par>
                                <p:cTn id="13" presetID="22" presetClass="entr" presetSubtype="8" fill="hold" grpId="0" nodeType="withEffect">
                                  <p:stCondLst>
                                    <p:cond delay="384"/>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700"/>
                                        <p:tgtEl>
                                          <p:spTgt spid="10"/>
                                        </p:tgtEl>
                                      </p:cBhvr>
                                    </p:animEffect>
                                  </p:childTnLst>
                                </p:cTn>
                              </p:par>
                              <p:par>
                                <p:cTn id="16" presetID="42" presetClass="entr" presetSubtype="0" fill="hold" grpId="0" nodeType="withEffect">
                                  <p:stCondLst>
                                    <p:cond delay="451"/>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900"/>
                                        <p:tgtEl>
                                          <p:spTgt spid="12"/>
                                        </p:tgtEl>
                                      </p:cBhvr>
                                    </p:animEffect>
                                    <p:anim calcmode="lin" valueType="num">
                                      <p:cBhvr>
                                        <p:cTn id="19" dur="900" decel="100000"/>
                                        <p:tgtEl>
                                          <p:spTgt spid="12"/>
                                        </p:tgtEl>
                                        <p:attrNameLst>
                                          <p:attrName>ppt_x</p:attrName>
                                        </p:attrNameLst>
                                      </p:cBhvr>
                                      <p:tavLst>
                                        <p:tav tm="0">
                                          <p:val>
                                            <p:strVal val="#ppt_x"/>
                                          </p:val>
                                        </p:tav>
                                        <p:tav tm="100000">
                                          <p:val>
                                            <p:strVal val="#ppt_x"/>
                                          </p:val>
                                        </p:tav>
                                      </p:tavLst>
                                    </p:anim>
                                    <p:anim calcmode="lin" valueType="num">
                                      <p:cBhvr>
                                        <p:cTn id="20" dur="900" decel="100000"/>
                                        <p:tgtEl>
                                          <p:spTgt spid="12"/>
                                        </p:tgtEl>
                                        <p:attrNameLst>
                                          <p:attrName>ppt_y</p:attrName>
                                        </p:attrNameLst>
                                      </p:cBhvr>
                                      <p:tavLst>
                                        <p:tav tm="0">
                                          <p:val>
                                            <p:strVal val="#ppt_y+.035"/>
                                          </p:val>
                                        </p:tav>
                                        <p:tav tm="100000">
                                          <p:val>
                                            <p:strVal val="#ppt_y"/>
                                          </p:val>
                                        </p:tav>
                                      </p:tavLst>
                                    </p:anim>
                                  </p:childTnLst>
                                </p:cTn>
                              </p:par>
                              <p:par>
                                <p:cTn id="21" presetID="10" presetClass="entr" presetSubtype="0" fill="hold" grpId="0" nodeType="withEffect">
                                  <p:stCondLst>
                                    <p:cond delay="518"/>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700"/>
                                        <p:tgtEl>
                                          <p:spTgt spid="11"/>
                                        </p:tgtEl>
                                      </p:cBhvr>
                                    </p:animEffect>
                                  </p:childTnLst>
                                </p:cTn>
                              </p:par>
                              <p:par>
                                <p:cTn id="24" presetID="22" presetClass="entr" presetSubtype="8" fill="hold" grpId="0" nodeType="withEffect">
                                  <p:stCondLst>
                                    <p:cond delay="585"/>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700"/>
                                        <p:tgtEl>
                                          <p:spTgt spid="13"/>
                                        </p:tgtEl>
                                      </p:cBhvr>
                                    </p:animEffect>
                                  </p:childTnLst>
                                </p:cTn>
                              </p:par>
                              <p:par>
                                <p:cTn id="27" presetID="10" presetClass="entr" presetSubtype="0" fill="hold" grpId="0" nodeType="withEffect">
                                  <p:stCondLst>
                                    <p:cond delay="652"/>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700"/>
                                        <p:tgtEl>
                                          <p:spTgt spid="14"/>
                                        </p:tgtEl>
                                      </p:cBhvr>
                                    </p:animEffect>
                                  </p:childTnLst>
                                </p:cTn>
                              </p:par>
                              <p:par>
                                <p:cTn id="30" presetID="42" presetClass="entr" presetSubtype="0" fill="hold" grpId="0" nodeType="withEffect">
                                  <p:stCondLst>
                                    <p:cond delay="719"/>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900"/>
                                        <p:tgtEl>
                                          <p:spTgt spid="15"/>
                                        </p:tgtEl>
                                      </p:cBhvr>
                                    </p:animEffect>
                                    <p:anim calcmode="lin" valueType="num">
                                      <p:cBhvr>
                                        <p:cTn id="33" dur="900" decel="100000"/>
                                        <p:tgtEl>
                                          <p:spTgt spid="15"/>
                                        </p:tgtEl>
                                        <p:attrNameLst>
                                          <p:attrName>ppt_x</p:attrName>
                                        </p:attrNameLst>
                                      </p:cBhvr>
                                      <p:tavLst>
                                        <p:tav tm="0">
                                          <p:val>
                                            <p:strVal val="#ppt_x"/>
                                          </p:val>
                                        </p:tav>
                                        <p:tav tm="100000">
                                          <p:val>
                                            <p:strVal val="#ppt_x"/>
                                          </p:val>
                                        </p:tav>
                                      </p:tavLst>
                                    </p:anim>
                                    <p:anim calcmode="lin" valueType="num">
                                      <p:cBhvr>
                                        <p:cTn id="34" dur="900" decel="100000"/>
                                        <p:tgtEl>
                                          <p:spTgt spid="15"/>
                                        </p:tgtEl>
                                        <p:attrNameLst>
                                          <p:attrName>ppt_y</p:attrName>
                                        </p:attrNameLst>
                                      </p:cBhvr>
                                      <p:tavLst>
                                        <p:tav tm="0">
                                          <p:val>
                                            <p:strVal val="#ppt_y+.035"/>
                                          </p:val>
                                        </p:tav>
                                        <p:tav tm="100000">
                                          <p:val>
                                            <p:strVal val="#ppt_y"/>
                                          </p:val>
                                        </p:tav>
                                      </p:tavLst>
                                    </p:anim>
                                  </p:childTnLst>
                                </p:cTn>
                              </p:par>
                              <p:par>
                                <p:cTn id="35" presetID="22" presetClass="entr" presetSubtype="8" fill="hold" grpId="0" nodeType="withEffect">
                                  <p:stCondLst>
                                    <p:cond delay="786"/>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700"/>
                                        <p:tgtEl>
                                          <p:spTgt spid="16"/>
                                        </p:tgtEl>
                                      </p:cBhvr>
                                    </p:animEffect>
                                  </p:childTnLst>
                                </p:cTn>
                              </p:par>
                              <p:par>
                                <p:cTn id="38" presetID="10" presetClass="entr" presetSubtype="0" fill="hold" grpId="0" nodeType="withEffect">
                                  <p:stCondLst>
                                    <p:cond delay="853"/>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700"/>
                                        <p:tgtEl>
                                          <p:spTgt spid="17"/>
                                        </p:tgtEl>
                                      </p:cBhvr>
                                    </p:animEffect>
                                  </p:childTnLst>
                                </p:cTn>
                              </p:par>
                              <p:par>
                                <p:cTn id="41" presetID="42" presetClass="entr" presetSubtype="0" fill="hold" grpId="0" nodeType="withEffect">
                                  <p:stCondLst>
                                    <p:cond delay="92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900"/>
                                        <p:tgtEl>
                                          <p:spTgt spid="18"/>
                                        </p:tgtEl>
                                      </p:cBhvr>
                                    </p:animEffect>
                                    <p:anim calcmode="lin" valueType="num">
                                      <p:cBhvr>
                                        <p:cTn id="44" dur="900" decel="100000"/>
                                        <p:tgtEl>
                                          <p:spTgt spid="18"/>
                                        </p:tgtEl>
                                        <p:attrNameLst>
                                          <p:attrName>ppt_x</p:attrName>
                                        </p:attrNameLst>
                                      </p:cBhvr>
                                      <p:tavLst>
                                        <p:tav tm="0">
                                          <p:val>
                                            <p:strVal val="#ppt_x"/>
                                          </p:val>
                                        </p:tav>
                                        <p:tav tm="100000">
                                          <p:val>
                                            <p:strVal val="#ppt_x"/>
                                          </p:val>
                                        </p:tav>
                                      </p:tavLst>
                                    </p:anim>
                                    <p:anim calcmode="lin" valueType="num">
                                      <p:cBhvr>
                                        <p:cTn id="45" dur="900" decel="100000"/>
                                        <p:tgtEl>
                                          <p:spTgt spid="18"/>
                                        </p:tgtEl>
                                        <p:attrNameLst>
                                          <p:attrName>ppt_y</p:attrName>
                                        </p:attrNameLst>
                                      </p:cBhvr>
                                      <p:tavLst>
                                        <p:tav tm="0">
                                          <p:val>
                                            <p:strVal val="#ppt_y+.035"/>
                                          </p:val>
                                        </p:tav>
                                        <p:tav tm="100000">
                                          <p:val>
                                            <p:strVal val="#ppt_y"/>
                                          </p:val>
                                        </p:tav>
                                      </p:tavLst>
                                    </p:anim>
                                  </p:childTnLst>
                                </p:cTn>
                              </p:par>
                              <p:par>
                                <p:cTn id="46" presetID="22" presetClass="entr" presetSubtype="8" fill="hold" grpId="0" nodeType="withEffect">
                                  <p:stCondLst>
                                    <p:cond delay="987"/>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700"/>
                                        <p:tgtEl>
                                          <p:spTgt spid="19"/>
                                        </p:tgtEl>
                                      </p:cBhvr>
                                    </p:animEffect>
                                  </p:childTnLst>
                                </p:cTn>
                              </p:par>
                              <p:par>
                                <p:cTn id="49" presetID="10" presetClass="entr" presetSubtype="0" fill="hold" grpId="0" nodeType="withEffect">
                                  <p:stCondLst>
                                    <p:cond delay="1054"/>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700"/>
                                        <p:tgtEl>
                                          <p:spTgt spid="20"/>
                                        </p:tgtEl>
                                      </p:cBhvr>
                                    </p:animEffect>
                                  </p:childTnLst>
                                </p:cTn>
                              </p:par>
                              <p:par>
                                <p:cTn id="52" presetID="42" presetClass="entr" presetSubtype="0" fill="hold" grpId="0" nodeType="withEffect">
                                  <p:stCondLst>
                                    <p:cond delay="1121"/>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900"/>
                                        <p:tgtEl>
                                          <p:spTgt spid="21"/>
                                        </p:tgtEl>
                                      </p:cBhvr>
                                    </p:animEffect>
                                    <p:anim calcmode="lin" valueType="num">
                                      <p:cBhvr>
                                        <p:cTn id="55" dur="900" decel="100000"/>
                                        <p:tgtEl>
                                          <p:spTgt spid="21"/>
                                        </p:tgtEl>
                                        <p:attrNameLst>
                                          <p:attrName>ppt_x</p:attrName>
                                        </p:attrNameLst>
                                      </p:cBhvr>
                                      <p:tavLst>
                                        <p:tav tm="0">
                                          <p:val>
                                            <p:strVal val="#ppt_x"/>
                                          </p:val>
                                        </p:tav>
                                        <p:tav tm="100000">
                                          <p:val>
                                            <p:strVal val="#ppt_x"/>
                                          </p:val>
                                        </p:tav>
                                      </p:tavLst>
                                    </p:anim>
                                    <p:anim calcmode="lin" valueType="num">
                                      <p:cBhvr>
                                        <p:cTn id="56" dur="900" decel="100000"/>
                                        <p:tgtEl>
                                          <p:spTgt spid="21"/>
                                        </p:tgtEl>
                                        <p:attrNameLst>
                                          <p:attrName>ppt_y</p:attrName>
                                        </p:attrNameLst>
                                      </p:cBhvr>
                                      <p:tavLst>
                                        <p:tav tm="0">
                                          <p:val>
                                            <p:strVal val="#ppt_y+.035"/>
                                          </p:val>
                                        </p:tav>
                                        <p:tav tm="100000">
                                          <p:val>
                                            <p:strVal val="#ppt_y"/>
                                          </p:val>
                                        </p:tav>
                                      </p:tavLst>
                                    </p:anim>
                                  </p:childTnLst>
                                </p:cTn>
                              </p:par>
                              <p:par>
                                <p:cTn id="57" presetID="22" presetClass="entr" presetSubtype="8" fill="hold" grpId="0" nodeType="withEffect">
                                  <p:stCondLst>
                                    <p:cond delay="1188"/>
                                  </p:stCondLst>
                                  <p:childTnLst>
                                    <p:set>
                                      <p:cBhvr>
                                        <p:cTn id="58" dur="1" fill="hold">
                                          <p:stCondLst>
                                            <p:cond delay="0"/>
                                          </p:stCondLst>
                                        </p:cTn>
                                        <p:tgtEl>
                                          <p:spTgt spid="22"/>
                                        </p:tgtEl>
                                        <p:attrNameLst>
                                          <p:attrName>style.visibility</p:attrName>
                                        </p:attrNameLst>
                                      </p:cBhvr>
                                      <p:to>
                                        <p:strVal val="visible"/>
                                      </p:to>
                                    </p:set>
                                    <p:animEffect transition="in" filter="wipe(left)">
                                      <p:cBhvr>
                                        <p:cTn id="59" dur="700"/>
                                        <p:tgtEl>
                                          <p:spTgt spid="22"/>
                                        </p:tgtEl>
                                      </p:cBhvr>
                                    </p:animEffect>
                                  </p:childTnLst>
                                </p:cTn>
                              </p:par>
                              <p:par>
                                <p:cTn id="60" presetID="10" presetClass="entr" presetSubtype="0" fill="hold" grpId="0" nodeType="withEffect">
                                  <p:stCondLst>
                                    <p:cond delay="1255"/>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700"/>
                                        <p:tgtEl>
                                          <p:spTgt spid="23"/>
                                        </p:tgtEl>
                                      </p:cBhvr>
                                    </p:animEffect>
                                  </p:childTnLst>
                                </p:cTn>
                              </p:par>
                              <p:par>
                                <p:cTn id="63" presetID="42" presetClass="entr" presetSubtype="0" fill="hold" grpId="0" nodeType="withEffect">
                                  <p:stCondLst>
                                    <p:cond delay="1322"/>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900"/>
                                        <p:tgtEl>
                                          <p:spTgt spid="24"/>
                                        </p:tgtEl>
                                      </p:cBhvr>
                                    </p:animEffect>
                                    <p:anim calcmode="lin" valueType="num">
                                      <p:cBhvr>
                                        <p:cTn id="66" dur="900" decel="100000"/>
                                        <p:tgtEl>
                                          <p:spTgt spid="24"/>
                                        </p:tgtEl>
                                        <p:attrNameLst>
                                          <p:attrName>ppt_x</p:attrName>
                                        </p:attrNameLst>
                                      </p:cBhvr>
                                      <p:tavLst>
                                        <p:tav tm="0">
                                          <p:val>
                                            <p:strVal val="#ppt_x"/>
                                          </p:val>
                                        </p:tav>
                                        <p:tav tm="100000">
                                          <p:val>
                                            <p:strVal val="#ppt_x"/>
                                          </p:val>
                                        </p:tav>
                                      </p:tavLst>
                                    </p:anim>
                                    <p:anim calcmode="lin" valueType="num">
                                      <p:cBhvr>
                                        <p:cTn id="67" dur="900" decel="100000"/>
                                        <p:tgtEl>
                                          <p:spTgt spid="24"/>
                                        </p:tgtEl>
                                        <p:attrNameLst>
                                          <p:attrName>ppt_y</p:attrName>
                                        </p:attrNameLst>
                                      </p:cBhvr>
                                      <p:tavLst>
                                        <p:tav tm="0">
                                          <p:val>
                                            <p:strVal val="#ppt_y+.035"/>
                                          </p:val>
                                        </p:tav>
                                        <p:tav tm="100000">
                                          <p:val>
                                            <p:strVal val="#ppt_y"/>
                                          </p:val>
                                        </p:tav>
                                      </p:tavLst>
                                    </p:anim>
                                  </p:childTnLst>
                                </p:cTn>
                              </p:par>
                              <p:par>
                                <p:cTn id="68" presetID="22" presetClass="entr" presetSubtype="8" fill="hold" grpId="0" nodeType="withEffect">
                                  <p:stCondLst>
                                    <p:cond delay="1389"/>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700"/>
                                        <p:tgtEl>
                                          <p:spTgt spid="25"/>
                                        </p:tgtEl>
                                      </p:cBhvr>
                                    </p:animEffect>
                                  </p:childTnLst>
                                </p:cTn>
                              </p:par>
                              <p:par>
                                <p:cTn id="71" presetID="42" presetClass="entr" presetSubtype="0" fill="hold" grpId="0" nodeType="withEffect">
                                  <p:stCondLst>
                                    <p:cond delay="1456"/>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900"/>
                                        <p:tgtEl>
                                          <p:spTgt spid="27"/>
                                        </p:tgtEl>
                                      </p:cBhvr>
                                    </p:animEffect>
                                    <p:anim calcmode="lin" valueType="num">
                                      <p:cBhvr>
                                        <p:cTn id="74" dur="900" decel="100000"/>
                                        <p:tgtEl>
                                          <p:spTgt spid="27"/>
                                        </p:tgtEl>
                                        <p:attrNameLst>
                                          <p:attrName>ppt_x</p:attrName>
                                        </p:attrNameLst>
                                      </p:cBhvr>
                                      <p:tavLst>
                                        <p:tav tm="0">
                                          <p:val>
                                            <p:strVal val="#ppt_x"/>
                                          </p:val>
                                        </p:tav>
                                        <p:tav tm="100000">
                                          <p:val>
                                            <p:strVal val="#ppt_x"/>
                                          </p:val>
                                        </p:tav>
                                      </p:tavLst>
                                    </p:anim>
                                    <p:anim calcmode="lin" valueType="num">
                                      <p:cBhvr>
                                        <p:cTn id="75" dur="900" decel="100000"/>
                                        <p:tgtEl>
                                          <p:spTgt spid="27"/>
                                        </p:tgtEl>
                                        <p:attrNameLst>
                                          <p:attrName>ppt_y</p:attrName>
                                        </p:attrNameLst>
                                      </p:cBhvr>
                                      <p:tavLst>
                                        <p:tav tm="0">
                                          <p:val>
                                            <p:strVal val="#ppt_y+.035"/>
                                          </p:val>
                                        </p:tav>
                                        <p:tav tm="100000">
                                          <p:val>
                                            <p:strVal val="#ppt_y"/>
                                          </p:val>
                                        </p:tav>
                                      </p:tavLst>
                                    </p:anim>
                                  </p:childTnLst>
                                </p:cTn>
                              </p:par>
                              <p:par>
                                <p:cTn id="76" presetID="10" presetClass="entr" presetSubtype="0" fill="hold" grpId="0" nodeType="withEffect">
                                  <p:stCondLst>
                                    <p:cond delay="1523"/>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700"/>
                                        <p:tgtEl>
                                          <p:spTgt spid="26"/>
                                        </p:tgtEl>
                                      </p:cBhvr>
                                    </p:animEffect>
                                  </p:childTnLst>
                                </p:cTn>
                              </p:par>
                              <p:par>
                                <p:cTn id="79" presetID="22" presetClass="entr" presetSubtype="8" fill="hold" grpId="0" nodeType="withEffect">
                                  <p:stCondLst>
                                    <p:cond delay="1590"/>
                                  </p:stCondLst>
                                  <p:childTnLst>
                                    <p:set>
                                      <p:cBhvr>
                                        <p:cTn id="80" dur="1" fill="hold">
                                          <p:stCondLst>
                                            <p:cond delay="0"/>
                                          </p:stCondLst>
                                        </p:cTn>
                                        <p:tgtEl>
                                          <p:spTgt spid="28"/>
                                        </p:tgtEl>
                                        <p:attrNameLst>
                                          <p:attrName>style.visibility</p:attrName>
                                        </p:attrNameLst>
                                      </p:cBhvr>
                                      <p:to>
                                        <p:strVal val="visible"/>
                                      </p:to>
                                    </p:set>
                                    <p:animEffect transition="in" filter="wipe(left)">
                                      <p:cBhvr>
                                        <p:cTn id="81" dur="700"/>
                                        <p:tgtEl>
                                          <p:spTgt spid="28"/>
                                        </p:tgtEl>
                                      </p:cBhvr>
                                    </p:animEffect>
                                  </p:childTnLst>
                                </p:cTn>
                              </p:par>
                              <p:par>
                                <p:cTn id="82" presetID="10" presetClass="entr" presetSubtype="0" fill="hold" grpId="0" nodeType="withEffect">
                                  <p:stCondLst>
                                    <p:cond delay="1657"/>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700"/>
                                        <p:tgtEl>
                                          <p:spTgt spid="29"/>
                                        </p:tgtEl>
                                      </p:cBhvr>
                                    </p:animEffect>
                                  </p:childTnLst>
                                </p:cTn>
                              </p:par>
                              <p:par>
                                <p:cTn id="85" presetID="42" presetClass="entr" presetSubtype="0" fill="hold" grpId="0" nodeType="withEffect">
                                  <p:stCondLst>
                                    <p:cond delay="1724"/>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900"/>
                                        <p:tgtEl>
                                          <p:spTgt spid="30"/>
                                        </p:tgtEl>
                                      </p:cBhvr>
                                    </p:animEffect>
                                    <p:anim calcmode="lin" valueType="num">
                                      <p:cBhvr>
                                        <p:cTn id="88" dur="900" decel="100000"/>
                                        <p:tgtEl>
                                          <p:spTgt spid="30"/>
                                        </p:tgtEl>
                                        <p:attrNameLst>
                                          <p:attrName>ppt_x</p:attrName>
                                        </p:attrNameLst>
                                      </p:cBhvr>
                                      <p:tavLst>
                                        <p:tav tm="0">
                                          <p:val>
                                            <p:strVal val="#ppt_x"/>
                                          </p:val>
                                        </p:tav>
                                        <p:tav tm="100000">
                                          <p:val>
                                            <p:strVal val="#ppt_x"/>
                                          </p:val>
                                        </p:tav>
                                      </p:tavLst>
                                    </p:anim>
                                    <p:anim calcmode="lin" valueType="num">
                                      <p:cBhvr>
                                        <p:cTn id="89" dur="900" decel="100000"/>
                                        <p:tgtEl>
                                          <p:spTgt spid="30"/>
                                        </p:tgtEl>
                                        <p:attrNameLst>
                                          <p:attrName>ppt_y</p:attrName>
                                        </p:attrNameLst>
                                      </p:cBhvr>
                                      <p:tavLst>
                                        <p:tav tm="0">
                                          <p:val>
                                            <p:strVal val="#ppt_y+.035"/>
                                          </p:val>
                                        </p:tav>
                                        <p:tav tm="100000">
                                          <p:val>
                                            <p:strVal val="#ppt_y"/>
                                          </p:val>
                                        </p:tav>
                                      </p:tavLst>
                                    </p:anim>
                                  </p:childTnLst>
                                </p:cTn>
                              </p:par>
                              <p:par>
                                <p:cTn id="90" presetID="22" presetClass="entr" presetSubtype="8" fill="hold" grpId="0" nodeType="withEffect">
                                  <p:stCondLst>
                                    <p:cond delay="1791"/>
                                  </p:stCondLst>
                                  <p:childTnLst>
                                    <p:set>
                                      <p:cBhvr>
                                        <p:cTn id="91" dur="1" fill="hold">
                                          <p:stCondLst>
                                            <p:cond delay="0"/>
                                          </p:stCondLst>
                                        </p:cTn>
                                        <p:tgtEl>
                                          <p:spTgt spid="31"/>
                                        </p:tgtEl>
                                        <p:attrNameLst>
                                          <p:attrName>style.visibility</p:attrName>
                                        </p:attrNameLst>
                                      </p:cBhvr>
                                      <p:to>
                                        <p:strVal val="visible"/>
                                      </p:to>
                                    </p:set>
                                    <p:animEffect transition="in" filter="wipe(left)">
                                      <p:cBhvr>
                                        <p:cTn id="92" dur="700"/>
                                        <p:tgtEl>
                                          <p:spTgt spid="31"/>
                                        </p:tgtEl>
                                      </p:cBhvr>
                                    </p:animEffect>
                                  </p:childTnLst>
                                </p:cTn>
                              </p:par>
                              <p:par>
                                <p:cTn id="93" presetID="42" presetClass="entr" presetSubtype="0" fill="hold" grpId="0" nodeType="withEffect">
                                  <p:stCondLst>
                                    <p:cond delay="1858"/>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900"/>
                                        <p:tgtEl>
                                          <p:spTgt spid="33"/>
                                        </p:tgtEl>
                                      </p:cBhvr>
                                    </p:animEffect>
                                    <p:anim calcmode="lin" valueType="num">
                                      <p:cBhvr>
                                        <p:cTn id="96" dur="900" decel="100000"/>
                                        <p:tgtEl>
                                          <p:spTgt spid="33"/>
                                        </p:tgtEl>
                                        <p:attrNameLst>
                                          <p:attrName>ppt_x</p:attrName>
                                        </p:attrNameLst>
                                      </p:cBhvr>
                                      <p:tavLst>
                                        <p:tav tm="0">
                                          <p:val>
                                            <p:strVal val="#ppt_x"/>
                                          </p:val>
                                        </p:tav>
                                        <p:tav tm="100000">
                                          <p:val>
                                            <p:strVal val="#ppt_x"/>
                                          </p:val>
                                        </p:tav>
                                      </p:tavLst>
                                    </p:anim>
                                    <p:anim calcmode="lin" valueType="num">
                                      <p:cBhvr>
                                        <p:cTn id="97" dur="900" decel="100000"/>
                                        <p:tgtEl>
                                          <p:spTgt spid="33"/>
                                        </p:tgtEl>
                                        <p:attrNameLst>
                                          <p:attrName>ppt_y</p:attrName>
                                        </p:attrNameLst>
                                      </p:cBhvr>
                                      <p:tavLst>
                                        <p:tav tm="0">
                                          <p:val>
                                            <p:strVal val="#ppt_y+.035"/>
                                          </p:val>
                                        </p:tav>
                                        <p:tav tm="100000">
                                          <p:val>
                                            <p:strVal val="#ppt_y"/>
                                          </p:val>
                                        </p:tav>
                                      </p:tavLst>
                                    </p:anim>
                                  </p:childTnLst>
                                </p:cTn>
                              </p:par>
                              <p:par>
                                <p:cTn id="98" presetID="10" presetClass="entr" presetSubtype="0" fill="hold" grpId="0" nodeType="withEffect">
                                  <p:stCondLst>
                                    <p:cond delay="1925"/>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700"/>
                                        <p:tgtEl>
                                          <p:spTgt spid="32"/>
                                        </p:tgtEl>
                                      </p:cBhvr>
                                    </p:animEffect>
                                  </p:childTnLst>
                                </p:cTn>
                              </p:par>
                              <p:par>
                                <p:cTn id="101" presetID="22" presetClass="entr" presetSubtype="8" fill="hold" grpId="0" nodeType="withEffect">
                                  <p:stCondLst>
                                    <p:cond delay="1992"/>
                                  </p:stCondLst>
                                  <p:childTnLst>
                                    <p:set>
                                      <p:cBhvr>
                                        <p:cTn id="102" dur="1" fill="hold">
                                          <p:stCondLst>
                                            <p:cond delay="0"/>
                                          </p:stCondLst>
                                        </p:cTn>
                                        <p:tgtEl>
                                          <p:spTgt spid="34"/>
                                        </p:tgtEl>
                                        <p:attrNameLst>
                                          <p:attrName>style.visibility</p:attrName>
                                        </p:attrNameLst>
                                      </p:cBhvr>
                                      <p:to>
                                        <p:strVal val="visible"/>
                                      </p:to>
                                    </p:set>
                                    <p:animEffect transition="in" filter="wipe(left)">
                                      <p:cBhvr>
                                        <p:cTn id="103" dur="700"/>
                                        <p:tgtEl>
                                          <p:spTgt spid="34"/>
                                        </p:tgtEl>
                                      </p:cBhvr>
                                    </p:animEffect>
                                  </p:childTnLst>
                                </p:cTn>
                              </p:par>
                              <p:par>
                                <p:cTn id="104" presetID="10" presetClass="entr" presetSubtype="0" fill="hold" grpId="0" nodeType="withEffect">
                                  <p:stCondLst>
                                    <p:cond delay="2059"/>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7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6" grpId="0" animBg="1"/>
      <p:bldP spid="28" grpId="0" animBg="1"/>
      <p:bldP spid="29" grpId="0" animBg="1"/>
      <p:bldP spid="30" grpId="0" animBg="1"/>
      <p:bldP spid="31" grpId="0" animBg="1"/>
      <p:bldP spid="33" grpId="0" animBg="1"/>
      <p:bldP spid="32" grpId="0" animBg="1"/>
      <p:bldP spid="34" grpId="0" animBg="1"/>
      <p:bldP spid="35"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958A7B"/>
                </a:solidFill>
                <a:latin typeface="Plus Jakarta Sans"/>
                <a:ea typeface="Plus Jakarta Sans"/>
                <a:cs typeface="Plus Jakarta Sans"/>
              </a:rPr>
              <a:t>13 / 17</a:t>
            </a:r>
          </a:p>
        </p:txBody>
      </p:sp>
      <p:sp>
        <p:nvSpPr>
          <p:cNvPr id="7" name="TextBox 6"/>
          <p:cNvSpPr txBox="1"/>
          <p:nvPr/>
        </p:nvSpPr>
        <p:spPr>
          <a:xfrm>
            <a:off x="685800" y="100584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WHAT’S NOT INCLUDED</a:t>
            </a:r>
          </a:p>
        </p:txBody>
      </p:sp>
      <p:sp>
        <p:nvSpPr>
          <p:cNvPr id="8" name="TextBox 7"/>
          <p:cNvSpPr txBox="1"/>
          <p:nvPr/>
        </p:nvSpPr>
        <p:spPr>
          <a:xfrm>
            <a:off x="685800" y="1280160"/>
            <a:ext cx="5486400" cy="1280160"/>
          </a:xfrm>
          <a:prstGeom prst="rect">
            <a:avLst/>
          </a:prstGeom>
          <a:noFill/>
        </p:spPr>
        <p:txBody>
          <a:bodyPr wrap="square" lIns="0" rIns="0" tIns="0" bIns="0">
            <a:spAutoFit/>
          </a:bodyPr>
          <a:lstStyle/>
          <a:p>
            <a:pPr algn="l">
              <a:lnSpc>
                <a:spcPct val="95000"/>
              </a:lnSpc>
            </a:pPr>
            <a:r>
              <a:rPr sz="4600" b="0" i="0">
                <a:solidFill>
                  <a:srgbClr val="EFE6D8"/>
                </a:solidFill>
                <a:latin typeface="Cormorant Garamond"/>
                <a:ea typeface="Plus Jakarta Sans"/>
                <a:cs typeface="Plus Jakarta Sans"/>
              </a:rPr>
              <a:t>Said plainly,
up front.</a:t>
            </a:r>
          </a:p>
        </p:txBody>
      </p:sp>
      <p:sp>
        <p:nvSpPr>
          <p:cNvPr id="9" name="TextBox 8"/>
          <p:cNvSpPr txBox="1"/>
          <p:nvPr/>
        </p:nvSpPr>
        <p:spPr>
          <a:xfrm>
            <a:off x="685800" y="2743200"/>
            <a:ext cx="4206240" cy="914400"/>
          </a:xfrm>
          <a:prstGeom prst="rect">
            <a:avLst/>
          </a:prstGeom>
          <a:noFill/>
        </p:spPr>
        <p:txBody>
          <a:bodyPr wrap="square" lIns="0" rIns="0" tIns="0" bIns="0">
            <a:spAutoFit/>
          </a:bodyPr>
          <a:lstStyle/>
          <a:p>
            <a:pPr algn="l">
              <a:lnSpc>
                <a:spcPct val="145000"/>
              </a:lnSpc>
            </a:pPr>
            <a:r>
              <a:rPr sz="1200" b="0" i="0">
                <a:solidFill>
                  <a:srgbClr val="CFC5B6"/>
                </a:solidFill>
                <a:latin typeface="Plus Jakarta Sans"/>
                <a:ea typeface="Plus Jakarta Sans"/>
                <a:cs typeface="Plus Jakarta Sans"/>
              </a:rPr>
              <a:t>We work with what you already have — and quote anything bigger separately.</a:t>
            </a:r>
          </a:p>
        </p:txBody>
      </p:sp>
      <p:sp>
        <p:nvSpPr>
          <p:cNvPr id="10" name="Rectangle 9"/>
          <p:cNvSpPr/>
          <p:nvPr/>
        </p:nvSpPr>
        <p:spPr>
          <a:xfrm>
            <a:off x="5760720" y="1325880"/>
            <a:ext cx="5745175" cy="10972"/>
          </a:xfrm>
          <a:prstGeom prst="rect">
            <a:avLst/>
          </a:prstGeom>
          <a:solidFill>
            <a:srgbClr val="39322B"/>
          </a:solidFill>
          <a:ln>
            <a:noFill/>
          </a:ln>
        </p:spPr>
        <p:txBody>
          <a:bodyPr rtlCol="0" anchor="ctr"/>
          <a:lstStyle/>
          <a:p>
            <a:pPr algn="ctr"/>
          </a:p>
        </p:txBody>
      </p:sp>
      <p:sp>
        <p:nvSpPr>
          <p:cNvPr id="11" name="TextBox 10"/>
          <p:cNvSpPr txBox="1"/>
          <p:nvPr/>
        </p:nvSpPr>
        <p:spPr>
          <a:xfrm>
            <a:off x="5760720" y="1527048"/>
            <a:ext cx="365760" cy="274320"/>
          </a:xfrm>
          <a:prstGeom prst="rect">
            <a:avLst/>
          </a:prstGeom>
          <a:noFill/>
        </p:spPr>
        <p:txBody>
          <a:bodyPr wrap="square" lIns="0" rIns="0" tIns="0" bIns="0">
            <a:spAutoFit/>
          </a:bodyPr>
          <a:lstStyle/>
          <a:p>
            <a:pPr algn="l"/>
            <a:r>
              <a:rPr sz="1100" b="1" i="0">
                <a:solidFill>
                  <a:srgbClr val="B8845A"/>
                </a:solidFill>
                <a:latin typeface="Plus Jakarta Sans"/>
                <a:ea typeface="Plus Jakarta Sans"/>
                <a:cs typeface="Plus Jakarta Sans"/>
              </a:rPr>
              <a:t>✕</a:t>
            </a:r>
          </a:p>
        </p:txBody>
      </p:sp>
      <p:sp>
        <p:nvSpPr>
          <p:cNvPr id="12" name="TextBox 11"/>
          <p:cNvSpPr txBox="1"/>
          <p:nvPr/>
        </p:nvSpPr>
        <p:spPr>
          <a:xfrm>
            <a:off x="6172200" y="1527048"/>
            <a:ext cx="5333695" cy="457200"/>
          </a:xfrm>
          <a:prstGeom prst="rect">
            <a:avLst/>
          </a:prstGeom>
          <a:noFill/>
        </p:spPr>
        <p:txBody>
          <a:bodyPr wrap="square" lIns="0" rIns="0" tIns="0" bIns="0">
            <a:spAutoFit/>
          </a:bodyPr>
          <a:lstStyle/>
          <a:p>
            <a:pPr algn="l">
              <a:lnSpc>
                <a:spcPct val="130000"/>
              </a:lnSpc>
            </a:pPr>
            <a:r>
              <a:rPr sz="1250" b="0" i="0">
                <a:solidFill>
                  <a:srgbClr val="EFE6D8"/>
                </a:solidFill>
                <a:latin typeface="Plus Jakarta Sans"/>
                <a:ea typeface="Plus Jakarta Sans"/>
                <a:cs typeface="Plus Jakarta Sans"/>
              </a:rPr>
              <a:t>Structural, plumbing or electrical work, false ceilings, rewiring</a:t>
            </a:r>
          </a:p>
        </p:txBody>
      </p:sp>
      <p:sp>
        <p:nvSpPr>
          <p:cNvPr id="13" name="Rectangle 12"/>
          <p:cNvSpPr/>
          <p:nvPr/>
        </p:nvSpPr>
        <p:spPr>
          <a:xfrm>
            <a:off x="5760720" y="2057400"/>
            <a:ext cx="5745175" cy="10972"/>
          </a:xfrm>
          <a:prstGeom prst="rect">
            <a:avLst/>
          </a:prstGeom>
          <a:solidFill>
            <a:srgbClr val="39322B"/>
          </a:solidFill>
          <a:ln>
            <a:noFill/>
          </a:ln>
        </p:spPr>
        <p:txBody>
          <a:bodyPr rtlCol="0" anchor="ctr"/>
          <a:lstStyle/>
          <a:p>
            <a:pPr algn="ctr"/>
          </a:p>
        </p:txBody>
      </p:sp>
      <p:sp>
        <p:nvSpPr>
          <p:cNvPr id="14" name="TextBox 13"/>
          <p:cNvSpPr txBox="1"/>
          <p:nvPr/>
        </p:nvSpPr>
        <p:spPr>
          <a:xfrm>
            <a:off x="5760720" y="2258568"/>
            <a:ext cx="365760" cy="274320"/>
          </a:xfrm>
          <a:prstGeom prst="rect">
            <a:avLst/>
          </a:prstGeom>
          <a:noFill/>
        </p:spPr>
        <p:txBody>
          <a:bodyPr wrap="square" lIns="0" rIns="0" tIns="0" bIns="0">
            <a:spAutoFit/>
          </a:bodyPr>
          <a:lstStyle/>
          <a:p>
            <a:pPr algn="l"/>
            <a:r>
              <a:rPr sz="1100" b="1" i="0">
                <a:solidFill>
                  <a:srgbClr val="B8845A"/>
                </a:solidFill>
                <a:latin typeface="Plus Jakarta Sans"/>
                <a:ea typeface="Plus Jakarta Sans"/>
                <a:cs typeface="Plus Jakarta Sans"/>
              </a:rPr>
              <a:t>✕</a:t>
            </a:r>
          </a:p>
        </p:txBody>
      </p:sp>
      <p:sp>
        <p:nvSpPr>
          <p:cNvPr id="15" name="TextBox 14"/>
          <p:cNvSpPr txBox="1"/>
          <p:nvPr/>
        </p:nvSpPr>
        <p:spPr>
          <a:xfrm>
            <a:off x="6172200" y="2258568"/>
            <a:ext cx="5333695" cy="457200"/>
          </a:xfrm>
          <a:prstGeom prst="rect">
            <a:avLst/>
          </a:prstGeom>
          <a:noFill/>
        </p:spPr>
        <p:txBody>
          <a:bodyPr wrap="square" lIns="0" rIns="0" tIns="0" bIns="0">
            <a:spAutoFit/>
          </a:bodyPr>
          <a:lstStyle/>
          <a:p>
            <a:pPr algn="l">
              <a:lnSpc>
                <a:spcPct val="130000"/>
              </a:lnSpc>
            </a:pPr>
            <a:r>
              <a:rPr sz="1250" b="0" i="0">
                <a:solidFill>
                  <a:srgbClr val="EFE6D8"/>
                </a:solidFill>
                <a:latin typeface="Plus Jakarta Sans"/>
                <a:ea typeface="Plus Jakarta Sans"/>
                <a:cs typeface="Plus Jakarta Sans"/>
              </a:rPr>
              <a:t>Air conditioner, fan and wardrobe — we work with what you already have</a:t>
            </a:r>
          </a:p>
        </p:txBody>
      </p:sp>
      <p:sp>
        <p:nvSpPr>
          <p:cNvPr id="16" name="Rectangle 15"/>
          <p:cNvSpPr/>
          <p:nvPr/>
        </p:nvSpPr>
        <p:spPr>
          <a:xfrm>
            <a:off x="5760720" y="2788920"/>
            <a:ext cx="5745175" cy="10972"/>
          </a:xfrm>
          <a:prstGeom prst="rect">
            <a:avLst/>
          </a:prstGeom>
          <a:solidFill>
            <a:srgbClr val="39322B"/>
          </a:solidFill>
          <a:ln>
            <a:noFill/>
          </a:ln>
        </p:spPr>
        <p:txBody>
          <a:bodyPr rtlCol="0" anchor="ctr"/>
          <a:lstStyle/>
          <a:p>
            <a:pPr algn="ctr"/>
          </a:p>
        </p:txBody>
      </p:sp>
      <p:sp>
        <p:nvSpPr>
          <p:cNvPr id="17" name="TextBox 16"/>
          <p:cNvSpPr txBox="1"/>
          <p:nvPr/>
        </p:nvSpPr>
        <p:spPr>
          <a:xfrm>
            <a:off x="5760720" y="2990088"/>
            <a:ext cx="365760" cy="274320"/>
          </a:xfrm>
          <a:prstGeom prst="rect">
            <a:avLst/>
          </a:prstGeom>
          <a:noFill/>
        </p:spPr>
        <p:txBody>
          <a:bodyPr wrap="square" lIns="0" rIns="0" tIns="0" bIns="0">
            <a:spAutoFit/>
          </a:bodyPr>
          <a:lstStyle/>
          <a:p>
            <a:pPr algn="l"/>
            <a:r>
              <a:rPr sz="1100" b="1" i="0">
                <a:solidFill>
                  <a:srgbClr val="B8845A"/>
                </a:solidFill>
                <a:latin typeface="Plus Jakarta Sans"/>
                <a:ea typeface="Plus Jakarta Sans"/>
                <a:cs typeface="Plus Jakarta Sans"/>
              </a:rPr>
              <a:t>✕</a:t>
            </a:r>
          </a:p>
        </p:txBody>
      </p:sp>
      <p:sp>
        <p:nvSpPr>
          <p:cNvPr id="18" name="TextBox 17"/>
          <p:cNvSpPr txBox="1"/>
          <p:nvPr/>
        </p:nvSpPr>
        <p:spPr>
          <a:xfrm>
            <a:off x="6172200" y="2990088"/>
            <a:ext cx="5333695" cy="457200"/>
          </a:xfrm>
          <a:prstGeom prst="rect">
            <a:avLst/>
          </a:prstGeom>
          <a:noFill/>
        </p:spPr>
        <p:txBody>
          <a:bodyPr wrap="square" lIns="0" rIns="0" tIns="0" bIns="0">
            <a:spAutoFit/>
          </a:bodyPr>
          <a:lstStyle/>
          <a:p>
            <a:pPr algn="l">
              <a:lnSpc>
                <a:spcPct val="130000"/>
              </a:lnSpc>
            </a:pPr>
            <a:r>
              <a:rPr sz="1250" b="0" i="0">
                <a:solidFill>
                  <a:srgbClr val="EFE6D8"/>
                </a:solidFill>
                <a:latin typeface="Plus Jakarta Sans"/>
                <a:ea typeface="Plus Jakarta Sans"/>
                <a:cs typeface="Plus Jakarta Sans"/>
              </a:rPr>
              <a:t>Washing machine and dishwasher</a:t>
            </a:r>
          </a:p>
        </p:txBody>
      </p:sp>
      <p:sp>
        <p:nvSpPr>
          <p:cNvPr id="19" name="Rectangle 18"/>
          <p:cNvSpPr/>
          <p:nvPr/>
        </p:nvSpPr>
        <p:spPr>
          <a:xfrm>
            <a:off x="5760720" y="3520440"/>
            <a:ext cx="5745175" cy="10972"/>
          </a:xfrm>
          <a:prstGeom prst="rect">
            <a:avLst/>
          </a:prstGeom>
          <a:solidFill>
            <a:srgbClr val="39322B"/>
          </a:solidFill>
          <a:ln>
            <a:noFill/>
          </a:ln>
        </p:spPr>
        <p:txBody>
          <a:bodyPr rtlCol="0" anchor="ctr"/>
          <a:lstStyle/>
          <a:p>
            <a:pPr algn="ctr"/>
          </a:p>
        </p:txBody>
      </p:sp>
      <p:sp>
        <p:nvSpPr>
          <p:cNvPr id="20" name="TextBox 19"/>
          <p:cNvSpPr txBox="1"/>
          <p:nvPr/>
        </p:nvSpPr>
        <p:spPr>
          <a:xfrm>
            <a:off x="5760720" y="3721608"/>
            <a:ext cx="365760" cy="274320"/>
          </a:xfrm>
          <a:prstGeom prst="rect">
            <a:avLst/>
          </a:prstGeom>
          <a:noFill/>
        </p:spPr>
        <p:txBody>
          <a:bodyPr wrap="square" lIns="0" rIns="0" tIns="0" bIns="0">
            <a:spAutoFit/>
          </a:bodyPr>
          <a:lstStyle/>
          <a:p>
            <a:pPr algn="l"/>
            <a:r>
              <a:rPr sz="1100" b="1" i="0">
                <a:solidFill>
                  <a:srgbClr val="B8845A"/>
                </a:solidFill>
                <a:latin typeface="Plus Jakarta Sans"/>
                <a:ea typeface="Plus Jakarta Sans"/>
                <a:cs typeface="Plus Jakarta Sans"/>
              </a:rPr>
              <a:t>✕</a:t>
            </a:r>
          </a:p>
        </p:txBody>
      </p:sp>
      <p:sp>
        <p:nvSpPr>
          <p:cNvPr id="21" name="TextBox 20"/>
          <p:cNvSpPr txBox="1"/>
          <p:nvPr/>
        </p:nvSpPr>
        <p:spPr>
          <a:xfrm>
            <a:off x="6172200" y="3721608"/>
            <a:ext cx="5333695" cy="457200"/>
          </a:xfrm>
          <a:prstGeom prst="rect">
            <a:avLst/>
          </a:prstGeom>
          <a:noFill/>
        </p:spPr>
        <p:txBody>
          <a:bodyPr wrap="square" lIns="0" rIns="0" tIns="0" bIns="0">
            <a:spAutoFit/>
          </a:bodyPr>
          <a:lstStyle/>
          <a:p>
            <a:pPr algn="l">
              <a:lnSpc>
                <a:spcPct val="130000"/>
              </a:lnSpc>
            </a:pPr>
            <a:r>
              <a:rPr sz="1250" b="0" i="0">
                <a:solidFill>
                  <a:srgbClr val="EFE6D8"/>
                </a:solidFill>
                <a:latin typeface="Plus Jakarta Sans"/>
                <a:ea typeface="Plus Jakarta Sans"/>
                <a:cs typeface="Plus Jakarta Sans"/>
              </a:rPr>
              <a:t>Additional or sofa beds — quoted separately</a:t>
            </a:r>
          </a:p>
        </p:txBody>
      </p:sp>
      <p:sp>
        <p:nvSpPr>
          <p:cNvPr id="22" name="Rectangle 21"/>
          <p:cNvSpPr/>
          <p:nvPr/>
        </p:nvSpPr>
        <p:spPr>
          <a:xfrm>
            <a:off x="5760720" y="4251960"/>
            <a:ext cx="5745175" cy="10972"/>
          </a:xfrm>
          <a:prstGeom prst="rect">
            <a:avLst/>
          </a:prstGeom>
          <a:solidFill>
            <a:srgbClr val="39322B"/>
          </a:solidFill>
          <a:ln>
            <a:noFill/>
          </a:ln>
        </p:spPr>
        <p:txBody>
          <a:bodyPr rtlCol="0" anchor="ctr"/>
          <a:lstStyle/>
          <a:p>
            <a:pPr algn="ctr"/>
          </a:p>
        </p:txBody>
      </p:sp>
      <p:sp>
        <p:nvSpPr>
          <p:cNvPr id="23" name="TextBox 22"/>
          <p:cNvSpPr txBox="1"/>
          <p:nvPr/>
        </p:nvSpPr>
        <p:spPr>
          <a:xfrm>
            <a:off x="5760720" y="4453128"/>
            <a:ext cx="365760" cy="274320"/>
          </a:xfrm>
          <a:prstGeom prst="rect">
            <a:avLst/>
          </a:prstGeom>
          <a:noFill/>
        </p:spPr>
        <p:txBody>
          <a:bodyPr wrap="square" lIns="0" rIns="0" tIns="0" bIns="0">
            <a:spAutoFit/>
          </a:bodyPr>
          <a:lstStyle/>
          <a:p>
            <a:pPr algn="l"/>
            <a:r>
              <a:rPr sz="1100" b="1" i="0">
                <a:solidFill>
                  <a:srgbClr val="B8845A"/>
                </a:solidFill>
                <a:latin typeface="Plus Jakarta Sans"/>
                <a:ea typeface="Plus Jakarta Sans"/>
                <a:cs typeface="Plus Jakarta Sans"/>
              </a:rPr>
              <a:t>✕</a:t>
            </a:r>
          </a:p>
        </p:txBody>
      </p:sp>
      <p:sp>
        <p:nvSpPr>
          <p:cNvPr id="24" name="TextBox 23"/>
          <p:cNvSpPr txBox="1"/>
          <p:nvPr/>
        </p:nvSpPr>
        <p:spPr>
          <a:xfrm>
            <a:off x="6172200" y="4453128"/>
            <a:ext cx="5333695" cy="457200"/>
          </a:xfrm>
          <a:prstGeom prst="rect">
            <a:avLst/>
          </a:prstGeom>
          <a:noFill/>
        </p:spPr>
        <p:txBody>
          <a:bodyPr wrap="square" lIns="0" rIns="0" tIns="0" bIns="0">
            <a:spAutoFit/>
          </a:bodyPr>
          <a:lstStyle/>
          <a:p>
            <a:pPr algn="l">
              <a:lnSpc>
                <a:spcPct val="130000"/>
              </a:lnSpc>
            </a:pPr>
            <a:r>
              <a:rPr sz="1250" b="0" i="0">
                <a:solidFill>
                  <a:srgbClr val="EFE6D8"/>
                </a:solidFill>
                <a:latin typeface="Plus Jakarta Sans"/>
                <a:ea typeface="Plus Jakarta Sans"/>
                <a:cs typeface="Plus Jakarta Sans"/>
              </a:rPr>
              <a:t>Studios above 350 sq ft — quoted separately</a:t>
            </a:r>
          </a:p>
        </p:txBody>
      </p:sp>
      <p:sp>
        <p:nvSpPr>
          <p:cNvPr id="25" name="Rectangle 24"/>
          <p:cNvSpPr/>
          <p:nvPr/>
        </p:nvSpPr>
        <p:spPr>
          <a:xfrm>
            <a:off x="5760720" y="4983480"/>
            <a:ext cx="5745175" cy="10972"/>
          </a:xfrm>
          <a:prstGeom prst="rect">
            <a:avLst/>
          </a:prstGeom>
          <a:solidFill>
            <a:srgbClr val="39322B"/>
          </a:solidFill>
          <a:ln>
            <a:noFill/>
          </a:ln>
        </p:spPr>
        <p:txBody>
          <a:bodyPr rtlCol="0" anchor="ctr"/>
          <a:lstStyle/>
          <a:p>
            <a:pPr algn="ctr"/>
          </a:p>
        </p:txBody>
      </p:sp>
      <p:sp>
        <p:nvSpPr>
          <p:cNvPr id="26" name="TextBox 25"/>
          <p:cNvSpPr txBox="1"/>
          <p:nvPr/>
        </p:nvSpPr>
        <p:spPr>
          <a:xfrm>
            <a:off x="5760720" y="5184648"/>
            <a:ext cx="365760" cy="274320"/>
          </a:xfrm>
          <a:prstGeom prst="rect">
            <a:avLst/>
          </a:prstGeom>
          <a:noFill/>
        </p:spPr>
        <p:txBody>
          <a:bodyPr wrap="square" lIns="0" rIns="0" tIns="0" bIns="0">
            <a:spAutoFit/>
          </a:bodyPr>
          <a:lstStyle/>
          <a:p>
            <a:pPr algn="l"/>
            <a:r>
              <a:rPr sz="1100" b="1" i="0">
                <a:solidFill>
                  <a:srgbClr val="B8845A"/>
                </a:solidFill>
                <a:latin typeface="Plus Jakarta Sans"/>
                <a:ea typeface="Plus Jakarta Sans"/>
                <a:cs typeface="Plus Jakarta Sans"/>
              </a:rPr>
              <a:t>✕</a:t>
            </a:r>
          </a:p>
        </p:txBody>
      </p:sp>
      <p:sp>
        <p:nvSpPr>
          <p:cNvPr id="27" name="TextBox 26"/>
          <p:cNvSpPr txBox="1"/>
          <p:nvPr/>
        </p:nvSpPr>
        <p:spPr>
          <a:xfrm>
            <a:off x="6172200" y="5184648"/>
            <a:ext cx="5333695" cy="457200"/>
          </a:xfrm>
          <a:prstGeom prst="rect">
            <a:avLst/>
          </a:prstGeom>
          <a:noFill/>
        </p:spPr>
        <p:txBody>
          <a:bodyPr wrap="square" lIns="0" rIns="0" tIns="0" bIns="0">
            <a:spAutoFit/>
          </a:bodyPr>
          <a:lstStyle/>
          <a:p>
            <a:pPr algn="l">
              <a:lnSpc>
                <a:spcPct val="130000"/>
              </a:lnSpc>
            </a:pPr>
            <a:r>
              <a:rPr sz="1250" b="0" i="0">
                <a:solidFill>
                  <a:srgbClr val="EFE6D8"/>
                </a:solidFill>
                <a:latin typeface="Plus Jakarta Sans"/>
                <a:ea typeface="Plus Jakarta Sans"/>
                <a:cs typeface="Plus Jakarta Sans"/>
              </a:rPr>
              <a:t>Your society or building permissions</a:t>
            </a:r>
          </a:p>
        </p:txBody>
      </p:sp>
      <p:sp>
        <p:nvSpPr>
          <p:cNvPr id="28" name="Rectangle 27"/>
          <p:cNvSpPr/>
          <p:nvPr/>
        </p:nvSpPr>
        <p:spPr>
          <a:xfrm>
            <a:off x="5760720" y="5715000"/>
            <a:ext cx="5745175" cy="10972"/>
          </a:xfrm>
          <a:prstGeom prst="rect">
            <a:avLst/>
          </a:prstGeom>
          <a:solidFill>
            <a:srgbClr val="39322B"/>
          </a:solidFill>
          <a:ln>
            <a:noFill/>
          </a:ln>
        </p:spPr>
        <p:txBody>
          <a:bodyPr rtlCol="0" anchor="ctr"/>
          <a:lstStyle/>
          <a:p>
            <a:pPr algn="ct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36"/>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22" presetClass="entr" presetSubtype="8" fill="hold" grpId="0" nodeType="withEffect">
                                  <p:stCondLst>
                                    <p:cond delay="422"/>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700"/>
                                        <p:tgtEl>
                                          <p:spTgt spid="10"/>
                                        </p:tgtEl>
                                      </p:cBhvr>
                                    </p:animEffect>
                                  </p:childTnLst>
                                </p:cTn>
                              </p:par>
                              <p:par>
                                <p:cTn id="16" presetID="10" presetClass="entr" presetSubtype="0" fill="hold" grpId="0" nodeType="withEffect">
                                  <p:stCondLst>
                                    <p:cond delay="508"/>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700"/>
                                        <p:tgtEl>
                                          <p:spTgt spid="11"/>
                                        </p:tgtEl>
                                      </p:cBhvr>
                                    </p:animEffect>
                                  </p:childTnLst>
                                </p:cTn>
                              </p:par>
                              <p:par>
                                <p:cTn id="19" presetID="10" presetClass="entr" presetSubtype="0" fill="hold" grpId="0" nodeType="withEffect">
                                  <p:stCondLst>
                                    <p:cond delay="594"/>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00"/>
                                        <p:tgtEl>
                                          <p:spTgt spid="12"/>
                                        </p:tgtEl>
                                      </p:cBhvr>
                                    </p:animEffect>
                                  </p:childTnLst>
                                </p:cTn>
                              </p:par>
                              <p:par>
                                <p:cTn id="22" presetID="22" presetClass="entr" presetSubtype="8" fill="hold" grpId="0" nodeType="withEffect">
                                  <p:stCondLst>
                                    <p:cond delay="68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700"/>
                                        <p:tgtEl>
                                          <p:spTgt spid="13"/>
                                        </p:tgtEl>
                                      </p:cBhvr>
                                    </p:animEffect>
                                  </p:childTnLst>
                                </p:cTn>
                              </p:par>
                              <p:par>
                                <p:cTn id="25" presetID="10" presetClass="entr" presetSubtype="0" fill="hold" grpId="0" nodeType="withEffect">
                                  <p:stCondLst>
                                    <p:cond delay="766"/>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700"/>
                                        <p:tgtEl>
                                          <p:spTgt spid="14"/>
                                        </p:tgtEl>
                                      </p:cBhvr>
                                    </p:animEffect>
                                  </p:childTnLst>
                                </p:cTn>
                              </p:par>
                              <p:par>
                                <p:cTn id="28" presetID="10" presetClass="entr" presetSubtype="0" fill="hold" grpId="0" nodeType="withEffect">
                                  <p:stCondLst>
                                    <p:cond delay="852"/>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700"/>
                                        <p:tgtEl>
                                          <p:spTgt spid="15"/>
                                        </p:tgtEl>
                                      </p:cBhvr>
                                    </p:animEffect>
                                  </p:childTnLst>
                                </p:cTn>
                              </p:par>
                              <p:par>
                                <p:cTn id="31" presetID="10" presetClass="entr" presetSubtype="0" fill="hold" grpId="0" nodeType="withEffect">
                                  <p:stCondLst>
                                    <p:cond delay="938"/>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700"/>
                                        <p:tgtEl>
                                          <p:spTgt spid="9"/>
                                        </p:tgtEl>
                                      </p:cBhvr>
                                    </p:animEffect>
                                  </p:childTnLst>
                                </p:cTn>
                              </p:par>
                              <p:par>
                                <p:cTn id="34" presetID="22" presetClass="entr" presetSubtype="8" fill="hold" grpId="0" nodeType="withEffect">
                                  <p:stCondLst>
                                    <p:cond delay="1024"/>
                                  </p:stCondLst>
                                  <p:childTnLst>
                                    <p:set>
                                      <p:cBhvr>
                                        <p:cTn id="35" dur="1" fill="hold">
                                          <p:stCondLst>
                                            <p:cond delay="0"/>
                                          </p:stCondLst>
                                        </p:cTn>
                                        <p:tgtEl>
                                          <p:spTgt spid="16"/>
                                        </p:tgtEl>
                                        <p:attrNameLst>
                                          <p:attrName>style.visibility</p:attrName>
                                        </p:attrNameLst>
                                      </p:cBhvr>
                                      <p:to>
                                        <p:strVal val="visible"/>
                                      </p:to>
                                    </p:set>
                                    <p:animEffect transition="in" filter="wipe(left)">
                                      <p:cBhvr>
                                        <p:cTn id="36" dur="700"/>
                                        <p:tgtEl>
                                          <p:spTgt spid="16"/>
                                        </p:tgtEl>
                                      </p:cBhvr>
                                    </p:animEffect>
                                  </p:childTnLst>
                                </p:cTn>
                              </p:par>
                              <p:par>
                                <p:cTn id="37" presetID="10" presetClass="entr" presetSubtype="0" fill="hold" grpId="0" nodeType="withEffect">
                                  <p:stCondLst>
                                    <p:cond delay="111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700"/>
                                        <p:tgtEl>
                                          <p:spTgt spid="17"/>
                                        </p:tgtEl>
                                      </p:cBhvr>
                                    </p:animEffect>
                                  </p:childTnLst>
                                </p:cTn>
                              </p:par>
                              <p:par>
                                <p:cTn id="40" presetID="10" presetClass="entr" presetSubtype="0" fill="hold" grpId="0" nodeType="withEffect">
                                  <p:stCondLst>
                                    <p:cond delay="1196"/>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700"/>
                                        <p:tgtEl>
                                          <p:spTgt spid="18"/>
                                        </p:tgtEl>
                                      </p:cBhvr>
                                    </p:animEffect>
                                  </p:childTnLst>
                                </p:cTn>
                              </p:par>
                              <p:par>
                                <p:cTn id="43" presetID="22" presetClass="entr" presetSubtype="8" fill="hold" grpId="0" nodeType="withEffect">
                                  <p:stCondLst>
                                    <p:cond delay="1282"/>
                                  </p:stCondLst>
                                  <p:childTnLst>
                                    <p:set>
                                      <p:cBhvr>
                                        <p:cTn id="44" dur="1" fill="hold">
                                          <p:stCondLst>
                                            <p:cond delay="0"/>
                                          </p:stCondLst>
                                        </p:cTn>
                                        <p:tgtEl>
                                          <p:spTgt spid="19"/>
                                        </p:tgtEl>
                                        <p:attrNameLst>
                                          <p:attrName>style.visibility</p:attrName>
                                        </p:attrNameLst>
                                      </p:cBhvr>
                                      <p:to>
                                        <p:strVal val="visible"/>
                                      </p:to>
                                    </p:set>
                                    <p:animEffect transition="in" filter="wipe(left)">
                                      <p:cBhvr>
                                        <p:cTn id="45" dur="700"/>
                                        <p:tgtEl>
                                          <p:spTgt spid="19"/>
                                        </p:tgtEl>
                                      </p:cBhvr>
                                    </p:animEffect>
                                  </p:childTnLst>
                                </p:cTn>
                              </p:par>
                              <p:par>
                                <p:cTn id="46" presetID="10" presetClass="entr" presetSubtype="0" fill="hold" grpId="0" nodeType="withEffect">
                                  <p:stCondLst>
                                    <p:cond delay="1368"/>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700"/>
                                        <p:tgtEl>
                                          <p:spTgt spid="20"/>
                                        </p:tgtEl>
                                      </p:cBhvr>
                                    </p:animEffect>
                                  </p:childTnLst>
                                </p:cTn>
                              </p:par>
                              <p:par>
                                <p:cTn id="49" presetID="10" presetClass="entr" presetSubtype="0" fill="hold" grpId="0" nodeType="withEffect">
                                  <p:stCondLst>
                                    <p:cond delay="1454"/>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700"/>
                                        <p:tgtEl>
                                          <p:spTgt spid="21"/>
                                        </p:tgtEl>
                                      </p:cBhvr>
                                    </p:animEffect>
                                  </p:childTnLst>
                                </p:cTn>
                              </p:par>
                              <p:par>
                                <p:cTn id="52" presetID="22" presetClass="entr" presetSubtype="8" fill="hold" grpId="0" nodeType="withEffect">
                                  <p:stCondLst>
                                    <p:cond delay="1540"/>
                                  </p:stCondLst>
                                  <p:childTnLst>
                                    <p:set>
                                      <p:cBhvr>
                                        <p:cTn id="53" dur="1" fill="hold">
                                          <p:stCondLst>
                                            <p:cond delay="0"/>
                                          </p:stCondLst>
                                        </p:cTn>
                                        <p:tgtEl>
                                          <p:spTgt spid="22"/>
                                        </p:tgtEl>
                                        <p:attrNameLst>
                                          <p:attrName>style.visibility</p:attrName>
                                        </p:attrNameLst>
                                      </p:cBhvr>
                                      <p:to>
                                        <p:strVal val="visible"/>
                                      </p:to>
                                    </p:set>
                                    <p:animEffect transition="in" filter="wipe(left)">
                                      <p:cBhvr>
                                        <p:cTn id="54" dur="700"/>
                                        <p:tgtEl>
                                          <p:spTgt spid="22"/>
                                        </p:tgtEl>
                                      </p:cBhvr>
                                    </p:animEffect>
                                  </p:childTnLst>
                                </p:cTn>
                              </p:par>
                              <p:par>
                                <p:cTn id="55" presetID="10" presetClass="entr" presetSubtype="0" fill="hold" grpId="0" nodeType="withEffect">
                                  <p:stCondLst>
                                    <p:cond delay="1626"/>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700"/>
                                        <p:tgtEl>
                                          <p:spTgt spid="23"/>
                                        </p:tgtEl>
                                      </p:cBhvr>
                                    </p:animEffect>
                                  </p:childTnLst>
                                </p:cTn>
                              </p:par>
                              <p:par>
                                <p:cTn id="58" presetID="10" presetClass="entr" presetSubtype="0" fill="hold" grpId="0" nodeType="withEffect">
                                  <p:stCondLst>
                                    <p:cond delay="1712"/>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700"/>
                                        <p:tgtEl>
                                          <p:spTgt spid="24"/>
                                        </p:tgtEl>
                                      </p:cBhvr>
                                    </p:animEffect>
                                  </p:childTnLst>
                                </p:cTn>
                              </p:par>
                              <p:par>
                                <p:cTn id="61" presetID="22" presetClass="entr" presetSubtype="8" fill="hold" grpId="0" nodeType="withEffect">
                                  <p:stCondLst>
                                    <p:cond delay="1798"/>
                                  </p:stCondLst>
                                  <p:childTnLst>
                                    <p:set>
                                      <p:cBhvr>
                                        <p:cTn id="62" dur="1" fill="hold">
                                          <p:stCondLst>
                                            <p:cond delay="0"/>
                                          </p:stCondLst>
                                        </p:cTn>
                                        <p:tgtEl>
                                          <p:spTgt spid="25"/>
                                        </p:tgtEl>
                                        <p:attrNameLst>
                                          <p:attrName>style.visibility</p:attrName>
                                        </p:attrNameLst>
                                      </p:cBhvr>
                                      <p:to>
                                        <p:strVal val="visible"/>
                                      </p:to>
                                    </p:set>
                                    <p:animEffect transition="in" filter="wipe(left)">
                                      <p:cBhvr>
                                        <p:cTn id="63" dur="700"/>
                                        <p:tgtEl>
                                          <p:spTgt spid="25"/>
                                        </p:tgtEl>
                                      </p:cBhvr>
                                    </p:animEffect>
                                  </p:childTnLst>
                                </p:cTn>
                              </p:par>
                              <p:par>
                                <p:cTn id="64" presetID="10" presetClass="entr" presetSubtype="0" fill="hold" grpId="0" nodeType="withEffect">
                                  <p:stCondLst>
                                    <p:cond delay="1884"/>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700"/>
                                        <p:tgtEl>
                                          <p:spTgt spid="26"/>
                                        </p:tgtEl>
                                      </p:cBhvr>
                                    </p:animEffect>
                                  </p:childTnLst>
                                </p:cTn>
                              </p:par>
                              <p:par>
                                <p:cTn id="67" presetID="10" presetClass="entr" presetSubtype="0" fill="hold" grpId="0" nodeType="withEffect">
                                  <p:stCondLst>
                                    <p:cond delay="197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700"/>
                                        <p:tgtEl>
                                          <p:spTgt spid="27"/>
                                        </p:tgtEl>
                                      </p:cBhvr>
                                    </p:animEffect>
                                  </p:childTnLst>
                                </p:cTn>
                              </p:par>
                              <p:par>
                                <p:cTn id="70" presetID="22" presetClass="entr" presetSubtype="8" fill="hold" grpId="0" nodeType="withEffect">
                                  <p:stCondLst>
                                    <p:cond delay="2056"/>
                                  </p:stCondLst>
                                  <p:childTnLst>
                                    <p:set>
                                      <p:cBhvr>
                                        <p:cTn id="71" dur="1" fill="hold">
                                          <p:stCondLst>
                                            <p:cond delay="0"/>
                                          </p:stCondLst>
                                        </p:cTn>
                                        <p:tgtEl>
                                          <p:spTgt spid="28"/>
                                        </p:tgtEl>
                                        <p:attrNameLst>
                                          <p:attrName>style.visibility</p:attrName>
                                        </p:attrNameLst>
                                      </p:cBhvr>
                                      <p:to>
                                        <p:strVal val="visible"/>
                                      </p:to>
                                    </p:set>
                                    <p:animEffect transition="in" filter="wipe(left)">
                                      <p:cBhvr>
                                        <p:cTn id="72" dur="7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5" grpId="0" animBg="1"/>
      <p:bldP spid="9"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EDE6DA"/>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8A7F71"/>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8A7F71"/>
                </a:solidFill>
                <a:latin typeface="Plus Jakarta Sans"/>
                <a:ea typeface="Plus Jakarta Sans"/>
                <a:cs typeface="Plus Jakarta Sans"/>
              </a:rPr>
              <a:t>14 / 17</a:t>
            </a:r>
          </a:p>
        </p:txBody>
      </p:sp>
      <p:sp>
        <p:nvSpPr>
          <p:cNvPr id="7" name="TextBox 6"/>
          <p:cNvSpPr txBox="1"/>
          <p:nvPr/>
        </p:nvSpPr>
        <p:spPr>
          <a:xfrm>
            <a:off x="685800" y="100584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HOW IT WORKS</a:t>
            </a:r>
          </a:p>
        </p:txBody>
      </p:sp>
      <p:sp>
        <p:nvSpPr>
          <p:cNvPr id="8" name="TextBox 7"/>
          <p:cNvSpPr txBox="1"/>
          <p:nvPr/>
        </p:nvSpPr>
        <p:spPr>
          <a:xfrm>
            <a:off x="685800" y="1280160"/>
            <a:ext cx="10058400" cy="822960"/>
          </a:xfrm>
          <a:prstGeom prst="rect">
            <a:avLst/>
          </a:prstGeom>
          <a:noFill/>
        </p:spPr>
        <p:txBody>
          <a:bodyPr wrap="square" lIns="0" rIns="0" tIns="0" bIns="0">
            <a:spAutoFit/>
          </a:bodyPr>
          <a:lstStyle/>
          <a:p>
            <a:pPr algn="l">
              <a:lnSpc>
                <a:spcPct val="92000"/>
              </a:lnSpc>
            </a:pPr>
            <a:r>
              <a:rPr sz="3800" b="0" i="0">
                <a:solidFill>
                  <a:srgbClr val="1B1815"/>
                </a:solidFill>
                <a:latin typeface="Cormorant Garamond"/>
                <a:ea typeface="Plus Jakarta Sans"/>
                <a:cs typeface="Plus Jakarta Sans"/>
              </a:rPr>
              <a:t>Ten days from your advance to a bookable room.</a:t>
            </a:r>
          </a:p>
        </p:txBody>
      </p:sp>
      <p:sp>
        <p:nvSpPr>
          <p:cNvPr id="9" name="Rectangle 8"/>
          <p:cNvSpPr/>
          <p:nvPr/>
        </p:nvSpPr>
        <p:spPr>
          <a:xfrm>
            <a:off x="685800" y="2834640"/>
            <a:ext cx="10820095" cy="14630"/>
          </a:xfrm>
          <a:prstGeom prst="rect">
            <a:avLst/>
          </a:prstGeom>
          <a:solidFill>
            <a:srgbClr val="1B1815"/>
          </a:solidFill>
          <a:ln>
            <a:noFill/>
          </a:ln>
        </p:spPr>
        <p:txBody>
          <a:bodyPr rtlCol="0" anchor="ctr"/>
          <a:lstStyle/>
          <a:p>
            <a:pPr algn="ctr"/>
          </a:p>
        </p:txBody>
      </p:sp>
      <p:sp>
        <p:nvSpPr>
          <p:cNvPr id="10" name="Oval 9"/>
          <p:cNvSpPr/>
          <p:nvPr/>
        </p:nvSpPr>
        <p:spPr>
          <a:xfrm>
            <a:off x="685800" y="2743200"/>
            <a:ext cx="201168" cy="201168"/>
          </a:xfrm>
          <a:prstGeom prst="ellipse">
            <a:avLst/>
          </a:prstGeom>
          <a:solidFill>
            <a:srgbClr val="B8845A"/>
          </a:solidFill>
          <a:ln>
            <a:noFill/>
          </a:ln>
        </p:spPr>
        <p:txBody>
          <a:bodyPr rtlCol="0" anchor="ctr"/>
          <a:lstStyle/>
          <a:p>
            <a:pPr algn="ctr"/>
          </a:p>
        </p:txBody>
      </p:sp>
      <p:sp>
        <p:nvSpPr>
          <p:cNvPr id="11" name="TextBox 10"/>
          <p:cNvSpPr txBox="1"/>
          <p:nvPr/>
        </p:nvSpPr>
        <p:spPr>
          <a:xfrm>
            <a:off x="685800" y="3200400"/>
            <a:ext cx="1981139" cy="640080"/>
          </a:xfrm>
          <a:prstGeom prst="rect">
            <a:avLst/>
          </a:prstGeom>
          <a:noFill/>
        </p:spPr>
        <p:txBody>
          <a:bodyPr wrap="square" lIns="0" rIns="0" tIns="0" bIns="0">
            <a:spAutoFit/>
          </a:bodyPr>
          <a:lstStyle/>
          <a:p>
            <a:pPr algn="l">
              <a:lnSpc>
                <a:spcPct val="92000"/>
              </a:lnSpc>
            </a:pPr>
            <a:r>
              <a:rPr sz="3400" b="0" i="0">
                <a:solidFill>
                  <a:srgbClr val="1B1815"/>
                </a:solidFill>
                <a:latin typeface="Cormorant Garamond"/>
                <a:ea typeface="Plus Jakarta Sans"/>
                <a:cs typeface="Plus Jakarta Sans"/>
              </a:rPr>
              <a:t>Day 0</a:t>
            </a:r>
          </a:p>
        </p:txBody>
      </p:sp>
      <p:sp>
        <p:nvSpPr>
          <p:cNvPr id="12" name="TextBox 11"/>
          <p:cNvSpPr txBox="1"/>
          <p:nvPr/>
        </p:nvSpPr>
        <p:spPr>
          <a:xfrm>
            <a:off x="685800" y="3977639"/>
            <a:ext cx="1843979" cy="1645920"/>
          </a:xfrm>
          <a:prstGeom prst="rect">
            <a:avLst/>
          </a:prstGeom>
          <a:noFill/>
        </p:spPr>
        <p:txBody>
          <a:bodyPr wrap="square" lIns="0" rIns="0" tIns="0" bIns="0">
            <a:spAutoFit/>
          </a:bodyPr>
          <a:lstStyle/>
          <a:p>
            <a:pPr algn="l">
              <a:lnSpc>
                <a:spcPct val="145000"/>
              </a:lnSpc>
            </a:pPr>
            <a:r>
              <a:rPr sz="1050" b="0" i="0">
                <a:solidFill>
                  <a:srgbClr val="4A423A"/>
                </a:solidFill>
                <a:latin typeface="Plus Jakarta Sans"/>
                <a:ea typeface="Plus Jakarta Sans"/>
                <a:cs typeface="Plus Jakarta Sans"/>
              </a:rPr>
              <a:t>You send photos and measurements. We confirm the price within 24 hours.</a:t>
            </a:r>
          </a:p>
        </p:txBody>
      </p:sp>
      <p:sp>
        <p:nvSpPr>
          <p:cNvPr id="13" name="Oval 12"/>
          <p:cNvSpPr/>
          <p:nvPr/>
        </p:nvSpPr>
        <p:spPr>
          <a:xfrm>
            <a:off x="2849819" y="2743200"/>
            <a:ext cx="201168" cy="201168"/>
          </a:xfrm>
          <a:prstGeom prst="ellipse">
            <a:avLst/>
          </a:prstGeom>
          <a:solidFill>
            <a:srgbClr val="B8845A"/>
          </a:solidFill>
          <a:ln>
            <a:noFill/>
          </a:ln>
        </p:spPr>
        <p:txBody>
          <a:bodyPr rtlCol="0" anchor="ctr"/>
          <a:lstStyle/>
          <a:p>
            <a:pPr algn="ctr"/>
          </a:p>
        </p:txBody>
      </p:sp>
      <p:sp>
        <p:nvSpPr>
          <p:cNvPr id="14" name="TextBox 13"/>
          <p:cNvSpPr txBox="1"/>
          <p:nvPr/>
        </p:nvSpPr>
        <p:spPr>
          <a:xfrm>
            <a:off x="2849819" y="3200400"/>
            <a:ext cx="1981139" cy="640080"/>
          </a:xfrm>
          <a:prstGeom prst="rect">
            <a:avLst/>
          </a:prstGeom>
          <a:noFill/>
        </p:spPr>
        <p:txBody>
          <a:bodyPr wrap="square" lIns="0" rIns="0" tIns="0" bIns="0">
            <a:spAutoFit/>
          </a:bodyPr>
          <a:lstStyle/>
          <a:p>
            <a:pPr algn="l">
              <a:lnSpc>
                <a:spcPct val="92000"/>
              </a:lnSpc>
            </a:pPr>
            <a:r>
              <a:rPr sz="3400" b="0" i="0">
                <a:solidFill>
                  <a:srgbClr val="1B1815"/>
                </a:solidFill>
                <a:latin typeface="Cormorant Garamond"/>
                <a:ea typeface="Plus Jakarta Sans"/>
                <a:cs typeface="Plus Jakarta Sans"/>
              </a:rPr>
              <a:t>Day 1</a:t>
            </a:r>
          </a:p>
        </p:txBody>
      </p:sp>
      <p:sp>
        <p:nvSpPr>
          <p:cNvPr id="15" name="TextBox 14"/>
          <p:cNvSpPr txBox="1"/>
          <p:nvPr/>
        </p:nvSpPr>
        <p:spPr>
          <a:xfrm>
            <a:off x="2849819" y="3977639"/>
            <a:ext cx="1843979" cy="1645920"/>
          </a:xfrm>
          <a:prstGeom prst="rect">
            <a:avLst/>
          </a:prstGeom>
          <a:noFill/>
        </p:spPr>
        <p:txBody>
          <a:bodyPr wrap="square" lIns="0" rIns="0" tIns="0" bIns="0">
            <a:spAutoFit/>
          </a:bodyPr>
          <a:lstStyle/>
          <a:p>
            <a:pPr algn="l">
              <a:lnSpc>
                <a:spcPct val="145000"/>
              </a:lnSpc>
            </a:pPr>
            <a:r>
              <a:rPr sz="1050" b="0" i="0">
                <a:solidFill>
                  <a:srgbClr val="4A423A"/>
                </a:solidFill>
                <a:latin typeface="Plus Jakarta Sans"/>
                <a:ea typeface="Plus Jakarta Sans"/>
                <a:cs typeface="Plus Jakarta Sans"/>
              </a:rPr>
              <a:t>You pay 50%, approve the design plan, and we start sourcing.</a:t>
            </a:r>
          </a:p>
        </p:txBody>
      </p:sp>
      <p:sp>
        <p:nvSpPr>
          <p:cNvPr id="16" name="Oval 15"/>
          <p:cNvSpPr/>
          <p:nvPr/>
        </p:nvSpPr>
        <p:spPr>
          <a:xfrm>
            <a:off x="5013838" y="2743200"/>
            <a:ext cx="201168" cy="201168"/>
          </a:xfrm>
          <a:prstGeom prst="ellipse">
            <a:avLst/>
          </a:prstGeom>
          <a:solidFill>
            <a:srgbClr val="B8845A"/>
          </a:solidFill>
          <a:ln>
            <a:noFill/>
          </a:ln>
        </p:spPr>
        <p:txBody>
          <a:bodyPr rtlCol="0" anchor="ctr"/>
          <a:lstStyle/>
          <a:p>
            <a:pPr algn="ctr"/>
          </a:p>
        </p:txBody>
      </p:sp>
      <p:sp>
        <p:nvSpPr>
          <p:cNvPr id="17" name="TextBox 16"/>
          <p:cNvSpPr txBox="1"/>
          <p:nvPr/>
        </p:nvSpPr>
        <p:spPr>
          <a:xfrm>
            <a:off x="5013838" y="3200400"/>
            <a:ext cx="1981139" cy="640080"/>
          </a:xfrm>
          <a:prstGeom prst="rect">
            <a:avLst/>
          </a:prstGeom>
          <a:noFill/>
        </p:spPr>
        <p:txBody>
          <a:bodyPr wrap="square" lIns="0" rIns="0" tIns="0" bIns="0">
            <a:spAutoFit/>
          </a:bodyPr>
          <a:lstStyle/>
          <a:p>
            <a:pPr algn="l">
              <a:lnSpc>
                <a:spcPct val="92000"/>
              </a:lnSpc>
            </a:pPr>
            <a:r>
              <a:rPr sz="3400" b="0" i="0">
                <a:solidFill>
                  <a:srgbClr val="1B1815"/>
                </a:solidFill>
                <a:latin typeface="Cormorant Garamond"/>
                <a:ea typeface="Plus Jakarta Sans"/>
                <a:cs typeface="Plus Jakarta Sans"/>
              </a:rPr>
              <a:t>Day 2–8</a:t>
            </a:r>
          </a:p>
        </p:txBody>
      </p:sp>
      <p:sp>
        <p:nvSpPr>
          <p:cNvPr id="18" name="TextBox 17"/>
          <p:cNvSpPr txBox="1"/>
          <p:nvPr/>
        </p:nvSpPr>
        <p:spPr>
          <a:xfrm>
            <a:off x="5013838" y="3977639"/>
            <a:ext cx="1843979" cy="1645920"/>
          </a:xfrm>
          <a:prstGeom prst="rect">
            <a:avLst/>
          </a:prstGeom>
          <a:noFill/>
        </p:spPr>
        <p:txBody>
          <a:bodyPr wrap="square" lIns="0" rIns="0" tIns="0" bIns="0">
            <a:spAutoFit/>
          </a:bodyPr>
          <a:lstStyle/>
          <a:p>
            <a:pPr algn="l">
              <a:lnSpc>
                <a:spcPct val="145000"/>
              </a:lnSpc>
            </a:pPr>
            <a:r>
              <a:rPr sz="1050" b="0" i="0">
                <a:solidFill>
                  <a:srgbClr val="4A423A"/>
                </a:solidFill>
                <a:latin typeface="Plus Jakarta Sans"/>
                <a:ea typeface="Plus Jakarta Sans"/>
                <a:cs typeface="Plus Jakarta Sans"/>
              </a:rPr>
              <a:t>Everything is made and collected at our end. Nothing lands at your door piecemeal.</a:t>
            </a:r>
          </a:p>
        </p:txBody>
      </p:sp>
      <p:sp>
        <p:nvSpPr>
          <p:cNvPr id="19" name="Oval 18"/>
          <p:cNvSpPr/>
          <p:nvPr/>
        </p:nvSpPr>
        <p:spPr>
          <a:xfrm>
            <a:off x="7177857" y="2743200"/>
            <a:ext cx="201168" cy="201168"/>
          </a:xfrm>
          <a:prstGeom prst="ellipse">
            <a:avLst/>
          </a:prstGeom>
          <a:solidFill>
            <a:srgbClr val="B8845A"/>
          </a:solidFill>
          <a:ln>
            <a:noFill/>
          </a:ln>
        </p:spPr>
        <p:txBody>
          <a:bodyPr rtlCol="0" anchor="ctr"/>
          <a:lstStyle/>
          <a:p>
            <a:pPr algn="ctr"/>
          </a:p>
        </p:txBody>
      </p:sp>
      <p:sp>
        <p:nvSpPr>
          <p:cNvPr id="20" name="TextBox 19"/>
          <p:cNvSpPr txBox="1"/>
          <p:nvPr/>
        </p:nvSpPr>
        <p:spPr>
          <a:xfrm>
            <a:off x="7177857" y="3200400"/>
            <a:ext cx="1981139" cy="640080"/>
          </a:xfrm>
          <a:prstGeom prst="rect">
            <a:avLst/>
          </a:prstGeom>
          <a:noFill/>
        </p:spPr>
        <p:txBody>
          <a:bodyPr wrap="square" lIns="0" rIns="0" tIns="0" bIns="0">
            <a:spAutoFit/>
          </a:bodyPr>
          <a:lstStyle/>
          <a:p>
            <a:pPr algn="l">
              <a:lnSpc>
                <a:spcPct val="92000"/>
              </a:lnSpc>
            </a:pPr>
            <a:r>
              <a:rPr sz="3400" b="0" i="0">
                <a:solidFill>
                  <a:srgbClr val="1B1815"/>
                </a:solidFill>
                <a:latin typeface="Cormorant Garamond"/>
                <a:ea typeface="Plus Jakarta Sans"/>
                <a:cs typeface="Plus Jakarta Sans"/>
              </a:rPr>
              <a:t>Day 9</a:t>
            </a:r>
          </a:p>
        </p:txBody>
      </p:sp>
      <p:sp>
        <p:nvSpPr>
          <p:cNvPr id="21" name="TextBox 20"/>
          <p:cNvSpPr txBox="1"/>
          <p:nvPr/>
        </p:nvSpPr>
        <p:spPr>
          <a:xfrm>
            <a:off x="7177857" y="3977639"/>
            <a:ext cx="1843979" cy="1645920"/>
          </a:xfrm>
          <a:prstGeom prst="rect">
            <a:avLst/>
          </a:prstGeom>
          <a:noFill/>
        </p:spPr>
        <p:txBody>
          <a:bodyPr wrap="square" lIns="0" rIns="0" tIns="0" bIns="0">
            <a:spAutoFit/>
          </a:bodyPr>
          <a:lstStyle/>
          <a:p>
            <a:pPr algn="l">
              <a:lnSpc>
                <a:spcPct val="145000"/>
              </a:lnSpc>
            </a:pPr>
            <a:r>
              <a:rPr sz="1050" b="0" i="0">
                <a:solidFill>
                  <a:srgbClr val="4A423A"/>
                </a:solidFill>
                <a:latin typeface="Plus Jakarta Sans"/>
                <a:ea typeface="Plus Jakarta Sans"/>
                <a:cs typeface="Plus Jakarta Sans"/>
              </a:rPr>
              <a:t>Install day. We assemble, place, hang and style the entire room.</a:t>
            </a:r>
          </a:p>
        </p:txBody>
      </p:sp>
      <p:sp>
        <p:nvSpPr>
          <p:cNvPr id="22" name="Oval 21"/>
          <p:cNvSpPr/>
          <p:nvPr/>
        </p:nvSpPr>
        <p:spPr>
          <a:xfrm>
            <a:off x="9341876" y="2743200"/>
            <a:ext cx="201168" cy="201168"/>
          </a:xfrm>
          <a:prstGeom prst="ellipse">
            <a:avLst/>
          </a:prstGeom>
          <a:solidFill>
            <a:srgbClr val="D93A2F"/>
          </a:solidFill>
          <a:ln>
            <a:noFill/>
          </a:ln>
        </p:spPr>
        <p:txBody>
          <a:bodyPr rtlCol="0" anchor="ctr"/>
          <a:lstStyle/>
          <a:p>
            <a:pPr algn="ctr"/>
          </a:p>
        </p:txBody>
      </p:sp>
      <p:sp>
        <p:nvSpPr>
          <p:cNvPr id="23" name="TextBox 22"/>
          <p:cNvSpPr txBox="1"/>
          <p:nvPr/>
        </p:nvSpPr>
        <p:spPr>
          <a:xfrm>
            <a:off x="9341876" y="3200400"/>
            <a:ext cx="1981139" cy="640080"/>
          </a:xfrm>
          <a:prstGeom prst="rect">
            <a:avLst/>
          </a:prstGeom>
          <a:noFill/>
        </p:spPr>
        <p:txBody>
          <a:bodyPr wrap="square" lIns="0" rIns="0" tIns="0" bIns="0">
            <a:spAutoFit/>
          </a:bodyPr>
          <a:lstStyle/>
          <a:p>
            <a:pPr algn="l">
              <a:lnSpc>
                <a:spcPct val="92000"/>
              </a:lnSpc>
            </a:pPr>
            <a:r>
              <a:rPr sz="3400" b="0" i="0">
                <a:solidFill>
                  <a:srgbClr val="1B1815"/>
                </a:solidFill>
                <a:latin typeface="Cormorant Garamond"/>
                <a:ea typeface="Plus Jakarta Sans"/>
                <a:cs typeface="Plus Jakarta Sans"/>
              </a:rPr>
              <a:t>Day 10</a:t>
            </a:r>
          </a:p>
        </p:txBody>
      </p:sp>
      <p:sp>
        <p:nvSpPr>
          <p:cNvPr id="24" name="TextBox 23"/>
          <p:cNvSpPr txBox="1"/>
          <p:nvPr/>
        </p:nvSpPr>
        <p:spPr>
          <a:xfrm>
            <a:off x="9341876" y="3977639"/>
            <a:ext cx="1843979" cy="1645920"/>
          </a:xfrm>
          <a:prstGeom prst="rect">
            <a:avLst/>
          </a:prstGeom>
          <a:noFill/>
        </p:spPr>
        <p:txBody>
          <a:bodyPr wrap="square" lIns="0" rIns="0" tIns="0" bIns="0">
            <a:spAutoFit/>
          </a:bodyPr>
          <a:lstStyle/>
          <a:p>
            <a:pPr algn="l">
              <a:lnSpc>
                <a:spcPct val="145000"/>
              </a:lnSpc>
            </a:pPr>
            <a:r>
              <a:rPr sz="1050" b="0" i="0">
                <a:solidFill>
                  <a:srgbClr val="4A423A"/>
                </a:solidFill>
                <a:latin typeface="Plus Jakarta Sans"/>
                <a:ea typeface="Plus Jakarta Sans"/>
                <a:cs typeface="Plus Jakarta Sans"/>
              </a:rPr>
              <a:t>Deep clean, professional shoot, balance 50%. Images sent that evening.</a:t>
            </a:r>
          </a:p>
        </p:txBody>
      </p:sp>
      <p:sp>
        <p:nvSpPr>
          <p:cNvPr id="25" name="Rectangle 24"/>
          <p:cNvSpPr/>
          <p:nvPr/>
        </p:nvSpPr>
        <p:spPr>
          <a:xfrm>
            <a:off x="685800" y="5577840"/>
            <a:ext cx="10820095" cy="502920"/>
          </a:xfrm>
          <a:prstGeom prst="rect">
            <a:avLst/>
          </a:prstGeom>
          <a:solidFill>
            <a:srgbClr val="1B1815"/>
          </a:solidFill>
          <a:ln>
            <a:noFill/>
          </a:ln>
        </p:spPr>
        <p:txBody>
          <a:bodyPr rtlCol="0" anchor="ctr"/>
          <a:lstStyle/>
          <a:p>
            <a:pPr algn="ctr"/>
          </a:p>
        </p:txBody>
      </p:sp>
      <p:sp>
        <p:nvSpPr>
          <p:cNvPr id="26" name="TextBox 25"/>
          <p:cNvSpPr txBox="1"/>
          <p:nvPr/>
        </p:nvSpPr>
        <p:spPr>
          <a:xfrm>
            <a:off x="960120" y="5715000"/>
            <a:ext cx="10058400" cy="274320"/>
          </a:xfrm>
          <a:prstGeom prst="rect">
            <a:avLst/>
          </a:prstGeom>
          <a:noFill/>
        </p:spPr>
        <p:txBody>
          <a:bodyPr wrap="square" lIns="0" rIns="0" tIns="0" bIns="0">
            <a:spAutoFit/>
          </a:bodyPr>
          <a:lstStyle/>
          <a:p>
            <a:pPr algn="l"/>
            <a:r>
              <a:rPr sz="1050" b="1" i="0">
                <a:solidFill>
                  <a:srgbClr val="EDE6DA"/>
                </a:solidFill>
                <a:latin typeface="Plus Jakarta Sans"/>
                <a:ea typeface="Plus Jakarta Sans"/>
                <a:cs typeface="Plus Jakarta Sans"/>
              </a:rPr>
              <a:t>50% to start  ·  50% on day 10, when the room is finished and photographed</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45"/>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22" presetClass="entr" presetSubtype="8" fill="hold" grpId="0" nodeType="withEffect">
                                  <p:stCondLst>
                                    <p:cond delay="44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700"/>
                                        <p:tgtEl>
                                          <p:spTgt spid="9"/>
                                        </p:tgtEl>
                                      </p:cBhvr>
                                    </p:animEffect>
                                  </p:childTnLst>
                                </p:cTn>
                              </p:par>
                              <p:par>
                                <p:cTn id="16" presetID="10" presetClass="entr" presetSubtype="0" fill="hold" grpId="0" nodeType="withEffect">
                                  <p:stCondLst>
                                    <p:cond delay="535"/>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childTnLst>
                                </p:cTn>
                              </p:par>
                              <p:par>
                                <p:cTn id="19" presetID="10" presetClass="entr" presetSubtype="0" fill="hold" grpId="0" nodeType="withEffect">
                                  <p:stCondLst>
                                    <p:cond delay="63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700"/>
                                        <p:tgtEl>
                                          <p:spTgt spid="13"/>
                                        </p:tgtEl>
                                      </p:cBhvr>
                                    </p:animEffect>
                                  </p:childTnLst>
                                </p:cTn>
                              </p:par>
                              <p:par>
                                <p:cTn id="22" presetID="10" presetClass="entr" presetSubtype="0" fill="hold" grpId="0" nodeType="withEffect">
                                  <p:stCondLst>
                                    <p:cond delay="725"/>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700"/>
                                        <p:tgtEl>
                                          <p:spTgt spid="16"/>
                                        </p:tgtEl>
                                      </p:cBhvr>
                                    </p:animEffect>
                                  </p:childTnLst>
                                </p:cTn>
                              </p:par>
                              <p:par>
                                <p:cTn id="25" presetID="10" presetClass="entr" presetSubtype="0" fill="hold" grpId="0" nodeType="withEffect">
                                  <p:stCondLst>
                                    <p:cond delay="82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700"/>
                                        <p:tgtEl>
                                          <p:spTgt spid="19"/>
                                        </p:tgtEl>
                                      </p:cBhvr>
                                    </p:animEffect>
                                  </p:childTnLst>
                                </p:cTn>
                              </p:par>
                              <p:par>
                                <p:cTn id="28" presetID="10" presetClass="entr" presetSubtype="0" fill="hold" grpId="0" nodeType="withEffect">
                                  <p:stCondLst>
                                    <p:cond delay="915"/>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700"/>
                                        <p:tgtEl>
                                          <p:spTgt spid="22"/>
                                        </p:tgtEl>
                                      </p:cBhvr>
                                    </p:animEffect>
                                  </p:childTnLst>
                                </p:cTn>
                              </p:par>
                              <p:par>
                                <p:cTn id="31" presetID="42" presetClass="entr" presetSubtype="0" fill="hold" grpId="0" nodeType="withEffect">
                                  <p:stCondLst>
                                    <p:cond delay="101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900"/>
                                        <p:tgtEl>
                                          <p:spTgt spid="11"/>
                                        </p:tgtEl>
                                      </p:cBhvr>
                                    </p:animEffect>
                                    <p:anim calcmode="lin" valueType="num">
                                      <p:cBhvr>
                                        <p:cTn id="34" dur="900" decel="100000"/>
                                        <p:tgtEl>
                                          <p:spTgt spid="11"/>
                                        </p:tgtEl>
                                        <p:attrNameLst>
                                          <p:attrName>ppt_x</p:attrName>
                                        </p:attrNameLst>
                                      </p:cBhvr>
                                      <p:tavLst>
                                        <p:tav tm="0">
                                          <p:val>
                                            <p:strVal val="#ppt_x"/>
                                          </p:val>
                                        </p:tav>
                                        <p:tav tm="100000">
                                          <p:val>
                                            <p:strVal val="#ppt_x"/>
                                          </p:val>
                                        </p:tav>
                                      </p:tavLst>
                                    </p:anim>
                                    <p:anim calcmode="lin" valueType="num">
                                      <p:cBhvr>
                                        <p:cTn id="35" dur="900" decel="100000"/>
                                        <p:tgtEl>
                                          <p:spTgt spid="11"/>
                                        </p:tgtEl>
                                        <p:attrNameLst>
                                          <p:attrName>ppt_y</p:attrName>
                                        </p:attrNameLst>
                                      </p:cBhvr>
                                      <p:tavLst>
                                        <p:tav tm="0">
                                          <p:val>
                                            <p:strVal val="#ppt_y+.035"/>
                                          </p:val>
                                        </p:tav>
                                        <p:tav tm="100000">
                                          <p:val>
                                            <p:strVal val="#ppt_y"/>
                                          </p:val>
                                        </p:tav>
                                      </p:tavLst>
                                    </p:anim>
                                  </p:childTnLst>
                                </p:cTn>
                              </p:par>
                              <p:par>
                                <p:cTn id="36" presetID="42" presetClass="entr" presetSubtype="0" fill="hold" grpId="0" nodeType="withEffect">
                                  <p:stCondLst>
                                    <p:cond delay="1105"/>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900"/>
                                        <p:tgtEl>
                                          <p:spTgt spid="14"/>
                                        </p:tgtEl>
                                      </p:cBhvr>
                                    </p:animEffect>
                                    <p:anim calcmode="lin" valueType="num">
                                      <p:cBhvr>
                                        <p:cTn id="39" dur="900" decel="100000"/>
                                        <p:tgtEl>
                                          <p:spTgt spid="14"/>
                                        </p:tgtEl>
                                        <p:attrNameLst>
                                          <p:attrName>ppt_x</p:attrName>
                                        </p:attrNameLst>
                                      </p:cBhvr>
                                      <p:tavLst>
                                        <p:tav tm="0">
                                          <p:val>
                                            <p:strVal val="#ppt_x"/>
                                          </p:val>
                                        </p:tav>
                                        <p:tav tm="100000">
                                          <p:val>
                                            <p:strVal val="#ppt_x"/>
                                          </p:val>
                                        </p:tav>
                                      </p:tavLst>
                                    </p:anim>
                                    <p:anim calcmode="lin" valueType="num">
                                      <p:cBhvr>
                                        <p:cTn id="40" dur="900" decel="100000"/>
                                        <p:tgtEl>
                                          <p:spTgt spid="14"/>
                                        </p:tgtEl>
                                        <p:attrNameLst>
                                          <p:attrName>ppt_y</p:attrName>
                                        </p:attrNameLst>
                                      </p:cBhvr>
                                      <p:tavLst>
                                        <p:tav tm="0">
                                          <p:val>
                                            <p:strVal val="#ppt_y+.035"/>
                                          </p:val>
                                        </p:tav>
                                        <p:tav tm="100000">
                                          <p:val>
                                            <p:strVal val="#ppt_y"/>
                                          </p:val>
                                        </p:tav>
                                      </p:tavLst>
                                    </p:anim>
                                  </p:childTnLst>
                                </p:cTn>
                              </p:par>
                              <p:par>
                                <p:cTn id="41" presetID="42" presetClass="entr" presetSubtype="0" fill="hold" grpId="0" nodeType="withEffect">
                                  <p:stCondLst>
                                    <p:cond delay="12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900"/>
                                        <p:tgtEl>
                                          <p:spTgt spid="17"/>
                                        </p:tgtEl>
                                      </p:cBhvr>
                                    </p:animEffect>
                                    <p:anim calcmode="lin" valueType="num">
                                      <p:cBhvr>
                                        <p:cTn id="44" dur="900" decel="100000"/>
                                        <p:tgtEl>
                                          <p:spTgt spid="17"/>
                                        </p:tgtEl>
                                        <p:attrNameLst>
                                          <p:attrName>ppt_x</p:attrName>
                                        </p:attrNameLst>
                                      </p:cBhvr>
                                      <p:tavLst>
                                        <p:tav tm="0">
                                          <p:val>
                                            <p:strVal val="#ppt_x"/>
                                          </p:val>
                                        </p:tav>
                                        <p:tav tm="100000">
                                          <p:val>
                                            <p:strVal val="#ppt_x"/>
                                          </p:val>
                                        </p:tav>
                                      </p:tavLst>
                                    </p:anim>
                                    <p:anim calcmode="lin" valueType="num">
                                      <p:cBhvr>
                                        <p:cTn id="45" dur="900" decel="100000"/>
                                        <p:tgtEl>
                                          <p:spTgt spid="17"/>
                                        </p:tgtEl>
                                        <p:attrNameLst>
                                          <p:attrName>ppt_y</p:attrName>
                                        </p:attrNameLst>
                                      </p:cBhvr>
                                      <p:tavLst>
                                        <p:tav tm="0">
                                          <p:val>
                                            <p:strVal val="#ppt_y+.035"/>
                                          </p:val>
                                        </p:tav>
                                        <p:tav tm="100000">
                                          <p:val>
                                            <p:strVal val="#ppt_y"/>
                                          </p:val>
                                        </p:tav>
                                      </p:tavLst>
                                    </p:anim>
                                  </p:childTnLst>
                                </p:cTn>
                              </p:par>
                              <p:par>
                                <p:cTn id="46" presetID="42" presetClass="entr" presetSubtype="0" fill="hold" grpId="0" nodeType="withEffect">
                                  <p:stCondLst>
                                    <p:cond delay="1295"/>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900"/>
                                        <p:tgtEl>
                                          <p:spTgt spid="20"/>
                                        </p:tgtEl>
                                      </p:cBhvr>
                                    </p:animEffect>
                                    <p:anim calcmode="lin" valueType="num">
                                      <p:cBhvr>
                                        <p:cTn id="49" dur="900" decel="100000"/>
                                        <p:tgtEl>
                                          <p:spTgt spid="20"/>
                                        </p:tgtEl>
                                        <p:attrNameLst>
                                          <p:attrName>ppt_x</p:attrName>
                                        </p:attrNameLst>
                                      </p:cBhvr>
                                      <p:tavLst>
                                        <p:tav tm="0">
                                          <p:val>
                                            <p:strVal val="#ppt_x"/>
                                          </p:val>
                                        </p:tav>
                                        <p:tav tm="100000">
                                          <p:val>
                                            <p:strVal val="#ppt_x"/>
                                          </p:val>
                                        </p:tav>
                                      </p:tavLst>
                                    </p:anim>
                                    <p:anim calcmode="lin" valueType="num">
                                      <p:cBhvr>
                                        <p:cTn id="50" dur="900" decel="100000"/>
                                        <p:tgtEl>
                                          <p:spTgt spid="20"/>
                                        </p:tgtEl>
                                        <p:attrNameLst>
                                          <p:attrName>ppt_y</p:attrName>
                                        </p:attrNameLst>
                                      </p:cBhvr>
                                      <p:tavLst>
                                        <p:tav tm="0">
                                          <p:val>
                                            <p:strVal val="#ppt_y+.035"/>
                                          </p:val>
                                        </p:tav>
                                        <p:tav tm="100000">
                                          <p:val>
                                            <p:strVal val="#ppt_y"/>
                                          </p:val>
                                        </p:tav>
                                      </p:tavLst>
                                    </p:anim>
                                  </p:childTnLst>
                                </p:cTn>
                              </p:par>
                              <p:par>
                                <p:cTn id="51" presetID="42" presetClass="entr" presetSubtype="0" fill="hold" grpId="0" nodeType="withEffect">
                                  <p:stCondLst>
                                    <p:cond delay="139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900"/>
                                        <p:tgtEl>
                                          <p:spTgt spid="23"/>
                                        </p:tgtEl>
                                      </p:cBhvr>
                                    </p:animEffect>
                                    <p:anim calcmode="lin" valueType="num">
                                      <p:cBhvr>
                                        <p:cTn id="54" dur="900" decel="100000"/>
                                        <p:tgtEl>
                                          <p:spTgt spid="23"/>
                                        </p:tgtEl>
                                        <p:attrNameLst>
                                          <p:attrName>ppt_x</p:attrName>
                                        </p:attrNameLst>
                                      </p:cBhvr>
                                      <p:tavLst>
                                        <p:tav tm="0">
                                          <p:val>
                                            <p:strVal val="#ppt_x"/>
                                          </p:val>
                                        </p:tav>
                                        <p:tav tm="100000">
                                          <p:val>
                                            <p:strVal val="#ppt_x"/>
                                          </p:val>
                                        </p:tav>
                                      </p:tavLst>
                                    </p:anim>
                                    <p:anim calcmode="lin" valueType="num">
                                      <p:cBhvr>
                                        <p:cTn id="55" dur="900" decel="100000"/>
                                        <p:tgtEl>
                                          <p:spTgt spid="23"/>
                                        </p:tgtEl>
                                        <p:attrNameLst>
                                          <p:attrName>ppt_y</p:attrName>
                                        </p:attrNameLst>
                                      </p:cBhvr>
                                      <p:tavLst>
                                        <p:tav tm="0">
                                          <p:val>
                                            <p:strVal val="#ppt_y+.035"/>
                                          </p:val>
                                        </p:tav>
                                        <p:tav tm="100000">
                                          <p:val>
                                            <p:strVal val="#ppt_y"/>
                                          </p:val>
                                        </p:tav>
                                      </p:tavLst>
                                    </p:anim>
                                  </p:childTnLst>
                                </p:cTn>
                              </p:par>
                              <p:par>
                                <p:cTn id="56" presetID="10" presetClass="entr" presetSubtype="0" fill="hold" grpId="0" nodeType="withEffect">
                                  <p:stCondLst>
                                    <p:cond delay="1485"/>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700"/>
                                        <p:tgtEl>
                                          <p:spTgt spid="12"/>
                                        </p:tgtEl>
                                      </p:cBhvr>
                                    </p:animEffect>
                                  </p:childTnLst>
                                </p:cTn>
                              </p:par>
                              <p:par>
                                <p:cTn id="59" presetID="10" presetClass="entr" presetSubtype="0" fill="hold" grpId="0" nodeType="withEffect">
                                  <p:stCondLst>
                                    <p:cond delay="158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700"/>
                                        <p:tgtEl>
                                          <p:spTgt spid="15"/>
                                        </p:tgtEl>
                                      </p:cBhvr>
                                    </p:animEffect>
                                  </p:childTnLst>
                                </p:cTn>
                              </p:par>
                              <p:par>
                                <p:cTn id="62" presetID="10" presetClass="entr" presetSubtype="0" fill="hold" grpId="0" nodeType="withEffect">
                                  <p:stCondLst>
                                    <p:cond delay="1675"/>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700"/>
                                        <p:tgtEl>
                                          <p:spTgt spid="18"/>
                                        </p:tgtEl>
                                      </p:cBhvr>
                                    </p:animEffect>
                                  </p:childTnLst>
                                </p:cTn>
                              </p:par>
                              <p:par>
                                <p:cTn id="65" presetID="10" presetClass="entr" presetSubtype="0" fill="hold" grpId="0" nodeType="withEffect">
                                  <p:stCondLst>
                                    <p:cond delay="177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700"/>
                                        <p:tgtEl>
                                          <p:spTgt spid="21"/>
                                        </p:tgtEl>
                                      </p:cBhvr>
                                    </p:animEffect>
                                  </p:childTnLst>
                                </p:cTn>
                              </p:par>
                              <p:par>
                                <p:cTn id="68" presetID="10" presetClass="entr" presetSubtype="0" fill="hold" grpId="0" nodeType="withEffect">
                                  <p:stCondLst>
                                    <p:cond delay="1865"/>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700"/>
                                        <p:tgtEl>
                                          <p:spTgt spid="24"/>
                                        </p:tgtEl>
                                      </p:cBhvr>
                                    </p:animEffect>
                                  </p:childTnLst>
                                </p:cTn>
                              </p:par>
                              <p:par>
                                <p:cTn id="71" presetID="10" presetClass="entr" presetSubtype="0" fill="hold" grpId="0" nodeType="withEffect">
                                  <p:stCondLst>
                                    <p:cond delay="196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700"/>
                                        <p:tgtEl>
                                          <p:spTgt spid="25"/>
                                        </p:tgtEl>
                                      </p:cBhvr>
                                    </p:animEffect>
                                  </p:childTnLst>
                                </p:cTn>
                              </p:par>
                              <p:par>
                                <p:cTn id="74" presetID="10" presetClass="entr" presetSubtype="0" fill="hold" grpId="0" nodeType="withEffect">
                                  <p:stCondLst>
                                    <p:cond delay="2055"/>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7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3" grpId="0" animBg="1"/>
      <p:bldP spid="16" grpId="0" animBg="1"/>
      <p:bldP spid="19" grpId="0" animBg="1"/>
      <p:bldP spid="22" grpId="0" animBg="1"/>
      <p:bldP spid="11" grpId="0" animBg="1"/>
      <p:bldP spid="14" grpId="0" animBg="1"/>
      <p:bldP spid="17" grpId="0" animBg="1"/>
      <p:bldP spid="20" grpId="0" animBg="1"/>
      <p:bldP spid="23" grpId="0" animBg="1"/>
      <p:bldP spid="12" grpId="0" animBg="1"/>
      <p:bldP spid="15" grpId="0" animBg="1"/>
      <p:bldP spid="18" grpId="0" animBg="1"/>
      <p:bldP spid="21" grpId="0" animBg="1"/>
      <p:bldP spid="24" grpId="0" animBg="1"/>
      <p:bldP spid="25" grpId="0" animBg="1"/>
      <p:bldP spid="26"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958A7B"/>
                </a:solidFill>
                <a:latin typeface="Plus Jakarta Sans"/>
                <a:ea typeface="Plus Jakarta Sans"/>
                <a:cs typeface="Plus Jakarta Sans"/>
              </a:rPr>
              <a:t>15 / 17</a:t>
            </a:r>
          </a:p>
        </p:txBody>
      </p:sp>
      <p:sp>
        <p:nvSpPr>
          <p:cNvPr id="7" name="TextBox 6"/>
          <p:cNvSpPr txBox="1"/>
          <p:nvPr/>
        </p:nvSpPr>
        <p:spPr>
          <a:xfrm>
            <a:off x="685800" y="91440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QUESTIONS</a:t>
            </a:r>
          </a:p>
        </p:txBody>
      </p:sp>
      <p:sp>
        <p:nvSpPr>
          <p:cNvPr id="8" name="TextBox 7"/>
          <p:cNvSpPr txBox="1"/>
          <p:nvPr/>
        </p:nvSpPr>
        <p:spPr>
          <a:xfrm>
            <a:off x="685800" y="1170432"/>
            <a:ext cx="9144000" cy="731520"/>
          </a:xfrm>
          <a:prstGeom prst="rect">
            <a:avLst/>
          </a:prstGeom>
          <a:noFill/>
        </p:spPr>
        <p:txBody>
          <a:bodyPr wrap="square" lIns="0" rIns="0" tIns="0" bIns="0">
            <a:spAutoFit/>
          </a:bodyPr>
          <a:lstStyle/>
          <a:p>
            <a:pPr algn="l">
              <a:lnSpc>
                <a:spcPct val="92000"/>
              </a:lnSpc>
            </a:pPr>
            <a:r>
              <a:rPr sz="3600" b="0" i="0">
                <a:solidFill>
                  <a:srgbClr val="EFE6D8"/>
                </a:solidFill>
                <a:latin typeface="Cormorant Garamond"/>
                <a:ea typeface="Plus Jakarta Sans"/>
                <a:cs typeface="Plus Jakarta Sans"/>
              </a:rPr>
              <a:t>Everything owners ask us.</a:t>
            </a:r>
          </a:p>
        </p:txBody>
      </p:sp>
      <p:sp>
        <p:nvSpPr>
          <p:cNvPr id="9" name="Rectangle 8"/>
          <p:cNvSpPr/>
          <p:nvPr/>
        </p:nvSpPr>
        <p:spPr>
          <a:xfrm>
            <a:off x="685800" y="2103120"/>
            <a:ext cx="2499283" cy="10972"/>
          </a:xfrm>
          <a:prstGeom prst="rect">
            <a:avLst/>
          </a:prstGeom>
          <a:solidFill>
            <a:srgbClr val="B8845A"/>
          </a:solidFill>
          <a:ln>
            <a:noFill/>
          </a:ln>
        </p:spPr>
        <p:txBody>
          <a:bodyPr rtlCol="0" anchor="ctr"/>
          <a:lstStyle/>
          <a:p>
            <a:pPr algn="ctr"/>
          </a:p>
        </p:txBody>
      </p:sp>
      <p:sp>
        <p:nvSpPr>
          <p:cNvPr id="10" name="TextBox 9"/>
          <p:cNvSpPr txBox="1"/>
          <p:nvPr/>
        </p:nvSpPr>
        <p:spPr>
          <a:xfrm>
            <a:off x="685800" y="2212848"/>
            <a:ext cx="2499283" cy="548640"/>
          </a:xfrm>
          <a:prstGeom prst="rect">
            <a:avLst/>
          </a:prstGeom>
          <a:noFill/>
        </p:spPr>
        <p:txBody>
          <a:bodyPr wrap="square" lIns="0" rIns="0" tIns="0" bIns="0">
            <a:spAutoFit/>
          </a:bodyPr>
          <a:lstStyle/>
          <a:p>
            <a:pPr algn="l">
              <a:lnSpc>
                <a:spcPct val="100000"/>
              </a:lnSpc>
            </a:pPr>
            <a:r>
              <a:rPr sz="1700" b="0" i="0">
                <a:solidFill>
                  <a:srgbClr val="EFE6D8"/>
                </a:solidFill>
                <a:latin typeface="Cormorant Garamond"/>
                <a:ea typeface="Plus Jakarta Sans"/>
                <a:cs typeface="Plus Jakarta Sans"/>
              </a:rPr>
              <a:t>Why no fridge or microwave?</a:t>
            </a:r>
          </a:p>
        </p:txBody>
      </p:sp>
      <p:sp>
        <p:nvSpPr>
          <p:cNvPr id="11" name="TextBox 10"/>
          <p:cNvSpPr txBox="1"/>
          <p:nvPr/>
        </p:nvSpPr>
        <p:spPr>
          <a:xfrm>
            <a:off x="685800" y="2816352"/>
            <a:ext cx="2499283" cy="1280160"/>
          </a:xfrm>
          <a:prstGeom prst="rect">
            <a:avLst/>
          </a:prstGeom>
          <a:noFill/>
        </p:spPr>
        <p:txBody>
          <a:bodyPr wrap="square" lIns="0" rIns="0" tIns="0" bIns="0">
            <a:spAutoFit/>
          </a:bodyPr>
          <a:lstStyle/>
          <a:p>
            <a:pPr algn="l">
              <a:lnSpc>
                <a:spcPct val="140000"/>
              </a:lnSpc>
            </a:pPr>
            <a:r>
              <a:rPr sz="950" b="0" i="0">
                <a:solidFill>
                  <a:srgbClr val="CFC5B6"/>
                </a:solidFill>
                <a:latin typeface="Plus Jakarta Sans"/>
                <a:ea typeface="Plus Jakarta Sans"/>
                <a:cs typeface="Plus Jakarta Sans"/>
              </a:rPr>
              <a:t>Most studio guests don’t cook, and leaving them out keeps your price lower. Add them and we install them the same day.</a:t>
            </a:r>
          </a:p>
        </p:txBody>
      </p:sp>
      <p:sp>
        <p:nvSpPr>
          <p:cNvPr id="12" name="Rectangle 11"/>
          <p:cNvSpPr/>
          <p:nvPr/>
        </p:nvSpPr>
        <p:spPr>
          <a:xfrm>
            <a:off x="3459403" y="2103120"/>
            <a:ext cx="2499283" cy="10972"/>
          </a:xfrm>
          <a:prstGeom prst="rect">
            <a:avLst/>
          </a:prstGeom>
          <a:solidFill>
            <a:srgbClr val="B8845A"/>
          </a:solidFill>
          <a:ln>
            <a:noFill/>
          </a:ln>
        </p:spPr>
        <p:txBody>
          <a:bodyPr rtlCol="0" anchor="ctr"/>
          <a:lstStyle/>
          <a:p>
            <a:pPr algn="ctr"/>
          </a:p>
        </p:txBody>
      </p:sp>
      <p:sp>
        <p:nvSpPr>
          <p:cNvPr id="13" name="TextBox 12"/>
          <p:cNvSpPr txBox="1"/>
          <p:nvPr/>
        </p:nvSpPr>
        <p:spPr>
          <a:xfrm>
            <a:off x="3459403" y="2212848"/>
            <a:ext cx="2499283" cy="548640"/>
          </a:xfrm>
          <a:prstGeom prst="rect">
            <a:avLst/>
          </a:prstGeom>
          <a:noFill/>
        </p:spPr>
        <p:txBody>
          <a:bodyPr wrap="square" lIns="0" rIns="0" tIns="0" bIns="0">
            <a:spAutoFit/>
          </a:bodyPr>
          <a:lstStyle/>
          <a:p>
            <a:pPr algn="l">
              <a:lnSpc>
                <a:spcPct val="100000"/>
              </a:lnSpc>
            </a:pPr>
            <a:r>
              <a:rPr sz="1700" b="0" i="0">
                <a:solidFill>
                  <a:srgbClr val="EFE6D8"/>
                </a:solidFill>
                <a:latin typeface="Cormorant Garamond"/>
                <a:ea typeface="Plus Jakarta Sans"/>
                <a:cs typeface="Plus Jakarta Sans"/>
              </a:rPr>
              <a:t>Can I change items?</a:t>
            </a:r>
          </a:p>
        </p:txBody>
      </p:sp>
      <p:sp>
        <p:nvSpPr>
          <p:cNvPr id="14" name="TextBox 13"/>
          <p:cNvSpPr txBox="1"/>
          <p:nvPr/>
        </p:nvSpPr>
        <p:spPr>
          <a:xfrm>
            <a:off x="3459403" y="2816352"/>
            <a:ext cx="2499283" cy="1280160"/>
          </a:xfrm>
          <a:prstGeom prst="rect">
            <a:avLst/>
          </a:prstGeom>
          <a:noFill/>
        </p:spPr>
        <p:txBody>
          <a:bodyPr wrap="square" lIns="0" rIns="0" tIns="0" bIns="0">
            <a:spAutoFit/>
          </a:bodyPr>
          <a:lstStyle/>
          <a:p>
            <a:pPr algn="l">
              <a:lnSpc>
                <a:spcPct val="140000"/>
              </a:lnSpc>
            </a:pPr>
            <a:r>
              <a:rPr sz="950" b="0" i="0">
                <a:solidFill>
                  <a:srgbClr val="CFC5B6"/>
                </a:solidFill>
                <a:latin typeface="Plus Jakarta Sans"/>
                <a:ea typeface="Plus Jakarta Sans"/>
                <a:cs typeface="Plus Jakarta Sans"/>
              </a:rPr>
              <a:t>Yes, within the palette. Swap the chair, choose a different pendant, change the art. We keep the room coherent.</a:t>
            </a:r>
          </a:p>
        </p:txBody>
      </p:sp>
      <p:sp>
        <p:nvSpPr>
          <p:cNvPr id="15" name="Rectangle 14"/>
          <p:cNvSpPr/>
          <p:nvPr/>
        </p:nvSpPr>
        <p:spPr>
          <a:xfrm>
            <a:off x="6233007" y="2103120"/>
            <a:ext cx="2499283" cy="10972"/>
          </a:xfrm>
          <a:prstGeom prst="rect">
            <a:avLst/>
          </a:prstGeom>
          <a:solidFill>
            <a:srgbClr val="B8845A"/>
          </a:solidFill>
          <a:ln>
            <a:noFill/>
          </a:ln>
        </p:spPr>
        <p:txBody>
          <a:bodyPr rtlCol="0" anchor="ctr"/>
          <a:lstStyle/>
          <a:p>
            <a:pPr algn="ctr"/>
          </a:p>
        </p:txBody>
      </p:sp>
      <p:sp>
        <p:nvSpPr>
          <p:cNvPr id="16" name="TextBox 15"/>
          <p:cNvSpPr txBox="1"/>
          <p:nvPr/>
        </p:nvSpPr>
        <p:spPr>
          <a:xfrm>
            <a:off x="6233007" y="2212848"/>
            <a:ext cx="2499283" cy="548640"/>
          </a:xfrm>
          <a:prstGeom prst="rect">
            <a:avLst/>
          </a:prstGeom>
          <a:noFill/>
        </p:spPr>
        <p:txBody>
          <a:bodyPr wrap="square" lIns="0" rIns="0" tIns="0" bIns="0">
            <a:spAutoFit/>
          </a:bodyPr>
          <a:lstStyle/>
          <a:p>
            <a:pPr algn="l">
              <a:lnSpc>
                <a:spcPct val="100000"/>
              </a:lnSpc>
            </a:pPr>
            <a:r>
              <a:rPr sz="1700" b="0" i="0">
                <a:solidFill>
                  <a:srgbClr val="EFE6D8"/>
                </a:solidFill>
                <a:latin typeface="Cormorant Garamond"/>
                <a:ea typeface="Plus Jakarta Sans"/>
                <a:cs typeface="Plus Jakarta Sans"/>
              </a:rPr>
              <a:t>Can I see it before you order?</a:t>
            </a:r>
          </a:p>
        </p:txBody>
      </p:sp>
      <p:sp>
        <p:nvSpPr>
          <p:cNvPr id="17" name="TextBox 16"/>
          <p:cNvSpPr txBox="1"/>
          <p:nvPr/>
        </p:nvSpPr>
        <p:spPr>
          <a:xfrm>
            <a:off x="6233007" y="2816352"/>
            <a:ext cx="2499283" cy="1280160"/>
          </a:xfrm>
          <a:prstGeom prst="rect">
            <a:avLst/>
          </a:prstGeom>
          <a:noFill/>
        </p:spPr>
        <p:txBody>
          <a:bodyPr wrap="square" lIns="0" rIns="0" tIns="0" bIns="0">
            <a:spAutoFit/>
          </a:bodyPr>
          <a:lstStyle/>
          <a:p>
            <a:pPr algn="l">
              <a:lnSpc>
                <a:spcPct val="140000"/>
              </a:lnSpc>
            </a:pPr>
            <a:r>
              <a:rPr sz="950" b="0" i="0">
                <a:solidFill>
                  <a:srgbClr val="CFC5B6"/>
                </a:solidFill>
                <a:latin typeface="Plus Jakarta Sans"/>
                <a:ea typeface="Plus Jakarta Sans"/>
                <a:cs typeface="Plus Jakarta Sans"/>
              </a:rPr>
              <a:t>Yes. You approve the design plan with the actual items before anything is bought.</a:t>
            </a:r>
          </a:p>
        </p:txBody>
      </p:sp>
      <p:sp>
        <p:nvSpPr>
          <p:cNvPr id="18" name="Rectangle 17"/>
          <p:cNvSpPr/>
          <p:nvPr/>
        </p:nvSpPr>
        <p:spPr>
          <a:xfrm>
            <a:off x="9006611" y="2103120"/>
            <a:ext cx="2499283" cy="10972"/>
          </a:xfrm>
          <a:prstGeom prst="rect">
            <a:avLst/>
          </a:prstGeom>
          <a:solidFill>
            <a:srgbClr val="B8845A"/>
          </a:solidFill>
          <a:ln>
            <a:noFill/>
          </a:ln>
        </p:spPr>
        <p:txBody>
          <a:bodyPr rtlCol="0" anchor="ctr"/>
          <a:lstStyle/>
          <a:p>
            <a:pPr algn="ctr"/>
          </a:p>
        </p:txBody>
      </p:sp>
      <p:sp>
        <p:nvSpPr>
          <p:cNvPr id="19" name="TextBox 18"/>
          <p:cNvSpPr txBox="1"/>
          <p:nvPr/>
        </p:nvSpPr>
        <p:spPr>
          <a:xfrm>
            <a:off x="9006611" y="2212848"/>
            <a:ext cx="2499283" cy="548640"/>
          </a:xfrm>
          <a:prstGeom prst="rect">
            <a:avLst/>
          </a:prstGeom>
          <a:noFill/>
        </p:spPr>
        <p:txBody>
          <a:bodyPr wrap="square" lIns="0" rIns="0" tIns="0" bIns="0">
            <a:spAutoFit/>
          </a:bodyPr>
          <a:lstStyle/>
          <a:p>
            <a:pPr algn="l">
              <a:lnSpc>
                <a:spcPct val="100000"/>
              </a:lnSpc>
            </a:pPr>
            <a:r>
              <a:rPr sz="1700" b="0" i="0">
                <a:solidFill>
                  <a:srgbClr val="EFE6D8"/>
                </a:solidFill>
                <a:latin typeface="Cormorant Garamond"/>
                <a:ea typeface="Plus Jakarta Sans"/>
                <a:cs typeface="Plus Jakarta Sans"/>
              </a:rPr>
              <a:t>What if something arrives damaged?</a:t>
            </a:r>
          </a:p>
        </p:txBody>
      </p:sp>
      <p:sp>
        <p:nvSpPr>
          <p:cNvPr id="20" name="TextBox 19"/>
          <p:cNvSpPr txBox="1"/>
          <p:nvPr/>
        </p:nvSpPr>
        <p:spPr>
          <a:xfrm>
            <a:off x="9006611" y="2816352"/>
            <a:ext cx="2499283" cy="1280160"/>
          </a:xfrm>
          <a:prstGeom prst="rect">
            <a:avLst/>
          </a:prstGeom>
          <a:noFill/>
        </p:spPr>
        <p:txBody>
          <a:bodyPr wrap="square" lIns="0" rIns="0" tIns="0" bIns="0">
            <a:spAutoFit/>
          </a:bodyPr>
          <a:lstStyle/>
          <a:p>
            <a:pPr algn="l">
              <a:lnSpc>
                <a:spcPct val="140000"/>
              </a:lnSpc>
            </a:pPr>
            <a:r>
              <a:rPr sz="950" b="0" i="0">
                <a:solidFill>
                  <a:srgbClr val="CFC5B6"/>
                </a:solidFill>
                <a:latin typeface="Plus Jakarta Sans"/>
                <a:ea typeface="Plus Jakarta Sans"/>
                <a:cs typeface="Plus Jakarta Sans"/>
              </a:rPr>
              <a:t>We replace it. Every appliance carries its manufacturer warranty, registered in your name.</a:t>
            </a:r>
          </a:p>
        </p:txBody>
      </p:sp>
      <p:sp>
        <p:nvSpPr>
          <p:cNvPr id="21" name="Rectangle 20"/>
          <p:cNvSpPr/>
          <p:nvPr/>
        </p:nvSpPr>
        <p:spPr>
          <a:xfrm>
            <a:off x="685800" y="4206240"/>
            <a:ext cx="2499283" cy="10972"/>
          </a:xfrm>
          <a:prstGeom prst="rect">
            <a:avLst/>
          </a:prstGeom>
          <a:solidFill>
            <a:srgbClr val="B8845A"/>
          </a:solidFill>
          <a:ln>
            <a:noFill/>
          </a:ln>
        </p:spPr>
        <p:txBody>
          <a:bodyPr rtlCol="0" anchor="ctr"/>
          <a:lstStyle/>
          <a:p>
            <a:pPr algn="ctr"/>
          </a:p>
        </p:txBody>
      </p:sp>
      <p:sp>
        <p:nvSpPr>
          <p:cNvPr id="22" name="TextBox 21"/>
          <p:cNvSpPr txBox="1"/>
          <p:nvPr/>
        </p:nvSpPr>
        <p:spPr>
          <a:xfrm>
            <a:off x="685800" y="4315968"/>
            <a:ext cx="2499283" cy="548640"/>
          </a:xfrm>
          <a:prstGeom prst="rect">
            <a:avLst/>
          </a:prstGeom>
          <a:noFill/>
        </p:spPr>
        <p:txBody>
          <a:bodyPr wrap="square" lIns="0" rIns="0" tIns="0" bIns="0">
            <a:spAutoFit/>
          </a:bodyPr>
          <a:lstStyle/>
          <a:p>
            <a:pPr algn="l">
              <a:lnSpc>
                <a:spcPct val="100000"/>
              </a:lnSpc>
            </a:pPr>
            <a:r>
              <a:rPr sz="1700" b="0" i="0">
                <a:solidFill>
                  <a:srgbClr val="EFE6D8"/>
                </a:solidFill>
                <a:latin typeface="Cormorant Garamond"/>
                <a:ea typeface="Plus Jakarta Sans"/>
                <a:cs typeface="Plus Jakarta Sans"/>
              </a:rPr>
              <a:t>Will it fit my studio?</a:t>
            </a:r>
          </a:p>
        </p:txBody>
      </p:sp>
      <p:sp>
        <p:nvSpPr>
          <p:cNvPr id="23" name="TextBox 22"/>
          <p:cNvSpPr txBox="1"/>
          <p:nvPr/>
        </p:nvSpPr>
        <p:spPr>
          <a:xfrm>
            <a:off x="685800" y="4919472"/>
            <a:ext cx="2499283" cy="1280160"/>
          </a:xfrm>
          <a:prstGeom prst="rect">
            <a:avLst/>
          </a:prstGeom>
          <a:noFill/>
        </p:spPr>
        <p:txBody>
          <a:bodyPr wrap="square" lIns="0" rIns="0" tIns="0" bIns="0">
            <a:spAutoFit/>
          </a:bodyPr>
          <a:lstStyle/>
          <a:p>
            <a:pPr algn="l">
              <a:lnSpc>
                <a:spcPct val="140000"/>
              </a:lnSpc>
            </a:pPr>
            <a:r>
              <a:rPr sz="950" b="0" i="0">
                <a:solidFill>
                  <a:srgbClr val="CFC5B6"/>
                </a:solidFill>
                <a:latin typeface="Plus Jakarta Sans"/>
                <a:ea typeface="Plus Jakarta Sans"/>
                <a:cs typeface="Plus Jakarta Sans"/>
              </a:rPr>
              <a:t>Send measurements with your photos. If the room is tight we adjust the layout, or suggest a smaller bed.</a:t>
            </a:r>
          </a:p>
        </p:txBody>
      </p:sp>
      <p:sp>
        <p:nvSpPr>
          <p:cNvPr id="24" name="Rectangle 23"/>
          <p:cNvSpPr/>
          <p:nvPr/>
        </p:nvSpPr>
        <p:spPr>
          <a:xfrm>
            <a:off x="3459403" y="4206240"/>
            <a:ext cx="2499283" cy="10972"/>
          </a:xfrm>
          <a:prstGeom prst="rect">
            <a:avLst/>
          </a:prstGeom>
          <a:solidFill>
            <a:srgbClr val="B8845A"/>
          </a:solidFill>
          <a:ln>
            <a:noFill/>
          </a:ln>
        </p:spPr>
        <p:txBody>
          <a:bodyPr rtlCol="0" anchor="ctr"/>
          <a:lstStyle/>
          <a:p>
            <a:pPr algn="ctr"/>
          </a:p>
        </p:txBody>
      </p:sp>
      <p:sp>
        <p:nvSpPr>
          <p:cNvPr id="25" name="TextBox 24"/>
          <p:cNvSpPr txBox="1"/>
          <p:nvPr/>
        </p:nvSpPr>
        <p:spPr>
          <a:xfrm>
            <a:off x="3459403" y="4315968"/>
            <a:ext cx="2499283" cy="548640"/>
          </a:xfrm>
          <a:prstGeom prst="rect">
            <a:avLst/>
          </a:prstGeom>
          <a:noFill/>
        </p:spPr>
        <p:txBody>
          <a:bodyPr wrap="square" lIns="0" rIns="0" tIns="0" bIns="0">
            <a:spAutoFit/>
          </a:bodyPr>
          <a:lstStyle/>
          <a:p>
            <a:pPr algn="l">
              <a:lnSpc>
                <a:spcPct val="100000"/>
              </a:lnSpc>
            </a:pPr>
            <a:r>
              <a:rPr sz="1700" b="0" i="0">
                <a:solidFill>
                  <a:srgbClr val="EFE6D8"/>
                </a:solidFill>
                <a:latin typeface="Cormorant Garamond"/>
                <a:ea typeface="Plus Jakarta Sans"/>
                <a:cs typeface="Plus Jakarta Sans"/>
              </a:rPr>
              <a:t>Do you do 1BHK and villas?</a:t>
            </a:r>
          </a:p>
        </p:txBody>
      </p:sp>
      <p:sp>
        <p:nvSpPr>
          <p:cNvPr id="26" name="TextBox 25"/>
          <p:cNvSpPr txBox="1"/>
          <p:nvPr/>
        </p:nvSpPr>
        <p:spPr>
          <a:xfrm>
            <a:off x="3459403" y="4919472"/>
            <a:ext cx="2499283" cy="1280160"/>
          </a:xfrm>
          <a:prstGeom prst="rect">
            <a:avLst/>
          </a:prstGeom>
          <a:noFill/>
        </p:spPr>
        <p:txBody>
          <a:bodyPr wrap="square" lIns="0" rIns="0" tIns="0" bIns="0">
            <a:spAutoFit/>
          </a:bodyPr>
          <a:lstStyle/>
          <a:p>
            <a:pPr algn="l">
              <a:lnSpc>
                <a:spcPct val="140000"/>
              </a:lnSpc>
            </a:pPr>
            <a:r>
              <a:rPr sz="950" b="0" i="0">
                <a:solidFill>
                  <a:srgbClr val="CFC5B6"/>
                </a:solidFill>
                <a:latin typeface="Plus Jakarta Sans"/>
                <a:ea typeface="Plus Jakarta Sans"/>
                <a:cs typeface="Plus Jakarta Sans"/>
              </a:rPr>
              <a:t>Yes. The Drop comes in Studio, Villa and Estate. Tell us the property and we’ll quote it.</a:t>
            </a:r>
          </a:p>
        </p:txBody>
      </p:sp>
      <p:sp>
        <p:nvSpPr>
          <p:cNvPr id="27" name="Rectangle 26"/>
          <p:cNvSpPr/>
          <p:nvPr/>
        </p:nvSpPr>
        <p:spPr>
          <a:xfrm>
            <a:off x="6233007" y="4206240"/>
            <a:ext cx="2499283" cy="10972"/>
          </a:xfrm>
          <a:prstGeom prst="rect">
            <a:avLst/>
          </a:prstGeom>
          <a:solidFill>
            <a:srgbClr val="B8845A"/>
          </a:solidFill>
          <a:ln>
            <a:noFill/>
          </a:ln>
        </p:spPr>
        <p:txBody>
          <a:bodyPr rtlCol="0" anchor="ctr"/>
          <a:lstStyle/>
          <a:p>
            <a:pPr algn="ctr"/>
          </a:p>
        </p:txBody>
      </p:sp>
      <p:sp>
        <p:nvSpPr>
          <p:cNvPr id="28" name="TextBox 27"/>
          <p:cNvSpPr txBox="1"/>
          <p:nvPr/>
        </p:nvSpPr>
        <p:spPr>
          <a:xfrm>
            <a:off x="6233007" y="4315968"/>
            <a:ext cx="2499283" cy="548640"/>
          </a:xfrm>
          <a:prstGeom prst="rect">
            <a:avLst/>
          </a:prstGeom>
          <a:noFill/>
        </p:spPr>
        <p:txBody>
          <a:bodyPr wrap="square" lIns="0" rIns="0" tIns="0" bIns="0">
            <a:spAutoFit/>
          </a:bodyPr>
          <a:lstStyle/>
          <a:p>
            <a:pPr algn="l">
              <a:lnSpc>
                <a:spcPct val="100000"/>
              </a:lnSpc>
            </a:pPr>
            <a:r>
              <a:rPr sz="1700" b="0" i="0">
                <a:solidFill>
                  <a:srgbClr val="EFE6D8"/>
                </a:solidFill>
                <a:latin typeface="Cormorant Garamond"/>
                <a:ea typeface="Plus Jakarta Sans"/>
                <a:cs typeface="Plus Jakarta Sans"/>
              </a:rPr>
              <a:t>I want you to run it too.</a:t>
            </a:r>
          </a:p>
        </p:txBody>
      </p:sp>
      <p:sp>
        <p:nvSpPr>
          <p:cNvPr id="29" name="TextBox 28"/>
          <p:cNvSpPr txBox="1"/>
          <p:nvPr/>
        </p:nvSpPr>
        <p:spPr>
          <a:xfrm>
            <a:off x="6233007" y="4919472"/>
            <a:ext cx="2499283" cy="1280160"/>
          </a:xfrm>
          <a:prstGeom prst="rect">
            <a:avLst/>
          </a:prstGeom>
          <a:noFill/>
        </p:spPr>
        <p:txBody>
          <a:bodyPr wrap="square" lIns="0" rIns="0" tIns="0" bIns="0">
            <a:spAutoFit/>
          </a:bodyPr>
          <a:lstStyle/>
          <a:p>
            <a:pPr algn="l">
              <a:lnSpc>
                <a:spcPct val="140000"/>
              </a:lnSpc>
            </a:pPr>
            <a:r>
              <a:rPr sz="950" b="0" i="0">
                <a:solidFill>
                  <a:srgbClr val="CFC5B6"/>
                </a:solidFill>
                <a:latin typeface="Plus Jakarta Sans"/>
                <a:ea typeface="Plus Jakarta Sans"/>
                <a:cs typeface="Plus Jakarta Sans"/>
              </a:rPr>
              <a:t>That’s Red Flag Outpost Classic — we design, brand, launch and operate it for 8% of bookings. Join within 90 days and we deduct what you spent on The Drop from the Outpost setup fee.</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Tree>
  </p:cSld>
  <p:clrMapOvr>
    <a:masterClrMapping/>
  </p:clrMapOvr>
  <p:transition spd="slow" advClick="1">
    <p:fade thruBlk="0"/>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42" presetClass="entr" presetSubtype="0" fill="hold" grpId="0" nodeType="withEffect">
                                  <p:stCondLst>
                                    <p:cond delay="332"/>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900"/>
                                        <p:tgtEl>
                                          <p:spTgt spid="8"/>
                                        </p:tgtEl>
                                      </p:cBhvr>
                                    </p:animEffect>
                                    <p:anim calcmode="lin" valueType="num">
                                      <p:cBhvr>
                                        <p:cTn id="11" dur="900" decel="100000"/>
                                        <p:tgtEl>
                                          <p:spTgt spid="8"/>
                                        </p:tgtEl>
                                        <p:attrNameLst>
                                          <p:attrName>ppt_x</p:attrName>
                                        </p:attrNameLst>
                                      </p:cBhvr>
                                      <p:tavLst>
                                        <p:tav tm="0">
                                          <p:val>
                                            <p:strVal val="#ppt_x"/>
                                          </p:val>
                                        </p:tav>
                                        <p:tav tm="100000">
                                          <p:val>
                                            <p:strVal val="#ppt_x"/>
                                          </p:val>
                                        </p:tav>
                                      </p:tavLst>
                                    </p:anim>
                                    <p:anim calcmode="lin" valueType="num">
                                      <p:cBhvr>
                                        <p:cTn id="12" dur="900" decel="100000"/>
                                        <p:tgtEl>
                                          <p:spTgt spid="8"/>
                                        </p:tgtEl>
                                        <p:attrNameLst>
                                          <p:attrName>ppt_y</p:attrName>
                                        </p:attrNameLst>
                                      </p:cBhvr>
                                      <p:tavLst>
                                        <p:tav tm="0">
                                          <p:val>
                                            <p:strVal val="#ppt_y+.035"/>
                                          </p:val>
                                        </p:tav>
                                        <p:tav tm="100000">
                                          <p:val>
                                            <p:strVal val="#ppt_y"/>
                                          </p:val>
                                        </p:tav>
                                      </p:tavLst>
                                    </p:anim>
                                  </p:childTnLst>
                                </p:cTn>
                              </p:par>
                              <p:par>
                                <p:cTn id="13" presetID="22" presetClass="entr" presetSubtype="8" fill="hold" grpId="0" nodeType="withEffect">
                                  <p:stCondLst>
                                    <p:cond delay="414"/>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700"/>
                                        <p:tgtEl>
                                          <p:spTgt spid="9"/>
                                        </p:tgtEl>
                                      </p:cBhvr>
                                    </p:animEffect>
                                  </p:childTnLst>
                                </p:cTn>
                              </p:par>
                              <p:par>
                                <p:cTn id="16" presetID="42" presetClass="entr" presetSubtype="0" fill="hold" grpId="0" nodeType="withEffect">
                                  <p:stCondLst>
                                    <p:cond delay="496"/>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900"/>
                                        <p:tgtEl>
                                          <p:spTgt spid="10"/>
                                        </p:tgtEl>
                                      </p:cBhvr>
                                    </p:animEffect>
                                    <p:anim calcmode="lin" valueType="num">
                                      <p:cBhvr>
                                        <p:cTn id="19" dur="900" decel="100000"/>
                                        <p:tgtEl>
                                          <p:spTgt spid="10"/>
                                        </p:tgtEl>
                                        <p:attrNameLst>
                                          <p:attrName>ppt_x</p:attrName>
                                        </p:attrNameLst>
                                      </p:cBhvr>
                                      <p:tavLst>
                                        <p:tav tm="0">
                                          <p:val>
                                            <p:strVal val="#ppt_x"/>
                                          </p:val>
                                        </p:tav>
                                        <p:tav tm="100000">
                                          <p:val>
                                            <p:strVal val="#ppt_x"/>
                                          </p:val>
                                        </p:tav>
                                      </p:tavLst>
                                    </p:anim>
                                    <p:anim calcmode="lin" valueType="num">
                                      <p:cBhvr>
                                        <p:cTn id="20" dur="900" decel="100000"/>
                                        <p:tgtEl>
                                          <p:spTgt spid="10"/>
                                        </p:tgtEl>
                                        <p:attrNameLst>
                                          <p:attrName>ppt_y</p:attrName>
                                        </p:attrNameLst>
                                      </p:cBhvr>
                                      <p:tavLst>
                                        <p:tav tm="0">
                                          <p:val>
                                            <p:strVal val="#ppt_y+.035"/>
                                          </p:val>
                                        </p:tav>
                                        <p:tav tm="100000">
                                          <p:val>
                                            <p:strVal val="#ppt_y"/>
                                          </p:val>
                                        </p:tav>
                                      </p:tavLst>
                                    </p:anim>
                                  </p:childTnLst>
                                </p:cTn>
                              </p:par>
                              <p:par>
                                <p:cTn id="21" presetID="22" presetClass="entr" presetSubtype="8" fill="hold" grpId="0" nodeType="withEffect">
                                  <p:stCondLst>
                                    <p:cond delay="578"/>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700"/>
                                        <p:tgtEl>
                                          <p:spTgt spid="12"/>
                                        </p:tgtEl>
                                      </p:cBhvr>
                                    </p:animEffect>
                                  </p:childTnLst>
                                </p:cTn>
                              </p:par>
                              <p:par>
                                <p:cTn id="24" presetID="42" presetClass="entr" presetSubtype="0" fill="hold" grpId="0" nodeType="withEffect">
                                  <p:stCondLst>
                                    <p:cond delay="66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900"/>
                                        <p:tgtEl>
                                          <p:spTgt spid="13"/>
                                        </p:tgtEl>
                                      </p:cBhvr>
                                    </p:animEffect>
                                    <p:anim calcmode="lin" valueType="num">
                                      <p:cBhvr>
                                        <p:cTn id="27" dur="900" decel="100000"/>
                                        <p:tgtEl>
                                          <p:spTgt spid="13"/>
                                        </p:tgtEl>
                                        <p:attrNameLst>
                                          <p:attrName>ppt_x</p:attrName>
                                        </p:attrNameLst>
                                      </p:cBhvr>
                                      <p:tavLst>
                                        <p:tav tm="0">
                                          <p:val>
                                            <p:strVal val="#ppt_x"/>
                                          </p:val>
                                        </p:tav>
                                        <p:tav tm="100000">
                                          <p:val>
                                            <p:strVal val="#ppt_x"/>
                                          </p:val>
                                        </p:tav>
                                      </p:tavLst>
                                    </p:anim>
                                    <p:anim calcmode="lin" valueType="num">
                                      <p:cBhvr>
                                        <p:cTn id="28" dur="900" decel="100000"/>
                                        <p:tgtEl>
                                          <p:spTgt spid="13"/>
                                        </p:tgtEl>
                                        <p:attrNameLst>
                                          <p:attrName>ppt_y</p:attrName>
                                        </p:attrNameLst>
                                      </p:cBhvr>
                                      <p:tavLst>
                                        <p:tav tm="0">
                                          <p:val>
                                            <p:strVal val="#ppt_y+.035"/>
                                          </p:val>
                                        </p:tav>
                                        <p:tav tm="100000">
                                          <p:val>
                                            <p:strVal val="#ppt_y"/>
                                          </p:val>
                                        </p:tav>
                                      </p:tavLst>
                                    </p:anim>
                                  </p:childTnLst>
                                </p:cTn>
                              </p:par>
                              <p:par>
                                <p:cTn id="29" presetID="22" presetClass="entr" presetSubtype="8" fill="hold" grpId="0" nodeType="withEffect">
                                  <p:stCondLst>
                                    <p:cond delay="742"/>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700"/>
                                        <p:tgtEl>
                                          <p:spTgt spid="15"/>
                                        </p:tgtEl>
                                      </p:cBhvr>
                                    </p:animEffect>
                                  </p:childTnLst>
                                </p:cTn>
                              </p:par>
                              <p:par>
                                <p:cTn id="32" presetID="42" presetClass="entr" presetSubtype="0" fill="hold" grpId="0" nodeType="withEffect">
                                  <p:stCondLst>
                                    <p:cond delay="824"/>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900"/>
                                        <p:tgtEl>
                                          <p:spTgt spid="16"/>
                                        </p:tgtEl>
                                      </p:cBhvr>
                                    </p:animEffect>
                                    <p:anim calcmode="lin" valueType="num">
                                      <p:cBhvr>
                                        <p:cTn id="35" dur="900" decel="100000"/>
                                        <p:tgtEl>
                                          <p:spTgt spid="16"/>
                                        </p:tgtEl>
                                        <p:attrNameLst>
                                          <p:attrName>ppt_x</p:attrName>
                                        </p:attrNameLst>
                                      </p:cBhvr>
                                      <p:tavLst>
                                        <p:tav tm="0">
                                          <p:val>
                                            <p:strVal val="#ppt_x"/>
                                          </p:val>
                                        </p:tav>
                                        <p:tav tm="100000">
                                          <p:val>
                                            <p:strVal val="#ppt_x"/>
                                          </p:val>
                                        </p:tav>
                                      </p:tavLst>
                                    </p:anim>
                                    <p:anim calcmode="lin" valueType="num">
                                      <p:cBhvr>
                                        <p:cTn id="36" dur="900" decel="100000"/>
                                        <p:tgtEl>
                                          <p:spTgt spid="16"/>
                                        </p:tgtEl>
                                        <p:attrNameLst>
                                          <p:attrName>ppt_y</p:attrName>
                                        </p:attrNameLst>
                                      </p:cBhvr>
                                      <p:tavLst>
                                        <p:tav tm="0">
                                          <p:val>
                                            <p:strVal val="#ppt_y+.035"/>
                                          </p:val>
                                        </p:tav>
                                        <p:tav tm="100000">
                                          <p:val>
                                            <p:strVal val="#ppt_y"/>
                                          </p:val>
                                        </p:tav>
                                      </p:tavLst>
                                    </p:anim>
                                  </p:childTnLst>
                                </p:cTn>
                              </p:par>
                              <p:par>
                                <p:cTn id="37" presetID="22" presetClass="entr" presetSubtype="8" fill="hold" grpId="0" nodeType="withEffect">
                                  <p:stCondLst>
                                    <p:cond delay="906"/>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700"/>
                                        <p:tgtEl>
                                          <p:spTgt spid="18"/>
                                        </p:tgtEl>
                                      </p:cBhvr>
                                    </p:animEffect>
                                  </p:childTnLst>
                                </p:cTn>
                              </p:par>
                              <p:par>
                                <p:cTn id="40" presetID="42" presetClass="entr" presetSubtype="0" fill="hold" grpId="0" nodeType="withEffect">
                                  <p:stCondLst>
                                    <p:cond delay="988"/>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900"/>
                                        <p:tgtEl>
                                          <p:spTgt spid="19"/>
                                        </p:tgtEl>
                                      </p:cBhvr>
                                    </p:animEffect>
                                    <p:anim calcmode="lin" valueType="num">
                                      <p:cBhvr>
                                        <p:cTn id="43" dur="900" decel="100000"/>
                                        <p:tgtEl>
                                          <p:spTgt spid="19"/>
                                        </p:tgtEl>
                                        <p:attrNameLst>
                                          <p:attrName>ppt_x</p:attrName>
                                        </p:attrNameLst>
                                      </p:cBhvr>
                                      <p:tavLst>
                                        <p:tav tm="0">
                                          <p:val>
                                            <p:strVal val="#ppt_x"/>
                                          </p:val>
                                        </p:tav>
                                        <p:tav tm="100000">
                                          <p:val>
                                            <p:strVal val="#ppt_x"/>
                                          </p:val>
                                        </p:tav>
                                      </p:tavLst>
                                    </p:anim>
                                    <p:anim calcmode="lin" valueType="num">
                                      <p:cBhvr>
                                        <p:cTn id="44" dur="900" decel="100000"/>
                                        <p:tgtEl>
                                          <p:spTgt spid="19"/>
                                        </p:tgtEl>
                                        <p:attrNameLst>
                                          <p:attrName>ppt_y</p:attrName>
                                        </p:attrNameLst>
                                      </p:cBhvr>
                                      <p:tavLst>
                                        <p:tav tm="0">
                                          <p:val>
                                            <p:strVal val="#ppt_y+.035"/>
                                          </p:val>
                                        </p:tav>
                                        <p:tav tm="100000">
                                          <p:val>
                                            <p:strVal val="#ppt_y"/>
                                          </p:val>
                                        </p:tav>
                                      </p:tavLst>
                                    </p:anim>
                                  </p:childTnLst>
                                </p:cTn>
                              </p:par>
                              <p:par>
                                <p:cTn id="45" presetID="10" presetClass="entr" presetSubtype="0" fill="hold" grpId="0" nodeType="withEffect">
                                  <p:stCondLst>
                                    <p:cond delay="107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700"/>
                                        <p:tgtEl>
                                          <p:spTgt spid="11"/>
                                        </p:tgtEl>
                                      </p:cBhvr>
                                    </p:animEffect>
                                  </p:childTnLst>
                                </p:cTn>
                              </p:par>
                              <p:par>
                                <p:cTn id="48" presetID="10" presetClass="entr" presetSubtype="0" fill="hold" grpId="0" nodeType="withEffect">
                                  <p:stCondLst>
                                    <p:cond delay="1152"/>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700"/>
                                        <p:tgtEl>
                                          <p:spTgt spid="14"/>
                                        </p:tgtEl>
                                      </p:cBhvr>
                                    </p:animEffect>
                                  </p:childTnLst>
                                </p:cTn>
                              </p:par>
                              <p:par>
                                <p:cTn id="51" presetID="10" presetClass="entr" presetSubtype="0" fill="hold" grpId="0" nodeType="withEffect">
                                  <p:stCondLst>
                                    <p:cond delay="1234"/>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700"/>
                                        <p:tgtEl>
                                          <p:spTgt spid="17"/>
                                        </p:tgtEl>
                                      </p:cBhvr>
                                    </p:animEffect>
                                  </p:childTnLst>
                                </p:cTn>
                              </p:par>
                              <p:par>
                                <p:cTn id="54" presetID="10" presetClass="entr" presetSubtype="0" fill="hold" grpId="0" nodeType="withEffect">
                                  <p:stCondLst>
                                    <p:cond delay="1316"/>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700"/>
                                        <p:tgtEl>
                                          <p:spTgt spid="20"/>
                                        </p:tgtEl>
                                      </p:cBhvr>
                                    </p:animEffect>
                                  </p:childTnLst>
                                </p:cTn>
                              </p:par>
                              <p:par>
                                <p:cTn id="57" presetID="22" presetClass="entr" presetSubtype="8" fill="hold" grpId="0" nodeType="withEffect">
                                  <p:stCondLst>
                                    <p:cond delay="1398"/>
                                  </p:stCondLst>
                                  <p:childTnLst>
                                    <p:set>
                                      <p:cBhvr>
                                        <p:cTn id="58" dur="1" fill="hold">
                                          <p:stCondLst>
                                            <p:cond delay="0"/>
                                          </p:stCondLst>
                                        </p:cTn>
                                        <p:tgtEl>
                                          <p:spTgt spid="21"/>
                                        </p:tgtEl>
                                        <p:attrNameLst>
                                          <p:attrName>style.visibility</p:attrName>
                                        </p:attrNameLst>
                                      </p:cBhvr>
                                      <p:to>
                                        <p:strVal val="visible"/>
                                      </p:to>
                                    </p:set>
                                    <p:animEffect transition="in" filter="wipe(left)">
                                      <p:cBhvr>
                                        <p:cTn id="59" dur="700"/>
                                        <p:tgtEl>
                                          <p:spTgt spid="21"/>
                                        </p:tgtEl>
                                      </p:cBhvr>
                                    </p:animEffect>
                                  </p:childTnLst>
                                </p:cTn>
                              </p:par>
                              <p:par>
                                <p:cTn id="60" presetID="42" presetClass="entr" presetSubtype="0" fill="hold" grpId="0" nodeType="withEffect">
                                  <p:stCondLst>
                                    <p:cond delay="148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900"/>
                                        <p:tgtEl>
                                          <p:spTgt spid="22"/>
                                        </p:tgtEl>
                                      </p:cBhvr>
                                    </p:animEffect>
                                    <p:anim calcmode="lin" valueType="num">
                                      <p:cBhvr>
                                        <p:cTn id="63" dur="900" decel="100000"/>
                                        <p:tgtEl>
                                          <p:spTgt spid="22"/>
                                        </p:tgtEl>
                                        <p:attrNameLst>
                                          <p:attrName>ppt_x</p:attrName>
                                        </p:attrNameLst>
                                      </p:cBhvr>
                                      <p:tavLst>
                                        <p:tav tm="0">
                                          <p:val>
                                            <p:strVal val="#ppt_x"/>
                                          </p:val>
                                        </p:tav>
                                        <p:tav tm="100000">
                                          <p:val>
                                            <p:strVal val="#ppt_x"/>
                                          </p:val>
                                        </p:tav>
                                      </p:tavLst>
                                    </p:anim>
                                    <p:anim calcmode="lin" valueType="num">
                                      <p:cBhvr>
                                        <p:cTn id="64" dur="900" decel="100000"/>
                                        <p:tgtEl>
                                          <p:spTgt spid="22"/>
                                        </p:tgtEl>
                                        <p:attrNameLst>
                                          <p:attrName>ppt_y</p:attrName>
                                        </p:attrNameLst>
                                      </p:cBhvr>
                                      <p:tavLst>
                                        <p:tav tm="0">
                                          <p:val>
                                            <p:strVal val="#ppt_y+.035"/>
                                          </p:val>
                                        </p:tav>
                                        <p:tav tm="100000">
                                          <p:val>
                                            <p:strVal val="#ppt_y"/>
                                          </p:val>
                                        </p:tav>
                                      </p:tavLst>
                                    </p:anim>
                                  </p:childTnLst>
                                </p:cTn>
                              </p:par>
                              <p:par>
                                <p:cTn id="65" presetID="22" presetClass="entr" presetSubtype="8" fill="hold" grpId="0" nodeType="withEffect">
                                  <p:stCondLst>
                                    <p:cond delay="1562"/>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700"/>
                                        <p:tgtEl>
                                          <p:spTgt spid="24"/>
                                        </p:tgtEl>
                                      </p:cBhvr>
                                    </p:animEffect>
                                  </p:childTnLst>
                                </p:cTn>
                              </p:par>
                              <p:par>
                                <p:cTn id="68" presetID="42" presetClass="entr" presetSubtype="0" fill="hold" grpId="0" nodeType="withEffect">
                                  <p:stCondLst>
                                    <p:cond delay="1644"/>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900"/>
                                        <p:tgtEl>
                                          <p:spTgt spid="25"/>
                                        </p:tgtEl>
                                      </p:cBhvr>
                                    </p:animEffect>
                                    <p:anim calcmode="lin" valueType="num">
                                      <p:cBhvr>
                                        <p:cTn id="71" dur="900" decel="100000"/>
                                        <p:tgtEl>
                                          <p:spTgt spid="25"/>
                                        </p:tgtEl>
                                        <p:attrNameLst>
                                          <p:attrName>ppt_x</p:attrName>
                                        </p:attrNameLst>
                                      </p:cBhvr>
                                      <p:tavLst>
                                        <p:tav tm="0">
                                          <p:val>
                                            <p:strVal val="#ppt_x"/>
                                          </p:val>
                                        </p:tav>
                                        <p:tav tm="100000">
                                          <p:val>
                                            <p:strVal val="#ppt_x"/>
                                          </p:val>
                                        </p:tav>
                                      </p:tavLst>
                                    </p:anim>
                                    <p:anim calcmode="lin" valueType="num">
                                      <p:cBhvr>
                                        <p:cTn id="72" dur="900" decel="100000"/>
                                        <p:tgtEl>
                                          <p:spTgt spid="25"/>
                                        </p:tgtEl>
                                        <p:attrNameLst>
                                          <p:attrName>ppt_y</p:attrName>
                                        </p:attrNameLst>
                                      </p:cBhvr>
                                      <p:tavLst>
                                        <p:tav tm="0">
                                          <p:val>
                                            <p:strVal val="#ppt_y+.035"/>
                                          </p:val>
                                        </p:tav>
                                        <p:tav tm="100000">
                                          <p:val>
                                            <p:strVal val="#ppt_y"/>
                                          </p:val>
                                        </p:tav>
                                      </p:tavLst>
                                    </p:anim>
                                  </p:childTnLst>
                                </p:cTn>
                              </p:par>
                              <p:par>
                                <p:cTn id="73" presetID="22" presetClass="entr" presetSubtype="8" fill="hold" grpId="0" nodeType="withEffect">
                                  <p:stCondLst>
                                    <p:cond delay="1726"/>
                                  </p:stCondLst>
                                  <p:childTnLst>
                                    <p:set>
                                      <p:cBhvr>
                                        <p:cTn id="74" dur="1" fill="hold">
                                          <p:stCondLst>
                                            <p:cond delay="0"/>
                                          </p:stCondLst>
                                        </p:cTn>
                                        <p:tgtEl>
                                          <p:spTgt spid="27"/>
                                        </p:tgtEl>
                                        <p:attrNameLst>
                                          <p:attrName>style.visibility</p:attrName>
                                        </p:attrNameLst>
                                      </p:cBhvr>
                                      <p:to>
                                        <p:strVal val="visible"/>
                                      </p:to>
                                    </p:set>
                                    <p:animEffect transition="in" filter="wipe(left)">
                                      <p:cBhvr>
                                        <p:cTn id="75" dur="700"/>
                                        <p:tgtEl>
                                          <p:spTgt spid="27"/>
                                        </p:tgtEl>
                                      </p:cBhvr>
                                    </p:animEffect>
                                  </p:childTnLst>
                                </p:cTn>
                              </p:par>
                              <p:par>
                                <p:cTn id="76" presetID="42" presetClass="entr" presetSubtype="0" fill="hold" grpId="0" nodeType="withEffect">
                                  <p:stCondLst>
                                    <p:cond delay="1808"/>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900"/>
                                        <p:tgtEl>
                                          <p:spTgt spid="28"/>
                                        </p:tgtEl>
                                      </p:cBhvr>
                                    </p:animEffect>
                                    <p:anim calcmode="lin" valueType="num">
                                      <p:cBhvr>
                                        <p:cTn id="79" dur="900" decel="100000"/>
                                        <p:tgtEl>
                                          <p:spTgt spid="28"/>
                                        </p:tgtEl>
                                        <p:attrNameLst>
                                          <p:attrName>ppt_x</p:attrName>
                                        </p:attrNameLst>
                                      </p:cBhvr>
                                      <p:tavLst>
                                        <p:tav tm="0">
                                          <p:val>
                                            <p:strVal val="#ppt_x"/>
                                          </p:val>
                                        </p:tav>
                                        <p:tav tm="100000">
                                          <p:val>
                                            <p:strVal val="#ppt_x"/>
                                          </p:val>
                                        </p:tav>
                                      </p:tavLst>
                                    </p:anim>
                                    <p:anim calcmode="lin" valueType="num">
                                      <p:cBhvr>
                                        <p:cTn id="80" dur="900" decel="100000"/>
                                        <p:tgtEl>
                                          <p:spTgt spid="28"/>
                                        </p:tgtEl>
                                        <p:attrNameLst>
                                          <p:attrName>ppt_y</p:attrName>
                                        </p:attrNameLst>
                                      </p:cBhvr>
                                      <p:tavLst>
                                        <p:tav tm="0">
                                          <p:val>
                                            <p:strVal val="#ppt_y+.035"/>
                                          </p:val>
                                        </p:tav>
                                        <p:tav tm="100000">
                                          <p:val>
                                            <p:strVal val="#ppt_y"/>
                                          </p:val>
                                        </p:tav>
                                      </p:tavLst>
                                    </p:anim>
                                  </p:childTnLst>
                                </p:cTn>
                              </p:par>
                              <p:par>
                                <p:cTn id="81" presetID="10" presetClass="entr" presetSubtype="0" fill="hold" grpId="0" nodeType="withEffect">
                                  <p:stCondLst>
                                    <p:cond delay="189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700"/>
                                        <p:tgtEl>
                                          <p:spTgt spid="23"/>
                                        </p:tgtEl>
                                      </p:cBhvr>
                                    </p:animEffect>
                                  </p:childTnLst>
                                </p:cTn>
                              </p:par>
                              <p:par>
                                <p:cTn id="84" presetID="10" presetClass="entr" presetSubtype="0" fill="hold" grpId="0" nodeType="withEffect">
                                  <p:stCondLst>
                                    <p:cond delay="1972"/>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700"/>
                                        <p:tgtEl>
                                          <p:spTgt spid="26"/>
                                        </p:tgtEl>
                                      </p:cBhvr>
                                    </p:animEffect>
                                  </p:childTnLst>
                                </p:cTn>
                              </p:par>
                              <p:par>
                                <p:cTn id="87" presetID="10" presetClass="entr" presetSubtype="0" fill="hold" grpId="0" nodeType="withEffect">
                                  <p:stCondLst>
                                    <p:cond delay="2054"/>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7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5" grpId="0" animBg="1"/>
      <p:bldP spid="16" grpId="0" animBg="1"/>
      <p:bldP spid="18" grpId="0" animBg="1"/>
      <p:bldP spid="19" grpId="0" animBg="1"/>
      <p:bldP spid="11" grpId="0" animBg="1"/>
      <p:bldP spid="14" grpId="0" animBg="1"/>
      <p:bldP spid="17" grpId="0" animBg="1"/>
      <p:bldP spid="20" grpId="0" animBg="1"/>
      <p:bldP spid="21" grpId="0" animBg="1"/>
      <p:bldP spid="22" grpId="0" animBg="1"/>
      <p:bldP spid="24" grpId="0" animBg="1"/>
      <p:bldP spid="25" grpId="0" animBg="1"/>
      <p:bldP spid="27" grpId="0" animBg="1"/>
      <p:bldP spid="28" grpId="0" animBg="1"/>
      <p:bldP spid="23" grpId="0" animBg="1"/>
      <p:bldP spid="26" grpId="0" animBg="1"/>
      <p:bldP spid="29"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sp>
        <p:nvSpPr>
          <p:cNvPr id="4" name="chrome"/>
          <p:cNvSpPr txBox="1"/>
          <p:nvPr/>
        </p:nvSpPr>
        <p:spPr>
          <a:xfrm>
            <a:off x="685800" y="475488"/>
            <a:ext cx="54864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THE DROP  ·  STUDIO NOIR</a:t>
            </a:r>
          </a:p>
        </p:txBody>
      </p:sp>
      <p:sp>
        <p:nvSpPr>
          <p:cNvPr id="5" name="chrome"/>
          <p:cNvSpPr txBox="1"/>
          <p:nvPr/>
        </p:nvSpPr>
        <p:spPr>
          <a:xfrm>
            <a:off x="685800" y="6400800"/>
            <a:ext cx="3657600" cy="228600"/>
          </a:xfrm>
          <a:prstGeom prst="rect">
            <a:avLst/>
          </a:prstGeom>
          <a:noFill/>
        </p:spPr>
        <p:txBody>
          <a:bodyPr wrap="square" lIns="0" rIns="0" tIns="0" bIns="0">
            <a:spAutoFit/>
          </a:bodyPr>
          <a:lstStyle/>
          <a:p>
            <a:pPr algn="l"/>
            <a:r>
              <a:rPr sz="700" b="1" i="0" spc="300">
                <a:solidFill>
                  <a:srgbClr val="958A7B"/>
                </a:solidFill>
                <a:latin typeface="Plus Jakarta Sans"/>
                <a:ea typeface="Plus Jakarta Sans"/>
                <a:cs typeface="Plus Jakarta Sans"/>
              </a:rPr>
              <a:t>REDFLAGHOMES.IN</a:t>
            </a:r>
          </a:p>
        </p:txBody>
      </p:sp>
      <p:sp>
        <p:nvSpPr>
          <p:cNvPr id="6" name="chrome"/>
          <p:cNvSpPr txBox="1"/>
          <p:nvPr/>
        </p:nvSpPr>
        <p:spPr>
          <a:xfrm>
            <a:off x="10134295" y="6400800"/>
            <a:ext cx="1371600" cy="228600"/>
          </a:xfrm>
          <a:prstGeom prst="rect">
            <a:avLst/>
          </a:prstGeom>
          <a:noFill/>
        </p:spPr>
        <p:txBody>
          <a:bodyPr wrap="square" lIns="0" rIns="0" tIns="0" bIns="0">
            <a:spAutoFit/>
          </a:bodyPr>
          <a:lstStyle/>
          <a:p>
            <a:pPr algn="r"/>
            <a:r>
              <a:rPr sz="700" b="1" i="0" spc="200">
                <a:solidFill>
                  <a:srgbClr val="958A7B"/>
                </a:solidFill>
                <a:latin typeface="Plus Jakarta Sans"/>
                <a:ea typeface="Plus Jakarta Sans"/>
                <a:cs typeface="Plus Jakarta Sans"/>
              </a:rPr>
              <a:t>16 / 17</a:t>
            </a:r>
          </a:p>
        </p:txBody>
      </p:sp>
      <p:pic>
        <p:nvPicPr>
          <p:cNvPr id="7" name="static-photo" descr="image.jpg"/>
          <p:cNvPicPr>
            <a:picLocks noChangeAspect="1"/>
          </p:cNvPicPr>
          <p:nvPr/>
        </p:nvPicPr>
        <p:blipFill>
          <a:blip r:embed="rId3"/>
          <a:stretch>
            <a:fillRect/>
          </a:stretch>
        </p:blipFill>
        <p:spPr>
          <a:xfrm>
            <a:off x="6949440" y="0"/>
            <a:ext cx="5242255" cy="6858000"/>
          </a:xfrm>
          <a:prstGeom prst="rect">
            <a:avLst/>
          </a:prstGeom>
        </p:spPr>
      </p:pic>
      <p:sp>
        <p:nvSpPr>
          <p:cNvPr id="9" name="static-mask"/>
          <p:cNvSpPr/>
          <p:nvPr/>
        </p:nvSpPr>
        <p:spPr>
          <a:xfrm>
            <a:off x="6949440" y="0"/>
            <a:ext cx="1188720" cy="6858000"/>
          </a:xfrm>
          <a:prstGeom prst="rect">
            <a:avLst/>
          </a:prstGeom>
          <a:gradFill rotWithShape="1" flip="none">
            <a:gsLst>
              <a:gs pos="0">
                <a:srgbClr val="151311">
                  <a:alpha val="100000"/>
                </a:srgbClr>
              </a:gs>
              <a:gs pos="100000">
                <a:srgbClr val="151311">
                  <a:alpha val="0"/>
                </a:srgbClr>
              </a:gs>
            </a:gsLst>
            <a:lin ang="0" scaled="1"/>
          </a:gradFill>
          <a:ln>
            <a:noFill/>
          </a:ln>
        </p:spPr>
        <p:txBody>
          <a:bodyPr rtlCol="0" anchor="ctr"/>
          <a:lstStyle/>
          <a:p>
            <a:pPr algn="ctr"/>
          </a:p>
        </p:txBody>
      </p:sp>
      <p:sp>
        <p:nvSpPr>
          <p:cNvPr id="10" name="TextBox 9"/>
          <p:cNvSpPr txBox="1"/>
          <p:nvPr/>
        </p:nvSpPr>
        <p:spPr>
          <a:xfrm>
            <a:off x="685800" y="1005840"/>
            <a:ext cx="5486400" cy="228600"/>
          </a:xfrm>
          <a:prstGeom prst="rect">
            <a:avLst/>
          </a:prstGeom>
          <a:noFill/>
        </p:spPr>
        <p:txBody>
          <a:bodyPr wrap="square" lIns="0" rIns="0" tIns="0" bIns="0">
            <a:spAutoFit/>
          </a:bodyPr>
          <a:lstStyle/>
          <a:p>
            <a:pPr algn="l"/>
            <a:r>
              <a:rPr sz="800" b="1" i="0" spc="300">
                <a:solidFill>
                  <a:srgbClr val="B8845A"/>
                </a:solidFill>
                <a:latin typeface="Plus Jakarta Sans"/>
                <a:ea typeface="Plus Jakarta Sans"/>
                <a:cs typeface="Plus Jakarta Sans"/>
              </a:rPr>
              <a:t>ORDER YOURS</a:t>
            </a:r>
          </a:p>
        </p:txBody>
      </p:sp>
      <p:sp>
        <p:nvSpPr>
          <p:cNvPr id="11" name="TextBox 10"/>
          <p:cNvSpPr txBox="1"/>
          <p:nvPr/>
        </p:nvSpPr>
        <p:spPr>
          <a:xfrm>
            <a:off x="685800" y="1280160"/>
            <a:ext cx="6035040" cy="2011680"/>
          </a:xfrm>
          <a:prstGeom prst="rect">
            <a:avLst/>
          </a:prstGeom>
          <a:noFill/>
        </p:spPr>
        <p:txBody>
          <a:bodyPr wrap="square" lIns="0" rIns="0" tIns="0" bIns="0">
            <a:spAutoFit/>
          </a:bodyPr>
          <a:lstStyle/>
          <a:p>
            <a:pPr algn="l">
              <a:lnSpc>
                <a:spcPct val="98000"/>
              </a:lnSpc>
            </a:pPr>
            <a:r>
              <a:rPr sz="4600" b="0" i="0">
                <a:solidFill>
                  <a:srgbClr val="EFE6D8"/>
                </a:solidFill>
                <a:latin typeface="Cormorant Garamond"/>
                <a:ea typeface="Plus Jakarta Sans"/>
                <a:cs typeface="Plus Jakarta Sans"/>
              </a:rPr>
              <a:t>A price in 24 hours.
A finished room
in ten days.</a:t>
            </a:r>
          </a:p>
        </p:txBody>
      </p:sp>
      <p:sp>
        <p:nvSpPr>
          <p:cNvPr id="12" name="TextBox 11"/>
          <p:cNvSpPr txBox="1"/>
          <p:nvPr/>
        </p:nvSpPr>
        <p:spPr>
          <a:xfrm>
            <a:off x="685800" y="3611880"/>
            <a:ext cx="5669280" cy="731520"/>
          </a:xfrm>
          <a:prstGeom prst="rect">
            <a:avLst/>
          </a:prstGeom>
          <a:noFill/>
        </p:spPr>
        <p:txBody>
          <a:bodyPr wrap="square" lIns="0" rIns="0" tIns="0" bIns="0">
            <a:spAutoFit/>
          </a:bodyPr>
          <a:lstStyle/>
          <a:p>
            <a:pPr algn="l">
              <a:lnSpc>
                <a:spcPct val="145000"/>
              </a:lnSpc>
            </a:pPr>
            <a:r>
              <a:rPr sz="1300" b="0" i="0">
                <a:solidFill>
                  <a:srgbClr val="CFC5B6"/>
                </a:solidFill>
                <a:latin typeface="Plus Jakarta Sans"/>
                <a:ea typeface="Plus Jakarta Sans"/>
                <a:cs typeface="Plus Jakarta Sans"/>
              </a:rPr>
              <a:t>Send photos of the studio and its measurements. That’s all we need to start.</a:t>
            </a:r>
          </a:p>
        </p:txBody>
      </p:sp>
      <p:sp>
        <p:nvSpPr>
          <p:cNvPr id="13" name="TextBox 12"/>
          <p:cNvSpPr txBox="1"/>
          <p:nvPr/>
        </p:nvSpPr>
        <p:spPr>
          <a:xfrm>
            <a:off x="685800" y="4480560"/>
            <a:ext cx="2743200" cy="228600"/>
          </a:xfrm>
          <a:prstGeom prst="rect">
            <a:avLst/>
          </a:prstGeom>
          <a:noFill/>
        </p:spPr>
        <p:txBody>
          <a:bodyPr wrap="square" lIns="0" rIns="0" tIns="0" bIns="0">
            <a:spAutoFit/>
          </a:bodyPr>
          <a:lstStyle/>
          <a:p>
            <a:pPr algn="l"/>
            <a:r>
              <a:rPr sz="800" b="1" i="0" spc="300">
                <a:solidFill>
                  <a:srgbClr val="C4A06A"/>
                </a:solidFill>
                <a:latin typeface="Plus Jakarta Sans"/>
                <a:ea typeface="Plus Jakarta Sans"/>
                <a:cs typeface="Plus Jakarta Sans"/>
              </a:rPr>
              <a:t>CORE</a:t>
            </a:r>
          </a:p>
        </p:txBody>
      </p:sp>
      <p:sp>
        <p:nvSpPr>
          <p:cNvPr id="14" name="TextBox 13"/>
          <p:cNvSpPr txBox="1"/>
          <p:nvPr/>
        </p:nvSpPr>
        <p:spPr>
          <a:xfrm>
            <a:off x="685800" y="4736592"/>
            <a:ext cx="2651760" cy="274320"/>
          </a:xfrm>
          <a:prstGeom prst="rect">
            <a:avLst/>
          </a:prstGeom>
          <a:noFill/>
        </p:spPr>
        <p:txBody>
          <a:bodyPr wrap="square" lIns="0" rIns="0" tIns="0" bIns="0">
            <a:spAutoFit/>
          </a:bodyPr>
          <a:lstStyle/>
          <a:p>
            <a:pPr algn="l"/>
            <a:r>
              <a:rPr sz="1100" b="0" i="0" strike="sngStrike">
                <a:solidFill>
                  <a:srgbClr val="958A7B"/>
                </a:solidFill>
                <a:latin typeface="Plus Jakarta Sans"/>
                <a:ea typeface="Plus Jakarta Sans"/>
                <a:cs typeface="Plus Jakarta Sans"/>
              </a:rPr>
              <a:t>₹3,21,538</a:t>
            </a:r>
          </a:p>
        </p:txBody>
      </p:sp>
      <p:sp>
        <p:nvSpPr>
          <p:cNvPr id="15" name="TextBox 14"/>
          <p:cNvSpPr txBox="1"/>
          <p:nvPr/>
        </p:nvSpPr>
        <p:spPr>
          <a:xfrm>
            <a:off x="685800" y="4956048"/>
            <a:ext cx="2743200" cy="548640"/>
          </a:xfrm>
          <a:prstGeom prst="rect">
            <a:avLst/>
          </a:prstGeom>
          <a:noFill/>
        </p:spPr>
        <p:txBody>
          <a:bodyPr wrap="square" lIns="0" rIns="0" tIns="0" bIns="0">
            <a:spAutoFit/>
          </a:bodyPr>
          <a:lstStyle/>
          <a:p>
            <a:pPr algn="l">
              <a:lnSpc>
                <a:spcPct val="92000"/>
              </a:lnSpc>
            </a:pPr>
            <a:r>
              <a:rPr sz="3200" b="0" i="0">
                <a:solidFill>
                  <a:srgbClr val="EFE6D8"/>
                </a:solidFill>
                <a:latin typeface="Cormorant Garamond"/>
                <a:ea typeface="Plus Jakarta Sans"/>
                <a:cs typeface="Plus Jakarta Sans"/>
              </a:rPr>
              <a:t>₹2,09,000</a:t>
            </a:r>
          </a:p>
        </p:txBody>
      </p:sp>
      <p:sp>
        <p:nvSpPr>
          <p:cNvPr id="16" name="TextBox 15"/>
          <p:cNvSpPr txBox="1"/>
          <p:nvPr/>
        </p:nvSpPr>
        <p:spPr>
          <a:xfrm>
            <a:off x="3611880" y="4480560"/>
            <a:ext cx="2743200" cy="228600"/>
          </a:xfrm>
          <a:prstGeom prst="rect">
            <a:avLst/>
          </a:prstGeom>
          <a:noFill/>
        </p:spPr>
        <p:txBody>
          <a:bodyPr wrap="square" lIns="0" rIns="0" tIns="0" bIns="0">
            <a:spAutoFit/>
          </a:bodyPr>
          <a:lstStyle/>
          <a:p>
            <a:pPr algn="l"/>
            <a:r>
              <a:rPr sz="800" b="1" i="0" spc="300">
                <a:solidFill>
                  <a:srgbClr val="C4A06A"/>
                </a:solidFill>
                <a:latin typeface="Plus Jakarta Sans"/>
                <a:ea typeface="Plus Jakarta Sans"/>
                <a:cs typeface="Plus Jakarta Sans"/>
              </a:rPr>
              <a:t>FULL NOIR</a:t>
            </a:r>
          </a:p>
        </p:txBody>
      </p:sp>
      <p:sp>
        <p:nvSpPr>
          <p:cNvPr id="17" name="TextBox 16"/>
          <p:cNvSpPr txBox="1"/>
          <p:nvPr/>
        </p:nvSpPr>
        <p:spPr>
          <a:xfrm>
            <a:off x="3611880" y="4736592"/>
            <a:ext cx="2651760" cy="274320"/>
          </a:xfrm>
          <a:prstGeom prst="rect">
            <a:avLst/>
          </a:prstGeom>
          <a:noFill/>
        </p:spPr>
        <p:txBody>
          <a:bodyPr wrap="square" lIns="0" rIns="0" tIns="0" bIns="0">
            <a:spAutoFit/>
          </a:bodyPr>
          <a:lstStyle/>
          <a:p>
            <a:pPr algn="l"/>
            <a:r>
              <a:rPr sz="1100" b="0" i="0" strike="sngStrike">
                <a:solidFill>
                  <a:srgbClr val="958A7B"/>
                </a:solidFill>
                <a:latin typeface="Plus Jakarta Sans"/>
                <a:ea typeface="Plus Jakarta Sans"/>
                <a:cs typeface="Plus Jakarta Sans"/>
              </a:rPr>
              <a:t>₹4,29,231</a:t>
            </a:r>
          </a:p>
        </p:txBody>
      </p:sp>
      <p:sp>
        <p:nvSpPr>
          <p:cNvPr id="18" name="TextBox 17"/>
          <p:cNvSpPr txBox="1"/>
          <p:nvPr/>
        </p:nvSpPr>
        <p:spPr>
          <a:xfrm>
            <a:off x="3611880" y="4956048"/>
            <a:ext cx="2743200" cy="548640"/>
          </a:xfrm>
          <a:prstGeom prst="rect">
            <a:avLst/>
          </a:prstGeom>
          <a:noFill/>
        </p:spPr>
        <p:txBody>
          <a:bodyPr wrap="square" lIns="0" rIns="0" tIns="0" bIns="0">
            <a:spAutoFit/>
          </a:bodyPr>
          <a:lstStyle/>
          <a:p>
            <a:pPr algn="l">
              <a:lnSpc>
                <a:spcPct val="92000"/>
              </a:lnSpc>
            </a:pPr>
            <a:r>
              <a:rPr sz="3200" b="0" i="0">
                <a:solidFill>
                  <a:srgbClr val="EFE6D8"/>
                </a:solidFill>
                <a:latin typeface="Cormorant Garamond"/>
                <a:ea typeface="Plus Jakarta Sans"/>
                <a:cs typeface="Plus Jakarta Sans"/>
              </a:rPr>
              <a:t>₹2,79,000</a:t>
            </a:r>
          </a:p>
        </p:txBody>
      </p:sp>
      <p:sp>
        <p:nvSpPr>
          <p:cNvPr id="19" name="TextBox 18"/>
          <p:cNvSpPr txBox="1"/>
          <p:nvPr/>
        </p:nvSpPr>
        <p:spPr>
          <a:xfrm>
            <a:off x="685800" y="5669280"/>
            <a:ext cx="5852160" cy="274320"/>
          </a:xfrm>
          <a:prstGeom prst="rect">
            <a:avLst/>
          </a:prstGeom>
          <a:noFill/>
        </p:spPr>
        <p:txBody>
          <a:bodyPr wrap="square" lIns="0" rIns="0" tIns="0" bIns="0">
            <a:spAutoFit/>
          </a:bodyPr>
          <a:lstStyle/>
          <a:p>
            <a:pPr algn="l"/>
            <a:r>
              <a:rPr sz="900" b="1" i="0" spc="150">
                <a:solidFill>
                  <a:srgbClr val="D93A2F"/>
                </a:solidFill>
                <a:latin typeface="Plus Jakarta Sans"/>
                <a:ea typeface="Plus Jakarta Sans"/>
                <a:cs typeface="Plus Jakarta Sans"/>
              </a:rPr>
              <a:t>35% off  ·  plus GST</a:t>
            </a:r>
          </a:p>
        </p:txBody>
      </p:sp>
      <p:pic>
        <p:nvPicPr>
          <p:cNvPr id="3" name="!!logo" descr="logobg.png"/>
          <p:cNvPicPr>
            <a:picLocks noChangeAspect="1"/>
          </p:cNvPicPr>
          <p:nvPr/>
        </p:nvPicPr>
        <p:blipFill>
          <a:blip r:embed="rId2"/>
          <a:stretch>
            <a:fillRect/>
          </a:stretch>
        </p:blipFill>
        <p:spPr>
          <a:xfrm>
            <a:off x="11002975" y="292608"/>
            <a:ext cx="502920" cy="502920"/>
          </a:xfrm>
          <a:prstGeom prst="rect">
            <a:avLst/>
          </a:prstGeom>
        </p:spPr>
      </p:pic>
      <p:sp>
        <p:nvSpPr>
          <p:cNvPr id="8" name="static-tag"/>
          <p:cNvSpPr txBox="1"/>
          <p:nvPr/>
        </p:nvSpPr>
        <p:spPr>
          <a:xfrm>
            <a:off x="7086600" y="6537960"/>
            <a:ext cx="4967935" cy="228600"/>
          </a:xfrm>
          <a:prstGeom prst="rect">
            <a:avLst/>
          </a:prstGeom>
          <a:noFill/>
        </p:spPr>
        <p:txBody>
          <a:bodyPr wrap="square" lIns="0" rIns="0" tIns="0" bIns="0">
            <a:spAutoFit/>
          </a:bodyPr>
          <a:lstStyle/>
          <a:p>
            <a:pPr algn="l"/>
            <a:r>
              <a:rPr sz="700" b="1" i="0" spc="250">
                <a:solidFill>
                  <a:srgbClr val="FFFFFF"/>
                </a:solidFill>
                <a:latin typeface="Plus Jakarta Sans"/>
                <a:ea typeface="Plus Jakarta Sans"/>
                <a:cs typeface="Plus Jakarta Sans"/>
              </a:rPr>
              <a:t>SAMPLE IMAGE</a:t>
            </a:r>
          </a:p>
        </p:txBody>
      </p:sp>
    </p:spTree>
  </p:cSld>
  <p:clrMapOvr>
    <a:masterClrMapping/>
  </p:clrMapOvr>
  <p:transition spd="slow" advClick="1">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00"/>
                                        <p:tgtEl>
                                          <p:spTgt spid="10"/>
                                        </p:tgtEl>
                                      </p:cBhvr>
                                    </p:animEffect>
                                  </p:childTnLst>
                                </p:cTn>
                              </p:par>
                              <p:par>
                                <p:cTn id="8" presetID="42" presetClass="entr" presetSubtype="0" fill="hold" grpId="0" nodeType="withEffect">
                                  <p:stCondLst>
                                    <p:cond delay="36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900"/>
                                        <p:tgtEl>
                                          <p:spTgt spid="11"/>
                                        </p:tgtEl>
                                      </p:cBhvr>
                                    </p:animEffect>
                                    <p:anim calcmode="lin" valueType="num">
                                      <p:cBhvr>
                                        <p:cTn id="11" dur="900" decel="100000"/>
                                        <p:tgtEl>
                                          <p:spTgt spid="11"/>
                                        </p:tgtEl>
                                        <p:attrNameLst>
                                          <p:attrName>ppt_x</p:attrName>
                                        </p:attrNameLst>
                                      </p:cBhvr>
                                      <p:tavLst>
                                        <p:tav tm="0">
                                          <p:val>
                                            <p:strVal val="#ppt_x"/>
                                          </p:val>
                                        </p:tav>
                                        <p:tav tm="100000">
                                          <p:val>
                                            <p:strVal val="#ppt_x"/>
                                          </p:val>
                                        </p:tav>
                                      </p:tavLst>
                                    </p:anim>
                                    <p:anim calcmode="lin" valueType="num">
                                      <p:cBhvr>
                                        <p:cTn id="12" dur="900" decel="100000"/>
                                        <p:tgtEl>
                                          <p:spTgt spid="11"/>
                                        </p:tgtEl>
                                        <p:attrNameLst>
                                          <p:attrName>ppt_y</p:attrName>
                                        </p:attrNameLst>
                                      </p:cBhvr>
                                      <p:tavLst>
                                        <p:tav tm="0">
                                          <p:val>
                                            <p:strVal val="#ppt_y+.035"/>
                                          </p:val>
                                        </p:tav>
                                        <p:tav tm="100000">
                                          <p:val>
                                            <p:strVal val="#ppt_y"/>
                                          </p:val>
                                        </p:tav>
                                      </p:tavLst>
                                    </p:anim>
                                  </p:childTnLst>
                                </p:cTn>
                              </p:par>
                              <p:par>
                                <p:cTn id="13" presetID="10" presetClass="entr" presetSubtype="0" fill="hold" grpId="0" nodeType="withEffect">
                                  <p:stCondLst>
                                    <p:cond delay="47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700"/>
                                        <p:tgtEl>
                                          <p:spTgt spid="12"/>
                                        </p:tgtEl>
                                      </p:cBhvr>
                                    </p:animEffect>
                                  </p:childTnLst>
                                </p:cTn>
                              </p:par>
                              <p:par>
                                <p:cTn id="16" presetID="10" presetClass="entr" presetSubtype="0" fill="hold" grpId="0" nodeType="withEffect">
                                  <p:stCondLst>
                                    <p:cond delay="58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700"/>
                                        <p:tgtEl>
                                          <p:spTgt spid="13"/>
                                        </p:tgtEl>
                                      </p:cBhvr>
                                    </p:animEffect>
                                  </p:childTnLst>
                                </p:cTn>
                              </p:par>
                              <p:par>
                                <p:cTn id="19" presetID="10" presetClass="entr" presetSubtype="0" fill="hold" grpId="0" nodeType="withEffect">
                                  <p:stCondLst>
                                    <p:cond delay="69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700"/>
                                        <p:tgtEl>
                                          <p:spTgt spid="16"/>
                                        </p:tgtEl>
                                      </p:cBhvr>
                                    </p:animEffect>
                                  </p:childTnLst>
                                </p:cTn>
                              </p:par>
                              <p:par>
                                <p:cTn id="22" presetID="10" presetClass="entr" presetSubtype="0" fill="hold" grpId="0" nodeType="withEffect">
                                  <p:stCondLst>
                                    <p:cond delay="80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700"/>
                                        <p:tgtEl>
                                          <p:spTgt spid="14"/>
                                        </p:tgtEl>
                                      </p:cBhvr>
                                    </p:animEffect>
                                  </p:childTnLst>
                                </p:cTn>
                              </p:par>
                              <p:par>
                                <p:cTn id="25" presetID="42" presetClass="entr" presetSubtype="0" fill="hold" grpId="0" nodeType="withEffect">
                                  <p:stCondLst>
                                    <p:cond delay="91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900"/>
                                        <p:tgtEl>
                                          <p:spTgt spid="15"/>
                                        </p:tgtEl>
                                      </p:cBhvr>
                                    </p:animEffect>
                                    <p:anim calcmode="lin" valueType="num">
                                      <p:cBhvr>
                                        <p:cTn id="28" dur="900" decel="100000"/>
                                        <p:tgtEl>
                                          <p:spTgt spid="15"/>
                                        </p:tgtEl>
                                        <p:attrNameLst>
                                          <p:attrName>ppt_x</p:attrName>
                                        </p:attrNameLst>
                                      </p:cBhvr>
                                      <p:tavLst>
                                        <p:tav tm="0">
                                          <p:val>
                                            <p:strVal val="#ppt_x"/>
                                          </p:val>
                                        </p:tav>
                                        <p:tav tm="100000">
                                          <p:val>
                                            <p:strVal val="#ppt_x"/>
                                          </p:val>
                                        </p:tav>
                                      </p:tavLst>
                                    </p:anim>
                                    <p:anim calcmode="lin" valueType="num">
                                      <p:cBhvr>
                                        <p:cTn id="29" dur="900" decel="100000"/>
                                        <p:tgtEl>
                                          <p:spTgt spid="15"/>
                                        </p:tgtEl>
                                        <p:attrNameLst>
                                          <p:attrName>ppt_y</p:attrName>
                                        </p:attrNameLst>
                                      </p:cBhvr>
                                      <p:tavLst>
                                        <p:tav tm="0">
                                          <p:val>
                                            <p:strVal val="#ppt_y+.035"/>
                                          </p:val>
                                        </p:tav>
                                        <p:tav tm="100000">
                                          <p:val>
                                            <p:strVal val="#ppt_y"/>
                                          </p:val>
                                        </p:tav>
                                      </p:tavLst>
                                    </p:anim>
                                  </p:childTnLst>
                                </p:cTn>
                              </p:par>
                              <p:par>
                                <p:cTn id="30" presetID="10" presetClass="entr" presetSubtype="0" fill="hold" grpId="0" nodeType="withEffect">
                                  <p:stCondLst>
                                    <p:cond delay="102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700"/>
                                        <p:tgtEl>
                                          <p:spTgt spid="17"/>
                                        </p:tgtEl>
                                      </p:cBhvr>
                                    </p:animEffect>
                                  </p:childTnLst>
                                </p:cTn>
                              </p:par>
                              <p:par>
                                <p:cTn id="33" presetID="42" presetClass="entr" presetSubtype="0" fill="hold" grpId="0" nodeType="withEffect">
                                  <p:stCondLst>
                                    <p:cond delay="113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900"/>
                                        <p:tgtEl>
                                          <p:spTgt spid="18"/>
                                        </p:tgtEl>
                                      </p:cBhvr>
                                    </p:animEffect>
                                    <p:anim calcmode="lin" valueType="num">
                                      <p:cBhvr>
                                        <p:cTn id="36" dur="900" decel="100000"/>
                                        <p:tgtEl>
                                          <p:spTgt spid="18"/>
                                        </p:tgtEl>
                                        <p:attrNameLst>
                                          <p:attrName>ppt_x</p:attrName>
                                        </p:attrNameLst>
                                      </p:cBhvr>
                                      <p:tavLst>
                                        <p:tav tm="0">
                                          <p:val>
                                            <p:strVal val="#ppt_x"/>
                                          </p:val>
                                        </p:tav>
                                        <p:tav tm="100000">
                                          <p:val>
                                            <p:strVal val="#ppt_x"/>
                                          </p:val>
                                        </p:tav>
                                      </p:tavLst>
                                    </p:anim>
                                    <p:anim calcmode="lin" valueType="num">
                                      <p:cBhvr>
                                        <p:cTn id="37" dur="900" decel="100000"/>
                                        <p:tgtEl>
                                          <p:spTgt spid="18"/>
                                        </p:tgtEl>
                                        <p:attrNameLst>
                                          <p:attrName>ppt_y</p:attrName>
                                        </p:attrNameLst>
                                      </p:cBhvr>
                                      <p:tavLst>
                                        <p:tav tm="0">
                                          <p:val>
                                            <p:strVal val="#ppt_y+.035"/>
                                          </p:val>
                                        </p:tav>
                                        <p:tav tm="100000">
                                          <p:val>
                                            <p:strVal val="#ppt_y"/>
                                          </p:val>
                                        </p:tav>
                                      </p:tavLst>
                                    </p:anim>
                                  </p:childTnLst>
                                </p:cTn>
                              </p:par>
                              <p:par>
                                <p:cTn id="38" presetID="10" presetClass="entr" presetSubtype="0" fill="hold" grpId="0" nodeType="withEffect">
                                  <p:stCondLst>
                                    <p:cond delay="124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7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6" grpId="0" animBg="1"/>
      <p:bldP spid="14" grpId="0" animBg="1"/>
      <p:bldP spid="15" grpId="0" animBg="1"/>
      <p:bldP spid="17" grpId="0" animBg="1"/>
      <p:bldP spid="18" grpId="0" animBg="1"/>
      <p:bldP spid="19"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tatic-bg"/>
          <p:cNvSpPr/>
          <p:nvPr/>
        </p:nvSpPr>
        <p:spPr>
          <a:xfrm>
            <a:off x="0" y="0"/>
            <a:ext cx="12191695" cy="6858000"/>
          </a:xfrm>
          <a:prstGeom prst="rect">
            <a:avLst/>
          </a:prstGeom>
          <a:solidFill>
            <a:srgbClr val="151311"/>
          </a:solidFill>
          <a:ln>
            <a:noFill/>
          </a:ln>
        </p:spPr>
        <p:txBody>
          <a:bodyPr rtlCol="0" anchor="ctr"/>
          <a:lstStyle/>
          <a:p>
            <a:pPr algn="ctr"/>
          </a:p>
        </p:txBody>
      </p:sp>
      <p:pic>
        <p:nvPicPr>
          <p:cNvPr id="3" name="static-photo" descr="image.jpg"/>
          <p:cNvPicPr>
            <a:picLocks noChangeAspect="1"/>
          </p:cNvPicPr>
          <p:nvPr/>
        </p:nvPicPr>
        <p:blipFill>
          <a:blip r:embed="rId2"/>
          <a:stretch>
            <a:fillRect/>
          </a:stretch>
        </p:blipFill>
        <p:spPr>
          <a:xfrm>
            <a:off x="0" y="0"/>
            <a:ext cx="12191695" cy="6858000"/>
          </a:xfrm>
          <a:prstGeom prst="rect">
            <a:avLst/>
          </a:prstGeom>
        </p:spPr>
      </p:pic>
      <p:sp>
        <p:nvSpPr>
          <p:cNvPr id="4" name="static-shade"/>
          <p:cNvSpPr/>
          <p:nvPr/>
        </p:nvSpPr>
        <p:spPr>
          <a:xfrm>
            <a:off x="0" y="0"/>
            <a:ext cx="12191695" cy="6858000"/>
          </a:xfrm>
          <a:prstGeom prst="rect">
            <a:avLst/>
          </a:prstGeom>
          <a:solidFill>
            <a:srgbClr val="000000">
              <a:alpha val="62000"/>
            </a:srgbClr>
          </a:solidFill>
          <a:ln>
            <a:noFill/>
          </a:ln>
        </p:spPr>
        <p:txBody>
          <a:bodyPr rtlCol="0" anchor="ctr"/>
          <a:lstStyle/>
          <a:p>
            <a:pPr algn="ctr"/>
          </a:p>
        </p:txBody>
      </p:sp>
      <p:sp>
        <p:nvSpPr>
          <p:cNvPr id="6" name="TextBox 5"/>
          <p:cNvSpPr txBox="1"/>
          <p:nvPr/>
        </p:nvSpPr>
        <p:spPr>
          <a:xfrm>
            <a:off x="1371600" y="2514600"/>
            <a:ext cx="9448495" cy="914400"/>
          </a:xfrm>
          <a:prstGeom prst="rect">
            <a:avLst/>
          </a:prstGeom>
          <a:noFill/>
        </p:spPr>
        <p:txBody>
          <a:bodyPr wrap="square" lIns="0" rIns="0" tIns="0" bIns="0">
            <a:spAutoFit/>
          </a:bodyPr>
          <a:lstStyle/>
          <a:p>
            <a:pPr algn="ctr">
              <a:lnSpc>
                <a:spcPct val="92000"/>
              </a:lnSpc>
            </a:pPr>
            <a:r>
              <a:rPr sz="6400" b="0" i="0">
                <a:solidFill>
                  <a:srgbClr val="EFE6D8"/>
                </a:solidFill>
                <a:latin typeface="Cormorant Garamond"/>
                <a:ea typeface="Plus Jakarta Sans"/>
                <a:cs typeface="Plus Jakarta Sans"/>
              </a:rPr>
              <a:t>redflaghomes.in</a:t>
            </a:r>
          </a:p>
        </p:txBody>
      </p:sp>
      <p:sp>
        <p:nvSpPr>
          <p:cNvPr id="7" name="TextBox 6"/>
          <p:cNvSpPr txBox="1"/>
          <p:nvPr/>
        </p:nvSpPr>
        <p:spPr>
          <a:xfrm>
            <a:off x="1371600" y="3520440"/>
            <a:ext cx="9448495" cy="320040"/>
          </a:xfrm>
          <a:prstGeom prst="rect">
            <a:avLst/>
          </a:prstGeom>
          <a:noFill/>
        </p:spPr>
        <p:txBody>
          <a:bodyPr wrap="square" lIns="0" rIns="0" tIns="0" bIns="0">
            <a:spAutoFit/>
          </a:bodyPr>
          <a:lstStyle/>
          <a:p>
            <a:pPr algn="ctr"/>
            <a:r>
              <a:rPr sz="1500" b="1" i="0">
                <a:solidFill>
                  <a:srgbClr val="EFE6D8"/>
                </a:solidFill>
                <a:latin typeface="Plus Jakarta Sans"/>
                <a:ea typeface="Plus Jakarta Sans"/>
                <a:cs typeface="Plus Jakarta Sans"/>
              </a:rPr>
              <a:t>hello@redflaghomes.in</a:t>
            </a:r>
          </a:p>
        </p:txBody>
      </p:sp>
      <p:sp>
        <p:nvSpPr>
          <p:cNvPr id="8" name="TextBox 7"/>
          <p:cNvSpPr txBox="1"/>
          <p:nvPr/>
        </p:nvSpPr>
        <p:spPr>
          <a:xfrm>
            <a:off x="1371600" y="3931920"/>
            <a:ext cx="9448495" cy="274320"/>
          </a:xfrm>
          <a:prstGeom prst="rect">
            <a:avLst/>
          </a:prstGeom>
          <a:noFill/>
        </p:spPr>
        <p:txBody>
          <a:bodyPr wrap="square" lIns="0" rIns="0" tIns="0" bIns="0">
            <a:spAutoFit/>
          </a:bodyPr>
          <a:lstStyle/>
          <a:p>
            <a:pPr algn="ctr"/>
            <a:r>
              <a:rPr sz="1000" b="0" i="0" spc="150">
                <a:solidFill>
                  <a:srgbClr val="C4A06A"/>
                </a:solidFill>
                <a:latin typeface="Plus Jakarta Sans"/>
                <a:ea typeface="Plus Jakarta Sans"/>
                <a:cs typeface="Plus Jakarta Sans"/>
              </a:rPr>
              <a:t>The Drop by Red Flag  ·  Studio  ·  Villa  ·  Estate</a:t>
            </a:r>
          </a:p>
        </p:txBody>
      </p:sp>
      <p:sp>
        <p:nvSpPr>
          <p:cNvPr id="9" name="TextBox 8"/>
          <p:cNvSpPr txBox="1"/>
          <p:nvPr/>
        </p:nvSpPr>
        <p:spPr>
          <a:xfrm>
            <a:off x="1371600" y="4251960"/>
            <a:ext cx="9448495" cy="274320"/>
          </a:xfrm>
          <a:prstGeom prst="rect">
            <a:avLst/>
          </a:prstGeom>
          <a:noFill/>
        </p:spPr>
        <p:txBody>
          <a:bodyPr wrap="square" lIns="0" rIns="0" tIns="0" bIns="0">
            <a:spAutoFit/>
          </a:bodyPr>
          <a:lstStyle/>
          <a:p>
            <a:pPr algn="ctr"/>
            <a:r>
              <a:rPr sz="900" b="0" i="0">
                <a:solidFill>
                  <a:srgbClr val="CFC5B6"/>
                </a:solidFill>
                <a:latin typeface="Plus Jakarta Sans"/>
                <a:ea typeface="Plus Jakarta Sans"/>
                <a:cs typeface="Plus Jakarta Sans"/>
              </a:rPr>
              <a:t>Red Flag Homes Network · a company of Red Flag World Holdings Ltd, London</a:t>
            </a:r>
          </a:p>
        </p:txBody>
      </p:sp>
      <p:sp>
        <p:nvSpPr>
          <p:cNvPr id="10" name="TextBox 9"/>
          <p:cNvSpPr txBox="1"/>
          <p:nvPr/>
        </p:nvSpPr>
        <p:spPr>
          <a:xfrm>
            <a:off x="1645920" y="5623560"/>
            <a:ext cx="8899855" cy="731520"/>
          </a:xfrm>
          <a:prstGeom prst="rect">
            <a:avLst/>
          </a:prstGeom>
          <a:noFill/>
        </p:spPr>
        <p:txBody>
          <a:bodyPr wrap="square" lIns="0" rIns="0" tIns="0" bIns="0">
            <a:spAutoFit/>
          </a:bodyPr>
          <a:lstStyle/>
          <a:p>
            <a:pPr algn="ctr">
              <a:lnSpc>
                <a:spcPct val="135000"/>
              </a:lnSpc>
            </a:pPr>
            <a:r>
              <a:rPr sz="750" b="0" i="0">
                <a:solidFill>
                  <a:srgbClr val="CFC5B6"/>
                </a:solidFill>
                <a:latin typeface="Plus Jakarta Sans"/>
                <a:ea typeface="Plus Jakarta Sans"/>
                <a:cs typeface="Plus Jakarta Sans"/>
              </a:rPr>
              <a:t>Prices plus applicable GST, for studios up to 350 sq ft in our delivery cities. Sizes are standard and may vary slightly by supplier. Specific items may be substituted for equivalents of the same quality and palette where stock requires it — the design plan you approve is what we deliver. Images marked “Sample image” are for illustration.</a:t>
            </a:r>
          </a:p>
        </p:txBody>
      </p:sp>
      <p:pic>
        <p:nvPicPr>
          <p:cNvPr id="5" name="!!logo" descr="logobg.png"/>
          <p:cNvPicPr>
            <a:picLocks noChangeAspect="1"/>
          </p:cNvPicPr>
          <p:nvPr/>
        </p:nvPicPr>
        <p:blipFill>
          <a:blip r:embed="rId3"/>
          <a:stretch>
            <a:fillRect/>
          </a:stretch>
        </p:blipFill>
        <p:spPr>
          <a:xfrm>
            <a:off x="5455767" y="914400"/>
            <a:ext cx="1280160" cy="128016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900"/>
                                        <p:tgtEl>
                                          <p:spTgt spid="6"/>
                                        </p:tgtEl>
                                      </p:cBhvr>
                                    </p:animEffect>
                                    <p:anim calcmode="lin" valueType="num">
                                      <p:cBhvr>
                                        <p:cTn id="8" dur="900" decel="100000"/>
                                        <p:tgtEl>
                                          <p:spTgt spid="6"/>
                                        </p:tgtEl>
                                        <p:attrNameLst>
                                          <p:attrName>ppt_x</p:attrName>
                                        </p:attrNameLst>
                                      </p:cBhvr>
                                      <p:tavLst>
                                        <p:tav tm="0">
                                          <p:val>
                                            <p:strVal val="#ppt_x"/>
                                          </p:val>
                                        </p:tav>
                                        <p:tav tm="100000">
                                          <p:val>
                                            <p:strVal val="#ppt_x"/>
                                          </p:val>
                                        </p:tav>
                                      </p:tavLst>
                                    </p:anim>
                                    <p:anim calcmode="lin" valueType="num">
                                      <p:cBhvr>
                                        <p:cTn id="9" dur="900" decel="100000"/>
                                        <p:tgtEl>
                                          <p:spTgt spid="6"/>
                                        </p:tgtEl>
                                        <p:attrNameLst>
                                          <p:attrName>ppt_y</p:attrName>
                                        </p:attrNameLst>
                                      </p:cBhvr>
                                      <p:tavLst>
                                        <p:tav tm="0">
                                          <p:val>
                                            <p:strVal val="#ppt_y+.035"/>
                                          </p:val>
                                        </p:tav>
                                        <p:tav tm="100000">
                                          <p:val>
                                            <p:strVal val="#ppt_y"/>
                                          </p:val>
                                        </p:tav>
                                      </p:tavLst>
                                    </p:anim>
                                  </p:childTnLst>
                                </p:cTn>
                              </p:par>
                              <p:par>
                                <p:cTn id="10" presetID="10" presetClass="entr" presetSubtype="0" fill="hold" grpId="0" nodeType="withEffect">
                                  <p:stCondLst>
                                    <p:cond delay="36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700"/>
                                        <p:tgtEl>
                                          <p:spTgt spid="7"/>
                                        </p:tgtEl>
                                      </p:cBhvr>
                                    </p:animEffect>
                                  </p:childTnLst>
                                </p:cTn>
                              </p:par>
                              <p:par>
                                <p:cTn id="13" presetID="10" presetClass="entr" presetSubtype="0" fill="hold" grpId="0" nodeType="withEffect">
                                  <p:stCondLst>
                                    <p:cond delay="47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00"/>
                                        <p:tgtEl>
                                          <p:spTgt spid="8"/>
                                        </p:tgtEl>
                                      </p:cBhvr>
                                    </p:animEffect>
                                  </p:childTnLst>
                                </p:cTn>
                              </p:par>
                              <p:par>
                                <p:cTn id="16" presetID="10" presetClass="entr" presetSubtype="0" fill="hold" grpId="0" nodeType="withEffect">
                                  <p:stCondLst>
                                    <p:cond delay="58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700"/>
                                        <p:tgtEl>
                                          <p:spTgt spid="9"/>
                                        </p:tgtEl>
                                      </p:cBhvr>
                                    </p:animEffect>
                                  </p:childTnLst>
                                </p:cTn>
                              </p:par>
                              <p:par>
                                <p:cTn id="19" presetID="10" presetClass="entr" presetSubtype="0" fill="hold" grpId="0" nodeType="withEffect">
                                  <p:stCondLst>
                                    <p:cond delay="69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7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