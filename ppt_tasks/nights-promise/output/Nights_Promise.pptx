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you present this:</a:t>
            </a:r>
          </a:p>
          <a:p>
            <a:r>
              <a:t>• Never say ₹185 without “with three properties” in the same sentence. A single-property owner who discovers it’s ₹555 after the call won’t sign.</a:t>
            </a:r>
          </a:p>
          <a:p>
            <a:r>
              <a:t>• Run their real nightly rate and cleaning cost before the meeting. Existing clients know their own numbers.</a:t>
            </a:r>
          </a:p>
          <a:p>
            <a:r>
              <a:t>• Quote the ₹4,999 minimum, not the 8%. At ₹2,000 a night and 18 nights, 8% is only about ₹2,880, so the minimum applies on most listings.</a:t>
            </a:r>
          </a:p>
          <a:p>
            <a:r>
              <a:t>• Never say “no questions asked”. Say what’s true and stronger: no claim form, no proof, no chasing — we count it and we pay.</a:t>
            </a:r>
          </a:p>
          <a:p>
            <a:r>
              <a:t>• The promise is nights, never income. Don’t let a conversation drift into promising rupees.</a:t>
            </a:r>
          </a:p>
          <a:p/>
          <a:p>
            <a:r>
              <a:t>Say on the call: Open with nights, not the programme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on the call: Pause here. This is the slide the conversation turns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on the call: This is the closing slide. Show ₹185 first, then ₹555 — the gap is what makes them find a third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on the call: Say “around” — we’ll run your real rate and your real cleaning cost on the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on the call: The point isn’t the total. It’s that a one-time fee buys a permanent income.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on the call: This is the trust slide. Most guarantees are designed to be hard to claim. Ours doesn’t need claiming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on the call: Say this plainly now. A partner who assumes it follows every future property feels cheated in month 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on the call: Owners trust the floor-rate line more than anything else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on the call: Ending on “if they can’t, we’ll say so” earns more trust than any promise earlier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atic-photo" descr="n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tatic-mask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gradFill rotWithShape="1" flip="none">
            <a:gsLst>
              <a:gs pos="0">
                <a:srgbClr val="0E1424">
                  <a:alpha val="95000"/>
                </a:srgbClr>
              </a:gs>
              <a:gs pos="100000">
                <a:srgbClr val="0E1424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static-art" descr="m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20040"/>
            <a:ext cx="402336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9659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RED FLAG OUTPOST CLASSIC  ·  THE NIGHTS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7315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We’ll put 18 nights
a month on your
calendar.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1">
                <a:solidFill>
                  <a:srgbClr val="D9B56A"/>
                </a:solidFill>
                <a:latin typeface="Playfair Display"/>
                <a:ea typeface="DM Sans"/>
                <a:cs typeface="DM Sans"/>
              </a:rPr>
              <a:t>In writing. Or the money comes back to your bank.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6537960" cy="420624"/>
          </a:xfrm>
          <a:prstGeom prst="roundRect">
            <a:avLst>
              <a:gd name="adj" fmla="val 50000"/>
            </a:avLst>
          </a:prstGeom>
          <a:solidFill>
            <a:srgbClr val="182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78424"/>
            <a:ext cx="6537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From ₹185 a night with three properties  ·  paid back automatically if we miss</a:t>
            </a:r>
          </a:p>
        </p:txBody>
      </p:sp>
      <p:pic>
        <p:nvPicPr>
          <p:cNvPr id="6" name="!!logo" descr="logo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02920"/>
            <a:ext cx="1051560" cy="105156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02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E5483B"/>
                </a:solidFill>
                <a:latin typeface="DM Sans"/>
                <a:ea typeface="DM Sans"/>
                <a:cs typeface="DM Sans"/>
              </a:rPr>
              <a:t>YOU ALREADY KNOW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Most months, the
calendar sits half empty.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5120640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21A2E"/>
                </a:solidFill>
                <a:latin typeface="DM Sans"/>
                <a:ea typeface="DM Sans"/>
                <a:cs typeface="DM Sans"/>
              </a:rPr>
              <a:t>Most properties in India sit booked 10–14 nights a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5120640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21A2E"/>
                </a:solidFill>
                <a:latin typeface="DM Sans"/>
                <a:ea typeface="DM Sans"/>
                <a:cs typeface="DM Sans"/>
              </a:rPr>
              <a:t>The rate never changes, so weekends go cheap and weekdays go empty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06240"/>
            <a:ext cx="5120640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21A2E"/>
                </a:solidFill>
                <a:latin typeface="DM Sans"/>
                <a:ea typeface="DM Sans"/>
                <a:cs typeface="DM Sans"/>
              </a:rPr>
              <a:t>Enquiries come at midnight, the cleaner cancels on Sunday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92040"/>
            <a:ext cx="5120640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3D4458"/>
                </a:solidFill>
                <a:latin typeface="Playfair Display"/>
                <a:ea typeface="DM Sans"/>
                <a:cs typeface="DM Sans"/>
              </a:rPr>
              <a:t>It isn’t the property. Nobody is working the calendar every single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417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1417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417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417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1417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17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19" y="1417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S</a:t>
            </a:r>
          </a:p>
        </p:txBody>
      </p:sp>
      <p:sp>
        <p:nvSpPr>
          <p:cNvPr id="24" name="Oval 23"/>
          <p:cNvSpPr/>
          <p:nvPr/>
        </p:nvSpPr>
        <p:spPr>
          <a:xfrm>
            <a:off x="8001000" y="1737360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189097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8641080" y="1737360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189097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9281159" y="1737360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59" y="189097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9921240" y="1737360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189097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4</a:t>
            </a:r>
          </a:p>
        </p:txBody>
      </p:sp>
      <p:sp>
        <p:nvSpPr>
          <p:cNvPr id="32" name="Oval 31"/>
          <p:cNvSpPr/>
          <p:nvPr/>
        </p:nvSpPr>
        <p:spPr>
          <a:xfrm>
            <a:off x="10561319" y="1737360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19" y="189097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6720840" y="237743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253105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6</a:t>
            </a:r>
          </a:p>
        </p:txBody>
      </p:sp>
      <p:sp>
        <p:nvSpPr>
          <p:cNvPr id="36" name="Oval 35"/>
          <p:cNvSpPr/>
          <p:nvPr/>
        </p:nvSpPr>
        <p:spPr>
          <a:xfrm>
            <a:off x="7360919" y="237743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19" y="253105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7</a:t>
            </a:r>
          </a:p>
        </p:txBody>
      </p:sp>
      <p:sp>
        <p:nvSpPr>
          <p:cNvPr id="38" name="Oval 37"/>
          <p:cNvSpPr/>
          <p:nvPr/>
        </p:nvSpPr>
        <p:spPr>
          <a:xfrm>
            <a:off x="8001000" y="237743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253105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8</a:t>
            </a:r>
          </a:p>
        </p:txBody>
      </p:sp>
      <p:sp>
        <p:nvSpPr>
          <p:cNvPr id="40" name="Oval 39"/>
          <p:cNvSpPr/>
          <p:nvPr/>
        </p:nvSpPr>
        <p:spPr>
          <a:xfrm>
            <a:off x="8641080" y="237743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253105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9</a:t>
            </a:r>
          </a:p>
        </p:txBody>
      </p:sp>
      <p:sp>
        <p:nvSpPr>
          <p:cNvPr id="42" name="Oval 41"/>
          <p:cNvSpPr/>
          <p:nvPr/>
        </p:nvSpPr>
        <p:spPr>
          <a:xfrm>
            <a:off x="9281159" y="2377439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59" y="253105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10</a:t>
            </a:r>
          </a:p>
        </p:txBody>
      </p:sp>
      <p:sp>
        <p:nvSpPr>
          <p:cNvPr id="44" name="Oval 43"/>
          <p:cNvSpPr/>
          <p:nvPr/>
        </p:nvSpPr>
        <p:spPr>
          <a:xfrm>
            <a:off x="9921240" y="2377439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21240" y="253105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11</a:t>
            </a:r>
          </a:p>
        </p:txBody>
      </p:sp>
      <p:sp>
        <p:nvSpPr>
          <p:cNvPr id="46" name="Oval 45"/>
          <p:cNvSpPr/>
          <p:nvPr/>
        </p:nvSpPr>
        <p:spPr>
          <a:xfrm>
            <a:off x="10561319" y="2377439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61319" y="253105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12</a:t>
            </a:r>
          </a:p>
        </p:txBody>
      </p:sp>
      <p:sp>
        <p:nvSpPr>
          <p:cNvPr id="48" name="Oval 47"/>
          <p:cNvSpPr/>
          <p:nvPr/>
        </p:nvSpPr>
        <p:spPr>
          <a:xfrm>
            <a:off x="6720840" y="3017520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17113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13</a:t>
            </a:r>
          </a:p>
        </p:txBody>
      </p:sp>
      <p:sp>
        <p:nvSpPr>
          <p:cNvPr id="50" name="Oval 49"/>
          <p:cNvSpPr/>
          <p:nvPr/>
        </p:nvSpPr>
        <p:spPr>
          <a:xfrm>
            <a:off x="7360919" y="3017520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19" y="317113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14</a:t>
            </a:r>
          </a:p>
        </p:txBody>
      </p:sp>
      <p:sp>
        <p:nvSpPr>
          <p:cNvPr id="52" name="Oval 51"/>
          <p:cNvSpPr/>
          <p:nvPr/>
        </p:nvSpPr>
        <p:spPr>
          <a:xfrm>
            <a:off x="8001000" y="3017520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01000" y="317113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15</a:t>
            </a:r>
          </a:p>
        </p:txBody>
      </p:sp>
      <p:sp>
        <p:nvSpPr>
          <p:cNvPr id="54" name="Oval 53"/>
          <p:cNvSpPr/>
          <p:nvPr/>
        </p:nvSpPr>
        <p:spPr>
          <a:xfrm>
            <a:off x="8641080" y="3017520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41080" y="317113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16</a:t>
            </a:r>
          </a:p>
        </p:txBody>
      </p:sp>
      <p:sp>
        <p:nvSpPr>
          <p:cNvPr id="56" name="Oval 55"/>
          <p:cNvSpPr/>
          <p:nvPr/>
        </p:nvSpPr>
        <p:spPr>
          <a:xfrm>
            <a:off x="9281159" y="3017520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59" y="317113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17</a:t>
            </a:r>
          </a:p>
        </p:txBody>
      </p:sp>
      <p:sp>
        <p:nvSpPr>
          <p:cNvPr id="58" name="Oval 57"/>
          <p:cNvSpPr/>
          <p:nvPr/>
        </p:nvSpPr>
        <p:spPr>
          <a:xfrm>
            <a:off x="9921240" y="3017520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21240" y="317113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18</a:t>
            </a:r>
          </a:p>
        </p:txBody>
      </p:sp>
      <p:sp>
        <p:nvSpPr>
          <p:cNvPr id="60" name="Oval 59"/>
          <p:cNvSpPr/>
          <p:nvPr/>
        </p:nvSpPr>
        <p:spPr>
          <a:xfrm>
            <a:off x="10561319" y="3017520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61319" y="317113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19</a:t>
            </a:r>
          </a:p>
        </p:txBody>
      </p:sp>
      <p:sp>
        <p:nvSpPr>
          <p:cNvPr id="62" name="Oval 61"/>
          <p:cNvSpPr/>
          <p:nvPr/>
        </p:nvSpPr>
        <p:spPr>
          <a:xfrm>
            <a:off x="6720840" y="365759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20840" y="381121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20</a:t>
            </a:r>
          </a:p>
        </p:txBody>
      </p:sp>
      <p:sp>
        <p:nvSpPr>
          <p:cNvPr id="64" name="Oval 63"/>
          <p:cNvSpPr/>
          <p:nvPr/>
        </p:nvSpPr>
        <p:spPr>
          <a:xfrm>
            <a:off x="7360919" y="365759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60919" y="381121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21</a:t>
            </a:r>
          </a:p>
        </p:txBody>
      </p:sp>
      <p:sp>
        <p:nvSpPr>
          <p:cNvPr id="66" name="Oval 65"/>
          <p:cNvSpPr/>
          <p:nvPr/>
        </p:nvSpPr>
        <p:spPr>
          <a:xfrm>
            <a:off x="8001000" y="365759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0" y="381121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22</a:t>
            </a:r>
          </a:p>
        </p:txBody>
      </p:sp>
      <p:sp>
        <p:nvSpPr>
          <p:cNvPr id="68" name="Oval 67"/>
          <p:cNvSpPr/>
          <p:nvPr/>
        </p:nvSpPr>
        <p:spPr>
          <a:xfrm>
            <a:off x="8641080" y="365759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41080" y="381121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23</a:t>
            </a:r>
          </a:p>
        </p:txBody>
      </p:sp>
      <p:sp>
        <p:nvSpPr>
          <p:cNvPr id="70" name="Oval 69"/>
          <p:cNvSpPr/>
          <p:nvPr/>
        </p:nvSpPr>
        <p:spPr>
          <a:xfrm>
            <a:off x="9281159" y="3657599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81159" y="381121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24</a:t>
            </a:r>
          </a:p>
        </p:txBody>
      </p:sp>
      <p:sp>
        <p:nvSpPr>
          <p:cNvPr id="72" name="Oval 71"/>
          <p:cNvSpPr/>
          <p:nvPr/>
        </p:nvSpPr>
        <p:spPr>
          <a:xfrm>
            <a:off x="9921240" y="3657599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21240" y="381121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25</a:t>
            </a:r>
          </a:p>
        </p:txBody>
      </p:sp>
      <p:sp>
        <p:nvSpPr>
          <p:cNvPr id="74" name="Oval 73"/>
          <p:cNvSpPr/>
          <p:nvPr/>
        </p:nvSpPr>
        <p:spPr>
          <a:xfrm>
            <a:off x="10561319" y="3657599"/>
            <a:ext cx="548640" cy="548640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1319" y="381121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0E1424"/>
                </a:solidFill>
                <a:latin typeface="DM Sans"/>
                <a:ea typeface="DM Sans"/>
                <a:cs typeface="DM Sans"/>
              </a:rPr>
              <a:t>26</a:t>
            </a:r>
          </a:p>
        </p:txBody>
      </p:sp>
      <p:sp>
        <p:nvSpPr>
          <p:cNvPr id="76" name="Oval 75"/>
          <p:cNvSpPr/>
          <p:nvPr/>
        </p:nvSpPr>
        <p:spPr>
          <a:xfrm>
            <a:off x="6720840" y="429767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20840" y="445129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27</a:t>
            </a:r>
          </a:p>
        </p:txBody>
      </p:sp>
      <p:sp>
        <p:nvSpPr>
          <p:cNvPr id="78" name="Oval 77"/>
          <p:cNvSpPr/>
          <p:nvPr/>
        </p:nvSpPr>
        <p:spPr>
          <a:xfrm>
            <a:off x="7360919" y="429767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60919" y="445129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28</a:t>
            </a:r>
          </a:p>
        </p:txBody>
      </p:sp>
      <p:sp>
        <p:nvSpPr>
          <p:cNvPr id="80" name="Oval 79"/>
          <p:cNvSpPr/>
          <p:nvPr/>
        </p:nvSpPr>
        <p:spPr>
          <a:xfrm>
            <a:off x="8001000" y="429767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01000" y="445129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29</a:t>
            </a:r>
          </a:p>
        </p:txBody>
      </p:sp>
      <p:sp>
        <p:nvSpPr>
          <p:cNvPr id="82" name="Oval 81"/>
          <p:cNvSpPr/>
          <p:nvPr/>
        </p:nvSpPr>
        <p:spPr>
          <a:xfrm>
            <a:off x="8641080" y="4297679"/>
            <a:ext cx="548640" cy="548640"/>
          </a:xfrm>
          <a:prstGeom prst="ellipse">
            <a:avLst/>
          </a:prstGeom>
          <a:noFill/>
          <a:ln w="12700">
            <a:solidFill>
              <a:srgbClr val="D2C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41080" y="445129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20840" y="5074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●  12 nights booked        ○  18 nights empty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6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6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46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7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5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86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614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9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26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54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782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83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66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894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922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97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6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062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1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146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1174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202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25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1286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314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342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39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426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454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538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1566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1622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1678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1706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1734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1762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7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1818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1846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7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1874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1902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1958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1986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7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2014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7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2042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7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2098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2126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7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2154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7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2182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7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2238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2266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7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2294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7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2322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7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2378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2406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7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4" grpId="0" animBg="1"/>
      <p:bldP spid="46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9" grpId="0" animBg="1"/>
      <p:bldP spid="10" grpId="0" animBg="1"/>
      <p:bldP spid="48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60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11" grpId="0" animBg="1"/>
      <p:bldP spid="12" grpId="0" animBg="1"/>
      <p:bldP spid="62" grpId="0" animBg="1"/>
      <p:bldP spid="64" grpId="0" animBg="1"/>
      <p:bldP spid="66" grpId="0" animBg="1"/>
      <p:bldP spid="68" grpId="0" animBg="1"/>
      <p:bldP spid="70" grpId="0" animBg="1"/>
      <p:bldP spid="72" grpId="0" animBg="1"/>
      <p:bldP spid="74" grpId="0" animBg="1"/>
      <p:bldP spid="63" grpId="0" animBg="1"/>
      <p:bldP spid="65" grpId="0" animBg="1"/>
      <p:bldP spid="67" grpId="0" animBg="1"/>
      <p:bldP spid="69" grpId="0" animBg="1"/>
      <p:bldP spid="71" grpId="0" animBg="1"/>
      <p:bldP spid="73" grpId="0" animBg="1"/>
      <p:bldP spid="75" grpId="0" animBg="1"/>
      <p:bldP spid="13" grpId="0" animBg="1"/>
      <p:bldP spid="76" grpId="0" animBg="1"/>
      <p:bldP spid="78" grpId="0" animBg="1"/>
      <p:bldP spid="80" grpId="0" animBg="1"/>
      <p:bldP spid="82" grpId="0" animBg="1"/>
      <p:bldP spid="14" grpId="0" animBg="1"/>
      <p:bldP spid="77" grpId="0" animBg="1"/>
      <p:bldP spid="79" grpId="0" animBg="1"/>
      <p:bldP spid="81" grpId="0" animBg="1"/>
      <p:bldP spid="83" grpId="0" animBg="1"/>
      <p:bldP spid="15" grpId="0" animBg="1"/>
      <p:bldP spid="16" grpId="0" animBg="1"/>
      <p:bldP spid="84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stars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03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SO WE PUT IT IN WRITING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0" i="0">
                <a:solidFill>
                  <a:srgbClr val="D9B56A"/>
                </a:solidFill>
                <a:latin typeface="Playfair Display"/>
                <a:ea typeface="DM Sans"/>
                <a:cs typeface="DM Sans"/>
              </a:rPr>
              <a:t>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nights per property, in 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An average of 18 a month. Miss it, and your fee comes back —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Month 1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7830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06540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12280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18020" y="17830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29500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19888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06540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12280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18020" y="19888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3760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29500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35240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219456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06540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12280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18020" y="219456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0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29500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35240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0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06540" y="24003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12280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18020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23760" y="24003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29500" y="24003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35240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00800" y="26060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06540" y="26060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2884932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18 nights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1463040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Month 2</a:t>
            </a:r>
          </a:p>
        </p:txBody>
      </p:sp>
      <p:sp>
        <p:nvSpPr>
          <p:cNvPr id="44" name="Oval 43"/>
          <p:cNvSpPr/>
          <p:nvPr/>
        </p:nvSpPr>
        <p:spPr>
          <a:xfrm>
            <a:off x="8156448" y="17830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362188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67928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73668" y="17830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79408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85148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390888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56448" y="19888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62188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567928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73668" y="19888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79408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185148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390888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56448" y="219456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62188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567928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773668" y="219456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979408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185148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390888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156448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62188" y="24003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7928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3668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979408" y="24003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185148" y="24003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90888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156448" y="26060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62188" y="26060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56448" y="2884932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18 nights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12096" y="1463040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Month 3</a:t>
            </a:r>
          </a:p>
        </p:txBody>
      </p:sp>
      <p:sp>
        <p:nvSpPr>
          <p:cNvPr id="76" name="Oval 75"/>
          <p:cNvSpPr/>
          <p:nvPr/>
        </p:nvSpPr>
        <p:spPr>
          <a:xfrm>
            <a:off x="9912096" y="17830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117836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323576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529316" y="17830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735056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40796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146536" y="178308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912096" y="19888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117836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323576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529316" y="19888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735056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940796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146536" y="19888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912096" y="219456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17836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323576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529316" y="219456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735056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940796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146536" y="219456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912096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117836" y="24003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323576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529316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735056" y="24003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940796" y="24003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146536" y="24003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912096" y="26060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117836" y="26060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12096" y="2884932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18 nights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0" y="3611880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Month 4</a:t>
            </a:r>
          </a:p>
        </p:txBody>
      </p:sp>
      <p:sp>
        <p:nvSpPr>
          <p:cNvPr id="108" name="Oval 107"/>
          <p:cNvSpPr/>
          <p:nvPr/>
        </p:nvSpPr>
        <p:spPr>
          <a:xfrm>
            <a:off x="6400800" y="39319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606540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812280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018020" y="39319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223760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29500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635240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400800" y="4137659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606540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812280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018020" y="4137659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223760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429500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635240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400800" y="43434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606540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812280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018020" y="43434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223760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429500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635240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400800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606540" y="454914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12280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018020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223760" y="454914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429500" y="454914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635240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400800" y="47548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606540" y="47548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0" y="5033772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18 nights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156448" y="3611880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Month 5</a:t>
            </a:r>
          </a:p>
        </p:txBody>
      </p:sp>
      <p:sp>
        <p:nvSpPr>
          <p:cNvPr id="140" name="Oval 139"/>
          <p:cNvSpPr/>
          <p:nvPr/>
        </p:nvSpPr>
        <p:spPr>
          <a:xfrm>
            <a:off x="8156448" y="39319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362188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567928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773668" y="39319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979408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185148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9390888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156448" y="4137659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362188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567928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773668" y="4137659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979408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185148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390888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156448" y="43434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362188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67928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773668" y="43434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979408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185148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390888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156448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362188" y="454914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567928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773668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8979408" y="454914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9185148" y="454914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9390888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8156448" y="47548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8362188" y="47548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156448" y="5033772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18 nights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912096" y="3611880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Month 6</a:t>
            </a:r>
          </a:p>
        </p:txBody>
      </p:sp>
      <p:sp>
        <p:nvSpPr>
          <p:cNvPr id="172" name="Oval 171"/>
          <p:cNvSpPr/>
          <p:nvPr/>
        </p:nvSpPr>
        <p:spPr>
          <a:xfrm>
            <a:off x="9912096" y="39319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0117836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323576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0529316" y="393192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0735056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940796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1146536" y="393192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912096" y="4137659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117836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323576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529316" y="4137659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0735056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0940796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1146536" y="4137659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9912096" y="43434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0117836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0323576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0529316" y="434340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0735056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0940796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1146536" y="434340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9912096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117836" y="454914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0323576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0529316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0735056" y="454914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0940796" y="4549140"/>
            <a:ext cx="155448" cy="1554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1146536" y="454914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9912096" y="47548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0117836" y="4754880"/>
            <a:ext cx="155448" cy="155448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2096" y="5033772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18 nights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400800" y="5806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6 months × 18 nights = 108 nights, in writing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6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7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83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94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16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27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38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349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71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82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393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04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41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26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437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459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81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92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503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514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536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547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558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569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591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602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613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624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635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646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668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701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712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723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734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74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756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767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778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789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811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822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833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844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855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866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877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888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921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932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7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943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7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7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965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7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976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987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7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998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1009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1031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1042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1053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1064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1075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1086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1097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1108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7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1119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7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1141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1163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7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1174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7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1185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7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1196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7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1207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1218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7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1229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7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1251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7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1262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1273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1284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1306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7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withEffect">
                                  <p:stCondLst>
                                    <p:cond delay="1317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1328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7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7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42" presetClass="entr" presetSubtype="0" fill="hold" grpId="0" nodeType="withEffect">
                                  <p:stCondLst>
                                    <p:cond delay="1361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1372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1383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7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1394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7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1405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7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1416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7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1427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1438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7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7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7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1471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7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7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1493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7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1504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7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1515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7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grpId="0" nodeType="withEffect">
                                  <p:stCondLst>
                                    <p:cond delay="1526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7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0" presetClass="entr" presetSubtype="0" fill="hold" grpId="0" nodeType="withEffect">
                                  <p:stCondLst>
                                    <p:cond delay="1537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7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grpId="0" nodeType="withEffect">
                                  <p:stCondLst>
                                    <p:cond delay="1548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7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ntr" presetSubtype="0" fill="hold" grpId="0" nodeType="withEffect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7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7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10" presetClass="entr" presetSubtype="0" fill="hold" grpId="0" nodeType="withEffect">
                                  <p:stCondLst>
                                    <p:cond delay="1581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7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10" presetClass="entr" presetSubtype="0" fill="hold" grpId="0" nodeType="withEffect">
                                  <p:stCondLst>
                                    <p:cond delay="1592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7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10" presetClass="entr" presetSubtype="0" fill="hold" grpId="0" nodeType="withEffect">
                                  <p:stCondLst>
                                    <p:cond delay="1603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grpId="0" nodeType="withEffect">
                                  <p:stCondLst>
                                    <p:cond delay="1614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7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10" presetClass="entr" presetSubtype="0" fill="hold" grpId="0" nodeType="withEffect">
                                  <p:stCondLst>
                                    <p:cond delay="1625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7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10" presetClass="entr" presetSubtype="0" fill="hold" grpId="0" nodeType="withEffect">
                                  <p:stCondLst>
                                    <p:cond delay="1636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10" presetClass="entr" presetSubtype="0" fill="hold" grpId="0" nodeType="withEffect">
                                  <p:stCondLst>
                                    <p:cond delay="1647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7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presetID="10" presetClass="entr" presetSubtype="0" fill="hold" grpId="0" nodeType="withEffect">
                                  <p:stCondLst>
                                    <p:cond delay="1658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7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ntr" presetSubtype="0" fill="hold" grpId="0" nodeType="withEffect">
                                  <p:stCondLst>
                                    <p:cond delay="1669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7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7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ntr" presetSubtype="0" fill="hold" grpId="0" nodeType="withEffect">
                                  <p:stCondLst>
                                    <p:cond delay="1691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7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1702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7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0" presetClass="entr" presetSubtype="0" fill="hold" grpId="0" nodeType="withEffect">
                                  <p:stCondLst>
                                    <p:cond delay="1713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0" dur="7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10" presetClass="entr" presetSubtype="0" fill="hold" grpId="0" nodeType="withEffect">
                                  <p:stCondLst>
                                    <p:cond delay="1724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7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ntr" presetSubtype="0" fill="hold" grpId="0" nodeType="withEffect">
                                  <p:stCondLst>
                                    <p:cond delay="1735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7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0" nodeType="withEffect">
                                  <p:stCondLst>
                                    <p:cond delay="1746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7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ntr" presetSubtype="0" fill="hold" grpId="0" nodeType="withEffect">
                                  <p:stCondLst>
                                    <p:cond delay="1757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7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presetID="10" presetClass="entr" presetSubtype="0" fill="hold" grpId="0" nodeType="withEffect">
                                  <p:stCondLst>
                                    <p:cond delay="1768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7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ntr" presetSubtype="0" fill="hold" grpId="0" nodeType="withEffect">
                                  <p:stCondLst>
                                    <p:cond delay="1779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7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7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ntr" presetSubtype="0" fill="hold" grpId="0" nodeType="withEffect">
                                  <p:stCondLst>
                                    <p:cond delay="1801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7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presetID="10" presetClass="entr" presetSubtype="0" fill="hold" grpId="0" nodeType="withEffect">
                                  <p:stCondLst>
                                    <p:cond delay="1812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7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10" presetClass="entr" presetSubtype="0" fill="hold" grpId="0" nodeType="withEffect">
                                  <p:stCondLst>
                                    <p:cond delay="1823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0" dur="7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presetID="10" presetClass="entr" presetSubtype="0" fill="hold" grpId="0" nodeType="withEffect">
                                  <p:stCondLst>
                                    <p:cond delay="1834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7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10" presetClass="entr" presetSubtype="0" fill="hold" grpId="0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7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7" presetID="10" presetClass="entr" presetSubtype="0" fill="hold" grpId="0" nodeType="withEffect">
                                  <p:stCondLst>
                                    <p:cond delay="1856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7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ntr" presetSubtype="0" fill="hold" grpId="0" nodeType="withEffect">
                                  <p:stCondLst>
                                    <p:cond delay="1867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7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1878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7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ntr" presetSubtype="0" fill="hold" grpId="0" nodeType="withEffect">
                                  <p:stCondLst>
                                    <p:cond delay="1889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7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7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10" presetClass="entr" presetSubtype="0" fill="hold" grpId="0" nodeType="withEffect">
                                  <p:stCondLst>
                                    <p:cond delay="1911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4" dur="7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5" presetID="10" presetClass="entr" presetSubtype="0" fill="hold" grpId="0" nodeType="withEffect">
                                  <p:stCondLst>
                                    <p:cond delay="1922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7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10" presetClass="entr" presetSubtype="0" fill="hold" grpId="0" nodeType="withEffect">
                                  <p:stCondLst>
                                    <p:cond delay="1933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0" dur="7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1" presetID="10" presetClass="entr" presetSubtype="0" fill="hold" grpId="0" nodeType="withEffect">
                                  <p:stCondLst>
                                    <p:cond delay="1944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3" dur="7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presetID="10" presetClass="entr" presetSubtype="0" fill="hold" grpId="0" nodeType="withEffect">
                                  <p:stCondLst>
                                    <p:cond delay="1955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6" dur="7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7" presetID="10" presetClass="entr" presetSubtype="0" fill="hold" grpId="0" nodeType="withEffect">
                                  <p:stCondLst>
                                    <p:cond delay="1966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7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presetID="10" presetClass="entr" presetSubtype="0" fill="hold" grpId="0" nodeType="withEffect">
                                  <p:stCondLst>
                                    <p:cond delay="1977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2" dur="7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presetID="10" presetClass="entr" presetSubtype="0" fill="hold" grpId="0" nodeType="withEffect">
                                  <p:stCondLst>
                                    <p:cond delay="1988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7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presetID="10" presetClass="entr" presetSubtype="0" fill="hold" grpId="0" nodeType="withEffect">
                                  <p:stCondLst>
                                    <p:cond delay="1999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8" dur="7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9" presetID="10" presetClass="entr" presetSubtype="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7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2" presetID="10" presetClass="entr" presetSubtype="0" fill="hold" grpId="0" nodeType="withEffect">
                                  <p:stCondLst>
                                    <p:cond delay="2021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4" dur="7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presetID="10" presetClass="entr" presetSubtype="0" fill="hold" grpId="0" nodeType="withEffect">
                                  <p:stCondLst>
                                    <p:cond delay="203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7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8" presetID="10" presetClass="entr" presetSubtype="0" fill="hold" grpId="0" nodeType="withEffect">
                                  <p:stCondLst>
                                    <p:cond delay="2043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0" dur="7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1" presetID="10" presetClass="entr" presetSubtype="0" fill="hold" grpId="0" nodeType="withEffect">
                                  <p:stCondLst>
                                    <p:cond delay="2054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7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presetID="10" presetClass="entr" presetSubtype="0" fill="hold" grpId="0" nodeType="withEffect">
                                  <p:stCondLst>
                                    <p:cond delay="2065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7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presetID="10" presetClass="entr" presetSubtype="0" fill="hold" grpId="0" nodeType="withEffect">
                                  <p:stCondLst>
                                    <p:cond delay="2076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7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presetID="10" presetClass="entr" presetSubtype="0" fill="hold" grpId="0" nodeType="withEffect">
                                  <p:stCondLst>
                                    <p:cond delay="2087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2" dur="7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3" presetID="10" presetClass="entr" presetSubtype="0" fill="hold" grpId="0" nodeType="withEffect">
                                  <p:stCondLst>
                                    <p:cond delay="2098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5" dur="7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10" presetClass="entr" presetSubtype="0" fill="hold" grpId="0" nodeType="withEffect">
                                  <p:stCondLst>
                                    <p:cond delay="2109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8" dur="7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9" presetID="10" presetClass="entr" presetSubtype="0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7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ntr" presetSubtype="0" fill="hold" grpId="0" nodeType="withEffect">
                                  <p:stCondLst>
                                    <p:cond delay="2131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7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0" nodeType="withEffect">
                                  <p:stCondLst>
                                    <p:cond delay="2142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7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ntr" presetSubtype="0" fill="hold" grpId="0" nodeType="withEffect">
                                  <p:stCondLst>
                                    <p:cond delay="2153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7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presetID="10" presetClass="entr" presetSubtype="0" fill="hold" grpId="0" nodeType="withEffect">
                                  <p:stCondLst>
                                    <p:cond delay="2164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7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10" presetClass="entr" presetSubtype="0" fill="hold" grpId="0" nodeType="withEffect">
                                  <p:stCondLst>
                                    <p:cond delay="2175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6" dur="7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presetID="10" presetClass="entr" presetSubtype="0" fill="hold" grpId="0" nodeType="withEffect">
                                  <p:stCondLst>
                                    <p:cond delay="2186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9" dur="7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10" presetClass="entr" presetSubtype="0" fill="hold" grpId="0" nodeType="withEffect">
                                  <p:stCondLst>
                                    <p:cond delay="2197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2" dur="7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3" presetID="10" presetClass="entr" presetSubtype="0" fill="hold" grpId="0" nodeType="withEffect">
                                  <p:stCondLst>
                                    <p:cond delay="2208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5" dur="7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10" presetClass="entr" presetSubtype="0" fill="hold" grpId="0" nodeType="withEffect">
                                  <p:stCondLst>
                                    <p:cond delay="2219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8" dur="7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9" presetID="10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7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2" presetID="10" presetClass="entr" presetSubtype="0" fill="hold" grpId="0" nodeType="withEffect">
                                  <p:stCondLst>
                                    <p:cond delay="2241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4" dur="7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5" presetID="10" presetClass="entr" presetSubtype="0" fill="hold" grpId="0" nodeType="withEffect">
                                  <p:stCondLst>
                                    <p:cond delay="2252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7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presetID="10" presetClass="entr" presetSubtype="0" fill="hold" grpId="0" nodeType="withEffect">
                                  <p:stCondLst>
                                    <p:cond delay="2263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0" dur="7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presetID="10" presetClass="entr" presetSubtype="0" fill="hold" grpId="0" nodeType="withEffect">
                                  <p:stCondLst>
                                    <p:cond delay="2274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7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presetID="10" presetClass="entr" presetSubtype="0" fill="hold" grpId="0" nodeType="withEffect">
                                  <p:stCondLst>
                                    <p:cond delay="2285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6" dur="7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7" presetID="10" presetClass="entr" presetSubtype="0" fill="hold" grpId="0" nodeType="withEffect">
                                  <p:stCondLst>
                                    <p:cond delay="2296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9" dur="7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presetID="10" presetClass="entr" presetSubtype="0" fill="hold" grpId="0" nodeType="withEffect">
                                  <p:stCondLst>
                                    <p:cond delay="2307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2" dur="7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3" presetID="10" presetClass="entr" presetSubtype="0" fill="hold" grpId="0" nodeType="withEffect">
                                  <p:stCondLst>
                                    <p:cond delay="2318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7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6" presetID="10" presetClass="entr" presetSubtype="0" fill="hold" grpId="0" nodeType="withEffect">
                                  <p:stCondLst>
                                    <p:cond delay="2329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8" dur="7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7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presetID="10" presetClass="entr" presetSubtype="0" fill="hold" grpId="0" nodeType="withEffect">
                                  <p:stCondLst>
                                    <p:cond delay="2351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7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2362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7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8" presetID="10" presetClass="entr" presetSubtype="0" fill="hold" grpId="0" nodeType="withEffect">
                                  <p:stCondLst>
                                    <p:cond delay="2373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0" dur="7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1" presetID="10" presetClass="entr" presetSubtype="0" fill="hold" grpId="0" nodeType="withEffect">
                                  <p:stCondLst>
                                    <p:cond delay="2384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" dur="7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4" presetID="10" presetClass="entr" presetSubtype="0" fill="hold" grpId="0" nodeType="withEffect">
                                  <p:stCondLst>
                                    <p:cond delay="2395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6" dur="7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10" presetClass="entr" presetSubtype="0" fill="hold" grpId="0" nodeType="withEffect">
                                  <p:stCondLst>
                                    <p:cond delay="2406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9" dur="7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43" grpId="0" animBg="1"/>
      <p:bldP spid="75" grpId="0" animBg="1"/>
      <p:bldP spid="12" grpId="0" animBg="1"/>
      <p:bldP spid="19" grpId="0" animBg="1"/>
      <p:bldP spid="13" grpId="0" animBg="1"/>
      <p:bldP spid="20" grpId="0" animBg="1"/>
      <p:bldP spid="14" grpId="0" animBg="1"/>
      <p:bldP spid="21" grpId="0" animBg="1"/>
      <p:bldP spid="15" grpId="0" animBg="1"/>
      <p:bldP spid="22" grpId="0" animBg="1"/>
      <p:bldP spid="16" grpId="0" animBg="1"/>
      <p:bldP spid="23" grpId="0" animBg="1"/>
      <p:bldP spid="17" grpId="0" animBg="1"/>
      <p:bldP spid="24" grpId="0" animBg="1"/>
      <p:bldP spid="18" grpId="0" animBg="1"/>
      <p:bldP spid="25" grpId="0" animBg="1"/>
      <p:bldP spid="44" grpId="0" animBg="1"/>
      <p:bldP spid="51" grpId="0" animBg="1"/>
      <p:bldP spid="45" grpId="0" animBg="1"/>
      <p:bldP spid="52" grpId="0" animBg="1"/>
      <p:bldP spid="46" grpId="0" animBg="1"/>
      <p:bldP spid="53" grpId="0" animBg="1"/>
      <p:bldP spid="47" grpId="0" animBg="1"/>
      <p:bldP spid="54" grpId="0" animBg="1"/>
      <p:bldP spid="48" grpId="0" animBg="1"/>
      <p:bldP spid="55" grpId="0" animBg="1"/>
      <p:bldP spid="49" grpId="0" animBg="1"/>
      <p:bldP spid="56" grpId="0" animBg="1"/>
      <p:bldP spid="50" grpId="0" animBg="1"/>
      <p:bldP spid="57" grpId="0" animBg="1"/>
      <p:bldP spid="76" grpId="0" animBg="1"/>
      <p:bldP spid="83" grpId="0" animBg="1"/>
      <p:bldP spid="77" grpId="0" animBg="1"/>
      <p:bldP spid="84" grpId="0" animBg="1"/>
      <p:bldP spid="78" grpId="0" animBg="1"/>
      <p:bldP spid="85" grpId="0" animBg="1"/>
      <p:bldP spid="79" grpId="0" animBg="1"/>
      <p:bldP spid="86" grpId="0" animBg="1"/>
      <p:bldP spid="80" grpId="0" animBg="1"/>
      <p:bldP spid="87" grpId="0" animBg="1"/>
      <p:bldP spid="81" grpId="0" animBg="1"/>
      <p:bldP spid="88" grpId="0" animBg="1"/>
      <p:bldP spid="82" grpId="0" animBg="1"/>
      <p:bldP spid="89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33" grpId="0" animBg="1"/>
      <p:bldP spid="40" grpId="0" animBg="1"/>
      <p:bldP spid="34" grpId="0" animBg="1"/>
      <p:bldP spid="41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65" grpId="0" animBg="1"/>
      <p:bldP spid="72" grpId="0" animBg="1"/>
      <p:bldP spid="66" grpId="0" animBg="1"/>
      <p:bldP spid="73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97" grpId="0" animBg="1"/>
      <p:bldP spid="104" grpId="0" animBg="1"/>
      <p:bldP spid="98" grpId="0" animBg="1"/>
      <p:bldP spid="105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42" grpId="0" animBg="1"/>
      <p:bldP spid="74" grpId="0" animBg="1"/>
      <p:bldP spid="106" grpId="0" animBg="1"/>
      <p:bldP spid="107" grpId="0" animBg="1"/>
      <p:bldP spid="139" grpId="0" animBg="1"/>
      <p:bldP spid="171" grpId="0" animBg="1"/>
      <p:bldP spid="9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0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22" grpId="0" animBg="1"/>
      <p:bldP spid="129" grpId="0" animBg="1"/>
      <p:bldP spid="123" grpId="0" animBg="1"/>
      <p:bldP spid="130" grpId="0" animBg="1"/>
      <p:bldP spid="124" grpId="0" animBg="1"/>
      <p:bldP spid="131" grpId="0" animBg="1"/>
      <p:bldP spid="125" grpId="0" animBg="1"/>
      <p:bldP spid="132" grpId="0" animBg="1"/>
      <p:bldP spid="126" grpId="0" animBg="1"/>
      <p:bldP spid="133" grpId="0" animBg="1"/>
      <p:bldP spid="127" grpId="0" animBg="1"/>
      <p:bldP spid="134" grpId="0" animBg="1"/>
      <p:bldP spid="128" grpId="0" animBg="1"/>
      <p:bldP spid="135" grpId="0" animBg="1"/>
      <p:bldP spid="154" grpId="0" animBg="1"/>
      <p:bldP spid="161" grpId="0" animBg="1"/>
      <p:bldP spid="155" grpId="0" animBg="1"/>
      <p:bldP spid="162" grpId="0" animBg="1"/>
      <p:bldP spid="156" grpId="0" animBg="1"/>
      <p:bldP spid="163" grpId="0" animBg="1"/>
      <p:bldP spid="157" grpId="0" animBg="1"/>
      <p:bldP spid="164" grpId="0" animBg="1"/>
      <p:bldP spid="158" grpId="0" animBg="1"/>
      <p:bldP spid="165" grpId="0" animBg="1"/>
      <p:bldP spid="159" grpId="0" animBg="1"/>
      <p:bldP spid="166" grpId="0" animBg="1"/>
      <p:bldP spid="160" grpId="0" animBg="1"/>
      <p:bldP spid="167" grpId="0" animBg="1"/>
      <p:bldP spid="186" grpId="0" animBg="1"/>
      <p:bldP spid="193" grpId="0" animBg="1"/>
      <p:bldP spid="187" grpId="0" animBg="1"/>
      <p:bldP spid="194" grpId="0" animBg="1"/>
      <p:bldP spid="188" grpId="0" animBg="1"/>
      <p:bldP spid="195" grpId="0" animBg="1"/>
      <p:bldP spid="189" grpId="0" animBg="1"/>
      <p:bldP spid="196" grpId="0" animBg="1"/>
      <p:bldP spid="190" grpId="0" animBg="1"/>
      <p:bldP spid="197" grpId="0" animBg="1"/>
      <p:bldP spid="191" grpId="0" animBg="1"/>
      <p:bldP spid="198" grpId="0" animBg="1"/>
      <p:bldP spid="192" grpId="0" animBg="1"/>
      <p:bldP spid="199" grpId="0" animBg="1"/>
      <p:bldP spid="136" grpId="0" animBg="1"/>
      <p:bldP spid="137" grpId="0" animBg="1"/>
      <p:bldP spid="168" grpId="0" animBg="1"/>
      <p:bldP spid="169" grpId="0" animBg="1"/>
      <p:bldP spid="200" grpId="0" animBg="1"/>
      <p:bldP spid="201" grpId="0" animBg="1"/>
      <p:bldP spid="138" grpId="0" animBg="1"/>
      <p:bldP spid="170" grpId="0" animBg="1"/>
      <p:bldP spid="202" grpId="0" animBg="1"/>
      <p:bldP spid="20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04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WHAT IT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One fee.
Everything else is 8%.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E5483B"/>
                </a:solidFill>
                <a:latin typeface="Playfair Display"/>
                <a:ea typeface="DM Sans"/>
                <a:cs typeface="DM Sans"/>
              </a:rPr>
              <a:t>₹59,999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joining fee, one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63040"/>
            <a:ext cx="5425135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6276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JOINING FEE, ONE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47088"/>
            <a:ext cx="5425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₹59,999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331720"/>
            <a:ext cx="5425135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4963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SETUP FEE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715768"/>
            <a:ext cx="5425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None — your property, your furniture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200400"/>
            <a:ext cx="5425135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3649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COMMISSION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584448"/>
            <a:ext cx="5425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8%, or ₹4,999 per listing a month, whichever is higher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069079"/>
            <a:ext cx="5425135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4233671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453127"/>
            <a:ext cx="5425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Locked at 8% for life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937760"/>
            <a:ext cx="5425135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51023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COVERS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321808"/>
            <a:ext cx="5425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Up to 3 properties, onboarded together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5806440"/>
            <a:ext cx="5425135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9" grpId="0" animBg="1"/>
      <p:bldP spid="17" grpId="0" animBg="1"/>
      <p:bldP spid="18" grpId="0" animBg="1"/>
      <p:bldP spid="19" grpId="0" animBg="1"/>
      <p:bldP spid="10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stars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05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NOW DIVIDE IT BY THE NIGHTS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0" i="0">
                <a:solidFill>
                  <a:srgbClr val="D9B56A"/>
                </a:solidFill>
                <a:latin typeface="Playfair Display"/>
                <a:ea typeface="DM Sans"/>
                <a:cs typeface="DM Sans"/>
              </a:rPr>
              <a:t>₹185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a night, with three 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One time. Never again.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One fee covers three properties. The third costs you nothing extra and cuts your per-night cost to a third.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1 property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618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108 nights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84248"/>
            <a:ext cx="4480560" cy="457200"/>
          </a:xfrm>
          <a:prstGeom prst="roundRect">
            <a:avLst>
              <a:gd name="adj" fmla="val 50000"/>
            </a:avLst>
          </a:prstGeom>
          <a:solidFill>
            <a:srgbClr val="2B36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18520" y="1965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C9CCD6"/>
                </a:solidFill>
                <a:latin typeface="Playfair Display"/>
                <a:ea typeface="DM Sans"/>
                <a:cs typeface="DM Sans"/>
              </a:rPr>
              <a:t>₹555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per promised night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2 properties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9443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216 nights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310128"/>
            <a:ext cx="2244316" cy="457200"/>
          </a:xfrm>
          <a:prstGeom prst="roundRect">
            <a:avLst>
              <a:gd name="adj" fmla="val 50000"/>
            </a:avLst>
          </a:prstGeom>
          <a:solidFill>
            <a:srgbClr val="2B36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82276" y="32918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C9CCD6"/>
                </a:solidFill>
                <a:latin typeface="Playfair Display"/>
                <a:ea typeface="DM Sans"/>
                <a:cs typeface="DM Sans"/>
              </a:rPr>
              <a:t>₹278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per promised night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51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3 properties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2702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324 nights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636008"/>
            <a:ext cx="1493520" cy="457200"/>
          </a:xfrm>
          <a:prstGeom prst="roundRect">
            <a:avLst>
              <a:gd name="adj" fmla="val 50000"/>
            </a:avLst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1480" y="4617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D9B56A"/>
                </a:solidFill>
                <a:latin typeface="Playfair Display"/>
                <a:ea typeface="DM Sans"/>
                <a:cs typeface="DM Sans"/>
              </a:rPr>
              <a:t>₹185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663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per promised night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9" grpId="0" animBg="1"/>
      <p:bldP spid="17" grpId="0" animBg="1"/>
      <p:bldP spid="18" grpId="0" animBg="1"/>
      <p:bldP spid="10" grpId="0" animBg="1"/>
      <p:bldP spid="19" grpId="0" animBg="1"/>
      <p:bldP spid="20" grpId="0" animBg="1"/>
      <p:bldP spid="11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06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WHAT YOU KEEP PER NIGHT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You pay ₹185
for the night.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WITH THREE 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E5483B"/>
                </a:solidFill>
                <a:latin typeface="Playfair Display"/>
                <a:ea typeface="DM Sans"/>
                <a:cs typeface="DM Sans"/>
              </a:rPr>
              <a:t>You keep around
₹1,270 of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Illustrative, on a typical ₹2,000 night. We’ll run your real rate and cleaning cost on the assessment.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737359"/>
            <a:ext cx="1051560" cy="40233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280159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₹2,000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870448"/>
            <a:ext cx="141731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Typical nightly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737359"/>
            <a:ext cx="1051560" cy="563270"/>
          </a:xfrm>
          <a:prstGeom prst="rect">
            <a:avLst/>
          </a:prstGeom>
          <a:solidFill>
            <a:srgbClr val="E54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280159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E5483B"/>
                </a:solidFill>
                <a:latin typeface="Playfair Display"/>
                <a:ea typeface="DM Sans"/>
                <a:cs typeface="DM Sans"/>
              </a:rPr>
              <a:t>−₹280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870448"/>
            <a:ext cx="141731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Our commission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1737359"/>
            <a:ext cx="411480" cy="9144"/>
          </a:xfrm>
          <a:prstGeom prst="rect">
            <a:avLst/>
          </a:prstGeom>
          <a:solidFill>
            <a:srgbClr val="7C83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0" y="2300630"/>
            <a:ext cx="1051560" cy="905256"/>
          </a:xfrm>
          <a:prstGeom prst="rect">
            <a:avLst/>
          </a:prstGeom>
          <a:solidFill>
            <a:srgbClr val="7C83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843430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−₹450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870448"/>
            <a:ext cx="141731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Cleaning, linen, consumables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2300630"/>
            <a:ext cx="411480" cy="9144"/>
          </a:xfrm>
          <a:prstGeom prst="rect">
            <a:avLst/>
          </a:prstGeom>
          <a:solidFill>
            <a:srgbClr val="7C83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41280" y="3205886"/>
            <a:ext cx="1051560" cy="2554833"/>
          </a:xfrm>
          <a:prstGeom prst="rect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2748686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₹1,270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870448"/>
            <a:ext cx="141731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Lands with you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3205886"/>
            <a:ext cx="411480" cy="9144"/>
          </a:xfrm>
          <a:prstGeom prst="rect">
            <a:avLst/>
          </a:prstGeom>
          <a:solidFill>
            <a:srgbClr val="7C83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720" y="5760720"/>
            <a:ext cx="5623559" cy="13716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54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5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62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6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74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978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82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186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394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900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498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602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706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914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018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122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226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3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 animBg="1"/>
      <p:bldP spid="16" grpId="0" animBg="1"/>
      <p:bldP spid="12" grpId="0" animBg="1"/>
      <p:bldP spid="18" grpId="0" animBg="1"/>
      <p:bldP spid="15" grpId="0" animBg="1"/>
      <p:bldP spid="20" grpId="0" animBg="1"/>
      <p:bldP spid="22" grpId="0" animBg="1"/>
      <p:bldP spid="19" grpId="0" animBg="1"/>
      <p:bldP spid="9" grpId="0" animBg="1"/>
      <p:bldP spid="24" grpId="0" animBg="1"/>
      <p:bldP spid="10" grpId="0" animBg="1"/>
      <p:bldP spid="26" grpId="0" animBg="1"/>
      <p:bldP spid="23" grpId="0" animBg="1"/>
      <p:bldP spid="11" grpId="0" animBg="1"/>
      <p:bldP spid="14" grpId="0" animBg="1"/>
      <p:bldP spid="27" grpId="0" animBg="1"/>
      <p:bldP spid="17" grpId="0" animBg="1"/>
      <p:bldP spid="21" grpId="0" animBg="1"/>
      <p:bldP spid="2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stars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07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97280"/>
            <a:ext cx="121916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ACROSS THREE PROPERTIES, SIX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60020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0" b="0" i="0">
                <a:solidFill>
                  <a:srgbClr val="D9B56A"/>
                </a:solidFill>
                <a:latin typeface="Playfair Display"/>
                <a:ea typeface="DM Sans"/>
                <a:cs typeface="DM Sans"/>
              </a:rPr>
              <a:t>₹4,11,000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15468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324 nights at about ₹1,270 to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18407" y="3657600"/>
            <a:ext cx="4754880" cy="10972"/>
          </a:xfrm>
          <a:prstGeom prst="rect">
            <a:avLst/>
          </a:prstGeom>
          <a:solidFill>
            <a:srgbClr val="2B36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C9CCD6"/>
                </a:solidFill>
                <a:latin typeface="Playfair Display"/>
                <a:ea typeface="DM Sans"/>
                <a:cs typeface="DM Sans"/>
              </a:rPr>
              <a:t>−₹59,999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4348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your joining fee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18407" y="4937760"/>
            <a:ext cx="4754880" cy="10972"/>
          </a:xfrm>
          <a:prstGeom prst="rect">
            <a:avLst/>
          </a:prstGeom>
          <a:solidFill>
            <a:srgbClr val="2B36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1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And the fee never repeats.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806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Illustrative — your nights, rate and costs are calculated on the assessment.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08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E5483B"/>
                </a:solidFill>
                <a:latin typeface="DM Sans"/>
                <a:ea typeface="DM Sans"/>
                <a:cs typeface="DM Sans"/>
              </a:rPr>
              <a:t>IF WE MISS, YOU DON’T HAVE TO CHASE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No claim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No proof.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D9B56A"/>
                </a:solidFill>
                <a:latin typeface="Playfair Display"/>
                <a:ea typeface="DM Sans"/>
                <a:cs typeface="DM Sans"/>
              </a:rPr>
              <a:t>No chasing.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508760"/>
            <a:ext cx="4876495" cy="868680"/>
          </a:xfrm>
          <a:prstGeom prst="roundRect">
            <a:avLst>
              <a:gd name="adj" fmla="val 12000"/>
            </a:avLst>
          </a:prstGeom>
          <a:solidFill>
            <a:srgbClr val="182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783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728216"/>
            <a:ext cx="3687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We count the nights from our own booking records — not yours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532888"/>
            <a:ext cx="4876495" cy="868680"/>
          </a:xfrm>
          <a:prstGeom prst="roundRect">
            <a:avLst>
              <a:gd name="adj" fmla="val 12000"/>
            </a:avLst>
          </a:prstGeom>
          <a:solidFill>
            <a:srgbClr val="182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752344"/>
            <a:ext cx="3687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We check at month six, whether you ask or not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557016"/>
            <a:ext cx="4876495" cy="868680"/>
          </a:xfrm>
          <a:prstGeom prst="roundRect">
            <a:avLst>
              <a:gd name="adj" fmla="val 12000"/>
            </a:avLst>
          </a:prstGeom>
          <a:solidFill>
            <a:srgbClr val="182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383133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776472"/>
            <a:ext cx="3687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If we’re short, the refund goes to your bank within 30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581144"/>
            <a:ext cx="4876495" cy="868680"/>
          </a:xfrm>
          <a:prstGeom prst="roundRect">
            <a:avLst>
              <a:gd name="adj" fmla="val 12000"/>
            </a:avLst>
          </a:prstGeom>
          <a:solidFill>
            <a:srgbClr val="182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485546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800600"/>
            <a:ext cx="3687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If you think our count is wrong, you have 30 days to tell 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We count it, and we pay. The refund is pro-rata across the properties that fell short — three enrolled and one short means ₹20,000 back.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3" grpId="0" animBg="1"/>
      <p:bldP spid="12" grpId="0" animBg="1"/>
      <p:bldP spid="9" grpId="0" animBg="1"/>
      <p:bldP spid="14" grpId="0" animBg="1"/>
      <p:bldP spid="10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3" grpId="0" animBg="1"/>
      <p:bldP spid="20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09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WHAT YOU DON’T PAY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Four things other managers charge for.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2476423" cy="3108960"/>
          </a:xfrm>
          <a:prstGeom prst="roundRect">
            <a:avLst>
              <a:gd name="adj" fmla="val 6000"/>
            </a:avLst>
          </a:prstGeom>
          <a:solidFill>
            <a:srgbClr val="E5DC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1927783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5483B"/>
                </a:solidFill>
                <a:latin typeface="DM Sans"/>
                <a:ea typeface="DM Sans"/>
                <a:cs typeface="DM Sans"/>
              </a:rPr>
              <a:t>₹0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977639"/>
            <a:ext cx="1927783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9277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Setup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19277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Your property is already furnished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2263" y="2514600"/>
            <a:ext cx="2476423" cy="3108960"/>
          </a:xfrm>
          <a:prstGeom prst="roundRect">
            <a:avLst>
              <a:gd name="adj" fmla="val 6000"/>
            </a:avLst>
          </a:prstGeom>
          <a:solidFill>
            <a:srgbClr val="E5DC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6583" y="2788920"/>
            <a:ext cx="1927783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5483B"/>
                </a:solidFill>
                <a:latin typeface="DM Sans"/>
                <a:ea typeface="DM Sans"/>
                <a:cs typeface="DM Sans"/>
              </a:rPr>
              <a:t>₹0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56583" y="3977639"/>
            <a:ext cx="1927783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6583" y="4114800"/>
            <a:ext cx="19277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Per-listing 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6583" y="5074920"/>
            <a:ext cx="19277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No charge per listing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2514600"/>
            <a:ext cx="2476423" cy="3108960"/>
          </a:xfrm>
          <a:prstGeom prst="roundRect">
            <a:avLst>
              <a:gd name="adj" fmla="val 6000"/>
            </a:avLst>
          </a:prstGeom>
          <a:solidFill>
            <a:srgbClr val="E5DC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2788920"/>
            <a:ext cx="1927783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5483B"/>
                </a:solidFill>
                <a:latin typeface="DM Sans"/>
                <a:ea typeface="DM Sans"/>
                <a:cs typeface="DM Sans"/>
              </a:rPr>
              <a:t>₹0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07327" y="3977639"/>
            <a:ext cx="1927783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4114800"/>
            <a:ext cx="19277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Monthly retainer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074920"/>
            <a:ext cx="19277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None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3751" y="2514600"/>
            <a:ext cx="2476423" cy="3108960"/>
          </a:xfrm>
          <a:prstGeom prst="roundRect">
            <a:avLst>
              <a:gd name="adj" fmla="val 6000"/>
            </a:avLst>
          </a:prstGeom>
          <a:solidFill>
            <a:srgbClr val="E5DC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8071" y="2788920"/>
            <a:ext cx="1927783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5483B"/>
                </a:solidFill>
                <a:latin typeface="DM Sans"/>
                <a:ea typeface="DM Sans"/>
                <a:cs typeface="DM Sans"/>
              </a:rPr>
              <a:t>₹0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58071" y="3977639"/>
            <a:ext cx="1927783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8071" y="4114800"/>
            <a:ext cx="19277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Photography, listing writing,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8071" y="5074920"/>
            <a:ext cx="19277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All included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4" grpId="0" animBg="1"/>
      <p:bldP spid="19" grpId="0" animBg="1"/>
      <p:bldP spid="24" grpId="0" animBg="1"/>
      <p:bldP spid="10" grpId="0" animBg="1"/>
      <p:bldP spid="15" grpId="0" animBg="1"/>
      <p:bldP spid="20" grpId="0" animBg="1"/>
      <p:bldP spid="25" grpId="0" animBg="1"/>
      <p:bldP spid="11" grpId="0" animBg="1"/>
      <p:bldP spid="16" grpId="0" animBg="1"/>
      <p:bldP spid="21" grpId="0" animBg="1"/>
      <p:bldP spid="26" grpId="0" animBg="1"/>
      <p:bldP spid="12" grpId="0" animBg="1"/>
      <p:bldP spid="17" grpId="0" animBg="1"/>
      <p:bldP spid="22" grpId="0" animBg="1"/>
      <p:bldP spid="27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stars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10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WHAT WE DO, EVERY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We work the calendar. Every single day.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14600"/>
            <a:ext cx="384048" cy="3840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468880"/>
            <a:ext cx="28142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Reprice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999232"/>
            <a:ext cx="272277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Your calendar daily — weekends, events, season, local demand</a:t>
            </a:r>
          </a:p>
        </p:txBody>
      </p:sp>
      <p:sp>
        <p:nvSpPr>
          <p:cNvPr id="12" name="Oval 11"/>
          <p:cNvSpPr/>
          <p:nvPr/>
        </p:nvSpPr>
        <p:spPr>
          <a:xfrm>
            <a:off x="4414418" y="2514600"/>
            <a:ext cx="384048" cy="3840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1346" y="2468880"/>
            <a:ext cx="28142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1346" y="2999232"/>
            <a:ext cx="272277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Rewrite and rank your listing on Airbnb, Booking.com and direct</a:t>
            </a:r>
          </a:p>
        </p:txBody>
      </p:sp>
      <p:sp>
        <p:nvSpPr>
          <p:cNvPr id="15" name="Oval 14"/>
          <p:cNvSpPr/>
          <p:nvPr/>
        </p:nvSpPr>
        <p:spPr>
          <a:xfrm>
            <a:off x="8097316" y="2514600"/>
            <a:ext cx="384048" cy="3840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4244" y="2468880"/>
            <a:ext cx="28142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4244" y="2999232"/>
            <a:ext cx="272277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Every guest, 24/7, enquiry to checkout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206240"/>
            <a:ext cx="384048" cy="3840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4160520"/>
            <a:ext cx="28142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690872"/>
            <a:ext cx="272277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Every clean, turnover and linen change arranged</a:t>
            </a:r>
          </a:p>
        </p:txBody>
      </p:sp>
      <p:sp>
        <p:nvSpPr>
          <p:cNvPr id="21" name="Oval 20"/>
          <p:cNvSpPr/>
          <p:nvPr/>
        </p:nvSpPr>
        <p:spPr>
          <a:xfrm>
            <a:off x="4414418" y="4206240"/>
            <a:ext cx="384048" cy="3840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1346" y="4160520"/>
            <a:ext cx="28142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1346" y="4690872"/>
            <a:ext cx="272277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Minor repairs and vendor coordination handled</a:t>
            </a:r>
          </a:p>
        </p:txBody>
      </p:sp>
      <p:sp>
        <p:nvSpPr>
          <p:cNvPr id="24" name="Oval 23"/>
          <p:cNvSpPr/>
          <p:nvPr/>
        </p:nvSpPr>
        <p:spPr>
          <a:xfrm>
            <a:off x="8097316" y="4206240"/>
            <a:ext cx="384048" cy="38404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4244" y="4160520"/>
            <a:ext cx="28142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Pay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4244" y="4690872"/>
            <a:ext cx="272277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You, twice a month — 1st and 16th, itemised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1" grpId="0" animBg="1"/>
      <p:bldP spid="14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0" grpId="0" animBg="1"/>
      <p:bldP spid="23" grpId="0" animBg="1"/>
      <p:bldP spid="26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11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WHAT YOU DO,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One setup spec. Then you step 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We assess your property and send a written setup spec — what to fix, add or replace before we list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10128"/>
            <a:ext cx="10728655" cy="13716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218688"/>
            <a:ext cx="201168" cy="20116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33018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21A2E"/>
                </a:solidFill>
                <a:latin typeface="DM Sans"/>
                <a:ea typeface="DM Sans"/>
                <a:cs typeface="DM Sans"/>
              </a:rPr>
              <a:t>Within 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You complete it, at your cost</a:t>
            </a:r>
          </a:p>
        </p:txBody>
      </p:sp>
      <p:sp>
        <p:nvSpPr>
          <p:cNvPr id="14" name="Oval 13"/>
          <p:cNvSpPr/>
          <p:nvPr/>
        </p:nvSpPr>
        <p:spPr>
          <a:xfrm>
            <a:off x="4307738" y="3218688"/>
            <a:ext cx="201168" cy="201168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7738" y="3657600"/>
            <a:ext cx="33018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21A2E"/>
                </a:solidFill>
                <a:latin typeface="DM Sans"/>
                <a:ea typeface="DM Sans"/>
                <a:cs typeface="DM Sans"/>
              </a:rPr>
              <a:t>Sign-off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7738" y="4160520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Our team inspects and signs off in writing</a:t>
            </a:r>
          </a:p>
        </p:txBody>
      </p:sp>
      <p:sp>
        <p:nvSpPr>
          <p:cNvPr id="17" name="Oval 16"/>
          <p:cNvSpPr/>
          <p:nvPr/>
        </p:nvSpPr>
        <p:spPr>
          <a:xfrm>
            <a:off x="7883956" y="3218688"/>
            <a:ext cx="201168" cy="201168"/>
          </a:xfrm>
          <a:prstGeom prst="ellipse">
            <a:avLst/>
          </a:prstGeom>
          <a:solidFill>
            <a:srgbClr val="E54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3956" y="3657600"/>
            <a:ext cx="33018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21A2E"/>
                </a:solidFill>
                <a:latin typeface="DM Sans"/>
                <a:ea typeface="DM Sans"/>
                <a:cs typeface="DM Sans"/>
              </a:rPr>
              <a:t>Day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3956" y="4160520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The six months start at sign-off, not at payment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74920"/>
            <a:ext cx="10728655" cy="777240"/>
          </a:xfrm>
          <a:prstGeom prst="roundRect">
            <a:avLst>
              <a:gd name="adj" fmla="val 10000"/>
            </a:avLst>
          </a:prstGeom>
          <a:solidFill>
            <a:srgbClr val="E5DC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74920"/>
            <a:ext cx="64008" cy="777240"/>
          </a:xfrm>
          <a:prstGeom prst="rect">
            <a:avLst/>
          </a:prstGeom>
          <a:solidFill>
            <a:srgbClr val="E54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212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21A2E"/>
                </a:solidFill>
                <a:latin typeface="DM Sans"/>
                <a:ea typeface="DM Sans"/>
                <a:cs typeface="DM Sans"/>
              </a:rPr>
              <a:t>Skip items on the spec and the promise doesn’t apply — it’s the only way we can guarantee nights on a property we didn’t furnish.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  <p:bldP spid="17" grpId="0" animBg="1"/>
      <p:bldP spid="12" grpId="0" animBg="1"/>
      <p:bldP spid="15" grpId="0" animBg="1"/>
      <p:bldP spid="18" grpId="0" animBg="1"/>
      <p:bldP spid="13" grpId="0" animBg="1"/>
      <p:bldP spid="16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12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THREE PROPERTIES, ONE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₹59,999 covers up to three.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822960" y="2514600"/>
            <a:ext cx="1463040" cy="731520"/>
          </a:xfrm>
          <a:prstGeom prst="triangl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3246120"/>
            <a:ext cx="1097280" cy="914400"/>
          </a:xfrm>
          <a:prstGeom prst="rect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89888" y="3611880"/>
            <a:ext cx="329184" cy="548640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Property 1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743200" y="2514600"/>
            <a:ext cx="1463040" cy="731520"/>
          </a:xfrm>
          <a:prstGeom prst="triangl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3246120"/>
            <a:ext cx="1097280" cy="914400"/>
          </a:xfrm>
          <a:prstGeom prst="rect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3611880"/>
            <a:ext cx="329184" cy="548640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4343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Property 2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4663440" y="2514600"/>
            <a:ext cx="1463040" cy="731520"/>
          </a:xfrm>
          <a:prstGeom prst="triangl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0" y="3246120"/>
            <a:ext cx="1097280" cy="914400"/>
          </a:xfrm>
          <a:prstGeom prst="rect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30368" y="3611880"/>
            <a:ext cx="329184" cy="548640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343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Property 3</a:t>
            </a:r>
          </a:p>
        </p:txBody>
      </p:sp>
      <p:sp>
        <p:nvSpPr>
          <p:cNvPr id="21" name="Isosceles Triangle 20"/>
          <p:cNvSpPr/>
          <p:nvPr/>
        </p:nvSpPr>
        <p:spPr>
          <a:xfrm>
            <a:off x="6583680" y="2514600"/>
            <a:ext cx="1463040" cy="731520"/>
          </a:xfrm>
          <a:prstGeom prst="triangle">
            <a:avLst/>
          </a:prstGeom>
          <a:solidFill>
            <a:srgbClr val="0E1424"/>
          </a:solidFill>
          <a:ln w="15875">
            <a:solidFill>
              <a:srgbClr val="D9B56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3246120"/>
            <a:ext cx="1097280" cy="914400"/>
          </a:xfrm>
          <a:prstGeom prst="rect">
            <a:avLst/>
          </a:prstGeom>
          <a:solidFill>
            <a:srgbClr val="0E1424"/>
          </a:solidFill>
          <a:ln w="15875">
            <a:solidFill>
              <a:srgbClr val="D9B56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50608" y="3611880"/>
            <a:ext cx="329184" cy="548640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343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Added 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Handed over together on day one — covered by the nights promise.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2377440"/>
            <a:ext cx="2956255" cy="3291840"/>
          </a:xfrm>
          <a:prstGeom prst="roundRect">
            <a:avLst>
              <a:gd name="adj" fmla="val 6000"/>
            </a:avLst>
          </a:prstGeom>
          <a:solidFill>
            <a:srgbClr val="182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06040"/>
            <a:ext cx="24076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Adding more later?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154680"/>
            <a:ext cx="24076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You keep 8% for life on those too.
But the nights promise covers only the properties we assessed at onboarding — up to three.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900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6" grpId="0" animBg="1"/>
      <p:bldP spid="9" grpId="0" animBg="1"/>
      <p:bldP spid="13" grpId="0" animBg="1"/>
      <p:bldP spid="17" grpId="0" animBg="1"/>
      <p:bldP spid="21" grpId="0" animBg="1"/>
      <p:bldP spid="27" grpId="0" animBg="1"/>
      <p:bldP spid="10" grpId="0" animBg="1"/>
      <p:bldP spid="14" grpId="0" animBg="1"/>
      <p:bldP spid="18" grpId="0" animBg="1"/>
      <p:bldP spid="22" grpId="0" animBg="1"/>
      <p:bldP spid="28" grpId="0" animBg="1"/>
      <p:bldP spid="11" grpId="0" animBg="1"/>
      <p:bldP spid="15" grpId="0" animBg="1"/>
      <p:bldP spid="19" grpId="0" animBg="1"/>
      <p:bldP spid="23" grpId="0" animBg="1"/>
      <p:bldP spid="12" grpId="0" animBg="1"/>
      <p:bldP spid="16" grpId="0" animBg="1"/>
      <p:bldP spid="20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13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THE CONDITIONS, PLAINLY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Four conditions. No small print.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0728655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79191"/>
            <a:ext cx="7802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21A2E"/>
                </a:solidFill>
                <a:latin typeface="DM Sans"/>
                <a:ea typeface="DM Sans"/>
                <a:cs typeface="DM Sans"/>
              </a:rPr>
              <a:t>At least 27 nights a month, with up to 12 owner nights across the six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39"/>
            <a:ext cx="10728655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3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47872"/>
            <a:ext cx="7802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21A2E"/>
                </a:solidFill>
                <a:latin typeface="DM Sans"/>
                <a:ea typeface="DM Sans"/>
                <a:cs typeface="DM Sans"/>
              </a:rPr>
              <a:t>We control pricing, availability and listing content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178807"/>
            <a:ext cx="11002975" cy="841248"/>
          </a:xfrm>
          <a:prstGeom prst="roundRect">
            <a:avLst>
              <a:gd name="adj" fmla="val 10000"/>
            </a:avLst>
          </a:prstGeom>
          <a:solidFill>
            <a:srgbClr val="E5DC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160520"/>
            <a:ext cx="10728655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5483B"/>
                </a:solidFill>
                <a:latin typeface="Playfair Display"/>
                <a:ea typeface="DM Sans"/>
                <a:cs typeface="DM Sans"/>
              </a:rPr>
              <a:t>Floor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416552"/>
            <a:ext cx="7802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121A2E"/>
                </a:solidFill>
                <a:latin typeface="DM Sans"/>
                <a:ea typeface="DM Sans"/>
                <a:cs typeface="DM Sans"/>
              </a:rPr>
              <a:t>Nights count at or above a floor rate we agree together — so we can’t hit the number by dumping your price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10728655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Repairs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285232"/>
            <a:ext cx="7802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21A2E"/>
                </a:solidFill>
                <a:latin typeface="DM Sans"/>
                <a:ea typeface="DM Sans"/>
                <a:cs typeface="DM Sans"/>
              </a:rPr>
              <a:t>Approved within 7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897879"/>
            <a:ext cx="10728655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stars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14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HOW IT STARTS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From first call to go-live in about five weeks.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0728655" cy="13716"/>
          </a:xfrm>
          <a:prstGeom prst="rect">
            <a:avLst/>
          </a:prstGeom>
          <a:solidFill>
            <a:srgbClr val="2B36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218688"/>
            <a:ext cx="329184" cy="329184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218688"/>
            <a:ext cx="329184" cy="329184"/>
          </a:xfrm>
          <a:prstGeom prst="ellipse">
            <a:avLst/>
          </a:prstGeom>
          <a:solidFill>
            <a:srgbClr val="0E1424"/>
          </a:solidFill>
          <a:ln w="15875">
            <a:solidFill>
              <a:srgbClr val="D9B5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24078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22706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Free assessment. We check real demand and agree your floor rate.</a:t>
            </a:r>
          </a:p>
        </p:txBody>
      </p:sp>
      <p:sp>
        <p:nvSpPr>
          <p:cNvPr id="14" name="Oval 13"/>
          <p:cNvSpPr/>
          <p:nvPr/>
        </p:nvSpPr>
        <p:spPr>
          <a:xfrm>
            <a:off x="3413683" y="3218688"/>
            <a:ext cx="329184" cy="329184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13683" y="3218688"/>
            <a:ext cx="329184" cy="329184"/>
          </a:xfrm>
          <a:prstGeom prst="ellipse">
            <a:avLst/>
          </a:prstGeom>
          <a:solidFill>
            <a:srgbClr val="0E1424"/>
          </a:solidFill>
          <a:ln w="15875">
            <a:solidFill>
              <a:srgbClr val="D9B5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683" y="3794760"/>
            <a:ext cx="24078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3683" y="4297680"/>
            <a:ext cx="22706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You join. Setup spec issued.</a:t>
            </a:r>
          </a:p>
        </p:txBody>
      </p:sp>
      <p:sp>
        <p:nvSpPr>
          <p:cNvPr id="18" name="Oval 17"/>
          <p:cNvSpPr/>
          <p:nvPr/>
        </p:nvSpPr>
        <p:spPr>
          <a:xfrm>
            <a:off x="6095847" y="3218688"/>
            <a:ext cx="329184" cy="329184"/>
          </a:xfrm>
          <a:prstGeom prst="ellipse">
            <a:avLst/>
          </a:prstGeom>
          <a:noFill/>
          <a:ln w="12700">
            <a:solidFill>
              <a:srgbClr val="2B36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95847" y="3218688"/>
            <a:ext cx="329184" cy="329184"/>
          </a:xfrm>
          <a:prstGeom prst="ellipse">
            <a:avLst/>
          </a:prstGeom>
          <a:solidFill>
            <a:srgbClr val="0E1424"/>
          </a:solidFill>
          <a:ln w="15875">
            <a:solidFill>
              <a:srgbClr val="D9B5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5847" y="3794760"/>
            <a:ext cx="24078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Weeks 2–5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4297680"/>
            <a:ext cx="22706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You complete the spec. We inspect and sign off.</a:t>
            </a:r>
          </a:p>
        </p:txBody>
      </p:sp>
      <p:sp>
        <p:nvSpPr>
          <p:cNvPr id="22" name="Oval 21"/>
          <p:cNvSpPr/>
          <p:nvPr/>
        </p:nvSpPr>
        <p:spPr>
          <a:xfrm>
            <a:off x="8778011" y="3218688"/>
            <a:ext cx="329184" cy="329184"/>
          </a:xfrm>
          <a:prstGeom prst="ellipse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011" y="3794760"/>
            <a:ext cx="24078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Go-live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011" y="4297680"/>
            <a:ext cx="22706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Listed, priced, live. The six months begin.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The 108 nights are counted from go-live, after sign-off.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9" grpId="0" animBg="1"/>
      <p:bldP spid="12" grpId="0" animBg="1"/>
      <p:bldP spid="16" grpId="0" animBg="1"/>
      <p:bldP spid="20" grpId="0" animBg="1"/>
      <p:bldP spid="23" grpId="0" animBg="1"/>
      <p:bldP spid="13" grpId="0" animBg="1"/>
      <p:bldP spid="17" grpId="0" animBg="1"/>
      <p:bldP spid="21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15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pic>
        <p:nvPicPr>
          <p:cNvPr id="7" name="static-art" descr="m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9144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2801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Send us your listing links.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C9CCD6"/>
                </a:solidFill>
                <a:latin typeface="DM Sans"/>
                <a:ea typeface="DM Sans"/>
                <a:cs typeface="DM Sans"/>
              </a:rPr>
              <a:t>We’ll assess them free and tell you whether they can hit the number — before you pay anything.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34840"/>
            <a:ext cx="1097280" cy="18288"/>
          </a:xfrm>
          <a:prstGeom prst="rect">
            <a:avLst/>
          </a:prstGeom>
          <a:solidFill>
            <a:srgbClr val="D9B5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1">
                <a:solidFill>
                  <a:srgbClr val="D9B56A"/>
                </a:solidFill>
                <a:latin typeface="Playfair Display"/>
                <a:ea typeface="DM Sans"/>
                <a:cs typeface="DM Sans"/>
              </a:rPr>
              <a:t>If they can’t, we’ll say so.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atic-photo" descr="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tatic-mas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0E1424">
                  <a:alpha val="20000"/>
                </a:srgbClr>
              </a:gs>
              <a:gs pos="100000">
                <a:srgbClr val="0E1424">
                  <a:alpha val="85000"/>
                </a:srgbClr>
              </a:gs>
            </a:gsLst>
            <a:lin ang="162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194560"/>
            <a:ext cx="121916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6032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0" i="0">
                <a:solidFill>
                  <a:srgbClr val="F1EBDD"/>
                </a:solidFill>
                <a:latin typeface="Playfair Display"/>
                <a:ea typeface="DM Sans"/>
                <a:cs typeface="DM Sans"/>
              </a:rPr>
              <a:t>From ₹185 a night, with three properties.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33756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 i="1">
                <a:solidFill>
                  <a:srgbClr val="D9B56A"/>
                </a:solidFill>
                <a:latin typeface="Playfair Display"/>
                <a:ea typeface="DM Sans"/>
                <a:cs typeface="DM Sans"/>
              </a:rPr>
              <a:t>8% for life. Nights in writing.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9768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1EBDD"/>
                </a:solidFill>
                <a:latin typeface="DM Sans"/>
                <a:ea typeface="DM Sans"/>
                <a:cs typeface="DM Sans"/>
              </a:rPr>
              <a:t>redflaghomes.in   ·   hello@redflaghomes.in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89320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790A6"/>
                </a:solidFill>
                <a:latin typeface="DM Sans"/>
                <a:ea typeface="DM Sans"/>
                <a:cs typeface="DM Sans"/>
              </a:rPr>
              <a:t>Figures are illustrative. The Nights Promise is subject to its terms. Returns are not guaranteed. Prices plus GST.</a:t>
            </a:r>
          </a:p>
        </p:txBody>
      </p:sp>
      <p:pic>
        <p:nvPicPr>
          <p:cNvPr id="5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487" y="73152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17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FREQUENTLY ASKED QUESTIONS  ·  1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Straight answers.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What exactly are you promising?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A number of nights, not an amount of money. 108 qualifying nights per property across six months — an average of 18 a month. The number for your property is written into your agreement.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1874519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447" y="1965960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What happens if you miss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286000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We refund your joining fee, pro-rata across the properties that fell short. Three properties enrolled and one short means ₹20,000 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Do I have to claim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No. We count the nights from our own booking records and check at month six whether you ask or not. If we’re short, the money goes to your bank within 30 days.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971800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3063240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What if I think your count is wrong?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383280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You have 30 days from the statement to tell us. We review and respond within 15 days.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69079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19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Why ₹185 a night for some and ₹555 for others?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59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The fee is the same ₹59,999 whether you enrol one property or three. One property buys 108 promised nights, three buys 324 — so the cost per night falls from ₹555 to ₹185.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4069079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4447" y="4160519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Can I add a fourth property?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4480559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Yes, and you keep 8% for life on it. But the nights promise covers only the properties we assessed at onboarding, up to three.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166359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57799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Why no setup fee?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Your property is already furnished. We give you a written spec of what to fix, you do it at your cost, and we sign it off before listing.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5166359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4447" y="5257799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What if I don’t want to do the setup work?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447" y="5577840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Then the promise doesn’t apply — we can’t guarantee nights on a property that isn’t ready. We’ll still manage it at 8%, and you can do the work later.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58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54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38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922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6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174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8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342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426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678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76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846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014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09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182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266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1" grpId="0" animBg="1"/>
      <p:bldP spid="14" grpId="0" animBg="1"/>
      <p:bldP spid="15" grpId="0" animBg="1"/>
      <p:bldP spid="18" grpId="0" animBg="1"/>
      <p:bldP spid="16" grpId="0" animBg="1"/>
      <p:bldP spid="19" grpId="0" animBg="1"/>
      <p:bldP spid="17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3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29" grpId="0" animBg="1"/>
      <p:bldP spid="32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731520" y="457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THE NIGHTS PROMISE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 i="0" spc="2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18 / 18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7C8396"/>
                </a:solidFill>
                <a:latin typeface="DM Sans"/>
                <a:ea typeface="DM Sans"/>
                <a:cs typeface="DM Sans"/>
              </a:rPr>
              <a:t>RED FLAG OUTPOST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00">
                <a:solidFill>
                  <a:srgbClr val="D9B56A"/>
                </a:solidFill>
                <a:latin typeface="DM Sans"/>
                <a:ea typeface="DM Sans"/>
                <a:cs typeface="DM Sans"/>
              </a:rPr>
              <a:t>FREQUENTLY ASKED QUESTIONS  ·  2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More straight answers.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Can you just drop my price to hit the number?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No. We agree a floor rate with you at onboarding and nights sold below it don’t count toward the promise. It protects you and it stops us gaming our own guarantee.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1874519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447" y="1965960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Can I still use my property myself?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286000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Yes — up to 12 owner nights across the six months, blocked in advance. Beyond that the promise no longer applies, because we can’t sell nights that aren’t available.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What do I actually earn per night?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On a ₹2,000 night, roughly ₹1,270 lands with you after our commission and cleaning. Your real number depends on your rate and your city — we’ll calculate it on the assessment.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971800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3063240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When do I get paid?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383280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Twice a month, on the 1st and the 16th, with a statement showing every booking and every deduction.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69079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19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What if my city is seasonal?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59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We set your number from your market, not a template. A Goa property might be promised fewer nights than a Bengaluru one. We’d rather promise a number we can hit.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4069079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4447" y="4160519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What if you decline my property?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4480559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We tell you why, in writing, and you pay nothing. We’d rather turn down a property than take a fee for nights we can’t deliver.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166359"/>
            <a:ext cx="5135727" cy="10972"/>
          </a:xfrm>
          <a:prstGeom prst="rect">
            <a:avLst/>
          </a:prstGeom>
          <a:solidFill>
            <a:srgbClr val="D2C7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57799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A2E"/>
                </a:solidFill>
                <a:latin typeface="Playfair Display"/>
                <a:ea typeface="DM Sans"/>
                <a:cs typeface="DM Sans"/>
              </a:rPr>
              <a:t>Is my income guaranteed?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51357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4458"/>
                </a:solidFill>
                <a:latin typeface="DM Sans"/>
                <a:ea typeface="DM Sans"/>
                <a:cs typeface="DM Sans"/>
              </a:rPr>
              <a:t>No. We guarantee nights, not rupees. What those nights earn depends on your rate, your season and your market.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3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2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1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3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86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5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24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1" grpId="0" animBg="1"/>
      <p:bldP spid="14" grpId="0" animBg="1"/>
      <p:bldP spid="15" grpId="0" animBg="1"/>
      <p:bldP spid="18" grpId="0" animBg="1"/>
      <p:bldP spid="16" grpId="0" animBg="1"/>
      <p:bldP spid="19" grpId="0" animBg="1"/>
      <p:bldP spid="17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3" grpId="0" animBg="1"/>
      <p:bldP spid="26" grpId="0" animBg="1"/>
      <p:bldP spid="27" grpId="0" animBg="1"/>
      <p:bldP spid="28" grpId="0" animBg="1"/>
      <p:bldP spid="2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