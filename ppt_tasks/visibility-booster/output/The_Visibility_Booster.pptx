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d0e13d896c2e02b155dfbaeccca20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0"/>
            <a:ext cx="707105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120640" y="0"/>
            <a:ext cx="2011680" cy="6858000"/>
          </a:xfrm>
          <a:prstGeom prst="rect">
            <a:avLst/>
          </a:prstGeom>
          <a:gradFill rotWithShape="1" flip="none">
            <a:gsLst>
              <a:gs pos="0">
                <a:srgbClr val="0C0B0A">
                  <a:alpha val="100000"/>
                </a:srgbClr>
              </a:gs>
              <a:gs pos="100000">
                <a:srgbClr val="0C0B0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331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RED FLAG HOMES NETWORK  ·  HOST DOSSIER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7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The Visibility
Booster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1">
                <a:solidFill>
                  <a:srgbClr val="C8B48A"/>
                </a:solidFill>
                <a:latin typeface="Instrument Serif"/>
                <a:ea typeface="Inter Tight"/>
                <a:cs typeface="Inter Tight"/>
              </a:rPr>
              <a:t>14 things that get your Airbnb seen —
and booked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080760"/>
            <a:ext cx="39319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REDFLAGHOMES.IN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680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Most empty listings
aren’t bad.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7680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0" i="1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They’re invisible.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2011680"/>
            <a:ext cx="10972" cy="3108960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2011680"/>
            <a:ext cx="2423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Airbnb doesn’t show guests the best property. It shows the property most likely to get booked and reviewed well.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Those are different things — and the gap between them is where your occupancy goes.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Everything that follows is a lever you control. Work down the list in order — the first five move the most.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I  ·  THE FIVE THAT MATTER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Start where the algorithm looks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55848"/>
            <a:ext cx="32461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0215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Reply within an hour,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Response rate and speed feed directly into ranking — and guests book whoever answers first. Set saved replies and phone notifications. Falling below a 90% response rate quietly buries a listing.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6060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3355848"/>
            <a:ext cx="32461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350215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Turn on Instant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Listings that need approval rank lower and lose impulse bookings — most weekend bookings. Keep control by requiring verified ID and setting clear house rules instead.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416" y="2606040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3355848"/>
            <a:ext cx="32461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3502152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Update your calendar every few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0416" y="443484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Airbnb favours listings that look actively managed. Even opening the app and confirming availability signals the listing is alive. A calendar untouched for weeks is treated as stale.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pic>
        <p:nvPicPr>
          <p:cNvPr id="7" name="Picture 6" descr="7fdd8b0a21d56122eccb5d7a02a43e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97680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651760" y="0"/>
            <a:ext cx="1645920" cy="6858000"/>
          </a:xfrm>
          <a:prstGeom prst="rect">
            <a:avLst/>
          </a:prstGeom>
          <a:gradFill rotWithShape="1" flip="none">
            <a:gsLst>
              <a:gs pos="0">
                <a:srgbClr val="0C0B0A">
                  <a:alpha val="100000"/>
                </a:srgbClr>
              </a:gs>
              <a:gs pos="100000">
                <a:srgbClr val="0C0B0A">
                  <a:alpha val="0"/>
                </a:srgbClr>
              </a:gs>
            </a:gsLst>
            <a:lin ang="108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I  ·  THE FIVE THAT MATTER MOST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60020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88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2918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of the decision is the first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749039"/>
            <a:ext cx="3017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9319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Fix the first photograph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443484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On a phone it is roughly 80% of the decision. Lead with your single most impressive view — not the front door, not the lobby. Test a new first image for two weeks and compare views.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4152" y="1600200"/>
            <a:ext cx="10972" cy="4297680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60020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148840"/>
            <a:ext cx="3017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70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−25–30%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918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below target for your first ten bookings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3749039"/>
            <a:ext cx="3017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39319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Price low,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43484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A listing with no reviews cannot win at full price. Collect ten reviews fast, then raise in steps. Wasting the new-listing boost at a price nobody books is the costliest mistake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II  ·  NINE MORE THAT COMPOUND  —  THE LISTING &amp; THE CALENDAR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Be findable in every search you qualify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12064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24328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Write a title that says what, why and 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81528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“Sea-view 3BR villa with private pool · 5 min to Ashwem” beats “Beautiful villa in Goa”. Guests scan titles; specifics stop the scroll.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6792" y="2423160"/>
            <a:ext cx="512064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260604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2624328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Tick every amenity you genuinely have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1" y="3081528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Guests filter by amenity — a missing tick removes you from entire searches: WiFi speed, parking, workspace, kitchen, AC, pet-friendly. Never tick one you don’t have.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97679"/>
            <a:ext cx="512064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80559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98847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Lower your minimum nights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56047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A two-night minimum removes you from every one-night search — in city markets, up to half the demand. Try one night midweek, keep two at weekends.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4297679"/>
            <a:ext cx="512064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480559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1" y="4498847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Open your calendar further ahead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1" y="4956047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Many guests book three to six months out, especially for peak season and weddings. A calendar open only 60 days ahead is invisible to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II  ·  NINE MORE THAT COMPOUND  —  REPUTATION &amp; REACH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773936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Add weekly and monthly discounts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55648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Longer stays cut cleaning and vacancy risk, and Airbnb surfaces them to long-stay searchers. Even 10% weekly, 20% monthly.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50591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670048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Never cancel a booking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51760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Host cancellations suppress ranking for months. Move the guest, refund generously — but don’t cancel.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346704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29584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56616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Chase reviews in the first 48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547872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Ask in person at check-out and once by message. Early on, review velocity matters more than count.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242816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425696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62272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List on a second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443983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Booking.com fills midweek gaps and reaches a different traveller. Sync calendars to avoid double-booking.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138928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321808"/>
            <a:ext cx="640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58384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Build a direct 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340096"/>
            <a:ext cx="39319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A simple page, a WhatsApp number, a link in your Instagram bio. No commission — and yours forever.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035040"/>
            <a:ext cx="758952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5400" y="1554480"/>
            <a:ext cx="3276295" cy="4480560"/>
          </a:xfrm>
          <a:prstGeom prst="rect">
            <a:avLst/>
          </a:prstGeom>
          <a:solidFill>
            <a:srgbClr val="1614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19202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0" i="0">
                <a:solidFill>
                  <a:srgbClr val="FF3B30"/>
                </a:solidFill>
                <a:latin typeface="Instrument Serif"/>
                <a:ea typeface="Inter Tight"/>
                <a:cs typeface="Inter Tight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2697480"/>
            <a:ext cx="2286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1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Ten reviews at 4.9 beats forty at 4.6.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434840"/>
            <a:ext cx="109728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457200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only visibility an algorithm can’t change is a direct booking.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pic>
        <p:nvPicPr>
          <p:cNvPr id="7" name="Picture 6" descr="1905f6022746c334bf593999cd060e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0"/>
            <a:ext cx="1463040" cy="6858000"/>
          </a:xfrm>
          <a:prstGeom prst="rect">
            <a:avLst/>
          </a:prstGeom>
          <a:gradFill rotWithShape="1" flip="none">
            <a:gsLst>
              <a:gs pos="0">
                <a:srgbClr val="0C0B0A">
                  <a:alpha val="100000"/>
                </a:srgbClr>
              </a:gs>
              <a:gs pos="100000">
                <a:srgbClr val="0C0B0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YOUR FIRST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1732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40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Start with these five,
this week.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43784"/>
            <a:ext cx="182880" cy="182880"/>
          </a:xfrm>
          <a:prstGeom prst="rect">
            <a:avLst/>
          </a:prstGeom>
          <a:solidFill>
            <a:srgbClr val="0C0B0A"/>
          </a:solidFill>
          <a:ln w="12700">
            <a:solidFill>
              <a:srgbClr val="C8B4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889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Turn on Instant Book and set enquiry notifications on your phone.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74136"/>
            <a:ext cx="182880" cy="182880"/>
          </a:xfrm>
          <a:prstGeom prst="rect">
            <a:avLst/>
          </a:prstGeom>
          <a:solidFill>
            <a:srgbClr val="0C0B0A"/>
          </a:solidFill>
          <a:ln w="12700">
            <a:solidFill>
              <a:srgbClr val="C8B4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319272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Swap your first photograph for your single most impressive 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04487"/>
            <a:ext cx="182880" cy="182880"/>
          </a:xfrm>
          <a:prstGeom prst="rect">
            <a:avLst/>
          </a:prstGeom>
          <a:solidFill>
            <a:srgbClr val="0C0B0A"/>
          </a:solidFill>
          <a:ln w="12700">
            <a:solidFill>
              <a:srgbClr val="C8B4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84962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Tick every honest amenity and drop minimum nights midweek.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34839"/>
            <a:ext cx="182880" cy="182880"/>
          </a:xfrm>
          <a:prstGeom prst="rect">
            <a:avLst/>
          </a:prstGeom>
          <a:solidFill>
            <a:srgbClr val="0C0B0A"/>
          </a:solidFill>
          <a:ln w="12700">
            <a:solidFill>
              <a:srgbClr val="C8B4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5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Open your calendar six months ahead; add weekly and monthly discounts.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965191"/>
            <a:ext cx="182880" cy="182880"/>
          </a:xfrm>
          <a:prstGeom prst="rect">
            <a:avLst/>
          </a:prstGeom>
          <a:solidFill>
            <a:srgbClr val="0C0B0A"/>
          </a:solidFill>
          <a:ln w="12700">
            <a:solidFill>
              <a:srgbClr val="C8B4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910327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Ask every departing guest for a review — in person, and once by message.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6492240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68756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Then change one thing at a time — and compare views and bookings against the previous fortnight.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5455f9ea188728712115fda2ef3ce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498079" cy="6858000"/>
          </a:xfrm>
          <a:prstGeom prst="rect">
            <a:avLst/>
          </a:prstGeom>
          <a:gradFill rotWithShape="1" flip="none">
            <a:gsLst>
              <a:gs pos="0">
                <a:srgbClr val="0C0B0A">
                  <a:alpha val="100000"/>
                </a:srgbClr>
              </a:gs>
              <a:gs pos="100000">
                <a:srgbClr val="0C0B0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FF3B30"/>
                </a:solidFill>
                <a:latin typeface="Inter Tight"/>
                <a:ea typeface="Inter Tight"/>
                <a:cs typeface="Inter Tight"/>
              </a:rPr>
              <a:t>RED FLAG OUTPOST CLASSIC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8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Or let someone do
all fourteen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Everything in this guide is work — daily pricing, hourly replies, calendars, reviews, cleaning, repairs. Most owners manage it for three months, then stop. Occupancy follows.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440680"/>
            <a:ext cx="493776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We design, brand, launch and run your property completely. You pay rent and electricity. That’s the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09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THE DIFFERENCE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Your month, before and after.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2286000"/>
            <a:ext cx="4282135" cy="3886200"/>
          </a:xfrm>
          <a:prstGeom prst="rect">
            <a:avLst/>
          </a:prstGeom>
          <a:solidFill>
            <a:srgbClr val="1614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78040" y="2286000"/>
            <a:ext cx="4282135" cy="27432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450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DOING IT YOURSELF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4505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FF3B30"/>
                </a:solidFill>
                <a:latin typeface="Inter Tight"/>
                <a:ea typeface="Inter Tight"/>
                <a:cs typeface="Inter Tight"/>
              </a:rPr>
              <a:t>RED FLAG OUTPOST CLASSIC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3464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Guest replies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9992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You, at 2am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9923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Us, 24/7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38328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5478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You guess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547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AI, adjusted daily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Cleaning &amp; linen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09651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You arrange and pay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096511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We arrange — deducted from bookings at cost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48056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6177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Repairs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6451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You chase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6451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Handled up to ₹2,000 per incident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02920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519379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51937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Creator launch campaign + direct booking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57784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Your time each month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5742431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10–15 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742431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Close to zero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WHAT IT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Transparent, from day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329184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700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FRANCHISE FEE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₹59,999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one 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2514600"/>
            <a:ext cx="329184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6700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SETUP &amp; PROCURING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301752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₹1,11,111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3977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up to 2 keys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08976" y="2514600"/>
            <a:ext cx="329184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8976" y="26700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COMMISSION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8976" y="301752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8976" y="3977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of bookings, or ₹4,999 per listing / month — whichever is higher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937760"/>
            <a:ext cx="10728655" cy="960120"/>
          </a:xfrm>
          <a:prstGeom prst="rect">
            <a:avLst/>
          </a:prstGeom>
          <a:solidFill>
            <a:srgbClr val="1614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937760"/>
            <a:ext cx="36576" cy="960120"/>
          </a:xfrm>
          <a:prstGeom prst="rect">
            <a:avLst/>
          </a:prstGeom>
          <a:solidFill>
            <a:srgbClr val="FF3B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04748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Own the property already?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681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That’s your entire investment — no rent, no deposit.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074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 spc="1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200 founding allocations across India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3675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The first 200 partners keep 8% for life.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Prices plus applicable GST.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3247" y="329184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THE VISIBILITY BOOSTER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8575" y="635508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spc="2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spc="30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FF3B30"/>
                </a:solidFill>
                <a:latin typeface="Inter Tight"/>
                <a:ea typeface="Inter Tight"/>
                <a:cs typeface="Inter Tight"/>
              </a:rPr>
              <a:t>THE EARN-BACK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Earn it back in 12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400" b="0" i="1">
                <a:solidFill>
                  <a:srgbClr val="C8B48A"/>
                </a:solidFill>
                <a:latin typeface="Instrument Serif"/>
                <a:ea typeface="Inter Tight"/>
                <a:cs typeface="Inter Tight"/>
              </a:rPr>
              <a:t>Or we pay the difference.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06240"/>
            <a:ext cx="10728655" cy="10972"/>
          </a:xfrm>
          <a:prstGeom prst="rect">
            <a:avLst/>
          </a:prstGeom>
          <a:solidFill>
            <a:srgbClr val="3A34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If your Outpost’s net operating profit over its first 12 months after going live is less than the programme fee you paid, we pay you the difference.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8B48A"/>
                </a:solidFill>
                <a:latin typeface="Instrument Serif"/>
                <a:ea typeface="Inter Tight"/>
                <a:cs typeface="Inter Tight"/>
              </a:rPr>
              <a:t>—  No quibbles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8463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8B48A"/>
                </a:solidFill>
                <a:latin typeface="Instrument Serif"/>
                <a:ea typeface="Inter Tight"/>
                <a:cs typeface="Inter Tight"/>
              </a:rPr>
              <a:t>—  Written terms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5257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8B48A"/>
                </a:solidFill>
                <a:latin typeface="Instrument Serif"/>
                <a:ea typeface="Inter Tight"/>
                <a:cs typeface="Inter Tight"/>
              </a:rPr>
              <a:t>—  Paid within 30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23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We can promise it because we run the property ourselves, to one standard. Full conditions in the Programme Terms.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B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650e6c0777eb4489c93cf3204b97c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0"/>
            <a:ext cx="40535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38160" y="0"/>
            <a:ext cx="1463040" cy="6858000"/>
          </a:xfrm>
          <a:prstGeom prst="rect">
            <a:avLst/>
          </a:prstGeom>
          <a:gradFill rotWithShape="1" flip="none">
            <a:gsLst>
              <a:gs pos="0">
                <a:srgbClr val="0C0B0A">
                  <a:alpha val="100000"/>
                </a:srgbClr>
              </a:gs>
              <a:gs pos="100000">
                <a:srgbClr val="0C0B0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325880" cy="132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300">
                <a:solidFill>
                  <a:srgbClr val="C8B48A"/>
                </a:solidFill>
                <a:latin typeface="Inter Tight"/>
                <a:ea typeface="Inter Tight"/>
                <a:cs typeface="Inter Tight"/>
              </a:rPr>
              <a:t>APPLY FOR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400" b="0" i="0">
                <a:solidFill>
                  <a:srgbClr val="F3EBDD"/>
                </a:solidFill>
                <a:latin typeface="Instrument Serif"/>
                <a:ea typeface="Inter Tight"/>
                <a:cs typeface="Inter Tight"/>
              </a:rPr>
              <a:t>redflaghomes.in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We assess your property and send you a projection for it — free, before you commit anything.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572000"/>
            <a:ext cx="6675120" cy="10972"/>
          </a:xfrm>
          <a:prstGeom prst="rect">
            <a:avLst/>
          </a:prstGeom>
          <a:solidFill>
            <a:srgbClr val="C8B4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70916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3EBDD"/>
                </a:solidFill>
                <a:latin typeface="Inter Tight"/>
                <a:ea typeface="Inter Tight"/>
                <a:cs typeface="Inter Tight"/>
              </a:rPr>
              <a:t>hello@redflaghomes.in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Red Flag Homes Network, a company of Red Flag World Holdings Ltd, London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6858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 i="0">
                <a:solidFill>
                  <a:srgbClr val="A39B8E"/>
                </a:solidFill>
                <a:latin typeface="Inter Tight"/>
                <a:ea typeface="Inter Tight"/>
                <a:cs typeface="Inter Tight"/>
              </a:rPr>
              <a:t>General information, not legal, tax or investment advice. Airbnb ranking factors change and are not published in full; the guidance here reflects widely observed practice. All figures are illustrative and depend on location, season, occupancy and costs; a property can earn less than its costs. Prices plus applicable GST. The Earn-Back Promise is subject to the Programme Terms.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