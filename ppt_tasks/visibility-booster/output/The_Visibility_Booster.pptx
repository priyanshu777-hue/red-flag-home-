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atic-photo" descr="fd0e13d896c2e02b155dfbaeccca20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0"/>
            <a:ext cx="7071055" cy="6858000"/>
          </a:xfrm>
          <a:prstGeom prst="rect">
            <a:avLst/>
          </a:prstGeom>
        </p:spPr>
      </p:pic>
      <p:sp>
        <p:nvSpPr>
          <p:cNvPr id="4" name="static-mask"/>
          <p:cNvSpPr/>
          <p:nvPr/>
        </p:nvSpPr>
        <p:spPr>
          <a:xfrm>
            <a:off x="5120640" y="0"/>
            <a:ext cx="2011680" cy="6858000"/>
          </a:xfrm>
          <a:prstGeom prst="rect">
            <a:avLst/>
          </a:prstGeom>
          <a:gradFill rotWithShape="1" flip="none">
            <a:gsLst>
              <a:gs pos="0">
                <a:srgbClr val="0C0B0A">
                  <a:alpha val="100000"/>
                </a:srgbClr>
              </a:gs>
              <a:gs pos="100000">
                <a:srgbClr val="0C0B0A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!!logo" descr="log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1417320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31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300">
                <a:solidFill>
                  <a:srgbClr val="C8B48A"/>
                </a:solidFill>
                <a:latin typeface="Inter Tight"/>
                <a:ea typeface="Inter Tight"/>
                <a:cs typeface="Inter Tight"/>
              </a:rPr>
              <a:t>RED FLAG HOMES NETWORK  ·  HOST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49377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88000"/>
              </a:lnSpc>
            </a:pPr>
            <a:r>
              <a:rPr sz="74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The Visibility
Booster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1">
                <a:solidFill>
                  <a:srgbClr val="C8B48A"/>
                </a:solidFill>
                <a:latin typeface="Instrument Serif"/>
                <a:ea typeface="Inter Tight"/>
                <a:cs typeface="Inter Tight"/>
              </a:rPr>
              <a:t>14 things that get your Airbnb seen —
and booked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080760"/>
            <a:ext cx="3931920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REDFLAGHOMES.IN</a:t>
            </a:r>
          </a:p>
        </p:txBody>
      </p:sp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247" y="329184"/>
            <a:ext cx="566928" cy="566928"/>
          </a:xfrm>
          <a:prstGeom prst="rect">
            <a:avLst/>
          </a:prstGeom>
        </p:spPr>
      </p:pic>
      <p:sp>
        <p:nvSpPr>
          <p:cNvPr id="4" name="chrome"/>
          <p:cNvSpPr txBox="1"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THE VISIBILITY BOOSTER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3550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2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02 / 14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RED FLAG HOMES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300">
                <a:solidFill>
                  <a:srgbClr val="C8B48A"/>
                </a:solidFill>
                <a:latin typeface="Inter Tight"/>
                <a:ea typeface="Inter Tight"/>
                <a:cs typeface="Inter Tight"/>
              </a:rPr>
              <a:t>THE PREMISE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76809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6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Most empty listings
aren’t bad.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7680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0" i="1">
                <a:solidFill>
                  <a:srgbClr val="FF3B30"/>
                </a:solidFill>
                <a:latin typeface="Instrument Serif"/>
                <a:ea typeface="Inter Tight"/>
                <a:cs typeface="Inter Tight"/>
              </a:rPr>
              <a:t>They’re invisible.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32520" y="2011680"/>
            <a:ext cx="10972" cy="3108960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2011680"/>
            <a:ext cx="24231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3EBDD"/>
                </a:solidFill>
                <a:latin typeface="Inter Tight"/>
                <a:ea typeface="Inter Tight"/>
                <a:cs typeface="Inter Tight"/>
              </a:rPr>
              <a:t>Airbnb doesn’t show guests the best property. It shows the property most likely to get booked and reviewed well.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3429000"/>
            <a:ext cx="2423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Those are different things — and the gap between them is where your occupancy goes.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440680"/>
            <a:ext cx="10728655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8B48A"/>
                </a:solidFill>
                <a:latin typeface="Inter Tight"/>
                <a:ea typeface="Inter Tight"/>
                <a:cs typeface="Inter Tight"/>
              </a:rPr>
              <a:t>Everything that follows is a lever you control. Work down the list in order — the first five move the most.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9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atic-photo" descr="990d86a38d7da7a6876e8e085e5403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tatic-vei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tic-mask"/>
          <p:cNvSpPr/>
          <p:nvPr/>
        </p:nvSpPr>
        <p:spPr>
          <a:xfrm>
            <a:off x="0" y="0"/>
            <a:ext cx="8229600" cy="6858000"/>
          </a:xfrm>
          <a:prstGeom prst="rect">
            <a:avLst/>
          </a:prstGeom>
          <a:gradFill rotWithShape="1" flip="none">
            <a:gsLst>
              <a:gs pos="0">
                <a:srgbClr val="0C0B0A">
                  <a:alpha val="100000"/>
                </a:srgbClr>
              </a:gs>
              <a:gs pos="100000">
                <a:srgbClr val="0C0B0A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logo" descr="log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329184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20040"/>
            <a:ext cx="64008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25000" b="0" i="0">
                <a:solidFill>
                  <a:srgbClr val="C8B48A"/>
                </a:solidFill>
                <a:latin typeface="Instrument Serif"/>
                <a:ea typeface="Inter Tight"/>
                <a:cs typeface="Inter Tight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300">
                <a:solidFill>
                  <a:srgbClr val="C8B48A"/>
                </a:solidFill>
                <a:latin typeface="Inter Tight"/>
                <a:ea typeface="Inter Tight"/>
                <a:cs typeface="Inter Tight"/>
              </a:rPr>
              <a:t>PART ONE  ·  LEVERS 01–05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4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The five that matter most.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349240"/>
            <a:ext cx="2926080" cy="10972"/>
          </a:xfrm>
          <a:prstGeom prst="rect">
            <a:avLst/>
          </a:prstGeom>
          <a:solidFill>
            <a:srgbClr val="C8B4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5943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They cost nothing — and they move occupancy faster than any amount of new furniture.</a:t>
            </a:r>
          </a:p>
        </p:txBody>
      </p:sp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247" y="329184"/>
            <a:ext cx="566928" cy="566928"/>
          </a:xfrm>
          <a:prstGeom prst="rect">
            <a:avLst/>
          </a:prstGeom>
        </p:spPr>
      </p:pic>
      <p:sp>
        <p:nvSpPr>
          <p:cNvPr id="4" name="chrome"/>
          <p:cNvSpPr txBox="1"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THE VISIBILITY BOOSTER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3550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2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04 / 14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RED FLAG HOMES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300">
                <a:solidFill>
                  <a:srgbClr val="C8B48A"/>
                </a:solidFill>
                <a:latin typeface="Inter Tight"/>
                <a:ea typeface="Inter Tight"/>
                <a:cs typeface="Inter Tight"/>
              </a:rPr>
              <a:t>I  ·  THE FIVE THAT MATTER MOST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Start where the algorithm looks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0" i="0">
                <a:solidFill>
                  <a:srgbClr val="FF3B30"/>
                </a:solidFill>
                <a:latin typeface="Instrument Serif"/>
                <a:ea typeface="Inter Tight"/>
                <a:cs typeface="Inter Tight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18688"/>
            <a:ext cx="3246120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64992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Reply within an hour, every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Response rate and speed feed directly into ranking — and guests book whoever answers first. Set saved replies and phone notifications. Falling below a 90% response rate quietly buries a listing.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46888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0" i="0">
                <a:solidFill>
                  <a:srgbClr val="FF3B30"/>
                </a:solidFill>
                <a:latin typeface="Instrument Serif"/>
                <a:ea typeface="Inter Tight"/>
                <a:cs typeface="Inter Tight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3218688"/>
            <a:ext cx="3246120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3364992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Turn on Instant 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429768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Listings that need approval rank lower and lose impulse bookings — most weekend bookings. Keep control by requiring verified ID and setting clear house rules instead.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0416" y="246888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0" i="0">
                <a:solidFill>
                  <a:srgbClr val="FF3B30"/>
                </a:solidFill>
                <a:latin typeface="Instrument Serif"/>
                <a:ea typeface="Inter Tight"/>
                <a:cs typeface="Inter Tight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0416" y="3218688"/>
            <a:ext cx="3246120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0416" y="3364992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Update your calendar every few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429768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Airbnb favours listings that look actively managed. Even opening the app and confirming availability signals the listing is alive. A calendar untouched for weeks is treated as stale.</a:t>
            </a:r>
          </a:p>
        </p:txBody>
      </p:sp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900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3" grpId="0" animBg="1"/>
      <p:bldP spid="17" grpId="0" animBg="1"/>
      <p:bldP spid="10" grpId="0" animBg="1"/>
      <p:bldP spid="14" grpId="0" animBg="1"/>
      <p:bldP spid="18" grpId="0" animBg="1"/>
      <p:bldP spid="11" grpId="0" animBg="1"/>
      <p:bldP spid="15" grpId="0" animBg="1"/>
      <p:bldP spid="19" grpId="0" animBg="1"/>
      <p:bldP spid="12" grpId="0" animBg="1"/>
      <p:bldP spid="16" grpId="0" animBg="1"/>
      <p:bldP spid="20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247" y="329184"/>
            <a:ext cx="566928" cy="566928"/>
          </a:xfrm>
          <a:prstGeom prst="rect">
            <a:avLst/>
          </a:prstGeom>
        </p:spPr>
      </p:pic>
      <p:sp>
        <p:nvSpPr>
          <p:cNvPr id="4" name="chrome"/>
          <p:cNvSpPr txBox="1"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THE VISIBILITY BOOSTER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3550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2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05 / 14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RED FLAG HOMES NETWORK</a:t>
            </a:r>
          </a:p>
        </p:txBody>
      </p:sp>
      <p:pic>
        <p:nvPicPr>
          <p:cNvPr id="7" name="static-photo" descr="7fdd8b0a21d56122eccb5d7a02a43e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97680" cy="6858000"/>
          </a:xfrm>
          <a:prstGeom prst="rect">
            <a:avLst/>
          </a:prstGeom>
        </p:spPr>
      </p:pic>
      <p:sp>
        <p:nvSpPr>
          <p:cNvPr id="8" name="static-mask"/>
          <p:cNvSpPr/>
          <p:nvPr/>
        </p:nvSpPr>
        <p:spPr>
          <a:xfrm>
            <a:off x="2651760" y="0"/>
            <a:ext cx="1645920" cy="6858000"/>
          </a:xfrm>
          <a:prstGeom prst="rect">
            <a:avLst/>
          </a:prstGeom>
          <a:gradFill rotWithShape="1" flip="none">
            <a:gsLst>
              <a:gs pos="0">
                <a:srgbClr val="0C0B0A">
                  <a:alpha val="100000"/>
                </a:srgbClr>
              </a:gs>
              <a:gs pos="100000">
                <a:srgbClr val="0C0B0A">
                  <a:alpha val="0"/>
                </a:srgbClr>
              </a:gs>
            </a:gsLst>
            <a:lin ang="108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143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300">
                <a:solidFill>
                  <a:srgbClr val="C8B48A"/>
                </a:solidFill>
                <a:latin typeface="Inter Tight"/>
                <a:ea typeface="Inter Tight"/>
                <a:cs typeface="Inter Tight"/>
              </a:rPr>
              <a:t>I  ·  THE FIVE THAT MATTER MOST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60020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F3B30"/>
                </a:solidFill>
                <a:latin typeface="Instrument Serif"/>
                <a:ea typeface="Inter Tight"/>
                <a:cs typeface="Inter Tight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14884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88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2918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8B48A"/>
                </a:solidFill>
                <a:latin typeface="Inter Tight"/>
                <a:ea typeface="Inter Tight"/>
                <a:cs typeface="Inter Tight"/>
              </a:rPr>
              <a:t>of the decision is the first image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3749039"/>
            <a:ext cx="3017520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931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Fix the first photograph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443484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On a phone it is roughly 80% of the decision. Lead with your single most impressive view — not the front door, not the lobby. Test a new first image for two weeks and compare views.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2" y="1600200"/>
            <a:ext cx="10972" cy="4297680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60020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F3B30"/>
                </a:solidFill>
                <a:latin typeface="Instrument Serif"/>
                <a:ea typeface="Inter Tight"/>
                <a:cs typeface="Inter Tight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14884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70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−25–30%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2918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8B48A"/>
                </a:solidFill>
                <a:latin typeface="Inter Tight"/>
                <a:ea typeface="Inter Tight"/>
                <a:cs typeface="Inter Tight"/>
              </a:rPr>
              <a:t>below target for your first ten bookings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3749039"/>
            <a:ext cx="3017520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931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Price low, deliberately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43484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A listing with no reviews cannot win at full price. Collect ten reviews fast, then raise in steps. Wasting the new-listing boost at a price nobody books is the costliest mistake here.</a:t>
            </a:r>
          </a:p>
        </p:txBody>
      </p:sp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900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900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00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9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9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900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900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6" grpId="0" animBg="1"/>
      <p:bldP spid="17" grpId="0" animBg="1"/>
      <p:bldP spid="11" grpId="0" animBg="1"/>
      <p:bldP spid="18" grpId="0" animBg="1"/>
      <p:bldP spid="12" grpId="0" animBg="1"/>
      <p:bldP spid="19" grpId="0" animBg="1"/>
      <p:bldP spid="13" grpId="0" animBg="1"/>
      <p:bldP spid="14" grpId="0" animBg="1"/>
      <p:bldP spid="20" grpId="0" animBg="1"/>
      <p:bldP spid="21" grpId="0" animBg="1"/>
      <p:bldP spid="15" grpId="0" animBg="1"/>
      <p:bldP spid="22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atic-photo" descr="98c161f09e77a4b6acadb9b0fed1a8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tatic-vei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tic-mask"/>
          <p:cNvSpPr/>
          <p:nvPr/>
        </p:nvSpPr>
        <p:spPr>
          <a:xfrm>
            <a:off x="0" y="0"/>
            <a:ext cx="8229600" cy="6858000"/>
          </a:xfrm>
          <a:prstGeom prst="rect">
            <a:avLst/>
          </a:prstGeom>
          <a:gradFill rotWithShape="1" flip="none">
            <a:gsLst>
              <a:gs pos="0">
                <a:srgbClr val="0C0B0A">
                  <a:alpha val="100000"/>
                </a:srgbClr>
              </a:gs>
              <a:gs pos="100000">
                <a:srgbClr val="0C0B0A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logo" descr="log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329184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20040"/>
            <a:ext cx="64008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25000" b="0" i="0">
                <a:solidFill>
                  <a:srgbClr val="C8B48A"/>
                </a:solidFill>
                <a:latin typeface="Instrument Serif"/>
                <a:ea typeface="Inter Tight"/>
                <a:cs typeface="Inter Tight"/>
              </a:rPr>
              <a:t>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300">
                <a:solidFill>
                  <a:srgbClr val="C8B48A"/>
                </a:solidFill>
                <a:latin typeface="Inter Tight"/>
                <a:ea typeface="Inter Tight"/>
                <a:cs typeface="Inter Tight"/>
              </a:rPr>
              <a:t>PART TWO  ·  LEVERS 06–14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4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Nine more that compound.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349240"/>
            <a:ext cx="2926080" cy="10972"/>
          </a:xfrm>
          <a:prstGeom prst="rect">
            <a:avLst/>
          </a:prstGeom>
          <a:solidFill>
            <a:srgbClr val="C8B4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5943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Each is small on its own. Together they decide who sees you — and how often.</a:t>
            </a:r>
          </a:p>
        </p:txBody>
      </p:sp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247" y="329184"/>
            <a:ext cx="566928" cy="566928"/>
          </a:xfrm>
          <a:prstGeom prst="rect">
            <a:avLst/>
          </a:prstGeom>
        </p:spPr>
      </p:pic>
      <p:sp>
        <p:nvSpPr>
          <p:cNvPr id="4" name="chrome"/>
          <p:cNvSpPr txBox="1"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THE VISIBILITY BOOSTER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3550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2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07 / 14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RED FLAG HOMES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300">
                <a:solidFill>
                  <a:srgbClr val="C8B48A"/>
                </a:solidFill>
                <a:latin typeface="Inter Tight"/>
                <a:ea typeface="Inter Tight"/>
                <a:cs typeface="Inter Tight"/>
              </a:rPr>
              <a:t>II  ·  NINE MORE THAT COMPOUND  —  THE LISTING &amp; THE CALENDAR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Be findable in every search you qualify for.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120640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F3B30"/>
                </a:solidFill>
                <a:latin typeface="Instrument Serif"/>
                <a:ea typeface="Inter Tight"/>
                <a:cs typeface="Inter Tight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24328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Write a title that says what, why and 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081528"/>
            <a:ext cx="4343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“Sea-view 3BR villa with private pool · 5 min to Ashwem” beats “Beautiful villa in Goa”. Guests scan titles; specifics stop the scroll.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2423160"/>
            <a:ext cx="5120640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260604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F3B30"/>
                </a:solidFill>
                <a:latin typeface="Instrument Serif"/>
                <a:ea typeface="Inter Tight"/>
                <a:cs typeface="Inter Tight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1" y="2624328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Tick every amenity you genuinely have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1" y="3081528"/>
            <a:ext cx="4343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Guests filter by amenity — a missing tick removes you from entire searches: WiFi speed, parking, workspace, kitchen, AC, pet-friendly. Never tick one you don’t have.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97679"/>
            <a:ext cx="5120640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59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F3B30"/>
                </a:solidFill>
                <a:latin typeface="Instrument Serif"/>
                <a:ea typeface="Inter Tight"/>
                <a:cs typeface="Inter Tight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498847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Lower your minimum nights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956047"/>
            <a:ext cx="4343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A two-night minimum removes you from every one-night search — in city markets, up to half the demand. Try one night midweek, keep two at weekends.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6792" y="4297679"/>
            <a:ext cx="5120640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480559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F3B30"/>
                </a:solidFill>
                <a:latin typeface="Instrument Serif"/>
                <a:ea typeface="Inter Tight"/>
                <a:cs typeface="Inter Tight"/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1" y="4498847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Open your calendar further ahead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1" y="4956047"/>
            <a:ext cx="4343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Many guests book three to six months out, especially for peak season and weddings. A calendar open only 60 days ahead is invisible to them.</a:t>
            </a:r>
          </a:p>
        </p:txBody>
      </p:sp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5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65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9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98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195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405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900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0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61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9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9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825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900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900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03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2" grpId="0" animBg="1"/>
      <p:bldP spid="16" grpId="0" animBg="1"/>
      <p:bldP spid="17" grpId="0" animBg="1"/>
      <p:bldP spid="21" grpId="0" animBg="1"/>
      <p:bldP spid="18" grpId="0" animBg="1"/>
      <p:bldP spid="19" grpId="0" animBg="1"/>
      <p:bldP spid="22" grpId="0" animBg="1"/>
      <p:bldP spid="23" grpId="0" animBg="1"/>
      <p:bldP spid="20" grpId="0" animBg="1"/>
      <p:bldP spid="24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247" y="329184"/>
            <a:ext cx="566928" cy="566928"/>
          </a:xfrm>
          <a:prstGeom prst="rect">
            <a:avLst/>
          </a:prstGeom>
        </p:spPr>
      </p:pic>
      <p:sp>
        <p:nvSpPr>
          <p:cNvPr id="4" name="chrome"/>
          <p:cNvSpPr txBox="1"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THE VISIBILITY BOOSTER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3550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2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08 / 14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RED FLAG HOMES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300">
                <a:solidFill>
                  <a:srgbClr val="C8B48A"/>
                </a:solidFill>
                <a:latin typeface="Inter Tight"/>
                <a:ea typeface="Inter Tight"/>
                <a:cs typeface="Inter Tight"/>
              </a:rPr>
              <a:t>II  ·  NINE MORE THAT COMPOUND  —  REPUTATION &amp; REACH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7589520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F3B30"/>
                </a:solidFill>
                <a:latin typeface="Instrument Serif"/>
                <a:ea typeface="Inter Tight"/>
                <a:cs typeface="Inter Tight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73936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Add weekly and monthly discounts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55648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Longer stays cut cleaning and vacancy risk, and Airbnb surfaces them to long-stay searchers. Even 10% weekly, 20% monthly.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450591"/>
            <a:ext cx="7589520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3347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F3B30"/>
                </a:solidFill>
                <a:latin typeface="Instrument Serif"/>
                <a:ea typeface="Inter Tight"/>
                <a:cs typeface="Inter Tight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70048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Never cancel a booking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51760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Host cancellations suppress ranking for months. Move the guest, refund generously — but don’t cancel.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46704"/>
            <a:ext cx="7589520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29584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F3B30"/>
                </a:solidFill>
                <a:latin typeface="Instrument Serif"/>
                <a:ea typeface="Inter Tight"/>
                <a:cs typeface="Inter Tight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6616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Chase reviews in the first 48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547872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Ask in person at check-out and once by message. Early on, review velocity matters more than count.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42816"/>
            <a:ext cx="7589520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25696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F3B30"/>
                </a:solidFill>
                <a:latin typeface="Instrument Serif"/>
                <a:ea typeface="Inter Tight"/>
                <a:cs typeface="Inter Tight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462272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List on a second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443983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Booking.com fills midweek gaps and reaches a different traveller. Sync calendars to avoid double-booking.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138928"/>
            <a:ext cx="7589520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2180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F3B30"/>
                </a:solidFill>
                <a:latin typeface="Instrument Serif"/>
                <a:ea typeface="Inter Tight"/>
                <a:cs typeface="Inter Tight"/>
              </a:rP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358384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Build a direct route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340096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A simple page, a WhatsApp number, a link in your Instagram bio. No commission — and yours forever.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035040"/>
            <a:ext cx="7589520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15400" y="1554480"/>
            <a:ext cx="3276295" cy="4480560"/>
          </a:xfrm>
          <a:prstGeom prst="rect">
            <a:avLst/>
          </a:prstGeom>
          <a:solidFill>
            <a:srgbClr val="1614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19202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0" i="0">
                <a:solidFill>
                  <a:srgbClr val="FF3B30"/>
                </a:solidFill>
                <a:latin typeface="Instrument Serif"/>
                <a:ea typeface="Inter Tight"/>
                <a:cs typeface="Inter Tight"/>
              </a:rPr>
              <a:t>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697480"/>
            <a:ext cx="2286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1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Ten reviews at 4.9 beats forty at 4.6.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81160" y="4434840"/>
            <a:ext cx="1097280" cy="10972"/>
          </a:xfrm>
          <a:prstGeom prst="rect">
            <a:avLst/>
          </a:prstGeom>
          <a:solidFill>
            <a:srgbClr val="C8B4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457200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The only visibility an algorithm can’t change is a direct booking.</a:t>
            </a:r>
          </a:p>
        </p:txBody>
      </p:sp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9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900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9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9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9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900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900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00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00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900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900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900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900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9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9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9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900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900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900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900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29" grpId="0" animBg="1"/>
      <p:bldP spid="10" grpId="0" animBg="1"/>
      <p:bldP spid="30" grpId="0" animBg="1"/>
      <p:bldP spid="12" grpId="0" animBg="1"/>
      <p:bldP spid="13" grpId="0" animBg="1"/>
      <p:bldP spid="14" grpId="0" animBg="1"/>
      <p:bldP spid="15" grpId="0" animBg="1"/>
      <p:bldP spid="31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32" grpId="0" animBg="1"/>
      <p:bldP spid="3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247" y="329184"/>
            <a:ext cx="566928" cy="566928"/>
          </a:xfrm>
          <a:prstGeom prst="rect">
            <a:avLst/>
          </a:prstGeom>
        </p:spPr>
      </p:pic>
      <p:sp>
        <p:nvSpPr>
          <p:cNvPr id="4" name="chrome"/>
          <p:cNvSpPr txBox="1"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THE VISIBILITY BOOSTER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3550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2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09 / 14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RED FLAG HOMES NETWORK</a:t>
            </a:r>
          </a:p>
        </p:txBody>
      </p:sp>
      <p:pic>
        <p:nvPicPr>
          <p:cNvPr id="7" name="static-photo" descr="1905f6022746c334bf593999cd060e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0"/>
            <a:ext cx="4510735" cy="6858000"/>
          </a:xfrm>
          <a:prstGeom prst="rect">
            <a:avLst/>
          </a:prstGeom>
        </p:spPr>
      </p:pic>
      <p:sp>
        <p:nvSpPr>
          <p:cNvPr id="8" name="static-mask"/>
          <p:cNvSpPr/>
          <p:nvPr/>
        </p:nvSpPr>
        <p:spPr>
          <a:xfrm>
            <a:off x="7680960" y="0"/>
            <a:ext cx="1463040" cy="6858000"/>
          </a:xfrm>
          <a:prstGeom prst="rect">
            <a:avLst/>
          </a:prstGeom>
          <a:gradFill rotWithShape="1" flip="none">
            <a:gsLst>
              <a:gs pos="0">
                <a:srgbClr val="0C0B0A">
                  <a:alpha val="100000"/>
                </a:srgbClr>
              </a:gs>
              <a:gs pos="100000">
                <a:srgbClr val="0C0B0A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300">
                <a:solidFill>
                  <a:srgbClr val="C8B48A"/>
                </a:solidFill>
                <a:latin typeface="Inter Tight"/>
                <a:ea typeface="Inter Tight"/>
                <a:cs typeface="Inter Tight"/>
              </a:rPr>
              <a:t>YOUR FIRST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Start with these five,
this week.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43784"/>
            <a:ext cx="182880" cy="182880"/>
          </a:xfrm>
          <a:prstGeom prst="rect">
            <a:avLst/>
          </a:prstGeom>
          <a:solidFill>
            <a:srgbClr val="0C0B0A"/>
          </a:solidFill>
          <a:ln w="12700">
            <a:solidFill>
              <a:srgbClr val="C8B4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78892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3EBDD"/>
                </a:solidFill>
                <a:latin typeface="Inter Tight"/>
                <a:ea typeface="Inter Tight"/>
                <a:cs typeface="Inter Tight"/>
              </a:rPr>
              <a:t>Turn on Instant Book and set enquiry notifications on your phone.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74136"/>
            <a:ext cx="182880" cy="182880"/>
          </a:xfrm>
          <a:prstGeom prst="rect">
            <a:avLst/>
          </a:prstGeom>
          <a:solidFill>
            <a:srgbClr val="0C0B0A"/>
          </a:solidFill>
          <a:ln w="12700">
            <a:solidFill>
              <a:srgbClr val="C8B4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319272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3EBDD"/>
                </a:solidFill>
                <a:latin typeface="Inter Tight"/>
                <a:ea typeface="Inter Tight"/>
                <a:cs typeface="Inter Tight"/>
              </a:rPr>
              <a:t>Swap your first photograph for your single most impressive 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04487"/>
            <a:ext cx="182880" cy="182880"/>
          </a:xfrm>
          <a:prstGeom prst="rect">
            <a:avLst/>
          </a:prstGeom>
          <a:solidFill>
            <a:srgbClr val="0C0B0A"/>
          </a:solidFill>
          <a:ln w="12700">
            <a:solidFill>
              <a:srgbClr val="C8B4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849624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3EBDD"/>
                </a:solidFill>
                <a:latin typeface="Inter Tight"/>
                <a:ea typeface="Inter Tight"/>
                <a:cs typeface="Inter Tight"/>
              </a:rPr>
              <a:t>Tick every honest amenity and drop minimum nights midweek.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34839"/>
            <a:ext cx="182880" cy="182880"/>
          </a:xfrm>
          <a:prstGeom prst="rect">
            <a:avLst/>
          </a:prstGeom>
          <a:solidFill>
            <a:srgbClr val="0C0B0A"/>
          </a:solidFill>
          <a:ln w="12700">
            <a:solidFill>
              <a:srgbClr val="C8B4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379975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3EBDD"/>
                </a:solidFill>
                <a:latin typeface="Inter Tight"/>
                <a:ea typeface="Inter Tight"/>
                <a:cs typeface="Inter Tight"/>
              </a:rPr>
              <a:t>Open your calendar six months ahead; add weekly and monthly discounts.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965191"/>
            <a:ext cx="182880" cy="182880"/>
          </a:xfrm>
          <a:prstGeom prst="rect">
            <a:avLst/>
          </a:prstGeom>
          <a:solidFill>
            <a:srgbClr val="0C0B0A"/>
          </a:solidFill>
          <a:ln w="12700">
            <a:solidFill>
              <a:srgbClr val="C8B4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910327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3EBDD"/>
                </a:solidFill>
                <a:latin typeface="Inter Tight"/>
                <a:ea typeface="Inter Tight"/>
                <a:cs typeface="Inter Tight"/>
              </a:rPr>
              <a:t>Ask every departing guest for a review — in person, and once by message.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577840"/>
            <a:ext cx="6492240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687568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8B48A"/>
                </a:solidFill>
                <a:latin typeface="Inter Tight"/>
                <a:ea typeface="Inter Tight"/>
                <a:cs typeface="Inter Tight"/>
              </a:rPr>
              <a:t>Then change one thing at a time — and compare views and bookings against the previous fortnight.</a:t>
            </a:r>
          </a:p>
        </p:txBody>
      </p:sp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4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19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atic-photo" descr="5455f9ea188728712115fda2ef3ce2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tatic-vei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tic-mask"/>
          <p:cNvSpPr/>
          <p:nvPr/>
        </p:nvSpPr>
        <p:spPr>
          <a:xfrm>
            <a:off x="0" y="0"/>
            <a:ext cx="7498079" cy="6858000"/>
          </a:xfrm>
          <a:prstGeom prst="rect">
            <a:avLst/>
          </a:prstGeom>
          <a:gradFill rotWithShape="1" flip="none">
            <a:gsLst>
              <a:gs pos="0">
                <a:srgbClr val="0C0B0A">
                  <a:alpha val="100000"/>
                </a:srgbClr>
              </a:gs>
              <a:gs pos="100000">
                <a:srgbClr val="0C0B0A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!!logo" descr="log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329184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737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300">
                <a:solidFill>
                  <a:srgbClr val="FF3B30"/>
                </a:solidFill>
                <a:latin typeface="Inter Tight"/>
                <a:ea typeface="Inter Tight"/>
                <a:cs typeface="Inter Tight"/>
              </a:rPr>
              <a:t>RED FLAG OUTPOST CLASSIC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67665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8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Or let someone do
all fourteen for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Everything in this guide is work — daily pricing, hourly replies, calendars, reviews, cleaning, repairs. Most owners manage it for three months, then stop. Occupancy follows.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440680"/>
            <a:ext cx="4937760" cy="10972"/>
          </a:xfrm>
          <a:prstGeom prst="rect">
            <a:avLst/>
          </a:prstGeom>
          <a:solidFill>
            <a:srgbClr val="C8B4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3EBDD"/>
                </a:solidFill>
                <a:latin typeface="Inter Tight"/>
                <a:ea typeface="Inter Tight"/>
                <a:cs typeface="Inter Tight"/>
              </a:rPr>
              <a:t>We design, brand, launch and run your property completely. You pay rent and electricity. That’s the list.</a:t>
            </a:r>
          </a:p>
        </p:txBody>
      </p:sp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247" y="329184"/>
            <a:ext cx="566928" cy="566928"/>
          </a:xfrm>
          <a:prstGeom prst="rect">
            <a:avLst/>
          </a:prstGeom>
        </p:spPr>
      </p:pic>
      <p:sp>
        <p:nvSpPr>
          <p:cNvPr id="4" name="chrome"/>
          <p:cNvSpPr txBox="1"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THE VISIBILITY BOOSTER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3550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2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11 / 14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RED FLAG HOMES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300">
                <a:solidFill>
                  <a:srgbClr val="C8B48A"/>
                </a:solidFill>
                <a:latin typeface="Inter Tight"/>
                <a:ea typeface="Inter Tight"/>
                <a:cs typeface="Inter Tight"/>
              </a:rPr>
              <a:t>THE DIFFERENCE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Your month, before and after.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2286000"/>
            <a:ext cx="4282135" cy="3886200"/>
          </a:xfrm>
          <a:prstGeom prst="rect">
            <a:avLst/>
          </a:prstGeom>
          <a:solidFill>
            <a:srgbClr val="1614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78040" y="2286000"/>
            <a:ext cx="4282135" cy="2743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4505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DOING IT YOURSELF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4505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300">
                <a:solidFill>
                  <a:srgbClr val="FF3B30"/>
                </a:solidFill>
                <a:latin typeface="Inter Tight"/>
                <a:ea typeface="Inter Tight"/>
                <a:cs typeface="Inter Tight"/>
              </a:rPr>
              <a:t>RED FLAG OUTPOST CLASSIC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34640"/>
            <a:ext cx="10728655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Guest replies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9992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You, at 2am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99923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3EBDD"/>
                </a:solidFill>
                <a:latin typeface="Inter Tight"/>
                <a:ea typeface="Inter Tight"/>
                <a:cs typeface="Inter Tight"/>
              </a:rPr>
              <a:t>Us, 24/7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83280"/>
            <a:ext cx="10728655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Pricing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5478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You guess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54787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3EBDD"/>
                </a:solidFill>
                <a:latin typeface="Inter Tight"/>
                <a:ea typeface="Inter Tight"/>
                <a:cs typeface="Inter Tight"/>
              </a:rPr>
              <a:t>AI, adjusted daily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10728655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Cleaning &amp; linen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096511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You arrange and pay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096511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3EBDD"/>
                </a:solidFill>
                <a:latin typeface="Inter Tight"/>
                <a:ea typeface="Inter Tight"/>
                <a:cs typeface="Inter Tight"/>
              </a:rPr>
              <a:t>We arrange — deducted from bookings at cost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480560"/>
            <a:ext cx="10728655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6177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Repairs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6451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You chase them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64515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3EBDD"/>
                </a:solidFill>
                <a:latin typeface="Inter Tight"/>
                <a:ea typeface="Inter Tight"/>
                <a:cs typeface="Inter Tight"/>
              </a:rPr>
              <a:t>Handled up to ₹2,000 per incident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029200"/>
            <a:ext cx="10728655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166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Marketing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519379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519379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3EBDD"/>
                </a:solidFill>
                <a:latin typeface="Inter Tight"/>
                <a:ea typeface="Inter Tight"/>
                <a:cs typeface="Inter Tight"/>
              </a:rPr>
              <a:t>Creator launch campaign + direct booking page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577840"/>
            <a:ext cx="10728655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7150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Your time each month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5742431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10–15 hours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5742431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3EBDD"/>
                </a:solidFill>
                <a:latin typeface="Inter Tight"/>
                <a:ea typeface="Inter Tight"/>
                <a:cs typeface="Inter Tight"/>
              </a:rPr>
              <a:t>Close to zero</a:t>
            </a:r>
          </a:p>
        </p:txBody>
      </p:sp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13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76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439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6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2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691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54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817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43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006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69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132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19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25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321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384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573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636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762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825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188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951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014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077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247" y="329184"/>
            <a:ext cx="566928" cy="566928"/>
          </a:xfrm>
          <a:prstGeom prst="rect">
            <a:avLst/>
          </a:prstGeom>
        </p:spPr>
      </p:pic>
      <p:sp>
        <p:nvSpPr>
          <p:cNvPr id="4" name="chrome"/>
          <p:cNvSpPr txBox="1"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THE VISIBILITY BOOSTER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3550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2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12 / 14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RED FLAG HOMES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300">
                <a:solidFill>
                  <a:srgbClr val="C8B48A"/>
                </a:solidFill>
                <a:latin typeface="Inter Tight"/>
                <a:ea typeface="Inter Tight"/>
                <a:cs typeface="Inter Tight"/>
              </a:rPr>
              <a:t>WHAT IT COSTS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Transparent, from day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3291840" cy="10972"/>
          </a:xfrm>
          <a:prstGeom prst="rect">
            <a:avLst/>
          </a:prstGeom>
          <a:solidFill>
            <a:srgbClr val="C8B4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700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FRANCHISE FEE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4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₹59,999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77639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one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2514600"/>
            <a:ext cx="3291840" cy="10972"/>
          </a:xfrm>
          <a:prstGeom prst="rect">
            <a:avLst/>
          </a:prstGeom>
          <a:solidFill>
            <a:srgbClr val="C8B4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26700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SETUP &amp; PROCURING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301752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4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₹1,11,111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3977639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up to 2 keys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08976" y="2514600"/>
            <a:ext cx="3291840" cy="10972"/>
          </a:xfrm>
          <a:prstGeom prst="rect">
            <a:avLst/>
          </a:prstGeom>
          <a:solidFill>
            <a:srgbClr val="C8B4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8976" y="26700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COMMISSION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8976" y="301752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4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6" y="3977639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of bookings, or ₹4,999 per listing / month — whichever is higher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937760"/>
            <a:ext cx="10728655" cy="960120"/>
          </a:xfrm>
          <a:prstGeom prst="rect">
            <a:avLst/>
          </a:prstGeom>
          <a:solidFill>
            <a:srgbClr val="1614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937760"/>
            <a:ext cx="36576" cy="9601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047488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Own the property already?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4681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That’s your entire investment — no rent, no deposit.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074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 spc="100">
                <a:solidFill>
                  <a:srgbClr val="C8B48A"/>
                </a:solidFill>
                <a:latin typeface="Inter Tight"/>
                <a:ea typeface="Inter Tight"/>
                <a:cs typeface="Inter Tight"/>
              </a:rPr>
              <a:t>200 founding allocations across India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367528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The first 200 partners keep 8% for life.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89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Prices plus applicable GST.</a:t>
            </a:r>
          </a:p>
        </p:txBody>
      </p:sp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900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900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900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900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11" grpId="0" animBg="1"/>
      <p:bldP spid="15" grpId="0" animBg="1"/>
      <p:bldP spid="19" grpId="0" animBg="1"/>
      <p:bldP spid="12" grpId="0" animBg="1"/>
      <p:bldP spid="16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4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247" y="329184"/>
            <a:ext cx="566928" cy="566928"/>
          </a:xfrm>
          <a:prstGeom prst="rect">
            <a:avLst/>
          </a:prstGeom>
        </p:spPr>
      </p:pic>
      <p:sp>
        <p:nvSpPr>
          <p:cNvPr id="4" name="chrome"/>
          <p:cNvSpPr txBox="1"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THE VISIBILITY BOOSTER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10088575" y="63550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2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13 / 14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30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RED FLAG HOMES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300">
                <a:solidFill>
                  <a:srgbClr val="FF3B30"/>
                </a:solidFill>
                <a:latin typeface="Inter Tight"/>
                <a:ea typeface="Inter Tight"/>
                <a:cs typeface="Inter Tight"/>
              </a:rPr>
              <a:t>THE EARN-BACK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4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Earn it back in 12 months.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400" b="0" i="1">
                <a:solidFill>
                  <a:srgbClr val="C8B48A"/>
                </a:solidFill>
                <a:latin typeface="Instrument Serif"/>
                <a:ea typeface="Inter Tight"/>
                <a:cs typeface="Inter Tight"/>
              </a:rPr>
              <a:t>Or we pay the difference.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10728655" cy="10972"/>
          </a:xfrm>
          <a:prstGeom prst="rect">
            <a:avLst/>
          </a:prstGeom>
          <a:solidFill>
            <a:srgbClr val="3A34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5760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3EBDD"/>
                </a:solidFill>
                <a:latin typeface="Inter Tight"/>
                <a:ea typeface="Inter Tight"/>
                <a:cs typeface="Inter Tight"/>
              </a:rPr>
              <a:t>If your Outpost’s net operating profit over its first 12 months after going live is less than the programme fee you paid, we pay you the difference.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44348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8B48A"/>
                </a:solidFill>
                <a:latin typeface="Instrument Serif"/>
                <a:ea typeface="Inter Tight"/>
                <a:cs typeface="Inter Tight"/>
              </a:rPr>
              <a:t>—  No quibbles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8463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8B48A"/>
                </a:solidFill>
                <a:latin typeface="Instrument Serif"/>
                <a:ea typeface="Inter Tight"/>
                <a:cs typeface="Inter Tight"/>
              </a:rPr>
              <a:t>—  Written terms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52578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8B48A"/>
                </a:solidFill>
                <a:latin typeface="Instrument Serif"/>
                <a:ea typeface="Inter Tight"/>
                <a:cs typeface="Inter Tight"/>
              </a:rPr>
              <a:t>—  Paid within 30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23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We can promise it because we run the property ourselves, to one standard. Full conditions in the Programme Terms.</a:t>
            </a:r>
          </a:p>
        </p:txBody>
      </p:sp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atic-photo" descr="7c0d6aabcfd9152dac698b8fc5b948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0"/>
            <a:ext cx="4053535" cy="6858000"/>
          </a:xfrm>
          <a:prstGeom prst="rect">
            <a:avLst/>
          </a:prstGeom>
        </p:spPr>
      </p:pic>
      <p:sp>
        <p:nvSpPr>
          <p:cNvPr id="4" name="static-mask"/>
          <p:cNvSpPr/>
          <p:nvPr/>
        </p:nvSpPr>
        <p:spPr>
          <a:xfrm>
            <a:off x="8138160" y="0"/>
            <a:ext cx="1463040" cy="6858000"/>
          </a:xfrm>
          <a:prstGeom prst="rect">
            <a:avLst/>
          </a:prstGeom>
          <a:gradFill rotWithShape="1" flip="none">
            <a:gsLst>
              <a:gs pos="0">
                <a:srgbClr val="0C0B0A">
                  <a:alpha val="100000"/>
                </a:srgbClr>
              </a:gs>
              <a:gs pos="100000">
                <a:srgbClr val="0C0B0A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!!logo" descr="log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1325880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300">
                <a:solidFill>
                  <a:srgbClr val="C8B48A"/>
                </a:solidFill>
                <a:latin typeface="Inter Tight"/>
                <a:ea typeface="Inter Tight"/>
                <a:cs typeface="Inter Tight"/>
              </a:rPr>
              <a:t>APPLY FOR ALLOCATION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400" b="0" i="0">
                <a:solidFill>
                  <a:srgbClr val="F3EBDD"/>
                </a:solidFill>
                <a:latin typeface="Instrument Serif"/>
                <a:ea typeface="Inter Tight"/>
                <a:cs typeface="Inter Tight"/>
              </a:rPr>
              <a:t>redflaghomes.in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We assess your property and send you a projection for it — free, before you commit anything.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572000"/>
            <a:ext cx="6675120" cy="10972"/>
          </a:xfrm>
          <a:prstGeom prst="rect">
            <a:avLst/>
          </a:prstGeom>
          <a:solidFill>
            <a:srgbClr val="C8B4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3EBDD"/>
                </a:solidFill>
                <a:latin typeface="Inter Tight"/>
                <a:ea typeface="Inter Tight"/>
                <a:cs typeface="Inter Tight"/>
              </a:rPr>
              <a:t>hello@redflaghomes.in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10912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Red Flag Homes Network, a company of Red Flag World Holdings Ltd, London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i="0">
                <a:solidFill>
                  <a:srgbClr val="A39B8E"/>
                </a:solidFill>
                <a:latin typeface="Inter Tight"/>
                <a:ea typeface="Inter Tight"/>
                <a:cs typeface="Inter Tight"/>
              </a:rPr>
              <a:t>General information, not legal, tax or investment advice. Airbnb ranking factors change and are not published in full; the guidance here reflects widely observed practice. All figures are illustrative and depend on location, season, occupancy and costs; a property can earn less than its costs. Prices plus applicable GST. The Earn-Back Promise is subject to the Programme Terms.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