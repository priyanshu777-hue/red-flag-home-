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Relationship Id="rId4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atic-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0"/>
            <a:ext cx="7345375" cy="6858000"/>
          </a:xfrm>
          <a:prstGeom prst="rect">
            <a:avLst/>
          </a:prstGeom>
        </p:spPr>
      </p:pic>
      <p:sp>
        <p:nvSpPr>
          <p:cNvPr id="4" name="static-mask"/>
          <p:cNvSpPr/>
          <p:nvPr/>
        </p:nvSpPr>
        <p:spPr>
          <a:xfrm>
            <a:off x="4846320" y="0"/>
            <a:ext cx="1097280" cy="6858000"/>
          </a:xfrm>
          <a:prstGeom prst="rect">
            <a:avLst/>
          </a:prstGeom>
          <a:gradFill rotWithShape="1" flip="none">
            <a:gsLst>
              <a:gs pos="0">
                <a:srgbClr val="F6F1EA">
                  <a:alpha val="100000"/>
                </a:srgbClr>
              </a:gs>
              <a:gs pos="100000">
                <a:srgbClr val="F6F1EA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RED FLAG HOMES NETWORK  ·  PARTNER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4206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4000"/>
              </a:lnSpc>
            </a:pPr>
            <a:r>
              <a:rPr sz="8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Outpost
Classic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709160"/>
            <a:ext cx="4023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 i="1">
                <a:solidFill>
                  <a:srgbClr val="4A443D"/>
                </a:solidFill>
                <a:latin typeface="Fraunces"/>
                <a:ea typeface="Manrope"/>
                <a:cs typeface="Manrope"/>
              </a:rPr>
              <a:t>You bring the property.
We build it, brand it and run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897880"/>
            <a:ext cx="3749039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035040"/>
            <a:ext cx="4343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8% COMMISSION  ·  200 FOUNDING ALLOCATIONS  ·  INDIA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5074920"/>
            <a:ext cx="3429000" cy="118872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5230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spc="20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EARN-BACK 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5486400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Earn back your programme fee in 12 months — or we pay you the difference.</a:t>
            </a:r>
          </a:p>
        </p:txBody>
      </p:sp>
      <p:pic>
        <p:nvPicPr>
          <p:cNvPr id="5" name="!!logo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502920"/>
            <a:ext cx="1188720" cy="11887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02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0"/>
            <a:ext cx="5287975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0972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MODEL, IN ONE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41732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You own or lease the property.
We do everything else.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9748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Red Flag designs it, brands it, launches it through creators and runs it completely — pricing, guests, cleaning, repairs. You pay one programme fee and 8% of what it books.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Design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0552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0552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30552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Brand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75304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4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75304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Launch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0056" y="4846320"/>
            <a:ext cx="128016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0056" y="49834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0056" y="52303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Run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42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2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4" grpId="0" animBg="1"/>
      <p:bldP spid="17" grpId="0" animBg="1"/>
      <p:bldP spid="2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1" grpId="0" animBg="1"/>
      <p:bldP spid="2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03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972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2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Earn it back in 12 months,
or we pay the difference.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86200"/>
            <a:ext cx="324612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0690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0" i="0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200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founding allocations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321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across India, reviewed in the order they arrive.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3886200"/>
            <a:ext cx="324612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40690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0" i="0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for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5321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for founding partners. After the 200, the rate rises.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3886200"/>
            <a:ext cx="324612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406908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0" i="0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1 Oct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5029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321808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is when allocations open.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3" grpId="0" animBg="1"/>
      <p:bldP spid="17" grpId="0" animBg="1"/>
      <p:bldP spid="10" grpId="0" animBg="1"/>
      <p:bldP spid="14" grpId="0" animBg="1"/>
      <p:bldP spid="18" grpId="0" animBg="1"/>
      <p:bldP spid="11" grpId="0" animBg="1"/>
      <p:bldP spid="15" grpId="0" animBg="1"/>
      <p:bldP spid="19" grpId="0" animBg="1"/>
      <p:bldP spid="12" grpId="0" animBg="1"/>
      <p:bldP spid="16" grpId="0" animBg="1"/>
      <p:bldP spid="2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TWO WAYS 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Two ways in. One system.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7967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Same fee. Same 8%. Same promise. The only difference is whether you pay a landlord.</a:t>
            </a:r>
          </a:p>
        </p:txBody>
      </p:sp>
      <p:pic>
        <p:nvPicPr>
          <p:cNvPr id="10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331720"/>
            <a:ext cx="3611880" cy="868680"/>
          </a:xfrm>
          <a:prstGeom prst="rect">
            <a:avLst/>
          </a:prstGeom>
        </p:spPr>
      </p:pic>
      <p:sp>
        <p:nvSpPr>
          <p:cNvPr id="11" name="static-tag"/>
          <p:cNvSpPr/>
          <p:nvPr/>
        </p:nvSpPr>
        <p:spPr>
          <a:xfrm>
            <a:off x="4160520" y="2926080"/>
            <a:ext cx="3611880" cy="27432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9718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I OWN A PROPERTY</a:t>
            </a:r>
          </a:p>
        </p:txBody>
      </p:sp>
      <p:pic>
        <p:nvPicPr>
          <p:cNvPr id="13" name="static-photo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2331720"/>
            <a:ext cx="3611880" cy="868680"/>
          </a:xfrm>
          <a:prstGeom prst="rect">
            <a:avLst/>
          </a:prstGeom>
        </p:spPr>
      </p:pic>
      <p:sp>
        <p:nvSpPr>
          <p:cNvPr id="14" name="static-tag"/>
          <p:cNvSpPr/>
          <p:nvPr/>
        </p:nvSpPr>
        <p:spPr>
          <a:xfrm>
            <a:off x="7955279" y="2926080"/>
            <a:ext cx="3611880" cy="27432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971800"/>
            <a:ext cx="3337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I DON’T OWN 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1012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9242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Franchise fee, one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3392424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₹59,999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634740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71703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Setup &amp; procuring, up to 2 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3717036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₹1,11,111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959352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0416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Programme fee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1648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₹1,71,110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283964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4294936"/>
            <a:ext cx="7345375" cy="313639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3662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Rent and deposit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0520" y="43662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None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55279" y="43662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Paid by you to your landlord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608576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69087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Electricity, water, internet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0520" y="4690872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93318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015483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Red Flag commission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60520" y="5015483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8%, min ₹4,999 a month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340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Cleaning &amp; minor maintenance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60520" y="5340096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From booking revenue, at cost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582412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66470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Earn-Back Promise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60520" y="5664708"/>
            <a:ext cx="734537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907024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5332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All prices plus applicable GST. Setup covers up to 2 keys; each extra key ₹45,000. Furniture for an unfurnished property is quoted separately, itemised, at cost.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6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21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9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649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0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63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77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34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991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48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0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62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1219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76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333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447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504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61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22" presetClass="entr" presetSubtype="8" fill="hold" grpId="0" nodeType="withEffect">
                                  <p:stCondLst>
                                    <p:cond delay="1618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1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7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732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2" presetClass="entr" presetSubtype="8" fill="hold" grpId="0" nodeType="withEffect">
                                  <p:stCondLst>
                                    <p:cond delay="1789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0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846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903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2017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074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5" grpId="0" animBg="1"/>
      <p:bldP spid="16" grpId="0" animBg="1"/>
      <p:bldP spid="17" grpId="0" animBg="1"/>
      <p:bldP spid="19" grpId="0" animBg="1"/>
      <p:bldP spid="18" grpId="0" animBg="1"/>
      <p:bldP spid="20" grpId="0" animBg="1"/>
      <p:bldP spid="22" grpId="0" animBg="1"/>
      <p:bldP spid="21" grpId="0" animBg="1"/>
      <p:bldP spid="23" grpId="0" animBg="1"/>
      <p:bldP spid="25" grpId="0" animBg="1"/>
      <p:bldP spid="24" grpId="0" animBg="1"/>
      <p:bldP spid="26" grpId="0" animBg="1"/>
      <p:bldP spid="27" grpId="0" animBg="1"/>
      <p:bldP spid="30" grpId="0" animBg="1"/>
      <p:bldP spid="28" grpId="0" animBg="1"/>
      <p:bldP spid="29" grpId="0" animBg="1"/>
      <p:bldP spid="31" grpId="0" animBg="1"/>
      <p:bldP spid="33" grpId="0" animBg="1"/>
      <p:bldP spid="32" grpId="0" animBg="1"/>
      <p:bldP spid="34" grpId="0" animBg="1"/>
      <p:bldP spid="36" grpId="0" animBg="1"/>
      <p:bldP spid="35" grpId="0" animBg="1"/>
      <p:bldP spid="37" grpId="0" animBg="1"/>
      <p:bldP spid="39" grpId="0" animBg="1"/>
      <p:bldP spid="38" grpId="0" animBg="1"/>
      <p:bldP spid="40" grpId="0" animBg="1"/>
      <p:bldP spid="42" grpId="0" animBg="1"/>
      <p:bldP spid="41" grpId="0" animBg="1"/>
      <p:bldP spid="4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One fee. Then 8% of what it books.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4028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FRANCHISE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8880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₹59,999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6974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one time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461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5584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SETUP &amp; PROCURING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584448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4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₹1,11,111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8130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up to 2 keys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4361688"/>
            <a:ext cx="5120640" cy="18288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61688"/>
            <a:ext cx="457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447141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PROGRAMME FEE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700016"/>
            <a:ext cx="3840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000" b="0" i="0">
                <a:solidFill>
                  <a:srgbClr val="D93A2F"/>
                </a:solidFill>
                <a:latin typeface="Fraunces"/>
                <a:ea typeface="Manrope"/>
                <a:cs typeface="Manrope"/>
              </a:rPr>
              <a:t>₹1,71,110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92861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one time, plus GST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20840" y="2148840"/>
            <a:ext cx="4785055" cy="324612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79" y="237744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THEN, EVERY MONTH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79" y="2606040"/>
            <a:ext cx="41449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79" y="3657600"/>
            <a:ext cx="41449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of booking revenue, min ₹4,999 a month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40879" y="4206240"/>
            <a:ext cx="4144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79" y="4370832"/>
            <a:ext cx="41449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Founding partners keep 8% for life.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79" y="4754880"/>
            <a:ext cx="41449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Setup covers up to 2 keys; each extra key ₹45,000.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5650992"/>
            <a:ext cx="10820095" cy="566928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78815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You pay nothing until your property passes assessment.  We look first, then you decide.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6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42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824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90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88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34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1398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0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22" presetClass="entr" presetSubtype="8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562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644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726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808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972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2054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21" grpId="0" animBg="1"/>
      <p:bldP spid="22" grpId="0" animBg="1"/>
      <p:bldP spid="10" grpId="0" animBg="1"/>
      <p:bldP spid="11" grpId="0" animBg="1"/>
      <p:bldP spid="23" grpId="0" animBg="1"/>
      <p:bldP spid="12" grpId="0" animBg="1"/>
      <p:bldP spid="13" grpId="0" animBg="1"/>
      <p:bldP spid="14" grpId="0" animBg="1"/>
      <p:bldP spid="24" grpId="0" animBg="1"/>
      <p:bldP spid="15" grpId="0" animBg="1"/>
      <p:bldP spid="25" grpId="0" animBg="1"/>
      <p:bldP spid="17" grpId="0" animBg="1"/>
      <p:bldP spid="16" grpId="0" animBg="1"/>
      <p:bldP spid="18" grpId="0" animBg="1"/>
      <p:bldP spid="26" grpId="0" animBg="1"/>
      <p:bldP spid="19" grpId="0" animBg="1"/>
      <p:bldP spid="20" grpId="0" animBg="1"/>
      <p:bldP spid="27" grpId="0" animBg="1"/>
      <p:bldP spid="28" grpId="0" animBg="1"/>
      <p:bldP spid="29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06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0"/>
            <a:ext cx="4327855" cy="6858000"/>
          </a:xfrm>
          <a:prstGeom prst="rect">
            <a:avLst/>
          </a:prstGeom>
        </p:spPr>
      </p:pic>
      <p:sp>
        <p:nvSpPr>
          <p:cNvPr id="8" name="static-mask"/>
          <p:cNvSpPr/>
          <p:nvPr/>
        </p:nvSpPr>
        <p:spPr>
          <a:xfrm>
            <a:off x="7863840" y="0"/>
            <a:ext cx="146304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THE EARN-BACK 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69494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If it doesn’t earn back its fee in year one, we pay the difference.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97480"/>
            <a:ext cx="6766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D6CCBE"/>
                </a:solidFill>
                <a:latin typeface="Manrope"/>
                <a:ea typeface="Manrope"/>
                <a:cs typeface="Manrope"/>
              </a:rPr>
              <a:t>If your Outpost’s net operating profit over its first 12 full months after going live is less than the programme fee you paid, Red Flag pays you the difference.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6118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Programme fee you paid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169663"/>
            <a:ext cx="6675120" cy="274320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₹1,71,110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9028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Your Outpost nets in 12 months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828031"/>
            <a:ext cx="4681283" cy="274320"/>
          </a:xfrm>
          <a:prstGeom prst="rect">
            <a:avLst/>
          </a:prstGeom>
          <a:solidFill>
            <a:srgbClr val="F3EC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4864607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61311"/>
                </a:solidFill>
                <a:latin typeface="Manrope"/>
                <a:ea typeface="Manrope"/>
                <a:cs typeface="Manrope"/>
              </a:rPr>
              <a:t>₹1,20,000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515" y="4828031"/>
            <a:ext cx="1966404" cy="274320"/>
          </a:xfrm>
          <a:prstGeom prst="rect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58523" y="486460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We pay ₹51,110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068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00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/>
            </a:r>
            <a:r>
              <a:rPr sz="1000" b="1">
                <a:solidFill>
                  <a:srgbClr val="A8834A"/>
                </a:solidFill>
                <a:latin typeface="Manrope"/>
              </a:rPr>
              <a:t>—  </a:t>
            </a:r>
            <a:r>
              <a:rPr sz="1000">
                <a:solidFill>
                  <a:srgbClr val="A89E91"/>
                </a:solidFill>
                <a:latin typeface="Manrope"/>
              </a:rPr>
              <a:t>Net operating profit = your payouts, minus the rent and utilities you paid.</a:t>
            </a:r>
          </a:p>
          <a:p>
            <a:pPr>
              <a:lnSpc>
                <a:spcPct val="120000"/>
              </a:lnSpc>
              <a:spcAft>
                <a:spcPts val="300"/>
              </a:spcAft>
            </a:pPr>
            <a:r>
              <a:rPr sz="1000" b="1">
                <a:solidFill>
                  <a:srgbClr val="A8834A"/>
                </a:solidFill>
                <a:latin typeface="Manrope"/>
              </a:rPr>
              <a:t>—  </a:t>
            </a:r>
            <a:r>
              <a:rPr sz="1000">
                <a:solidFill>
                  <a:srgbClr val="A89E91"/>
                </a:solidFill>
                <a:latin typeface="Manrope"/>
              </a:rPr>
              <a:t>Maximum payment is the programme fee you paid. Everything installed stays yours either way.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07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EARN-BACK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conditions, stated plainly.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9456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2257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7744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The property stays bookable at least 27 nights a month, excluding your agreed owner nights.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2608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0540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10896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We set the pricing, and you don’t override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65760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85615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84048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The property passed our assessment — and for a leased property, the rent is within the range we assessed.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8912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5171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57200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approve major repairs within 7 days of us asking.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12064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248655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5303520"/>
            <a:ext cx="5852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claim in writing within 30 days of month 12.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852160"/>
            <a:ext cx="66751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63840" y="2194560"/>
            <a:ext cx="3642055" cy="365760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2514600"/>
            <a:ext cx="301752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6F1EA"/>
                </a:solidFill>
                <a:latin typeface="Fraunces"/>
                <a:ea typeface="Manrope"/>
                <a:cs typeface="Manrope"/>
              </a:rPr>
              <a:t>No quibbles.
Written terms.
Paid within 30 days.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06240"/>
            <a:ext cx="9144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4370832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ECE4D8"/>
                </a:solidFill>
                <a:latin typeface="Manrope"/>
                <a:ea typeface="Manrope"/>
                <a:cs typeface="Manrope"/>
              </a:rPr>
              <a:t>We can only make this promise because we run the property ourselves, to one standard. No manager who leaves the cleaning to you could offer it.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08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766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852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93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22" presetClass="entr" presetSubtype="8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1196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1282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1454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62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712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22" presetClass="entr" presetSubtype="8" fill="hold" grpId="0" nodeType="withEffect">
                                  <p:stCondLst>
                                    <p:cond delay="1798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1884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2" presetClass="entr" presetSubtype="8" fill="hold" grpId="0" nodeType="withEffect">
                                  <p:stCondLst>
                                    <p:cond delay="2056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25" grpId="0" animBg="1"/>
      <p:bldP spid="26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27" grpId="0" animBg="1"/>
      <p:bldP spid="18" grpId="0" animBg="1"/>
      <p:bldP spid="19" grpId="0" animBg="1"/>
      <p:bldP spid="20" grpId="0" animBg="1"/>
      <p:bldP spid="28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atic-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tatic-veil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tatic-mask"/>
          <p:cNvSpPr/>
          <p:nvPr/>
        </p:nvSpPr>
        <p:spPr>
          <a:xfrm>
            <a:off x="0" y="0"/>
            <a:ext cx="777240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SETUP &amp; PROCURING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73152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85000"/>
              </a:lnSpc>
            </a:pPr>
            <a:r>
              <a:rPr sz="110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₹1,11,111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6035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What it actually buys — sourced, delivered, installed and photographed.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72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Plus the launch.</a:t>
            </a:r>
          </a:p>
        </p:txBody>
      </p:sp>
      <p:pic>
        <p:nvPicPr>
          <p:cNvPr id="6" name="!!logo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09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KIT  ·  1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Everything a guest touches — chosen for you.</a:t>
            </a:r>
          </a:p>
        </p:txBody>
      </p:sp>
      <p:pic>
        <p:nvPicPr>
          <p:cNvPr id="9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2487168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Lighting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Pendant lights, bedside lamps, floor lamp and plug-in wall sconces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Warm 2700K bulbs in every fitting, dimmable where possible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Balcony or headboard string lights, hallway and bathroom night lights</a:t>
            </a:r>
          </a:p>
        </p:txBody>
      </p:sp>
      <p:pic>
        <p:nvPicPr>
          <p:cNvPr id="12" name="static-photo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011680"/>
            <a:ext cx="2487168" cy="1600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6432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Bedding &amp; bath, hotel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White cotton linen for every bedroom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Mattress and pillow protectors; soft and firm pillows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Bath towels, hand towels and bath mats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Waffle robes, slippers, laundry bag, hamper</a:t>
            </a:r>
          </a:p>
        </p:txBody>
      </p:sp>
      <p:pic>
        <p:nvPicPr>
          <p:cNvPr id="15" name="static-ph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7064" y="2011680"/>
            <a:ext cx="2487168" cy="1600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227064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Soft styling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Designer cushion covers with inserts, textured throws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Blackout curtains for every bedroom window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Living and bedside rugs</a:t>
            </a:r>
          </a:p>
        </p:txBody>
      </p:sp>
      <p:pic>
        <p:nvPicPr>
          <p:cNvPr id="18" name="static-photo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7696" y="2011680"/>
            <a:ext cx="2487168" cy="1600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7696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Decor &amp; finishing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696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Statement mirror and framed prints in the Outpost style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Plants in ceramic or terracotta pots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Coffee-table and bedside styling sets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Scent diffuser and first refill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3" grpId="0" animBg="1"/>
      <p:bldP spid="16" grpId="0" animBg="1"/>
      <p:bldP spid="19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THE KIT  ·  2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Ready for guests on day one.</a:t>
            </a:r>
          </a:p>
        </p:txBody>
      </p:sp>
      <p:pic>
        <p:nvPicPr>
          <p:cNvPr id="9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011680"/>
            <a:ext cx="2487168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Guest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Tea and coffee station: kettle, jars, mugs, tray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Welcome basket, first fill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Refillable toiletry dispensers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Hair dryer, iron and board, umbrella stand</a:t>
            </a:r>
          </a:p>
        </p:txBody>
      </p:sp>
      <p:pic>
        <p:nvPicPr>
          <p:cNvPr id="12" name="static-photo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432" y="2011680"/>
            <a:ext cx="2487168" cy="1600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6432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Safety &amp; technology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6432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Smoke alarm, extinguisher, fire blanket, first-aid kit, emergency card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Keyless smart lock; WiFi with a guest network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Smart TV stick; bedside USB and charging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7064" y="2011680"/>
            <a:ext cx="2487168" cy="160020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tatic-plate"/>
          <p:cNvSpPr/>
          <p:nvPr/>
        </p:nvSpPr>
        <p:spPr>
          <a:xfrm>
            <a:off x="6501384" y="2395728"/>
            <a:ext cx="1938528" cy="841248"/>
          </a:xfrm>
          <a:prstGeom prst="roundRect">
            <a:avLst>
              <a:gd name="adj" fmla="val 8000"/>
            </a:avLst>
          </a:prstGeom>
          <a:solidFill>
            <a:srgbClr val="A8834A"/>
          </a:solidFill>
          <a:ln w="12700">
            <a:solidFill>
              <a:srgbClr val="C9A6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tatic-screw"/>
          <p:cNvSpPr/>
          <p:nvPr/>
        </p:nvSpPr>
        <p:spPr>
          <a:xfrm>
            <a:off x="6638544" y="2770632"/>
            <a:ext cx="91440" cy="91440"/>
          </a:xfrm>
          <a:prstGeom prst="ellipse">
            <a:avLst/>
          </a:prstGeom>
          <a:solidFill>
            <a:srgbClr val="7A5C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tatic-screw"/>
          <p:cNvSpPr/>
          <p:nvPr/>
        </p:nvSpPr>
        <p:spPr>
          <a:xfrm>
            <a:off x="8211312" y="2770632"/>
            <a:ext cx="91440" cy="91440"/>
          </a:xfrm>
          <a:prstGeom prst="ellipse">
            <a:avLst/>
          </a:prstGeom>
          <a:solidFill>
            <a:srgbClr val="7A5C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01384" y="254203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 spc="30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RED FLAG  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2816352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 i="0" spc="30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YOUR PROPERTY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7064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Your branding — the Signature Kit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27064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Engraved RED FLAG × [Your Property] brass door plate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Branded tissue boxes, coasters, key tags, labels, door hanger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Branded welcome card and printed house guide</a:t>
            </a:r>
          </a:p>
        </p:txBody>
      </p:sp>
      <p:pic>
        <p:nvPicPr>
          <p:cNvPr id="23" name="static-photo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2011680"/>
            <a:ext cx="2487168" cy="1600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997696" y="376732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work, not just the things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7696" y="4389120"/>
            <a:ext cx="2487168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/>
            </a: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Design plan, sourcing, delivery and a full installation day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Deep clean and styling before the shoot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Professional photo and video shoot, edited images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Listings on Airbnb, Booking.com and your direct page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950" b="1">
                <a:solidFill>
                  <a:srgbClr val="A8834A"/>
                </a:solidFill>
                <a:latin typeface="Manrope"/>
              </a:rPr>
              <a:t>—  </a:t>
            </a:r>
            <a:r>
              <a:rPr sz="950">
                <a:solidFill>
                  <a:srgbClr val="4A443D"/>
                </a:solidFill>
                <a:latin typeface="Manrope"/>
              </a:rPr>
              <a:t>AI pricing, creator launch, guidebook and house rules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144768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Optional Icon Kit: monogram curtains, branded linen, blankets, ceramics, robes and slippers. Studio ₹35,000 · Villa ₹75,000.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5" grpId="0" animBg="1"/>
      <p:bldP spid="19" grpId="0" animBg="1"/>
      <p:bldP spid="20" grpId="0" animBg="1"/>
      <p:bldP spid="10" grpId="0" animBg="1"/>
      <p:bldP spid="13" grpId="0" animBg="1"/>
      <p:bldP spid="21" grpId="0" animBg="1"/>
      <p:bldP spid="24" grpId="0" animBg="1"/>
      <p:bldP spid="11" grpId="0" animBg="1"/>
      <p:bldP spid="14" grpId="0" animBg="1"/>
      <p:bldP spid="22" grpId="0" animBg="1"/>
      <p:bldP spid="25" grpId="0" animBg="1"/>
      <p:bldP spid="26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11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4920" y="109728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WHAT WE DO EVERY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4920" y="1389888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You step back. We run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74920" y="2331720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074920" y="2514600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2392" y="2478024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Dynamic AI pricing, adjusted daily to demand, season and local events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2862072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074920" y="3044952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2392" y="3008376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24/7 guest messaging, from first enquiry to check-out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3392424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74920" y="3575304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2392" y="3538728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Every clean, turnover and linen change arranged and inspected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3922775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74920" y="4105655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22392" y="4069079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Minor maintenance up to ₹2,000 per incident, with all vendor coordination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4453127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074920" y="4636007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22392" y="4599431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Review and reputation management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74920" y="4983479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074920" y="5166359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22392" y="5129783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Listings kept in sync across every channel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5513831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74920" y="5696712"/>
            <a:ext cx="146304" cy="146304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22392" y="5660136"/>
            <a:ext cx="6065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Payouts twice a month with an itemised statement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74920" y="6044183"/>
            <a:ext cx="643097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87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66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24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03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882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61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4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1119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198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277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356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43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514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1593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67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751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22" presetClass="entr" presetSubtype="8" fill="hold" grpId="0" nodeType="withEffect">
                                  <p:stCondLst>
                                    <p:cond delay="183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909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988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2067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WHAT IS NOT INCLUDED — STATED UPFRONT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No surprises on your first statement.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ITEM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10312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WHO PAYS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77440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496312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Rent and security deposit (leased properties)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496312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0720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2608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Electricity, water, internet, society charges, property tax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9260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36976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5584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Repairs above ₹2,000 per incident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335584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— and we ask before we spend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66744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85615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Major appliance replacement (AC, geyser, fridge)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3785615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096512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215384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Furniture for an unfurnished property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215384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— quoted separately, itemised, at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526279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645151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Keys beyond the first two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4645151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— ₹45,000 per extra key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956048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074920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Building and contents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507492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385816"/>
            <a:ext cx="10820095" cy="429768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" y="5385816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504688"/>
            <a:ext cx="6217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Cleaning, linen, consumables, minor repairs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5504688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Deducted from booking revenue at cost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5815583"/>
            <a:ext cx="10820095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1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439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0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6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2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691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75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81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00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8" fill="hold" grpId="0" nodeType="withEffect">
                                  <p:stCondLst>
                                    <p:cond delay="1069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132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19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25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32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38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2" presetClass="entr" presetSubtype="8" fill="hold" grpId="0" nodeType="withEffect">
                                  <p:stCondLst>
                                    <p:cond delay="1447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6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5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22" presetClass="entr" presetSubtype="8" fill="hold" grpId="0" nodeType="withEffect">
                                  <p:stCondLst>
                                    <p:cond delay="1573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699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762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82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888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951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2014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2077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1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9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13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Four stages. You step back after the first.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31720"/>
            <a:ext cx="2522143" cy="310896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86584"/>
            <a:ext cx="2705023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+ 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823" y="2331720"/>
            <a:ext cx="8115071" cy="310896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7983" y="2386584"/>
            <a:ext cx="8115071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US — YOU STEP BACK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246120"/>
            <a:ext cx="10820095" cy="16459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5800" y="3163824"/>
            <a:ext cx="182880" cy="182880"/>
          </a:xfrm>
          <a:prstGeom prst="ellipse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Hunt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We check your property, or help you find one, against real demand data — before you commit a rupee.</a:t>
            </a:r>
          </a:p>
        </p:txBody>
      </p:sp>
      <p:sp>
        <p:nvSpPr>
          <p:cNvPr id="18" name="Oval 17"/>
          <p:cNvSpPr/>
          <p:nvPr/>
        </p:nvSpPr>
        <p:spPr>
          <a:xfrm>
            <a:off x="3390823" y="3163824"/>
            <a:ext cx="182880" cy="18288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0823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0823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Flip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0823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Design, furnishing, branding kit, smart lock and WiFi. Photograph-ready in under 45 days.</a:t>
            </a:r>
          </a:p>
        </p:txBody>
      </p:sp>
      <p:sp>
        <p:nvSpPr>
          <p:cNvPr id="22" name="Oval 21"/>
          <p:cNvSpPr/>
          <p:nvPr/>
        </p:nvSpPr>
        <p:spPr>
          <a:xfrm>
            <a:off x="6095847" y="3163824"/>
            <a:ext cx="182880" cy="18288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5847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5847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Drop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5847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Creators stay and post, a professional shoot, and listings go live on every channel.</a:t>
            </a:r>
          </a:p>
        </p:txBody>
      </p:sp>
      <p:sp>
        <p:nvSpPr>
          <p:cNvPr id="26" name="Oval 25"/>
          <p:cNvSpPr/>
          <p:nvPr/>
        </p:nvSpPr>
        <p:spPr>
          <a:xfrm>
            <a:off x="8800871" y="3163824"/>
            <a:ext cx="182880" cy="18288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00871" y="3611880"/>
            <a:ext cx="2430703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00871" y="4434840"/>
            <a:ext cx="243070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The Yield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00871" y="4983480"/>
            <a:ext cx="233926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AI pricing, 24/7 guests, every clean and repair handled. Payouts on the 1st and 16th.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6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74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2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6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988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234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139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1562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9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900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900" decel="100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644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decel="100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72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808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972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2054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8" grpId="0" animBg="1"/>
      <p:bldP spid="22" grpId="0" animBg="1"/>
      <p:bldP spid="26" grpId="0" animBg="1"/>
      <p:bldP spid="15" grpId="0" animBg="1"/>
      <p:bldP spid="19" grpId="0" animBg="1"/>
      <p:bldP spid="23" grpId="0" animBg="1"/>
      <p:bldP spid="27" grpId="0" animBg="1"/>
      <p:bldP spid="16" grpId="0" animBg="1"/>
      <p:bldP spid="20" grpId="0" animBg="1"/>
      <p:bldP spid="24" grpId="0" animBg="1"/>
      <p:bldP spid="28" grpId="0" animBg="1"/>
      <p:bldP spid="17" grpId="0" animBg="1"/>
      <p:bldP spid="21" grpId="0" animBg="1"/>
      <p:bldP spid="25" grpId="0" animBg="1"/>
      <p:bldP spid="29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14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HOW YOU GET PAID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One statement. Twice a month.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7967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You never receive a separate bill.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560320"/>
            <a:ext cx="2331720" cy="15544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Gross
bookings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everything guests pay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0672" y="29718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0" y="2560320"/>
            <a:ext cx="2331720" cy="15544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8%
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 Flag commission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9592" y="29718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560320"/>
            <a:ext cx="2331720" cy="15544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At
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cleaning &amp; maintenance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1" y="2971800"/>
            <a:ext cx="320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30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=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59" y="2560320"/>
            <a:ext cx="2331720" cy="1554480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81159" y="2788920"/>
            <a:ext cx="1965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6F1EA"/>
                </a:solidFill>
                <a:latin typeface="Fraunces"/>
                <a:ea typeface="Manrope"/>
                <a:cs typeface="Manrope"/>
              </a:rPr>
              <a:t>Your
payout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1159" y="3749039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ECE4D8"/>
                </a:solidFill>
                <a:latin typeface="Manrope"/>
                <a:ea typeface="Manrope"/>
                <a:cs typeface="Manrope"/>
              </a:rPr>
              <a:t>straight to your account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4617720"/>
            <a:ext cx="1280160" cy="1280160"/>
          </a:xfrm>
          <a:prstGeom prst="ellipse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4965192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800" b="0" i="0">
                <a:solidFill>
                  <a:srgbClr val="FFFFFF"/>
                </a:solidFill>
                <a:latin typeface="Fraunces"/>
                <a:ea typeface="Manrope"/>
                <a:cs typeface="Manrope"/>
              </a:rPr>
              <a:t>1st</a:t>
            </a:r>
          </a:p>
        </p:txBody>
      </p:sp>
      <p:sp>
        <p:nvSpPr>
          <p:cNvPr id="27" name="Oval 26"/>
          <p:cNvSpPr/>
          <p:nvPr/>
        </p:nvSpPr>
        <p:spPr>
          <a:xfrm>
            <a:off x="2423160" y="4617720"/>
            <a:ext cx="1280160" cy="1280160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4965192"/>
            <a:ext cx="1280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800" b="0" i="0">
                <a:solidFill>
                  <a:srgbClr val="FFFFFF"/>
                </a:solidFill>
                <a:latin typeface="Fraunces"/>
                <a:ea typeface="Manrope"/>
                <a:cs typeface="Manrope"/>
              </a:rPr>
              <a:t>16th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800600"/>
            <a:ext cx="69494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Payouts land on the 1st and 16th of every month, with a statement showing every booking and every deduction. Gross bookings, minus 8%, minus cleaning and maintenance at cost, equals your payout.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96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7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4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2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06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988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7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9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900" decel="1000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152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23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9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900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900" decel="1000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316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1398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48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562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1644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72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1808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189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1972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054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9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2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900" decel="100000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4" grpId="0" animBg="1"/>
      <p:bldP spid="18" grpId="0" animBg="1"/>
      <p:bldP spid="22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  <p:bldP spid="23" grpId="0" animBg="1"/>
      <p:bldP spid="12" grpId="0" animBg="1"/>
      <p:bldP spid="16" grpId="0" animBg="1"/>
      <p:bldP spid="20" grpId="0" animBg="1"/>
      <p:bldP spid="24" grpId="0" animBg="1"/>
      <p:bldP spid="25" grpId="0" animBg="1"/>
      <p:bldP spid="27" grpId="0" animBg="1"/>
      <p:bldP spid="29" grpId="0" animBg="1"/>
      <p:bldP spid="26" grpId="0" animBg="1"/>
      <p:bldP spid="2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ILLUSTRATIVE MONTHLY NUMBERS  ·  3-KEY VILLA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a month could look like.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057400"/>
            <a:ext cx="1097280" cy="3639312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945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OCCUPANCY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D93A2F"/>
                </a:solidFill>
                <a:latin typeface="Fraunces"/>
                <a:ea typeface="Manrope"/>
                <a:cs typeface="Manrope"/>
              </a:rPr>
              <a:t>45%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55%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60%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2130552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95000"/>
              </a:lnSpc>
            </a:pPr>
            <a:r>
              <a:rPr sz="18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65%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55117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6090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Gross booking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₹1,21,500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₹1,48,500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₹1,62,000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79" y="2660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₹1,75,500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94436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0540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 Red Flag 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₹9,720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₹11,880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₹12,960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79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₹14,040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3337560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44728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 cleaning &amp; maintenance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₹16,500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₹18,500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₹20,400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79" y="344728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₹22,300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3730752"/>
            <a:ext cx="713232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840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= Net payout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₹95,280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₹1,18,120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00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₹1,28,640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79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₹1,39,160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123944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23367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 electricity &amp; utilities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0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12279" y="423367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₹12,000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" y="451713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62686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Owner: more than a tenant pays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+₹8,280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17720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+₹31,120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000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+₹41,640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12279" y="462686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+₹52,160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491032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02005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Lessee: net after rent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₹8,280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17720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₹31,120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15000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₹41,640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12279" y="502005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₹52,160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85800" y="5303520"/>
            <a:ext cx="7132320" cy="1097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41324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Months to earn back the fee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20440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20.7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5.5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15000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4.1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12279" y="541324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3.3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66760" y="214884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READ THE FIRST COLUMN HONESTLY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66760" y="2487168"/>
            <a:ext cx="313913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At 45% occupancy the fee takes longer than 12 months to earn back — which is exactly when the Earn-Back Promise pays you. We publish that column deliberately. A company that only shows you its best case is showing you the wrong thing.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6760" y="4434840"/>
            <a:ext cx="9144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66760" y="4572000"/>
            <a:ext cx="313913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Owners: compare with what a tenant pays you today (₹75,000 assumed). Lessees: rent is ₹75,000. Breakeven for a leased Outpost is around 41% occupancy.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98932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Illustrative only — ₹9,000 average nightly rate, ₹75,000 market rent. You receive a projection for your own property during assessment.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81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1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43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374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40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43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46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498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7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2" presetClass="entr" presetSubtype="8" fill="hold" grpId="0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591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622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84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715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22" presetClass="entr" presetSubtype="8" fill="hold" grpId="0" nodeType="withEffect">
                                  <p:stCondLst>
                                    <p:cond delay="746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777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808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839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87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901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932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963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994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1025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1056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1087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22" presetClass="entr" presetSubtype="8" fill="hold" grpId="0" nodeType="withEffect">
                                  <p:stCondLst>
                                    <p:cond delay="1118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1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grpId="0" nodeType="withEffect">
                                  <p:stCondLst>
                                    <p:cond delay="1149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18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211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1242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1273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22" presetClass="entr" presetSubtype="8" fill="hold" grpId="0" nodeType="withEffect">
                                  <p:stCondLst>
                                    <p:cond delay="1304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1335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1366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1397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428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1459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2" presetClass="entr" presetSubtype="8" fill="hold" grpId="0" nodeType="withEffect">
                                  <p:stCondLst>
                                    <p:cond delay="149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7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10" presetClass="entr" presetSubtype="0" fill="hold" grpId="0" nodeType="withEffect">
                                  <p:stCondLst>
                                    <p:cond delay="1521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0" nodeType="withEffect">
                                  <p:stCondLst>
                                    <p:cond delay="1552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grpId="0" nodeType="withEffect">
                                  <p:stCondLst>
                                    <p:cond delay="1583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grpId="0" nodeType="withEffect">
                                  <p:stCondLst>
                                    <p:cond delay="1614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1645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22" presetClass="entr" presetSubtype="8" fill="hold" grpId="0" nodeType="withEffect">
                                  <p:stCondLst>
                                    <p:cond delay="1676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7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grpId="0" nodeType="withEffect">
                                  <p:stCondLst>
                                    <p:cond delay="1707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7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22" presetClass="entr" presetSubtype="8" fill="hold" grpId="0" nodeType="withEffect">
                                  <p:stCondLst>
                                    <p:cond delay="1738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1769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10" presetClass="entr" presetSubtype="0" fill="hold" grpId="0" nodeType="withEffect">
                                  <p:stCondLst>
                                    <p:cond delay="1831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1862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10" presetClass="entr" presetSubtype="0" fill="hold" grpId="0" nodeType="withEffect">
                                  <p:stCondLst>
                                    <p:cond delay="1893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8" fill="hold" grpId="0" nodeType="withEffect">
                                  <p:stCondLst>
                                    <p:cond delay="1924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9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1955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10" presetClass="entr" presetSubtype="0" fill="hold" grpId="0" nodeType="withEffect">
                                  <p:stCondLst>
                                    <p:cond delay="1986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6" presetID="10" presetClass="entr" presetSubtype="0" fill="hold" grpId="0" nodeType="withEffect">
                                  <p:stCondLst>
                                    <p:cond delay="2017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8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2048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2079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211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6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64" grpId="0" animBg="1"/>
      <p:bldP spid="21" grpId="0" animBg="1"/>
      <p:bldP spid="22" grpId="0" animBg="1"/>
      <p:bldP spid="27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65" grpId="0" animBg="1"/>
      <p:bldP spid="66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7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16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THREE WAYS TO RUN A PROPERTY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Compare honestly.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18120" y="2039112"/>
            <a:ext cx="3687775" cy="4279392"/>
          </a:xfrm>
          <a:prstGeom prst="rect">
            <a:avLst/>
          </a:prstGeom>
          <a:solidFill>
            <a:srgbClr val="1C1A1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DO IT YOURSELF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A CO-HOST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148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spc="15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OUTPOST CLASSIC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53288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633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Commission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6334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None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6334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15–20%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633472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8%, min ₹4,999/month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2907792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008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Joining fee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0083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None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008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₹20,000–50,000 typical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008376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₹59,999 one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8269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38327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Setup and 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3383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338327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383279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₹1,11,111 · design, shoot, launch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657600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37581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Cleaning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37581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 arrange and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581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Usually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58184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We arrange — at cost from bookings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032504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133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Repairs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13308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413308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Usually you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133088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Handled to ₹2,000 per incident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407408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5079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Guests at 2am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450799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0" y="450799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Rarely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01000" y="4507992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Us, 24/7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85800" y="4782312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8828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Pricing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08960" y="488289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 guess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48828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Usually manual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4882896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AI, daily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157216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5257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Marketing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108960" y="5257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 problem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0" y="52578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Listing only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5257800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Creator launch + direct bookings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85800" y="5532120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5800" y="5632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Your 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08960" y="563270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10–15 hrs a month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0" y="5632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4–6 hrs a month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5632704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Close to zero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85800" y="5907024"/>
            <a:ext cx="7132320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60076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If it underperforms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08960" y="6007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0" y="60076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Your loss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01000" y="6007608"/>
            <a:ext cx="341345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We pay you the difference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28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1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349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38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41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81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547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8" fill="hold" grpId="0" nodeType="withEffect">
                                  <p:stCondLst>
                                    <p:cond delay="613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4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679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12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74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778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1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844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877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976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009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042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07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108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141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174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207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2" presetClass="entr" presetSubtype="8" fill="hold" grpId="0" nodeType="withEffect">
                                  <p:stCondLst>
                                    <p:cond delay="1273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30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339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372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40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22" presetClass="entr" presetSubtype="8" fill="hold" grpId="0" nodeType="withEffect">
                                  <p:stCondLst>
                                    <p:cond delay="1438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1471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1504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1537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2" presetClass="entr" presetSubtype="8" fill="hold" grpId="0" nodeType="withEffect">
                                  <p:stCondLst>
                                    <p:cond delay="1603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2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669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702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1735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22" presetClass="entr" presetSubtype="8" fill="hold" grpId="0" nodeType="withEffect">
                                  <p:stCondLst>
                                    <p:cond delay="1768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7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1801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22" presetClass="entr" presetSubtype="8" fill="hold" grpId="0" nodeType="withEffect">
                                  <p:stCondLst>
                                    <p:cond delay="1834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3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1867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1933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19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presetSubtype="0" fill="hold" grpId="0" nodeType="withEffect">
                                  <p:stCondLst>
                                    <p:cond delay="1999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0" nodeType="withEffect">
                                  <p:stCondLst>
                                    <p:cond delay="2032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ntr" presetSubtype="0" fill="hold" grpId="0" nodeType="withEffect">
                                  <p:stCondLst>
                                    <p:cond delay="2065"/>
                                  </p:stCondLst>
                                  <p:childTnLst>
                                    <p:set>
                                      <p:cBhvr>
                                        <p:cTn id="1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8" grpId="0" animBg="1"/>
      <p:bldP spid="25" grpId="0" animBg="1"/>
      <p:bldP spid="26" grpId="0" animBg="1"/>
      <p:bldP spid="27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8" grpId="0" animBg="1"/>
      <p:bldP spid="55" grpId="0" animBg="1"/>
      <p:bldP spid="56" grpId="0" animBg="1"/>
      <p:bldP spid="57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17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480560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YOUR NAME ON THE DOOR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353312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An identity, not a listing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237744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251460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A higher nightly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88036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Design detail supports premium pricing. You stop being compared to the flat next door.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0427" y="237744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0427" y="251460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Free guest content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0427" y="288036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Guests photograph and post branded details unprompted.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361188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374904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Instant credibility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11480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Reads as a hospitality brand, not someone’s spare flat.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50427" y="361188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0427" y="374904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The collection effect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0427" y="411480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Guests who stay in one Red Flag property recognise and book others.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484632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498348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Exit 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0" y="534924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A branded, operating, revenue-producing property sells for more than a furnished flat.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0427" y="4846320"/>
            <a:ext cx="3055467" cy="10972"/>
          </a:xfrm>
          <a:prstGeom prst="rect">
            <a:avLst/>
          </a:prstGeom>
          <a:solidFill>
            <a:srgbClr val="3B35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0427" y="4983480"/>
            <a:ext cx="305546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6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Your name on the door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0427" y="5349240"/>
            <a:ext cx="3055467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An engraved RED FLAG × [Your Property] plate.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35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72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915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10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1105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39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485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58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167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7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865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96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205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1" grpId="0" animBg="1"/>
      <p:bldP spid="14" grpId="0" animBg="1"/>
      <p:bldP spid="12" grpId="0" animBg="1"/>
      <p:bldP spid="15" grpId="0" animBg="1"/>
      <p:bldP spid="16" grpId="0" animBg="1"/>
      <p:bldP spid="19" grpId="0" animBg="1"/>
      <p:bldP spid="17" grpId="0" animBg="1"/>
      <p:bldP spid="20" grpId="0" animBg="1"/>
      <p:bldP spid="18" grpId="0" animBg="1"/>
      <p:bldP spid="21" grpId="0" animBg="1"/>
      <p:bldP spid="22" grpId="0" animBg="1"/>
      <p:bldP spid="25" grpId="0" animBg="1"/>
      <p:bldP spid="23" grpId="0" animBg="1"/>
      <p:bldP spid="26" grpId="0" animBg="1"/>
      <p:bldP spid="24" grpId="0" animBg="1"/>
      <p:bldP spid="27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18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IS THIS FOR YOU?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Honest fit, both ways.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03120"/>
            <a:ext cx="5181447" cy="3977639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331720"/>
            <a:ext cx="454136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It works well 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71800"/>
            <a:ext cx="4541367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/>
            </a: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 own a flat or villa that is empty, under-used, or earning a modest rent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 can put ₹1,71,110 to work without needing it back next month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 want the income without the job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A8834A"/>
                </a:solidFill>
                <a:latin typeface="Manrope"/>
              </a:rPr>
              <a:t>✓  </a:t>
            </a:r>
            <a:r>
              <a:rPr sz="1150">
                <a:solidFill>
                  <a:srgbClr val="1C1A17"/>
                </a:solidFill>
                <a:latin typeface="Manrope"/>
              </a:rPr>
              <a:t>Your property is in or near Goa, Mumbai, Bengaluru, Delhi NCR or Lucknow — or you live abroad and own one there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4447" y="2103120"/>
            <a:ext cx="5181447" cy="3977639"/>
          </a:xfrm>
          <a:prstGeom prst="rect">
            <a:avLst/>
          </a:prstGeom>
          <a:solidFill>
            <a:srgbClr val="F6F1EA"/>
          </a:solidFill>
          <a:ln w="12700">
            <a:solidFill>
              <a:srgbClr val="D9CFC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487" y="2331720"/>
            <a:ext cx="454136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It is not for you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487" y="2971800"/>
            <a:ext cx="4541367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5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/>
            </a: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 want a guaranteed monthly income regardless of bookings. Short stays don’t work that way — anyone promising it is not telling you the truth.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 want to set your own nightly rates. Our pricing control is what makes the Earn-Back Promise possible.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 need the property free for long stretches. Owner nights are agreed at signing.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150" b="1">
                <a:solidFill>
                  <a:srgbClr val="D93A2F"/>
                </a:solidFill>
                <a:latin typeface="Manrope"/>
              </a:rPr>
              <a:t>✕  </a:t>
            </a:r>
            <a:r>
              <a:rPr sz="1150">
                <a:solidFill>
                  <a:srgbClr val="1C1A17"/>
                </a:solidFill>
                <a:latin typeface="Manrope"/>
              </a:rPr>
              <a:t>Your society or landlord prohibits short stays and won’t give written permission.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1" grpId="0" animBg="1"/>
      <p:bldP spid="14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19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WHAT WE NEED FROM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Six simple requirements.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14884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Age &amp; residency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24612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You are 18 or older, and an Indian citizen or valid resident.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3938" y="214884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8258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8258" y="288036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Proof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8258" y="324612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Proof of ownership, or a lease permitting short-stay 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2076" y="214884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6396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6396" y="288036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Permission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6396" y="324612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Written permission from your society or landlord where required.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11480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4632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Clear title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21208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The property free of legal dispute or encumbrance.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3938" y="411480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58258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58258" y="484632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KYC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521208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Basic KYC and bank details for payouts.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2076" y="4114800"/>
            <a:ext cx="3423818" cy="1783080"/>
          </a:xfrm>
          <a:prstGeom prst="rect">
            <a:avLst/>
          </a:prstGeom>
          <a:solidFill>
            <a:srgbClr val="ECE4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56396" y="43434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2400" b="0" i="0">
                <a:solidFill>
                  <a:srgbClr val="A8834A"/>
                </a:solidFill>
                <a:latin typeface="Fraunces"/>
                <a:ea typeface="Manrope"/>
                <a:cs typeface="Manrop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6396" y="4846320"/>
            <a:ext cx="28751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7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Access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56396" y="5212080"/>
            <a:ext cx="287517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Access for cleaning, maintenance and guests — and approval of major repairs within 7 days.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2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96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grpId="0" nodeType="withEffect">
                                  <p:stCondLst>
                                    <p:cond delay="469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42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entr" presetSubtype="0" fill="hold" grpId="0" nodeType="withEffect">
                                  <p:stCondLst>
                                    <p:cond delay="615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68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761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9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834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907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9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900" decel="1000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42" presetClass="entr" presetSubtype="0" fill="hold" grpId="0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9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900" decel="1000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53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126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99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72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34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418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1491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9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900" decel="1000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1564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9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900" decel="1000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1637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9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900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900" decel="1000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9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900" decel="1000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1783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9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900" decel="100000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1856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9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900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900" decel="100000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929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002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2075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3" grpId="0" animBg="1"/>
      <p:bldP spid="14" grpId="0" animBg="1"/>
      <p:bldP spid="17" grpId="0" animBg="1"/>
      <p:bldP spid="18" grpId="0" animBg="1"/>
      <p:bldP spid="11" grpId="0" animBg="1"/>
      <p:bldP spid="15" grpId="0" animBg="1"/>
      <p:bldP spid="19" grpId="0" animBg="1"/>
      <p:bldP spid="12" grpId="0" animBg="1"/>
      <p:bldP spid="16" grpId="0" animBg="1"/>
      <p:bldP spid="20" grpId="0" animBg="1"/>
      <p:bldP spid="21" grpId="0" animBg="1"/>
      <p:bldP spid="25" grpId="0" animBg="1"/>
      <p:bldP spid="29" grpId="0" animBg="1"/>
      <p:bldP spid="22" grpId="0" animBg="1"/>
      <p:bldP spid="26" grpId="0" animBg="1"/>
      <p:bldP spid="30" grpId="0" animBg="1"/>
      <p:bldP spid="23" grpId="0" animBg="1"/>
      <p:bldP spid="27" grpId="0" animBg="1"/>
      <p:bldP spid="31" grpId="0" animBg="1"/>
      <p:bldP spid="24" grpId="0" animBg="1"/>
      <p:bldP spid="28" grpId="0" animBg="1"/>
      <p:bldP spid="32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20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0"/>
            <a:ext cx="6522415" cy="6858000"/>
          </a:xfrm>
          <a:prstGeom prst="rect">
            <a:avLst/>
          </a:prstGeom>
        </p:spPr>
      </p:pic>
      <p:sp>
        <p:nvSpPr>
          <p:cNvPr id="8" name="static-mask"/>
          <p:cNvSpPr/>
          <p:nvPr/>
        </p:nvSpPr>
        <p:spPr>
          <a:xfrm>
            <a:off x="5669280" y="0"/>
            <a:ext cx="109728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WHERE WE 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Goa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84248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Mumbai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51176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Bengaluru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18104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Delhi NCR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685032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4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Lucknow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45720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200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800" b="0" i="1">
                <a:solidFill>
                  <a:srgbClr val="C9A66B"/>
                </a:solidFill>
                <a:latin typeface="Fraunces"/>
                <a:ea typeface="Manrope"/>
                <a:cs typeface="Manrope"/>
              </a:rPr>
              <a:t>Living in Dubai, London or New York?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983480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D6CCBE"/>
                </a:solidFill>
                <a:latin typeface="Manrope"/>
                <a:ea typeface="Manrope"/>
                <a:cs typeface="Manrope"/>
              </a:rPr>
              <a:t>Plant your flag at home — we run your Indian property end to end, fully remotely, and you join without flying back. Dubai Outposts open in 2027.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9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9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900" decel="1000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9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900" decel="1000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9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900" decel="1000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9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900" decel="1000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21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FREQUENTLY ASKED QUESTIONS  ·  1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Straight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is Outpost Classic?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 programme where Red Flag designs, brands, launches and runs your short-stay property end to end. You pay a one-time programme fee and 8% of booking revenue.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9178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9178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3226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does it cost?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3226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₹59,999 franchise fee plus ₹1,11,111 setup, one time — ₹1,71,110 for up to two keys, plus GST. Extra keys ₹45,000 each. Commission 8%, min ₹4,999 a 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2556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604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When do I pay?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6604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After your property passes assessment and you sign. Nothing before that. The free assessment carries no obligation.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 already own a property. What do I pay?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The programme fee, electricity and utilities. No rent, no deposit.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9178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9178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3226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 don’t own a property. Can I still join?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3226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We help you find and assess a high-demand property before you sign a lease. You pay the programme fee, and rent and deposit to your landlord.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2556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if my property doesn’t qualify?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6604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We tell you why, in writing, and you pay nothing. We would rather decline a property than run one that will disappoint you.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is the Earn-Back Promise?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If net operating profit in the first 12 full months is less than the programme fee you paid, we pay the difference within 30 days of a valid claim. Full terms in the Programme Terms.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99178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9178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83226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Is my return guaranteed?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3226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No. Earnings depend on occupancy, rates, season and location, and a property can earn less than its costs. The only guarantee is the Earn-Back Promise, exactly as written.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12556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12556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6604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Who pays for cleaning and repairs?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96604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Cleaning, linen, consumables and repairs up to ₹2,000 per incident are arranged by us and deducted at cost, itemised. Anything above ₹2,000 needs your approval first.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22" presetClass="entr" presetSubtype="8" fill="hold" grpId="0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5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12" grpId="0" animBg="1"/>
      <p:bldP spid="16" grpId="0" animBg="1"/>
      <p:bldP spid="20" grpId="0" animBg="1"/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36" grpId="0" animBg="1"/>
      <p:bldP spid="40" grpId="0" animBg="1"/>
      <p:bldP spid="44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22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FREQUENTLY ASKED QUESTIONS  ·  2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8686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More straight answers.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Why is your commission only 8%?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Our operations run on an AI system rather than a large payroll, so each extra property costs us little to run. The first 200 partners lock 8% for life.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9178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9178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3226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How long until my property is live?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3226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Under 45 days from signing, if the property is ready to work 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87451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2556" y="19659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6604" y="193852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When and how am I paid?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6604" y="225856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Twice a month, on the 1st and 16th, with a statement showing every booking and deduction.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still use my property?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9848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Owner nights are agreed at signing and blocked in the calendar. Nights beyond that allowance are excluded from the Earn-Back Promise.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9178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9178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3226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add a second property later?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3226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Yes, and performing partners are prioritised. Each property has its own programme fee and its own Earn-Back Promise.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12556" y="3291839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2556" y="3383279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6604" y="3355847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 live abroad. Can I join?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96604" y="3675887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Yes. NRIs can join fully remotely for a property in India. Payouts go to your NRO account and Indian tax is deducted at source as the law requires.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Can I leave the programme?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9848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Yes, with 90 days’ notice after an initial 12-month term. The fee is not refundable except under the Earn-Back Promise; everything installed stays yours.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99178" y="4709160"/>
            <a:ext cx="3393338" cy="10972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9178" y="48006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83226" y="4773168"/>
            <a:ext cx="300929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What happens to the branding if I leave?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83226" y="5093208"/>
            <a:ext cx="300929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4A443D"/>
                </a:solidFill>
                <a:latin typeface="Manrope"/>
                <a:ea typeface="Manrope"/>
                <a:cs typeface="Manrope"/>
              </a:rPr>
              <a:t>We remove the Red Flag name and door plate. Furniture and fittings you paid for stay with you.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0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415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745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855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965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grpId="0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075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8" fill="hold" grpId="0" nodeType="withEffect">
                                  <p:stCondLst>
                                    <p:cond delay="11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185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2" presetClass="entr" presetSubtype="8" fill="hold" grpId="0" nodeType="withEffect">
                                  <p:stCondLst>
                                    <p:cond delay="124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29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1405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4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515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57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1625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22" presetClass="entr" presetSubtype="8" fill="hold" grpId="0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1735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79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22" presetClass="entr" presetSubtype="8" fill="hold" grpId="0" nodeType="withEffect">
                                  <p:stCondLst>
                                    <p:cond delay="1845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6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955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201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2065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12" grpId="0" animBg="1"/>
      <p:bldP spid="16" grpId="0" animBg="1"/>
      <p:bldP spid="20" grpId="0" animBg="1"/>
      <p:bldP spid="21" grpId="0" animBg="1"/>
      <p:bldP spid="23" grpId="0" animBg="1"/>
      <p:bldP spid="25" grpId="0" animBg="1"/>
      <p:bldP spid="27" grpId="0" animBg="1"/>
      <p:bldP spid="29" grpId="0" animBg="1"/>
      <p:bldP spid="31" grpId="0" animBg="1"/>
      <p:bldP spid="22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3" grpId="0" animBg="1"/>
      <p:bldP spid="34" grpId="0" animBg="1"/>
      <p:bldP spid="35" grpId="0" animBg="1"/>
      <p:bldP spid="37" grpId="0" animBg="1"/>
      <p:bldP spid="38" grpId="0" animBg="1"/>
      <p:bldP spid="39" grpId="0" animBg="1"/>
      <p:bldP spid="36" grpId="0" animBg="1"/>
      <p:bldP spid="40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1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hrome"/>
          <p:cNvSpPr txBox="1"/>
          <p:nvPr/>
        </p:nvSpPr>
        <p:spPr>
          <a:xfrm>
            <a:off x="685800" y="475488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OUTPOST CLASSIC  ·  PARTNER GUIDE</a:t>
            </a:r>
          </a:p>
        </p:txBody>
      </p:sp>
      <p:sp>
        <p:nvSpPr>
          <p:cNvPr id="5" name="chrome"/>
          <p:cNvSpPr txBox="1"/>
          <p:nvPr/>
        </p:nvSpPr>
        <p:spPr>
          <a:xfrm>
            <a:off x="68580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REDFLAGHOMES.IN</a:t>
            </a:r>
          </a:p>
        </p:txBody>
      </p:sp>
      <p:sp>
        <p:nvSpPr>
          <p:cNvPr id="6" name="chrome"/>
          <p:cNvSpPr txBox="1"/>
          <p:nvPr/>
        </p:nvSpPr>
        <p:spPr>
          <a:xfrm>
            <a:off x="10134295" y="640080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1" i="0" spc="200">
                <a:solidFill>
                  <a:srgbClr val="8A8074"/>
                </a:solidFill>
                <a:latin typeface="Manrope"/>
                <a:ea typeface="Manrope"/>
                <a:cs typeface="Manrope"/>
              </a:rPr>
              <a:t>23 / 24</a:t>
            </a:r>
          </a:p>
        </p:txBody>
      </p:sp>
      <p:pic>
        <p:nvPicPr>
          <p:cNvPr id="7" name="static-photo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0"/>
            <a:ext cx="3779215" cy="685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1051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A8834A"/>
                </a:solidFill>
                <a:latin typeface="Manrope"/>
                <a:ea typeface="Manrope"/>
                <a:cs typeface="Manrope"/>
              </a:rPr>
              <a:t>YOUR NEXT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353312"/>
            <a:ext cx="7315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0" i="0">
                <a:solidFill>
                  <a:srgbClr val="1C1A17"/>
                </a:solidFill>
                <a:latin typeface="Fraunces"/>
                <a:ea typeface="Manrope"/>
                <a:cs typeface="Manrope"/>
              </a:rPr>
              <a:t>It takes 48 hours.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350008"/>
            <a:ext cx="384048" cy="384048"/>
          </a:xfrm>
          <a:prstGeom prst="ellipse">
            <a:avLst/>
          </a:prstGeom>
          <a:solidFill>
            <a:srgbClr val="D93A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2752344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4231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Apply for allocation at redflaghomes.in. Two minutes.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017520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09067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3419856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3090672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We call you — usually the same day — and ask about your property and your city.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3685031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58183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087368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25880" y="3758183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We assess it against real demand data, free, with no obligation.</a:t>
            </a:r>
          </a:p>
        </p:txBody>
      </p:sp>
      <p:sp>
        <p:nvSpPr>
          <p:cNvPr id="22" name="Oval 21"/>
          <p:cNvSpPr/>
          <p:nvPr/>
        </p:nvSpPr>
        <p:spPr>
          <a:xfrm>
            <a:off x="685800" y="4352544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42569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4754880"/>
            <a:ext cx="10972" cy="274320"/>
          </a:xfrm>
          <a:prstGeom prst="rect">
            <a:avLst/>
          </a:prstGeom>
          <a:solidFill>
            <a:srgbClr val="D9CFC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5880" y="4425696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You receive a projection within 48 hours — your rent, your city, your numbers.</a:t>
            </a:r>
          </a:p>
        </p:txBody>
      </p:sp>
      <p:sp>
        <p:nvSpPr>
          <p:cNvPr id="26" name="Oval 25"/>
          <p:cNvSpPr/>
          <p:nvPr/>
        </p:nvSpPr>
        <p:spPr>
          <a:xfrm>
            <a:off x="685800" y="5020055"/>
            <a:ext cx="384048" cy="384048"/>
          </a:xfrm>
          <a:prstGeom prst="ellipse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09320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093207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C1A17"/>
                </a:solidFill>
                <a:latin typeface="Manrope"/>
                <a:ea typeface="Manrope"/>
                <a:cs typeface="Manrope"/>
              </a:rPr>
              <a:t>If the numbers work for both of us, you sign and pay. Live in under 45 days.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D93A2F"/>
                </a:solidFill>
                <a:latin typeface="Manrope"/>
                <a:ea typeface="Manrope"/>
                <a:cs typeface="Manrope"/>
              </a:rPr>
              <a:t>LIMITED ALLOCATION  ·  APPLICATIONS REVIEWED IN THE ORDER RECEIVED</a:t>
            </a:r>
          </a:p>
        </p:txBody>
      </p:sp>
      <p:pic>
        <p:nvPicPr>
          <p:cNvPr id="3" name="!!logo" descr="logo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2975" y="292608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slow" advClick="1">
    <p:fade thruBlk="0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3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08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68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76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852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38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024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11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1196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82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1368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454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626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712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79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1884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9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2056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2" grpId="0" animBg="1"/>
      <p:bldP spid="15" grpId="0" animBg="1"/>
      <p:bldP spid="17" grpId="0" animBg="1"/>
      <p:bldP spid="16" grpId="0" animBg="1"/>
      <p:bldP spid="18" grpId="0" animBg="1"/>
      <p:bldP spid="19" grpId="0" animBg="1"/>
      <p:bldP spid="21" grpId="0" animBg="1"/>
      <p:bldP spid="20" grpId="0" animBg="1"/>
      <p:bldP spid="22" grpId="0" animBg="1"/>
      <p:bldP spid="23" grpId="0" animBg="1"/>
      <p:bldP spid="25" grpId="0" animBg="1"/>
      <p:bldP spid="2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tatic-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31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tatic-photo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0"/>
            <a:ext cx="5608015" cy="6858000"/>
          </a:xfrm>
          <a:prstGeom prst="rect">
            <a:avLst/>
          </a:prstGeom>
        </p:spPr>
      </p:pic>
      <p:sp>
        <p:nvSpPr>
          <p:cNvPr id="4" name="static-mask"/>
          <p:cNvSpPr/>
          <p:nvPr/>
        </p:nvSpPr>
        <p:spPr>
          <a:xfrm>
            <a:off x="6583680" y="0"/>
            <a:ext cx="1645920" cy="6858000"/>
          </a:xfrm>
          <a:prstGeom prst="rect">
            <a:avLst/>
          </a:prstGeom>
          <a:gradFill rotWithShape="1" flip="none">
            <a:gsLst>
              <a:gs pos="0">
                <a:srgbClr val="161311">
                  <a:alpha val="100000"/>
                </a:srgbClr>
              </a:gs>
              <a:gs pos="100000">
                <a:srgbClr val="161311">
                  <a:alpha val="0"/>
                </a:srgbClr>
              </a:gs>
            </a:gsLst>
            <a:lin ang="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19456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 spc="250">
                <a:solidFill>
                  <a:srgbClr val="C9A66B"/>
                </a:solidFill>
                <a:latin typeface="Manrope"/>
                <a:ea typeface="Manrope"/>
                <a:cs typeface="Manrope"/>
              </a:rPr>
              <a:t>APPLY FOR ALLOCATION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87168"/>
            <a:ext cx="6858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5800" b="0" i="0">
                <a:solidFill>
                  <a:srgbClr val="F3ECE1"/>
                </a:solidFill>
                <a:latin typeface="Fraunces"/>
                <a:ea typeface="Manrope"/>
                <a:cs typeface="Manrope"/>
              </a:rPr>
              <a:t>redflaghomes.in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5760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i="0">
                <a:solidFill>
                  <a:srgbClr val="D6CCBE"/>
                </a:solidFill>
                <a:latin typeface="Manrope"/>
                <a:ea typeface="Manrope"/>
                <a:cs typeface="Manrope"/>
              </a:rPr>
              <a:t>Two minutes to apply. A projection for your own property within 48 hours — free, with no obligation.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526280"/>
            <a:ext cx="5486400" cy="10972"/>
          </a:xfrm>
          <a:prstGeom prst="rect">
            <a:avLst/>
          </a:prstGeom>
          <a:solidFill>
            <a:srgbClr val="A883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466344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3ECE1"/>
                </a:solidFill>
                <a:latin typeface="Manrope"/>
                <a:ea typeface="Manrope"/>
                <a:cs typeface="Manrope"/>
              </a:rPr>
              <a:t>hello@redflaghomes.in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9834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Red Flag Homes Network · a company of Red Flag World Holdings Ltd, London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66928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A89E91"/>
                </a:solidFill>
                <a:latin typeface="Manrope"/>
                <a:ea typeface="Manrope"/>
                <a:cs typeface="Manrope"/>
              </a:rPr>
              <a:t>Figures are illustrative, based on a 3-key villa, ₹9,000 average nightly rate and ₹75,000 market rent. Returns are not guaranteed and a property can earn less than its costs. The Earn-Back Promise is subject to the Programme Terms. All prices plus applicable GST.</a:t>
            </a:r>
          </a:p>
        </p:txBody>
      </p:sp>
      <p:pic>
        <p:nvPicPr>
          <p:cNvPr id="5" name="!!logo" descr="logo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548640"/>
            <a:ext cx="1188720" cy="11887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6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900" decel="1000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58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