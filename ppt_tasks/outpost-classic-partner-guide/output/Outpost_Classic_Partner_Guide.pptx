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atic-phot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0"/>
            <a:ext cx="7345375" cy="6858000"/>
          </a:xfrm>
          <a:prstGeom prst="rect">
            <a:avLst/>
          </a:prstGeom>
        </p:spPr>
      </p:pic>
      <p:sp>
        <p:nvSpPr>
          <p:cNvPr id="4" name="static-mask"/>
          <p:cNvSpPr/>
          <p:nvPr/>
        </p:nvSpPr>
        <p:spPr>
          <a:xfrm>
            <a:off x="4846320" y="0"/>
            <a:ext cx="1097280" cy="6858000"/>
          </a:xfrm>
          <a:prstGeom prst="rect">
            <a:avLst/>
          </a:prstGeom>
          <a:gradFill rotWithShape="1" flip="none">
            <a:gsLst>
              <a:gs pos="0">
                <a:srgbClr val="F6F1EA">
                  <a:alpha val="100000"/>
                </a:srgbClr>
              </a:gs>
              <a:gs pos="100000">
                <a:srgbClr val="F6F1EA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RED FLAG HOMES NETWORK  ·  PARTNER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42062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4000"/>
              </a:lnSpc>
            </a:pPr>
            <a:r>
              <a:rPr sz="80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Outpost
Classic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9160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 i="1">
                <a:solidFill>
                  <a:srgbClr val="4A443D"/>
                </a:solidFill>
                <a:latin typeface="Fraunces"/>
                <a:ea typeface="Manrope"/>
                <a:cs typeface="Manrope"/>
              </a:rPr>
              <a:t>You bring the property.
We build it, brand it and run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897880"/>
            <a:ext cx="3749039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03504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3A2F"/>
                </a:solidFill>
                <a:latin typeface="Manrope"/>
                <a:ea typeface="Manrope"/>
                <a:cs typeface="Manrope"/>
              </a:rPr>
              <a:t>8% COMMISSION  ·  200 FOUNDING ALLOCATIONS  ·  INDIA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5074920"/>
            <a:ext cx="3429000" cy="118872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230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20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THE EARN-BACK PROMISE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5486400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Earn back your programme fee in 12 months — or we pay you the difference.</a:t>
            </a:r>
          </a:p>
        </p:txBody>
      </p:sp>
      <p:pic>
        <p:nvPicPr>
          <p:cNvPr id="5" name="!!logo" descr="log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50292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02 / 24</a:t>
            </a:r>
          </a:p>
        </p:txBody>
      </p:sp>
      <p:pic>
        <p:nvPicPr>
          <p:cNvPr id="7" name="static-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0972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THE MODEL, IN ONE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You own or lease the property.
We do everything else.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Red Flag designs it, brands it, launches it through creators and runs it completely — pricing, guests, cleaning, repairs. You pay one programme fee and 8% of what it books.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846320"/>
            <a:ext cx="1280160" cy="10972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3036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0552" y="4846320"/>
            <a:ext cx="1280160" cy="10972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30552" y="4983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0552" y="523036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Brand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75304" y="4846320"/>
            <a:ext cx="1280160" cy="10972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4983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523036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Launch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0056" y="4846320"/>
            <a:ext cx="1280160" cy="10972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0056" y="49834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0056" y="523036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Run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4" grpId="0" animBg="1"/>
      <p:bldP spid="17" grpId="0" animBg="1"/>
      <p:bldP spid="2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03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2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Earn it back in 12 months,
or we pay the difference.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886200"/>
            <a:ext cx="3246120" cy="10972"/>
          </a:xfrm>
          <a:prstGeom prst="rect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0" i="0">
                <a:solidFill>
                  <a:srgbClr val="C9A66B"/>
                </a:solidFill>
                <a:latin typeface="Fraunces"/>
                <a:ea typeface="Manrope"/>
                <a:cs typeface="Manrope"/>
              </a:rPr>
              <a:t>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3ECE1"/>
                </a:solidFill>
                <a:latin typeface="Manrope"/>
                <a:ea typeface="Manrope"/>
                <a:cs typeface="Manrope"/>
              </a:rPr>
              <a:t>founding allocations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2180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across India, reviewed in the order they arrive.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886200"/>
            <a:ext cx="3246120" cy="10972"/>
          </a:xfrm>
          <a:prstGeom prst="rect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406908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0" i="0">
                <a:solidFill>
                  <a:srgbClr val="C9A66B"/>
                </a:solidFill>
                <a:latin typeface="Fraunces"/>
                <a:ea typeface="Manrope"/>
                <a:cs typeface="Manrope"/>
              </a:rPr>
              <a:t>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029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3ECE1"/>
                </a:solidFill>
                <a:latin typeface="Manrope"/>
                <a:ea typeface="Manrope"/>
                <a:cs typeface="Manrope"/>
              </a:rPr>
              <a:t>for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32180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for founding partners. After the 200, the rate rises.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3886200"/>
            <a:ext cx="3246120" cy="10972"/>
          </a:xfrm>
          <a:prstGeom prst="rect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406908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0" i="0">
                <a:solidFill>
                  <a:srgbClr val="C9A66B"/>
                </a:solidFill>
                <a:latin typeface="Fraunces"/>
                <a:ea typeface="Manrope"/>
                <a:cs typeface="Manrope"/>
              </a:rPr>
              <a:t>1 Oct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029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3ECE1"/>
                </a:solidFill>
                <a:latin typeface="Manrope"/>
                <a:ea typeface="Manrope"/>
                <a:cs typeface="Manrope"/>
              </a:rPr>
              <a:t>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32180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is when allocations open.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9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3" grpId="0" animBg="1"/>
      <p:bldP spid="17" grpId="0" animBg="1"/>
      <p:bldP spid="10" grpId="0" animBg="1"/>
      <p:bldP spid="14" grpId="0" animBg="1"/>
      <p:bldP spid="18" grpId="0" animBg="1"/>
      <p:bldP spid="11" grpId="0" animBg="1"/>
      <p:bldP spid="15" grpId="0" animBg="1"/>
      <p:bldP spid="19" grpId="0" animBg="1"/>
      <p:bldP spid="12" grpId="0" animBg="1"/>
      <p:bldP spid="16" grpId="0" animBg="1"/>
      <p:bldP spid="2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04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TWO WAYS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Two ways in. One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79676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Same fee. Same 8%. Same promise. The only difference is whether you pay a landlord.</a:t>
            </a:r>
          </a:p>
        </p:txBody>
      </p:sp>
      <p:pic>
        <p:nvPicPr>
          <p:cNvPr id="10" name="static-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331720"/>
            <a:ext cx="3611880" cy="868680"/>
          </a:xfrm>
          <a:prstGeom prst="rect">
            <a:avLst/>
          </a:prstGeom>
        </p:spPr>
      </p:pic>
      <p:sp>
        <p:nvSpPr>
          <p:cNvPr id="11" name="static-tag"/>
          <p:cNvSpPr/>
          <p:nvPr/>
        </p:nvSpPr>
        <p:spPr>
          <a:xfrm>
            <a:off x="4160520" y="2926080"/>
            <a:ext cx="3611880" cy="274320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97180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 OWN A PROPERTY</a:t>
            </a:r>
          </a:p>
        </p:txBody>
      </p:sp>
      <p:pic>
        <p:nvPicPr>
          <p:cNvPr id="13" name="static-photo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2331720"/>
            <a:ext cx="3611880" cy="868680"/>
          </a:xfrm>
          <a:prstGeom prst="rect">
            <a:avLst/>
          </a:prstGeom>
        </p:spPr>
      </p:pic>
      <p:sp>
        <p:nvSpPr>
          <p:cNvPr id="14" name="static-tag"/>
          <p:cNvSpPr/>
          <p:nvPr/>
        </p:nvSpPr>
        <p:spPr>
          <a:xfrm>
            <a:off x="7955279" y="2926080"/>
            <a:ext cx="3611880" cy="274320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97180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 DON’T OWN 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310128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924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Franchise fee, one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392424"/>
            <a:ext cx="7345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₹59,999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634740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170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Setup &amp; procuring, up to 3 keys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717036"/>
            <a:ext cx="7345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₹1,11,111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959352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41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Programme fee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041648"/>
            <a:ext cx="7345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₹1,71,110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283964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60520" y="4294936"/>
            <a:ext cx="7345375" cy="313639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3662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Rent and deposit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3662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None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3662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93A2F"/>
                </a:solidFill>
                <a:latin typeface="Manrope"/>
                <a:ea typeface="Manrope"/>
                <a:cs typeface="Manrope"/>
              </a:rPr>
              <a:t>Paid by you to your landlord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608576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690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Electricity, water, internet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690872"/>
            <a:ext cx="7345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You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933188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015483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Red Flag commission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5015483"/>
            <a:ext cx="7345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8%, min ₹4,999 a month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257800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3400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Cleaning &amp; minor maintenance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5340096"/>
            <a:ext cx="7345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From booking revenue, at cost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5582412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6647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Earn-Back Promise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5664708"/>
            <a:ext cx="7345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907024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60533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All prices plus applicable GST. Setup covers up to 3 keys; each extra key ₹45,000. Furniture for an unfurnished property is quoted separately, itemised, at cost.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07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64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1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8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53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92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649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6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63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77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34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991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0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162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219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276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333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3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504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561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618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675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732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789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46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903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017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7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5" grpId="0" animBg="1"/>
      <p:bldP spid="16" grpId="0" animBg="1"/>
      <p:bldP spid="17" grpId="0" animBg="1"/>
      <p:bldP spid="19" grpId="0" animBg="1"/>
      <p:bldP spid="18" grpId="0" animBg="1"/>
      <p:bldP spid="20" grpId="0" animBg="1"/>
      <p:bldP spid="22" grpId="0" animBg="1"/>
      <p:bldP spid="21" grpId="0" animBg="1"/>
      <p:bldP spid="23" grpId="0" animBg="1"/>
      <p:bldP spid="25" grpId="0" animBg="1"/>
      <p:bldP spid="24" grpId="0" animBg="1"/>
      <p:bldP spid="26" grpId="0" animBg="1"/>
      <p:bldP spid="27" grpId="0" animBg="1"/>
      <p:bldP spid="30" grpId="0" animBg="1"/>
      <p:bldP spid="28" grpId="0" animBg="1"/>
      <p:bldP spid="29" grpId="0" animBg="1"/>
      <p:bldP spid="31" grpId="0" animBg="1"/>
      <p:bldP spid="33" grpId="0" animBg="1"/>
      <p:bldP spid="32" grpId="0" animBg="1"/>
      <p:bldP spid="34" grpId="0" animBg="1"/>
      <p:bldP spid="36" grpId="0" animBg="1"/>
      <p:bldP spid="35" grpId="0" animBg="1"/>
      <p:bldP spid="37" grpId="0" animBg="1"/>
      <p:bldP spid="39" grpId="0" animBg="1"/>
      <p:bldP spid="38" grpId="0" animBg="1"/>
      <p:bldP spid="40" grpId="0" animBg="1"/>
      <p:bldP spid="42" grpId="0" animBg="1"/>
      <p:bldP spid="41" grpId="0" animBg="1"/>
      <p:bldP spid="4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05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THE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One fee. Then 8% of what it books.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402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FRANCHISE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888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₹59,999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one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3558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SETUP &amp; PROCURING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584448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₹1,11,111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813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up to 3 keys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4361688"/>
            <a:ext cx="5120640" cy="18288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61688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7141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PROGRAMME FEE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700016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D93A2F"/>
                </a:solidFill>
                <a:latin typeface="Fraunces"/>
                <a:ea typeface="Manrope"/>
                <a:cs typeface="Manrope"/>
              </a:rPr>
              <a:t>₹1,71,110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9286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one time, plus GST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2148840"/>
            <a:ext cx="4785055" cy="324612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79" y="23774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THEN, EVERY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2606040"/>
            <a:ext cx="41449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3657600"/>
            <a:ext cx="41449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of booking revenue, min ₹4,999 a month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79" y="4206240"/>
            <a:ext cx="414497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79" y="4370832"/>
            <a:ext cx="41449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Founding partners keep 8% for life.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4754880"/>
            <a:ext cx="41449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Setup covers up to 3 keys; each extra key ₹45,000.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650992"/>
            <a:ext cx="10820095" cy="566928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788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 pay nothing until your property passes assessment.  We look first, then you decide.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32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14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96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78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42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824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9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906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9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8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152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234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316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9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9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562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644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1726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808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972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054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1" grpId="0" animBg="1"/>
      <p:bldP spid="22" grpId="0" animBg="1"/>
      <p:bldP spid="10" grpId="0" animBg="1"/>
      <p:bldP spid="11" grpId="0" animBg="1"/>
      <p:bldP spid="23" grpId="0" animBg="1"/>
      <p:bldP spid="12" grpId="0" animBg="1"/>
      <p:bldP spid="13" grpId="0" animBg="1"/>
      <p:bldP spid="14" grpId="0" animBg="1"/>
      <p:bldP spid="24" grpId="0" animBg="1"/>
      <p:bldP spid="15" grpId="0" animBg="1"/>
      <p:bldP spid="25" grpId="0" animBg="1"/>
      <p:bldP spid="17" grpId="0" animBg="1"/>
      <p:bldP spid="16" grpId="0" animBg="1"/>
      <p:bldP spid="18" grpId="0" animBg="1"/>
      <p:bldP spid="26" grpId="0" animBg="1"/>
      <p:bldP spid="19" grpId="0" animBg="1"/>
      <p:bldP spid="20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06 / 24</a:t>
            </a:r>
          </a:p>
        </p:txBody>
      </p:sp>
      <p:pic>
        <p:nvPicPr>
          <p:cNvPr id="7" name="static-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  <p:sp>
        <p:nvSpPr>
          <p:cNvPr id="8" name="static-mask"/>
          <p:cNvSpPr/>
          <p:nvPr/>
        </p:nvSpPr>
        <p:spPr>
          <a:xfrm>
            <a:off x="7863840" y="0"/>
            <a:ext cx="1463040" cy="6858000"/>
          </a:xfrm>
          <a:prstGeom prst="rect">
            <a:avLst/>
          </a:prstGeom>
          <a:gradFill rotWithShape="1" flip="none">
            <a:gsLst>
              <a:gs pos="0">
                <a:srgbClr val="161311">
                  <a:alpha val="100000"/>
                </a:srgbClr>
              </a:gs>
              <a:gs pos="100000">
                <a:srgbClr val="161311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C9A66B"/>
                </a:solidFill>
                <a:latin typeface="Manrope"/>
                <a:ea typeface="Manrope"/>
                <a:cs typeface="Manrope"/>
              </a:rPr>
              <a:t>THE EARN-BACK PROMISE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If it doesn’t earn back its fee in year one, we pay the difference.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D6CCBE"/>
                </a:solidFill>
                <a:latin typeface="Manrope"/>
                <a:ea typeface="Manrope"/>
                <a:cs typeface="Manrope"/>
              </a:rPr>
              <a:t>If your Outpost’s net operating profit over its first 12 full months after going live is less than the programme fee you paid, Red Flag pays you the difference.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Programme fee you paid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169663"/>
            <a:ext cx="6675120" cy="274320"/>
          </a:xfrm>
          <a:prstGeom prst="rect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2062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₹1,71,110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902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Your Outpost nets in 12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828031"/>
            <a:ext cx="4681283" cy="274320"/>
          </a:xfrm>
          <a:prstGeom prst="rect">
            <a:avLst/>
          </a:prstGeom>
          <a:solidFill>
            <a:srgbClr val="F3EC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864607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61311"/>
                </a:solidFill>
                <a:latin typeface="Manrope"/>
                <a:ea typeface="Manrope"/>
                <a:cs typeface="Manrope"/>
              </a:rPr>
              <a:t>₹1,20,000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515" y="4828031"/>
            <a:ext cx="1966404" cy="274320"/>
          </a:xfrm>
          <a:prstGeom prst="rect">
            <a:avLst/>
          </a:prstGeom>
          <a:solidFill>
            <a:srgbClr val="D93A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58523" y="486460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We pay ₹51,110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44068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0" i="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/>
            </a:r>
            <a:r>
              <a:rPr sz="1000" b="1">
                <a:solidFill>
                  <a:srgbClr val="A8834A"/>
                </a:solidFill>
                <a:latin typeface="Manrope"/>
              </a:rPr>
              <a:t>—  </a:t>
            </a:r>
            <a:r>
              <a:rPr sz="1000">
                <a:solidFill>
                  <a:srgbClr val="A89E91"/>
                </a:solidFill>
                <a:latin typeface="Manrope"/>
              </a:rPr>
              <a:t>Net operating profit = your payouts, minus the rent and utilities you paid.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000" b="1">
                <a:solidFill>
                  <a:srgbClr val="A8834A"/>
                </a:solidFill>
                <a:latin typeface="Manrope"/>
              </a:rPr>
              <a:t>—  </a:t>
            </a:r>
            <a:r>
              <a:rPr sz="1000">
                <a:solidFill>
                  <a:srgbClr val="A89E91"/>
                </a:solidFill>
                <a:latin typeface="Manrope"/>
              </a:rPr>
              <a:t>Maximum payment is the programme fee you paid. Everything installed stays yours either way.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07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THE EARN-BACK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The conditions, stated plainly.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66751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2257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7744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The property stays bookable at least 27 nights a month, excluding your agreed owner nights.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26080"/>
            <a:ext cx="66751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540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0896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We set the pricing, and you don’t override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57600"/>
            <a:ext cx="66751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85615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4048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The property passed our assessment — and for a leased property, the rent is within the range we assessed.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389120"/>
            <a:ext cx="66751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1713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7200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You approve major repairs within 7 days of us asking.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120640"/>
            <a:ext cx="66751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248655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0352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You claim in writing within 30 days of month 12.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852160"/>
            <a:ext cx="66751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2194560"/>
            <a:ext cx="3642055" cy="3657600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51460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6F1EA"/>
                </a:solidFill>
                <a:latin typeface="Fraunces"/>
                <a:ea typeface="Manrope"/>
                <a:cs typeface="Manrope"/>
              </a:rPr>
              <a:t>No quibbles.
Written terms.
Paid within 30 days.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206240"/>
            <a:ext cx="914400" cy="10972"/>
          </a:xfrm>
          <a:prstGeom prst="rect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370832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ECE4D8"/>
                </a:solidFill>
                <a:latin typeface="Manrope"/>
                <a:ea typeface="Manrope"/>
                <a:cs typeface="Manrope"/>
              </a:rPr>
              <a:t>We can only make this promise because we run the property ourselves, to one standard. No manager who leaves the cleaning to you could offer it.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22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08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94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766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9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93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24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196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282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368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454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626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712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798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884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056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25" grpId="0" animBg="1"/>
      <p:bldP spid="2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7" grpId="0" animBg="1"/>
      <p:bldP spid="18" grpId="0" animBg="1"/>
      <p:bldP spid="19" grpId="0" animBg="1"/>
      <p:bldP spid="20" grpId="0" animBg="1"/>
      <p:bldP spid="28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atic-phot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tatic-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11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tic-mask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gradFill rotWithShape="1" flip="none">
            <a:gsLst>
              <a:gs pos="0">
                <a:srgbClr val="161311">
                  <a:alpha val="100000"/>
                </a:srgbClr>
              </a:gs>
              <a:gs pos="100000">
                <a:srgbClr val="161311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C9A66B"/>
                </a:solidFill>
                <a:latin typeface="Manrope"/>
                <a:ea typeface="Manrope"/>
                <a:cs typeface="Manrope"/>
              </a:rPr>
              <a:t>WHAT YOUR ₹1,11,111 ACTUALLY BUYS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6400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5000"/>
              </a:lnSpc>
            </a:pPr>
            <a:r>
              <a:rPr sz="180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90+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pieces — sourced, delivered, installed and photographed.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66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A66B"/>
                </a:solidFill>
                <a:latin typeface="Manrope"/>
                <a:ea typeface="Manrope"/>
                <a:cs typeface="Manrope"/>
              </a:rPr>
              <a:t>Plus the launch.</a:t>
            </a:r>
          </a:p>
        </p:txBody>
      </p:sp>
      <p:pic>
        <p:nvPicPr>
          <p:cNvPr id="6" name="!!logo" descr="log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09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THE KIT  ·  1 OF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Everything a guest touches — chosen for you.</a:t>
            </a:r>
          </a:p>
        </p:txBody>
      </p:sp>
      <p:pic>
        <p:nvPicPr>
          <p:cNvPr id="9" name="static-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1680"/>
            <a:ext cx="2487168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767328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Lighting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89120"/>
            <a:ext cx="248716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/>
            </a: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Pendant lights, bedside lamps, floor lamp and plug-in wall sconces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Warm 2700K bulbs in every fitting, dimmable where possible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Balcony or headboard string lights, hallway and bathroom night lights</a:t>
            </a:r>
          </a:p>
        </p:txBody>
      </p:sp>
      <p:pic>
        <p:nvPicPr>
          <p:cNvPr id="12" name="static-photo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2011680"/>
            <a:ext cx="2487168" cy="1600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56432" y="3767328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Bedding &amp; bath, hotel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4389120"/>
            <a:ext cx="248716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/>
            </a: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White cotton linen for every bedroom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Mattress and pillow protectors; soft and firm pillows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Bath towels, hand towels and bath mats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Waffle robes, slippers, laundry bag, hamper</a:t>
            </a:r>
          </a:p>
        </p:txBody>
      </p:sp>
      <p:pic>
        <p:nvPicPr>
          <p:cNvPr id="15" name="static-ph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2011680"/>
            <a:ext cx="2487168" cy="1600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27064" y="3767328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Soft styling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4389120"/>
            <a:ext cx="248716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/>
            </a: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Designer cushion covers with inserts, textured throws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Blackout curtains for every bedroom window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Living and bedside rugs</a:t>
            </a:r>
          </a:p>
        </p:txBody>
      </p:sp>
      <p:pic>
        <p:nvPicPr>
          <p:cNvPr id="18" name="static-photo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7696" y="2011680"/>
            <a:ext cx="2487168" cy="1600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97696" y="3767328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Decor &amp; finishing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4389120"/>
            <a:ext cx="248716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/>
            </a: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Statement mirror and framed prints in the Outpost style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Plants in ceramic or terracotta pots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Coffee-table and bedside styling sets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Scent diffuser and first refill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3" grpId="0" animBg="1"/>
      <p:bldP spid="16" grpId="0" animBg="1"/>
      <p:bldP spid="19" grpId="0" animBg="1"/>
      <p:bldP spid="11" grpId="0" animBg="1"/>
      <p:bldP spid="14" grpId="0" animBg="1"/>
      <p:bldP spid="17" grpId="0" animBg="1"/>
      <p:bldP spid="2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10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THE KIT  ·  2 OF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Ready for guests on day one.</a:t>
            </a:r>
          </a:p>
        </p:txBody>
      </p:sp>
      <p:pic>
        <p:nvPicPr>
          <p:cNvPr id="9" name="static-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1680"/>
            <a:ext cx="2487168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767328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Guest 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89120"/>
            <a:ext cx="248716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/>
            </a: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Tea and coffee station: kettle, jars, mugs, tray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Welcome basket, first fill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Refillable toiletry dispensers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Hair dryer, iron and board, umbrella stand</a:t>
            </a:r>
          </a:p>
        </p:txBody>
      </p:sp>
      <p:pic>
        <p:nvPicPr>
          <p:cNvPr id="12" name="static-photo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2011680"/>
            <a:ext cx="2487168" cy="1600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56432" y="3767328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Safety &amp;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4389120"/>
            <a:ext cx="248716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/>
            </a: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Smoke alarm, extinguisher, fire blanket, first-aid kit, emergency card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Keyless smart lock; WiFi with a guest network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Smart TV stick; bedside USB and charging 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2011680"/>
            <a:ext cx="2487168" cy="1600200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tatic-plate"/>
          <p:cNvSpPr/>
          <p:nvPr/>
        </p:nvSpPr>
        <p:spPr>
          <a:xfrm>
            <a:off x="6501384" y="2395728"/>
            <a:ext cx="1938528" cy="841248"/>
          </a:xfrm>
          <a:prstGeom prst="roundRect">
            <a:avLst>
              <a:gd name="adj" fmla="val 8000"/>
            </a:avLst>
          </a:prstGeom>
          <a:solidFill>
            <a:srgbClr val="A8834A"/>
          </a:solidFill>
          <a:ln w="12700">
            <a:solidFill>
              <a:srgbClr val="C9A6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tatic-screw"/>
          <p:cNvSpPr/>
          <p:nvPr/>
        </p:nvSpPr>
        <p:spPr>
          <a:xfrm>
            <a:off x="6638544" y="2770632"/>
            <a:ext cx="91440" cy="91440"/>
          </a:xfrm>
          <a:prstGeom prst="ellipse">
            <a:avLst/>
          </a:prstGeom>
          <a:solidFill>
            <a:srgbClr val="7A5C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tatic-screw"/>
          <p:cNvSpPr/>
          <p:nvPr/>
        </p:nvSpPr>
        <p:spPr>
          <a:xfrm>
            <a:off x="8211312" y="2770632"/>
            <a:ext cx="91440" cy="91440"/>
          </a:xfrm>
          <a:prstGeom prst="ellipse">
            <a:avLst/>
          </a:prstGeom>
          <a:solidFill>
            <a:srgbClr val="7A5C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254203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 spc="30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RED FLAG  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81635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 spc="30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YOUR PROPERTY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3767328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Your branding — the Signature Kit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4389120"/>
            <a:ext cx="248716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/>
            </a: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Engraved RED FLAG × [Your Property] brass door plate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Branded tissue boxes, coasters, key tags, labels, door hanger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Branded welcome card and printed house guide</a:t>
            </a:r>
          </a:p>
        </p:txBody>
      </p:sp>
      <p:pic>
        <p:nvPicPr>
          <p:cNvPr id="23" name="static-ph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96" y="2011680"/>
            <a:ext cx="2487168" cy="1600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97696" y="3767328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The work, not just the things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4389120"/>
            <a:ext cx="248716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/>
            </a: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Design plan, sourcing, delivery and a full installation day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Deep clean and styling before the shoot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Professional photo and video shoot, 25+ edited images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Listings on Airbnb, Booking.com and your direct page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A8834A"/>
                </a:solidFill>
                <a:latin typeface="Manrope"/>
              </a:rPr>
              <a:t>—  </a:t>
            </a:r>
            <a:r>
              <a:rPr sz="950">
                <a:solidFill>
                  <a:srgbClr val="4A443D"/>
                </a:solidFill>
                <a:latin typeface="Manrope"/>
              </a:rPr>
              <a:t>AI pricing, creator launch, guidebook and house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Optional Icon Kit: monogram curtains, branded linen, blankets, ceramics, robes and slippers. Studio ₹35,000 · Villa ₹75,000.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5" grpId="0" animBg="1"/>
      <p:bldP spid="19" grpId="0" animBg="1"/>
      <p:bldP spid="20" grpId="0" animBg="1"/>
      <p:bldP spid="10" grpId="0" animBg="1"/>
      <p:bldP spid="13" grpId="0" animBg="1"/>
      <p:bldP spid="21" grpId="0" animBg="1"/>
      <p:bldP spid="24" grpId="0" animBg="1"/>
      <p:bldP spid="11" grpId="0" animBg="1"/>
      <p:bldP spid="14" grpId="0" animBg="1"/>
      <p:bldP spid="22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11 / 24</a:t>
            </a:r>
          </a:p>
        </p:txBody>
      </p:sp>
      <p:pic>
        <p:nvPicPr>
          <p:cNvPr id="7" name="static-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8056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4920" y="10972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WHAT WE DO EVERY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389888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You step back. We run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2331720"/>
            <a:ext cx="643097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74920" y="2514600"/>
            <a:ext cx="146304" cy="146304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2392" y="2478024"/>
            <a:ext cx="6065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Dynamic AI pricing, adjusted daily to demand, season and local events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862072"/>
            <a:ext cx="643097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74920" y="3044952"/>
            <a:ext cx="146304" cy="146304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3008376"/>
            <a:ext cx="6065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24/7 guest messaging, from first enquiry to check-out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3392424"/>
            <a:ext cx="643097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74920" y="3575304"/>
            <a:ext cx="146304" cy="146304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3538728"/>
            <a:ext cx="6065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Every clean, turnover and linen change arranged and inspected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3922775"/>
            <a:ext cx="643097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74920" y="4105655"/>
            <a:ext cx="146304" cy="146304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2392" y="4069079"/>
            <a:ext cx="6065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Minor maintenance up to ₹2,000 per incident, with all vendor coordination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4453127"/>
            <a:ext cx="643097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74920" y="4636007"/>
            <a:ext cx="146304" cy="146304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2392" y="4599431"/>
            <a:ext cx="6065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Review and reputation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4983479"/>
            <a:ext cx="643097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74920" y="5166359"/>
            <a:ext cx="146304" cy="146304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22392" y="5129783"/>
            <a:ext cx="6065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Listings kept in sync across every channel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5513831"/>
            <a:ext cx="643097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74920" y="5696712"/>
            <a:ext cx="146304" cy="146304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22392" y="5660136"/>
            <a:ext cx="6065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Payouts twice a month with an itemised statement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6044183"/>
            <a:ext cx="643097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29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6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64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24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03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882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19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198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277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356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514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593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67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751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8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09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98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067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12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WHAT IS NOT INCLUDED — STATED UPFRONT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No surprises on your first statement.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1031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WHO PAYS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77440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96312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Rent and security deposit (leased properties)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49631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You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07208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260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Electricity, water, internet, society charges, property tax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9260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You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236976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5584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Repairs above ₹2,000 per incident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3558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You — and we ask before we spend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666744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785615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Major appliance replacement (AC, geyser, fridge)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785615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You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096512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215384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Furniture for an unfurnished 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21538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You — quoted separately, itemised, at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526279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45151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Keys beyond the first three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645151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You — ₹45,000 per extra key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956048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0749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Building and contents insurance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0749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You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385816"/>
            <a:ext cx="10820095" cy="429768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5385816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504688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Cleaning, linen, consumables, minor repairs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5046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Deducted from booking revenue at cost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815583"/>
            <a:ext cx="10820095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13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76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39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6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2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691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5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817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43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06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69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132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9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25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321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384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573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636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762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825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88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951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14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077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13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Four stages. You step back after the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2522143" cy="310896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86584"/>
            <a:ext cx="270502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YOU + 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0823" y="2331720"/>
            <a:ext cx="8115071" cy="310896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7983" y="2386584"/>
            <a:ext cx="811507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US — YOU STEP 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246120"/>
            <a:ext cx="10820095" cy="16459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163824"/>
            <a:ext cx="182880" cy="182880"/>
          </a:xfrm>
          <a:prstGeom prst="ellipse">
            <a:avLst/>
          </a:prstGeom>
          <a:solidFill>
            <a:srgbClr val="D93A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243070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4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24307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The Hunt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83480"/>
            <a:ext cx="23392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We check your property, or help you find one, against real demand data — before you commit a rupee.</a:t>
            </a:r>
          </a:p>
        </p:txBody>
      </p:sp>
      <p:sp>
        <p:nvSpPr>
          <p:cNvPr id="18" name="Oval 17"/>
          <p:cNvSpPr/>
          <p:nvPr/>
        </p:nvSpPr>
        <p:spPr>
          <a:xfrm>
            <a:off x="3390823" y="3163824"/>
            <a:ext cx="182880" cy="182880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0823" y="3611880"/>
            <a:ext cx="243070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4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0823" y="4434840"/>
            <a:ext cx="24307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The Flip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0823" y="4983480"/>
            <a:ext cx="23392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Design, furnishing, branding kit, smart lock and WiFi. Photograph-ready in under 45 days.</a:t>
            </a:r>
          </a:p>
        </p:txBody>
      </p:sp>
      <p:sp>
        <p:nvSpPr>
          <p:cNvPr id="22" name="Oval 21"/>
          <p:cNvSpPr/>
          <p:nvPr/>
        </p:nvSpPr>
        <p:spPr>
          <a:xfrm>
            <a:off x="6095847" y="3163824"/>
            <a:ext cx="182880" cy="182880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5847" y="3611880"/>
            <a:ext cx="243070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4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7" y="4434840"/>
            <a:ext cx="24307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The Drop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4983480"/>
            <a:ext cx="23392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Creators stay and post, a professional shoot, and listings go live on every channel.</a:t>
            </a:r>
          </a:p>
        </p:txBody>
      </p:sp>
      <p:sp>
        <p:nvSpPr>
          <p:cNvPr id="26" name="Oval 25"/>
          <p:cNvSpPr/>
          <p:nvPr/>
        </p:nvSpPr>
        <p:spPr>
          <a:xfrm>
            <a:off x="8800871" y="3163824"/>
            <a:ext cx="182880" cy="182880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0871" y="3611880"/>
            <a:ext cx="243070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4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0871" y="4434840"/>
            <a:ext cx="243070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The Yield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0871" y="4983480"/>
            <a:ext cx="23392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AI pricing, 24/7 guests, every clean and repair handled. Payouts on the 1st and 16th.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32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14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96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78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742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24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6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88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152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234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316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9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39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900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900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62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9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644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900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900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1726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900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900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80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972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054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8" grpId="0" animBg="1"/>
      <p:bldP spid="22" grpId="0" animBg="1"/>
      <p:bldP spid="26" grpId="0" animBg="1"/>
      <p:bldP spid="15" grpId="0" animBg="1"/>
      <p:bldP spid="19" grpId="0" animBg="1"/>
      <p:bldP spid="23" grpId="0" animBg="1"/>
      <p:bldP spid="27" grpId="0" animBg="1"/>
      <p:bldP spid="16" grpId="0" animBg="1"/>
      <p:bldP spid="20" grpId="0" animBg="1"/>
      <p:bldP spid="24" grpId="0" animBg="1"/>
      <p:bldP spid="28" grpId="0" animBg="1"/>
      <p:bldP spid="17" grpId="0" animBg="1"/>
      <p:bldP spid="21" grpId="0" animBg="1"/>
      <p:bldP spid="25" grpId="0" animBg="1"/>
      <p:bldP spid="29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14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HOW YOU GET PAID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One statement. Twice a month.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79676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You never receive a separate bill.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60320"/>
            <a:ext cx="2331720" cy="155448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Gross
bookings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everything guests 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971800"/>
            <a:ext cx="320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30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560320"/>
            <a:ext cx="2331720" cy="155448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78892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8%
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749039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 Flag commission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2971800"/>
            <a:ext cx="320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30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560320"/>
            <a:ext cx="2331720" cy="155448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78892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At
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49039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cleaning &amp;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1" y="2971800"/>
            <a:ext cx="320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30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=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59" y="2560320"/>
            <a:ext cx="2331720" cy="1554480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59" y="278892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6F1EA"/>
                </a:solidFill>
                <a:latin typeface="Fraunces"/>
                <a:ea typeface="Manrope"/>
                <a:cs typeface="Manrope"/>
              </a:rPr>
              <a:t>Your
payout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3749039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CE4D8"/>
                </a:solidFill>
                <a:latin typeface="Manrope"/>
                <a:ea typeface="Manrope"/>
                <a:cs typeface="Manrope"/>
              </a:rPr>
              <a:t>straight to your account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4617720"/>
            <a:ext cx="1280160" cy="1280160"/>
          </a:xfrm>
          <a:prstGeom prst="ellipse">
            <a:avLst/>
          </a:prstGeom>
          <a:solidFill>
            <a:srgbClr val="D93A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965192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2800" b="0" i="0">
                <a:solidFill>
                  <a:srgbClr val="FFFFFF"/>
                </a:solidFill>
                <a:latin typeface="Fraunces"/>
                <a:ea typeface="Manrope"/>
                <a:cs typeface="Manrope"/>
              </a:rPr>
              <a:t>1st</a:t>
            </a:r>
          </a:p>
        </p:txBody>
      </p:sp>
      <p:sp>
        <p:nvSpPr>
          <p:cNvPr id="27" name="Oval 26"/>
          <p:cNvSpPr/>
          <p:nvPr/>
        </p:nvSpPr>
        <p:spPr>
          <a:xfrm>
            <a:off x="2423160" y="4617720"/>
            <a:ext cx="1280160" cy="1280160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4965192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2800" b="0" i="0">
                <a:solidFill>
                  <a:srgbClr val="FFFFFF"/>
                </a:solidFill>
                <a:latin typeface="Fraunces"/>
                <a:ea typeface="Manrope"/>
                <a:cs typeface="Manrope"/>
              </a:rPr>
              <a:t>16th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80060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Payouts land on the 1st and 16th of every month, with a statement showing every booking and every deduction. Gross bookings, minus 8%, minus cleaning and maintenance at cost, equals your payout.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32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14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96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78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42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24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906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988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9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152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4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900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316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9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398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562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644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726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808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972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9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9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2054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900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900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4" grpId="0" animBg="1"/>
      <p:bldP spid="18" grpId="0" animBg="1"/>
      <p:bldP spid="22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12" grpId="0" animBg="1"/>
      <p:bldP spid="16" grpId="0" animBg="1"/>
      <p:bldP spid="20" grpId="0" animBg="1"/>
      <p:bldP spid="24" grpId="0" animBg="1"/>
      <p:bldP spid="25" grpId="0" animBg="1"/>
      <p:bldP spid="27" grpId="0" animBg="1"/>
      <p:bldP spid="29" grpId="0" animBg="1"/>
      <p:bldP spid="26" grpId="0" animBg="1"/>
      <p:bldP spid="28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15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ILLUSTRATIVE MONTHLY NUMBERS  ·  3-KEY VILLA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What a month could look like.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057400"/>
            <a:ext cx="1097280" cy="3639312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OCCUPANCY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305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1800" b="0" i="0">
                <a:solidFill>
                  <a:srgbClr val="D93A2F"/>
                </a:solidFill>
                <a:latin typeface="Fraunces"/>
                <a:ea typeface="Manrope"/>
                <a:cs typeface="Manrope"/>
              </a:rPr>
              <a:t>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305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18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1305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18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79" y="21305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18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65%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551176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609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Gross booking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609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₹1,21,500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6609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₹1,48,500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6609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₹1,62,000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6609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₹1,75,500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944368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05409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Less Red Flag 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54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₹9,720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054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₹11,880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3054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₹12,960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79" y="3054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₹14,040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337560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4472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Less cleaning &amp; maintenance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4472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₹16,500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472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₹18,500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34472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₹20,400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79" y="34472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₹22,300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730752"/>
            <a:ext cx="7132320" cy="10972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8404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= Net payout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3840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₹95,280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840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₹1,18,120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3840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₹1,28,640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79" y="3840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₹1,39,160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4123944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2336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Less electricity &amp; utilities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4233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₹12,000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4233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₹12,000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4233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₹12,000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79" y="42336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₹12,000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" y="4517136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6268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Owner: more than a tenant pays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46268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+₹8,280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46268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+₹31,120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0" y="46268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+₹41,640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79" y="46268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+₹52,160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4910328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502005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Lessee: net after rent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0440" y="50200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₹8,280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7720" y="50200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₹31,120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0" y="50200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₹41,640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79" y="50200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₹52,160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" y="5303520"/>
            <a:ext cx="7132320" cy="10972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54132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Months to earn back the fee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20440" y="5413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D93A2F"/>
                </a:solidFill>
                <a:latin typeface="Manrope"/>
                <a:ea typeface="Manrope"/>
                <a:cs typeface="Manrope"/>
              </a:rPr>
              <a:t>20.7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17720" y="5413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5.5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5000" y="5413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4.1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12279" y="5413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3.3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21488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D93A2F"/>
                </a:solidFill>
                <a:latin typeface="Manrope"/>
                <a:ea typeface="Manrope"/>
                <a:cs typeface="Manrope"/>
              </a:rPr>
              <a:t>READ THE FIRST COLUMN HONESTLY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2487168"/>
            <a:ext cx="313913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At 45% occupancy the fee takes longer than 12 months to earn back — which is exactly when the Earn-Back Promise pays you. We publish that column deliberately. A company that only shows you its best case is showing you the wrong thing.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66760" y="4434840"/>
            <a:ext cx="914400" cy="10972"/>
          </a:xfrm>
          <a:prstGeom prst="rect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66760" y="4572000"/>
            <a:ext cx="313913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Owners: compare with what a tenant pays you today (₹75,000 assumed). Lessees: rent is ₹75,000. Breakeven for a leased Outpost is around 41% occupancy.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989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Illustrative only — ₹9,000 average nightly rate, ₹75,000 market rent. You receive a projection for your own property during assessment.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8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12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43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374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9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436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98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529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91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653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84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746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777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80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39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901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932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963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994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025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56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87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118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149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211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242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1273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1304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366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1397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428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1459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152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1552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1583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1614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1676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1707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1738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1831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1862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1893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1924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1955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1986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2017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2048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2079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211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6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64" grpId="0" animBg="1"/>
      <p:bldP spid="21" grpId="0" animBg="1"/>
      <p:bldP spid="22" grpId="0" animBg="1"/>
      <p:bldP spid="27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65" grpId="0" animBg="1"/>
      <p:bldP spid="66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7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16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THREE WAYS TO RUN A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Compare honestly.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2039112"/>
            <a:ext cx="3687775" cy="4279392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148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DO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48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A CO-HOST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48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OUTPOST CLASSIC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532888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334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Commission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6334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None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6334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15–20%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633472"/>
            <a:ext cx="34134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8%, min ₹4,999/month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907792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083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Joining fee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0083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None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0083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₹20,000–50,000 typical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008376"/>
            <a:ext cx="34134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₹59,999 one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282696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8327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Setup and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3832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Yours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38327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Yours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383279"/>
            <a:ext cx="34134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₹1,11,111 · 90+ pieces, shoot, launch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657600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7581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Cleaning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37581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You arrange and pay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7581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Usually you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758184"/>
            <a:ext cx="34134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We arrange — at cost from bookings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032504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133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Repairs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4133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You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133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Usually you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133088"/>
            <a:ext cx="34134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Handled to ₹2,000 per incident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407408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5079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Guests at 2am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5079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You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45079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Rarely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4507992"/>
            <a:ext cx="34134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Us, 24/7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782312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882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Pricing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4882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You guess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48828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Usually manual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4882896"/>
            <a:ext cx="34134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AI, daily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5157216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2578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Marketing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5257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Your problem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52578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Listing only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5257800"/>
            <a:ext cx="34134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Creator launch + direct bookings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" y="5532120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56327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Your time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0" y="56327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10–15 hrs a month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56327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4–6 hrs a month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5632704"/>
            <a:ext cx="34134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Close to zero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5907024"/>
            <a:ext cx="7132320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6007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If it underperforms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08960" y="60076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Your loss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0" y="6007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Your loss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01000" y="6007608"/>
            <a:ext cx="34134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9A66B"/>
                </a:solidFill>
                <a:latin typeface="Manrope"/>
                <a:ea typeface="Manrope"/>
                <a:cs typeface="Manrope"/>
              </a:rPr>
              <a:t>We pay you the difference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83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16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49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82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1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44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81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1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47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13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46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712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4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77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811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844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877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943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976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009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042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075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10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141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174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207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1273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306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372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405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143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1471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504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537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1603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636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669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1702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1735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1768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1801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1834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1867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1933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1966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1999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2032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2065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8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17 / 24</a:t>
            </a:r>
          </a:p>
        </p:txBody>
      </p:sp>
      <p:pic>
        <p:nvPicPr>
          <p:cNvPr id="7" name="static-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8056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C9A66B"/>
                </a:solidFill>
                <a:latin typeface="Manrope"/>
                <a:ea typeface="Manrope"/>
                <a:cs typeface="Manrope"/>
              </a:rPr>
              <a:t>YOUR NAME ON THE DOOR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353312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An identity, not a listing number.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377440"/>
            <a:ext cx="3055467" cy="10972"/>
          </a:xfrm>
          <a:prstGeom prst="rect">
            <a:avLst/>
          </a:prstGeom>
          <a:solidFill>
            <a:srgbClr val="3B3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514600"/>
            <a:ext cx="30554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A higher nightly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880360"/>
            <a:ext cx="305546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Design detail supports premium pricing. You stop being compared to the flat next door.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0427" y="2377440"/>
            <a:ext cx="3055467" cy="10972"/>
          </a:xfrm>
          <a:prstGeom prst="rect">
            <a:avLst/>
          </a:prstGeom>
          <a:solidFill>
            <a:srgbClr val="3B3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0427" y="2514600"/>
            <a:ext cx="30554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Free guest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0427" y="2880360"/>
            <a:ext cx="305546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Guests photograph and post branded details unprompted.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611880"/>
            <a:ext cx="3055467" cy="10972"/>
          </a:xfrm>
          <a:prstGeom prst="rect">
            <a:avLst/>
          </a:prstGeom>
          <a:solidFill>
            <a:srgbClr val="3B3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749040"/>
            <a:ext cx="30554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Instant credibility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114800"/>
            <a:ext cx="305546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Reads as a hospitality brand, not someone’s spare flat.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0427" y="3611880"/>
            <a:ext cx="3055467" cy="10972"/>
          </a:xfrm>
          <a:prstGeom prst="rect">
            <a:avLst/>
          </a:prstGeom>
          <a:solidFill>
            <a:srgbClr val="3B3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0427" y="3749040"/>
            <a:ext cx="30554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The collection effect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0427" y="4114800"/>
            <a:ext cx="305546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Guests who stay in one Red Flag property recognise and book others.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4846320"/>
            <a:ext cx="3055467" cy="10972"/>
          </a:xfrm>
          <a:prstGeom prst="rect">
            <a:avLst/>
          </a:prstGeom>
          <a:solidFill>
            <a:srgbClr val="3B3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4983480"/>
            <a:ext cx="30554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Exit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349240"/>
            <a:ext cx="305546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A branded, operating, revenue-producing property sells for more than a furnished flat.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0427" y="4846320"/>
            <a:ext cx="3055467" cy="10972"/>
          </a:xfrm>
          <a:prstGeom prst="rect">
            <a:avLst/>
          </a:prstGeom>
          <a:solidFill>
            <a:srgbClr val="3B35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0427" y="4983480"/>
            <a:ext cx="30554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Your name on the door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0427" y="5349240"/>
            <a:ext cx="305546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An engraved RED FLAG × [Your Property] plate.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3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2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1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3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48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67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86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5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1" grpId="0" animBg="1"/>
      <p:bldP spid="14" grpId="0" animBg="1"/>
      <p:bldP spid="12" grpId="0" animBg="1"/>
      <p:bldP spid="15" grpId="0" animBg="1"/>
      <p:bldP spid="16" grpId="0" animBg="1"/>
      <p:bldP spid="19" grpId="0" animBg="1"/>
      <p:bldP spid="17" grpId="0" animBg="1"/>
      <p:bldP spid="20" grpId="0" animBg="1"/>
      <p:bldP spid="18" grpId="0" animBg="1"/>
      <p:bldP spid="21" grpId="0" animBg="1"/>
      <p:bldP spid="22" grpId="0" animBg="1"/>
      <p:bldP spid="25" grpId="0" animBg="1"/>
      <p:bldP spid="23" grpId="0" animBg="1"/>
      <p:bldP spid="26" grpId="0" animBg="1"/>
      <p:bldP spid="24" grpId="0" animBg="1"/>
      <p:bldP spid="27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IS THIS FOR YOU?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Honest fit, both 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03120"/>
            <a:ext cx="5181447" cy="3977639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454136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It works well 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4541367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/>
            </a:r>
            <a:r>
              <a:rPr sz="1150" b="1">
                <a:solidFill>
                  <a:srgbClr val="A8834A"/>
                </a:solidFill>
                <a:latin typeface="Manrope"/>
              </a:rPr>
              <a:t>✓  </a:t>
            </a:r>
            <a:r>
              <a:rPr sz="1150">
                <a:solidFill>
                  <a:srgbClr val="1C1A17"/>
                </a:solidFill>
                <a:latin typeface="Manrope"/>
              </a:rPr>
              <a:t>You own a flat or villa that is empty, under-used, or earning a modest rent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>
                <a:solidFill>
                  <a:srgbClr val="A8834A"/>
                </a:solidFill>
                <a:latin typeface="Manrope"/>
              </a:rPr>
              <a:t>✓  </a:t>
            </a:r>
            <a:r>
              <a:rPr sz="1150">
                <a:solidFill>
                  <a:srgbClr val="1C1A17"/>
                </a:solidFill>
                <a:latin typeface="Manrope"/>
              </a:rPr>
              <a:t>You can put ₹1,71,110 to work without needing it back next month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>
                <a:solidFill>
                  <a:srgbClr val="A8834A"/>
                </a:solidFill>
                <a:latin typeface="Manrope"/>
              </a:rPr>
              <a:t>✓  </a:t>
            </a:r>
            <a:r>
              <a:rPr sz="1150">
                <a:solidFill>
                  <a:srgbClr val="1C1A17"/>
                </a:solidFill>
                <a:latin typeface="Manrope"/>
              </a:rPr>
              <a:t>You want the income without the job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>
                <a:solidFill>
                  <a:srgbClr val="A8834A"/>
                </a:solidFill>
                <a:latin typeface="Manrope"/>
              </a:rPr>
              <a:t>✓  </a:t>
            </a:r>
            <a:r>
              <a:rPr sz="1150">
                <a:solidFill>
                  <a:srgbClr val="1C1A17"/>
                </a:solidFill>
                <a:latin typeface="Manrope"/>
              </a:rPr>
              <a:t>Your property is in or near Goa, Mumbai, Bengaluru, Delhi NCR or Lucknow — or you live abroad and own one there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2103120"/>
            <a:ext cx="5181447" cy="3977639"/>
          </a:xfrm>
          <a:prstGeom prst="rect">
            <a:avLst/>
          </a:prstGeom>
          <a:solidFill>
            <a:srgbClr val="F6F1EA"/>
          </a:solidFill>
          <a:ln w="12700">
            <a:solidFill>
              <a:srgbClr val="D9CF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487" y="2331720"/>
            <a:ext cx="454136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It is not for you 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487" y="2971800"/>
            <a:ext cx="4541367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5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/>
            </a:r>
            <a:r>
              <a:rPr sz="1150" b="1">
                <a:solidFill>
                  <a:srgbClr val="D93A2F"/>
                </a:solidFill>
                <a:latin typeface="Manrope"/>
              </a:rPr>
              <a:t>✕  </a:t>
            </a:r>
            <a:r>
              <a:rPr sz="1150">
                <a:solidFill>
                  <a:srgbClr val="1C1A17"/>
                </a:solidFill>
                <a:latin typeface="Manrope"/>
              </a:rPr>
              <a:t>You want a guaranteed monthly income regardless of bookings. Short stays don’t work that way — anyone promising it is not telling you the truth.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>
                <a:solidFill>
                  <a:srgbClr val="D93A2F"/>
                </a:solidFill>
                <a:latin typeface="Manrope"/>
              </a:rPr>
              <a:t>✕  </a:t>
            </a:r>
            <a:r>
              <a:rPr sz="1150">
                <a:solidFill>
                  <a:srgbClr val="1C1A17"/>
                </a:solidFill>
                <a:latin typeface="Manrope"/>
              </a:rPr>
              <a:t>You want to set your own nightly rates. Our pricing control is what makes the Earn-Back Promise possible.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>
                <a:solidFill>
                  <a:srgbClr val="D93A2F"/>
                </a:solidFill>
                <a:latin typeface="Manrope"/>
              </a:rPr>
              <a:t>✕  </a:t>
            </a:r>
            <a:r>
              <a:rPr sz="1150">
                <a:solidFill>
                  <a:srgbClr val="1C1A17"/>
                </a:solidFill>
                <a:latin typeface="Manrope"/>
              </a:rPr>
              <a:t>You need the property free for long stretches. Owner nights are agreed at signing.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50" b="1">
                <a:solidFill>
                  <a:srgbClr val="D93A2F"/>
                </a:solidFill>
                <a:latin typeface="Manrope"/>
              </a:rPr>
              <a:t>✕  </a:t>
            </a:r>
            <a:r>
              <a:rPr sz="1150">
                <a:solidFill>
                  <a:srgbClr val="1C1A17"/>
                </a:solidFill>
                <a:latin typeface="Manrope"/>
              </a:rPr>
              <a:t>Your society or landlord prohibits short stays and won’t give written permission.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1" grpId="0" animBg="1"/>
      <p:bldP spid="14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19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WHAT WE NEED FROM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Six simple requirements.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3423818" cy="178308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77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Age &amp; residency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28751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You are 18 or older, and an Indian citizen or valid resident.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3938" y="2148840"/>
            <a:ext cx="3423818" cy="178308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8258" y="2377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8258" y="288036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8258" y="3246120"/>
            <a:ext cx="28751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Proof of ownership, or a lease permitting short-stay 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2076" y="2148840"/>
            <a:ext cx="3423818" cy="178308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6396" y="2377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288036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Permission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3246120"/>
            <a:ext cx="28751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Written permission from your society or landlord where required.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114800"/>
            <a:ext cx="3423818" cy="178308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434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463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Clear title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12080"/>
            <a:ext cx="28751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The property free of legal dispute or encumbrance.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3938" y="4114800"/>
            <a:ext cx="3423818" cy="178308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8258" y="43434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8258" y="48463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KYC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8258" y="5212080"/>
            <a:ext cx="28751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Basic KYC and bank details for payouts.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2076" y="4114800"/>
            <a:ext cx="3423818" cy="178308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6396" y="43434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A8834A"/>
                </a:solidFill>
                <a:latin typeface="Fraunces"/>
                <a:ea typeface="Manrope"/>
                <a:cs typeface="Manrope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6396" y="48463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6396" y="5212080"/>
            <a:ext cx="28751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Access for cleaning, maintenance and guests — and approval of major repairs within 7 days.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23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469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42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61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8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761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9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34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53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126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199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27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34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418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491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9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1564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9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9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637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900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900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9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9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783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900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900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1856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900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900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929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2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7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11" grpId="0" animBg="1"/>
      <p:bldP spid="15" grpId="0" animBg="1"/>
      <p:bldP spid="19" grpId="0" animBg="1"/>
      <p:bldP spid="12" grpId="0" animBg="1"/>
      <p:bldP spid="16" grpId="0" animBg="1"/>
      <p:bldP spid="20" grpId="0" animBg="1"/>
      <p:bldP spid="21" grpId="0" animBg="1"/>
      <p:bldP spid="25" grpId="0" animBg="1"/>
      <p:bldP spid="29" grpId="0" animBg="1"/>
      <p:bldP spid="22" grpId="0" animBg="1"/>
      <p:bldP spid="26" grpId="0" animBg="1"/>
      <p:bldP spid="30" grpId="0" animBg="1"/>
      <p:bldP spid="23" grpId="0" animBg="1"/>
      <p:bldP spid="27" grpId="0" animBg="1"/>
      <p:bldP spid="31" grpId="0" animBg="1"/>
      <p:bldP spid="24" grpId="0" animBg="1"/>
      <p:bldP spid="28" grpId="0" animBg="1"/>
      <p:bldP spid="32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20 / 24</a:t>
            </a:r>
          </a:p>
        </p:txBody>
      </p:sp>
      <p:pic>
        <p:nvPicPr>
          <p:cNvPr id="7" name="static-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0"/>
            <a:ext cx="6522415" cy="6858000"/>
          </a:xfrm>
          <a:prstGeom prst="rect">
            <a:avLst/>
          </a:prstGeom>
        </p:spPr>
      </p:pic>
      <p:sp>
        <p:nvSpPr>
          <p:cNvPr id="8" name="static-mask"/>
          <p:cNvSpPr/>
          <p:nvPr/>
        </p:nvSpPr>
        <p:spPr>
          <a:xfrm>
            <a:off x="5669280" y="0"/>
            <a:ext cx="1097280" cy="6858000"/>
          </a:xfrm>
          <a:prstGeom prst="rect">
            <a:avLst/>
          </a:prstGeom>
          <a:gradFill rotWithShape="1" flip="none">
            <a:gsLst>
              <a:gs pos="0">
                <a:srgbClr val="161311">
                  <a:alpha val="100000"/>
                </a:srgbClr>
              </a:gs>
              <a:gs pos="100000">
                <a:srgbClr val="161311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C9A66B"/>
                </a:solidFill>
                <a:latin typeface="Manrope"/>
                <a:ea typeface="Manrope"/>
                <a:cs typeface="Manrope"/>
              </a:rPr>
              <a:t>WHERE WE 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Goa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8424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Mumbai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51176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Bengaluru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18104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Delhi NCR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8503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Lucknow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434840"/>
            <a:ext cx="4572000" cy="10972"/>
          </a:xfrm>
          <a:prstGeom prst="rect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0" i="1">
                <a:solidFill>
                  <a:srgbClr val="C9A66B"/>
                </a:solidFill>
                <a:latin typeface="Fraunces"/>
                <a:ea typeface="Manrope"/>
                <a:cs typeface="Manrope"/>
              </a:rPr>
              <a:t>Living in Dubai, London or New York?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8348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D6CCBE"/>
                </a:solidFill>
                <a:latin typeface="Manrope"/>
                <a:ea typeface="Manrope"/>
                <a:cs typeface="Manrope"/>
              </a:rPr>
              <a:t>Plant your flag at home — we run your Indian property end to end, fully remotely, and you join without flying back. Dubai Outposts open in 2027.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9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21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FREQUENTLY ASKED QUESTIONS  ·  1 OF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Straight answers.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938527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What is Outpost Classic?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258568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A programme where Red Flag designs, brands, launches and runs your short-stay property end to end. You pay a one-time programme fee and 8% of booking revenue.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9178" y="1874519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9178" y="1965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3226" y="1938527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What does it cost?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3226" y="2258568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₹59,999 franchise fee plus ₹1,11,111 setup, one time — ₹1,71,110 for up to three keys, plus GST. Extra keys ₹45,000 each. Commission 8%, min ₹4,999 a month.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2556" y="1874519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2556" y="1965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6604" y="1938527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When do I pay?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6604" y="2258568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After your property passes assessment and you sign. Nothing before that. The free assessment carries no obligation.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291839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38327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3355847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I already own a property. What do I pay?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3675887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The programme fee, electricity and utilities. No rent, no deposit.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9178" y="3291839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9178" y="338327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3226" y="3355847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I don’t own a property. Can I still join?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3226" y="3675887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Yes. We help you find and assess a high-demand property before you sign a lease. You pay the programme fee, and rent and deposit to your landlord.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2556" y="3291839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2556" y="338327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6604" y="3355847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What if my property doesn’t qualify?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6604" y="3675887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We tell you why, in writing, and you pay nothing. We would rather decline a property than run one that will disappoint you.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709160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800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" y="4773168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What is the Earn-Back Promise?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" y="5093208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If net operating profit in the first 12 full months is less than the programme fee you paid, we pay the difference within 30 days of a valid claim. Full terms in the Programme Terms.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99178" y="4709160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99178" y="4800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83226" y="4773168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Is my return guaranteed?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83226" y="5093208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No. Earnings depend on occupancy, rates, season and location, and a property can earn less than its costs. The only guarantee is the Earn-Back Promise, exactly as written.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12556" y="4709160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12556" y="4800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6604" y="4773168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Who pays for cleaning and repairs?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96604" y="5093208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Cleaning, linen, consumables and repairs up to ₹2,000 per incident are arranged by us and deducted at cost, itemised. Anything above ₹2,000 needs your approval first.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12" grpId="0" animBg="1"/>
      <p:bldP spid="16" grpId="0" animBg="1"/>
      <p:bldP spid="20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36" grpId="0" animBg="1"/>
      <p:bldP spid="40" grpId="0" animBg="1"/>
      <p:bldP spid="44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22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FREQUENTLY ASKED QUESTIONS  ·  2 OF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More straight answers.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938527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Why is your commission only 8%?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258568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Our operations run on an AI system rather than a large payroll, so each extra property costs us little to run. The first 200 partners lock 8% for life.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9178" y="1874519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9178" y="1965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3226" y="1938527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How long until my property is live?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3226" y="2258568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Under 45 days from signing, if the property is ready to work 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2556" y="1874519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2556" y="19659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6604" y="1938527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When and how am I paid?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6604" y="2258568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Twice a month, on the 1st and 16th, with a statement showing every booking and deduction.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291839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38327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3355847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Can I still use my property?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3675887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Yes. Owner nights are agreed at signing and blocked in the calendar. Nights beyond that allowance are excluded from the Earn-Back Promise.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9178" y="3291839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9178" y="338327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3226" y="3355847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Can I add a second property later?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3226" y="3675887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Yes, and performing partners are prioritised. Each property has its own programme fee and its own Earn-Back Promise.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2556" y="3291839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2556" y="338327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6604" y="3355847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I live abroad. Can I join?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6604" y="3675887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Yes. NRIs can join fully remotely for a property in India. Payouts go to your NRO account and Indian tax is deducted at source as the law requires.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709160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800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" y="4773168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Can I leave the programme?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" y="5093208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Yes, with 90 days’ notice after an initial 12-month term. The fee is not refundable except under the Earn-Back Promise; everything installed stays yours.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99178" y="4709160"/>
            <a:ext cx="3393338" cy="10972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99178" y="4800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83226" y="4773168"/>
            <a:ext cx="300929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What happens to the branding if I leave?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83226" y="5093208"/>
            <a:ext cx="300929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A443D"/>
                </a:solidFill>
                <a:latin typeface="Manrope"/>
                <a:ea typeface="Manrope"/>
                <a:cs typeface="Manrope"/>
              </a:rPr>
              <a:t>We remove the Red Flag name and door plate. Furniture and fittings you paid for stay with you.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0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1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63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4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5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6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7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18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40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515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625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735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955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6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12" grpId="0" animBg="1"/>
      <p:bldP spid="16" grpId="0" animBg="1"/>
      <p:bldP spid="20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36" grpId="0" animBg="1"/>
      <p:bldP spid="40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rome"/>
          <p:cNvSpPr txBox="1"/>
          <p:nvPr/>
        </p:nvSpPr>
        <p:spPr>
          <a:xfrm>
            <a:off x="685800" y="4754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OUTPOST CLASSIC  ·  PARTNER GUIDE</a:t>
            </a:r>
          </a:p>
        </p:txBody>
      </p:sp>
      <p:sp>
        <p:nvSpPr>
          <p:cNvPr id="5" name="chrome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REDFLAGHOMES.IN</a:t>
            </a:r>
          </a:p>
        </p:txBody>
      </p:sp>
      <p:sp>
        <p:nvSpPr>
          <p:cNvPr id="6" name="chrome"/>
          <p:cNvSpPr txBox="1"/>
          <p:nvPr/>
        </p:nvSpPr>
        <p:spPr>
          <a:xfrm>
            <a:off x="10134295" y="6400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200">
                <a:solidFill>
                  <a:srgbClr val="8A8074"/>
                </a:solidFill>
                <a:latin typeface="Manrope"/>
                <a:ea typeface="Manrope"/>
                <a:cs typeface="Manrope"/>
              </a:rPr>
              <a:t>23 / 24</a:t>
            </a:r>
          </a:p>
        </p:txBody>
      </p:sp>
      <p:pic>
        <p:nvPicPr>
          <p:cNvPr id="7" name="static-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0"/>
            <a:ext cx="3779215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051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A8834A"/>
                </a:solidFill>
                <a:latin typeface="Manrope"/>
                <a:ea typeface="Manrope"/>
                <a:cs typeface="Manrope"/>
              </a:rPr>
              <a:t>YOUR 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0" i="0">
                <a:solidFill>
                  <a:srgbClr val="1C1A17"/>
                </a:solidFill>
                <a:latin typeface="Fraunces"/>
                <a:ea typeface="Manrope"/>
                <a:cs typeface="Manrope"/>
              </a:rPr>
              <a:t>It takes 48 hours.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350008"/>
            <a:ext cx="384048" cy="384048"/>
          </a:xfrm>
          <a:prstGeom prst="ellipse">
            <a:avLst/>
          </a:prstGeom>
          <a:solidFill>
            <a:srgbClr val="D93A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752344"/>
            <a:ext cx="10972" cy="274320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4231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Apply for allocation at redflaghomes.in. Two minutes.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017520"/>
            <a:ext cx="384048" cy="384048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9067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419856"/>
            <a:ext cx="10972" cy="274320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09067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We call you — usually the same day — and ask about your property and your city.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685031"/>
            <a:ext cx="384048" cy="384048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58183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087368"/>
            <a:ext cx="10972" cy="274320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3758183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We assess it against real demand data, free, with no obligation.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4352544"/>
            <a:ext cx="384048" cy="384048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42569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754880"/>
            <a:ext cx="10972" cy="274320"/>
          </a:xfrm>
          <a:prstGeom prst="rect">
            <a:avLst/>
          </a:prstGeom>
          <a:solidFill>
            <a:srgbClr val="D9C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4425696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You receive a projection within 48 hours — your rent, your city, your numbers.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5020055"/>
            <a:ext cx="384048" cy="384048"/>
          </a:xfrm>
          <a:prstGeom prst="ellipse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093207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093207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C1A17"/>
                </a:solidFill>
                <a:latin typeface="Manrope"/>
                <a:ea typeface="Manrope"/>
                <a:cs typeface="Manrope"/>
              </a:rPr>
              <a:t>If the numbers work for both of us, you sign and pay. Live in under 45 days.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D93A2F"/>
                </a:solidFill>
                <a:latin typeface="Manrope"/>
                <a:ea typeface="Manrope"/>
                <a:cs typeface="Manrope"/>
              </a:rPr>
              <a:t>LIMITED ALLOCATION  ·  APPLICATIONS REVIEWED IN THE ORDER RECEIVED</a:t>
            </a:r>
          </a:p>
        </p:txBody>
      </p:sp>
      <p:pic>
        <p:nvPicPr>
          <p:cNvPr id="3" name="!!logo" descr="logo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926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22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8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94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66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38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024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196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82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368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454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626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712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79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884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056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2" grpId="0" animBg="1"/>
      <p:bldP spid="15" grpId="0" animBg="1"/>
      <p:bldP spid="17" grpId="0" animBg="1"/>
      <p:bldP spid="16" grpId="0" animBg="1"/>
      <p:bldP spid="18" grpId="0" animBg="1"/>
      <p:bldP spid="19" grpId="0" animBg="1"/>
      <p:bldP spid="21" grpId="0" animBg="1"/>
      <p:bldP spid="20" grpId="0" animBg="1"/>
      <p:bldP spid="22" grpId="0" animBg="1"/>
      <p:bldP spid="23" grpId="0" animBg="1"/>
      <p:bldP spid="25" grpId="0" animBg="1"/>
      <p:bldP spid="24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atic-phot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static-mask"/>
          <p:cNvSpPr/>
          <p:nvPr/>
        </p:nvSpPr>
        <p:spPr>
          <a:xfrm>
            <a:off x="6583680" y="0"/>
            <a:ext cx="1645920" cy="6858000"/>
          </a:xfrm>
          <a:prstGeom prst="rect">
            <a:avLst/>
          </a:prstGeom>
          <a:gradFill rotWithShape="1" flip="none">
            <a:gsLst>
              <a:gs pos="0">
                <a:srgbClr val="161311">
                  <a:alpha val="100000"/>
                </a:srgbClr>
              </a:gs>
              <a:gs pos="100000">
                <a:srgbClr val="161311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 spc="250">
                <a:solidFill>
                  <a:srgbClr val="C9A66B"/>
                </a:solidFill>
                <a:latin typeface="Manrope"/>
                <a:ea typeface="Manrope"/>
                <a:cs typeface="Manrope"/>
              </a:rPr>
              <a:t>APPLY FOR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87168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5800" b="0" i="0">
                <a:solidFill>
                  <a:srgbClr val="F3ECE1"/>
                </a:solidFill>
                <a:latin typeface="Fraunces"/>
                <a:ea typeface="Manrope"/>
                <a:cs typeface="Manrope"/>
              </a:rPr>
              <a:t>redflaghomes.in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D6CCBE"/>
                </a:solidFill>
                <a:latin typeface="Manrope"/>
                <a:ea typeface="Manrope"/>
                <a:cs typeface="Manrope"/>
              </a:rPr>
              <a:t>Two minutes to apply. A projection for your own property within 48 hours — free, with no obligation.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526280"/>
            <a:ext cx="5486400" cy="10972"/>
          </a:xfrm>
          <a:prstGeom prst="rect">
            <a:avLst/>
          </a:prstGeom>
          <a:solidFill>
            <a:srgbClr val="A883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6634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3ECE1"/>
                </a:solidFill>
                <a:latin typeface="Manrope"/>
                <a:ea typeface="Manrope"/>
                <a:cs typeface="Manrope"/>
              </a:rPr>
              <a:t>hello@redflaghomes.in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83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Red Flag Homes Network · a company of Red Flag World Holdings Ltd, London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6928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A89E91"/>
                </a:solidFill>
                <a:latin typeface="Manrope"/>
                <a:ea typeface="Manrope"/>
                <a:cs typeface="Manrope"/>
              </a:rPr>
              <a:t>Figures are illustrative, based on a 3-key villa, ₹9,000 average nightly rate and ₹75,000 market rent. Returns are not guaranteed and a property can earn less than its costs. The Earn-Back Promise is subject to the Programme Terms. All prices plus applicable GST.</a:t>
            </a:r>
          </a:p>
        </p:txBody>
      </p:sp>
      <p:pic>
        <p:nvPicPr>
          <p:cNvPr id="5" name="!!logo" descr="log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548640"/>
            <a:ext cx="1188720" cy="1188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