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ic-bg" descr="paper_ivory.jpg"/>
          <p:cNvPicPr>
            <a:picLocks noChangeAspect="1"/>
          </p:cNvPicPr>
          <p:nvPr/>
        </p:nvPicPr>
        <p:blipFill>
          <a:blip r:embed="rId2"/>
          <a:stretch>
            <a:fillRect/>
          </a:stretch>
        </p:blipFill>
        <p:spPr>
          <a:xfrm>
            <a:off x="0" y="0"/>
            <a:ext cx="12191695" cy="6858000"/>
          </a:xfrm>
          <a:prstGeom prst="rect">
            <a:avLst/>
          </a:prstGeom>
        </p:spPr>
      </p:pic>
      <p:sp>
        <p:nvSpPr>
          <p:cNvPr id="3" name="static-frame"/>
          <p:cNvSpPr/>
          <p:nvPr/>
        </p:nvSpPr>
        <p:spPr>
          <a:xfrm>
            <a:off x="292608" y="292608"/>
            <a:ext cx="11606479" cy="6272784"/>
          </a:xfrm>
          <a:prstGeom prst="rect">
            <a:avLst/>
          </a:prstGeom>
          <a:noFill/>
          <a:ln w="7620">
            <a:solidFill>
              <a:srgbClr val="B9A27A"/>
            </a:solidFill>
          </a:ln>
        </p:spPr>
        <p:txBody>
          <a:bodyPr rtlCol="0" anchor="ctr"/>
          <a:lstStyle/>
          <a:p>
            <a:pPr algn="ctr"/>
          </a:p>
        </p:txBody>
      </p:sp>
      <p:sp>
        <p:nvSpPr>
          <p:cNvPr id="4" name="static-frame"/>
          <p:cNvSpPr/>
          <p:nvPr/>
        </p:nvSpPr>
        <p:spPr>
          <a:xfrm>
            <a:off x="347472" y="347472"/>
            <a:ext cx="11496751" cy="6163056"/>
          </a:xfrm>
          <a:prstGeom prst="rect">
            <a:avLst/>
          </a:prstGeom>
          <a:noFill/>
          <a:ln w="7620">
            <a:solidFill>
              <a:srgbClr val="B9A27A"/>
            </a:solidFill>
          </a:ln>
        </p:spPr>
        <p:txBody>
          <a:bodyPr rtlCol="0" anchor="ctr"/>
          <a:lstStyle/>
          <a:p>
            <a:pPr algn="ctr"/>
          </a:p>
        </p:txBody>
      </p:sp>
      <p:pic>
        <p:nvPicPr>
          <p:cNvPr id="5" name="static-art" descr="flag.png"/>
          <p:cNvPicPr>
            <a:picLocks noChangeAspect="1"/>
          </p:cNvPicPr>
          <p:nvPr/>
        </p:nvPicPr>
        <p:blipFill>
          <a:blip r:embed="rId3"/>
          <a:stretch>
            <a:fillRect/>
          </a:stretch>
        </p:blipFill>
        <p:spPr>
          <a:xfrm>
            <a:off x="5976975" y="685800"/>
            <a:ext cx="391885" cy="457200"/>
          </a:xfrm>
          <a:prstGeom prst="rect">
            <a:avLst/>
          </a:prstGeom>
        </p:spPr>
      </p:pic>
      <p:sp>
        <p:nvSpPr>
          <p:cNvPr id="6" name="TextBox 5"/>
          <p:cNvSpPr txBox="1"/>
          <p:nvPr/>
        </p:nvSpPr>
        <p:spPr>
          <a:xfrm>
            <a:off x="0" y="1298448"/>
            <a:ext cx="12191695" cy="228600"/>
          </a:xfrm>
          <a:prstGeom prst="rect">
            <a:avLst/>
          </a:prstGeom>
          <a:noFill/>
        </p:spPr>
        <p:txBody>
          <a:bodyPr wrap="square" lIns="0" rIns="0" tIns="0" bIns="0">
            <a:spAutoFit/>
          </a:bodyPr>
          <a:lstStyle/>
          <a:p>
            <a:pPr algn="ctr"/>
            <a:r>
              <a:rPr sz="850" b="0" i="0" spc="600">
                <a:solidFill>
                  <a:srgbClr val="8C8270"/>
                </a:solidFill>
                <a:latin typeface="EB Garamond"/>
                <a:ea typeface="EB Garamond"/>
                <a:cs typeface="EB Garamond"/>
              </a:rPr>
              <a:t>BRAND PRESENTATION</a:t>
            </a:r>
          </a:p>
        </p:txBody>
      </p:sp>
      <p:sp>
        <p:nvSpPr>
          <p:cNvPr id="7" name="TextBox 6"/>
          <p:cNvSpPr txBox="1"/>
          <p:nvPr/>
        </p:nvSpPr>
        <p:spPr>
          <a:xfrm>
            <a:off x="0" y="1600200"/>
            <a:ext cx="12191695" cy="1005840"/>
          </a:xfrm>
          <a:prstGeom prst="rect">
            <a:avLst/>
          </a:prstGeom>
          <a:noFill/>
        </p:spPr>
        <p:txBody>
          <a:bodyPr wrap="square" lIns="0" rIns="0" tIns="0" bIns="0">
            <a:spAutoFit/>
          </a:bodyPr>
          <a:lstStyle/>
          <a:p>
            <a:pPr algn="ctr">
              <a:lnSpc>
                <a:spcPct val="100000"/>
              </a:lnSpc>
            </a:pPr>
            <a:r>
              <a:rPr sz="6600" b="0" i="0">
                <a:solidFill>
                  <a:srgbClr val="1B1A17"/>
                </a:solidFill>
                <a:latin typeface="Libre Caslon Display"/>
                <a:ea typeface="EB Garamond"/>
                <a:cs typeface="EB Garamond"/>
              </a:rPr>
              <a:t>Red Flag Ritual</a:t>
            </a:r>
          </a:p>
        </p:txBody>
      </p:sp>
      <p:sp>
        <p:nvSpPr>
          <p:cNvPr id="8" name="TextBox 7"/>
          <p:cNvSpPr txBox="1"/>
          <p:nvPr/>
        </p:nvSpPr>
        <p:spPr>
          <a:xfrm>
            <a:off x="0" y="2697480"/>
            <a:ext cx="12191695" cy="457200"/>
          </a:xfrm>
          <a:prstGeom prst="rect">
            <a:avLst/>
          </a:prstGeom>
          <a:noFill/>
        </p:spPr>
        <p:txBody>
          <a:bodyPr wrap="square" lIns="0" rIns="0" tIns="0" bIns="0">
            <a:spAutoFit/>
          </a:bodyPr>
          <a:lstStyle/>
          <a:p>
            <a:pPr algn="ctr"/>
            <a:r>
              <a:rPr sz="2200" b="0" i="1">
                <a:solidFill>
                  <a:srgbClr val="1B1A17"/>
                </a:solidFill>
                <a:latin typeface="EB Garamond"/>
                <a:ea typeface="EB Garamond"/>
                <a:cs typeface="EB Garamond"/>
              </a:rPr>
              <a:t>Green flags only.</a:t>
            </a:r>
          </a:p>
        </p:txBody>
      </p:sp>
      <p:sp>
        <p:nvSpPr>
          <p:cNvPr id="9" name="Rectangle 8"/>
          <p:cNvSpPr/>
          <p:nvPr/>
        </p:nvSpPr>
        <p:spPr>
          <a:xfrm>
            <a:off x="5547207" y="3246120"/>
            <a:ext cx="1097280" cy="9144"/>
          </a:xfrm>
          <a:prstGeom prst="rect">
            <a:avLst/>
          </a:prstGeom>
          <a:solidFill>
            <a:srgbClr val="B9A27A"/>
          </a:solidFill>
          <a:ln>
            <a:noFill/>
          </a:ln>
        </p:spPr>
        <p:txBody>
          <a:bodyPr rtlCol="0" anchor="ctr"/>
          <a:lstStyle/>
          <a:p>
            <a:pPr algn="ctr"/>
          </a:p>
        </p:txBody>
      </p:sp>
      <p:sp>
        <p:nvSpPr>
          <p:cNvPr id="10" name="TextBox 9"/>
          <p:cNvSpPr txBox="1"/>
          <p:nvPr/>
        </p:nvSpPr>
        <p:spPr>
          <a:xfrm>
            <a:off x="0" y="3383280"/>
            <a:ext cx="12191695" cy="365760"/>
          </a:xfrm>
          <a:prstGeom prst="rect">
            <a:avLst/>
          </a:prstGeom>
          <a:noFill/>
        </p:spPr>
        <p:txBody>
          <a:bodyPr wrap="square" lIns="0" rIns="0" tIns="0" bIns="0">
            <a:spAutoFit/>
          </a:bodyPr>
          <a:lstStyle/>
          <a:p>
            <a:pPr algn="ctr"/>
            <a:r>
              <a:rPr sz="1300" b="0" i="0">
                <a:solidFill>
                  <a:srgbClr val="4A4439"/>
                </a:solidFill>
                <a:latin typeface="EB Garamond"/>
                <a:ea typeface="EB Garamond"/>
                <a:cs typeface="EB Garamond"/>
              </a:rPr>
              <a:t>Signature-scent amenities for stays worth remembering.</a:t>
            </a:r>
          </a:p>
        </p:txBody>
      </p:sp>
      <p:pic>
        <p:nvPicPr>
          <p:cNvPr id="11" name="static-art" descr="heirlooms.png"/>
          <p:cNvPicPr>
            <a:picLocks noChangeAspect="1"/>
          </p:cNvPicPr>
          <p:nvPr/>
        </p:nvPicPr>
        <p:blipFill>
          <a:blip r:embed="rId4"/>
          <a:stretch>
            <a:fillRect/>
          </a:stretch>
        </p:blipFill>
        <p:spPr>
          <a:xfrm>
            <a:off x="3855567" y="3794760"/>
            <a:ext cx="4480560" cy="2588768"/>
          </a:xfrm>
          <a:prstGeom prst="rect">
            <a:avLst/>
          </a:prstGeom>
        </p:spPr>
      </p:pic>
    </p:spTree>
  </p:cSld>
  <p:clrMapOvr>
    <a:masterClrMapping/>
  </p:clrMapOvr>
  <p:transition spd="slow" advClick="1">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par>
                                <p:cTn id="8" presetID="42" presetClass="entr" presetSubtype="0" fill="hold" grpId="0" nodeType="withEffect">
                                  <p:stCondLst>
                                    <p:cond delay="39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900"/>
                                        <p:tgtEl>
                                          <p:spTgt spid="7"/>
                                        </p:tgtEl>
                                      </p:cBhvr>
                                    </p:animEffect>
                                    <p:anim calcmode="lin" valueType="num">
                                      <p:cBhvr>
                                        <p:cTn id="11" dur="900" decel="100000"/>
                                        <p:tgtEl>
                                          <p:spTgt spid="7"/>
                                        </p:tgtEl>
                                        <p:attrNameLst>
                                          <p:attrName>ppt_x</p:attrName>
                                        </p:attrNameLst>
                                      </p:cBhvr>
                                      <p:tavLst>
                                        <p:tav tm="0">
                                          <p:val>
                                            <p:strVal val="#ppt_x"/>
                                          </p:val>
                                        </p:tav>
                                        <p:tav tm="100000">
                                          <p:val>
                                            <p:strVal val="#ppt_x"/>
                                          </p:val>
                                        </p:tav>
                                      </p:tavLst>
                                    </p:anim>
                                    <p:anim calcmode="lin" valueType="num">
                                      <p:cBhvr>
                                        <p:cTn id="12" dur="900" decel="100000"/>
                                        <p:tgtEl>
                                          <p:spTgt spid="7"/>
                                        </p:tgtEl>
                                        <p:attrNameLst>
                                          <p:attrName>ppt_y</p:attrName>
                                        </p:attrNameLst>
                                      </p:cBhvr>
                                      <p:tavLst>
                                        <p:tav tm="0">
                                          <p:val>
                                            <p:strVal val="#ppt_y+.035"/>
                                          </p:val>
                                        </p:tav>
                                        <p:tav tm="100000">
                                          <p:val>
                                            <p:strVal val="#ppt_y"/>
                                          </p:val>
                                        </p:tav>
                                      </p:tavLst>
                                    </p:anim>
                                  </p:childTnLst>
                                </p:cTn>
                              </p:par>
                              <p:par>
                                <p:cTn id="13" presetID="42" presetClass="entr" presetSubtype="0" fill="hold" grpId="0" nodeType="withEffect">
                                  <p:stCondLst>
                                    <p:cond delay="53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900"/>
                                        <p:tgtEl>
                                          <p:spTgt spid="8"/>
                                        </p:tgtEl>
                                      </p:cBhvr>
                                    </p:animEffect>
                                    <p:anim calcmode="lin" valueType="num">
                                      <p:cBhvr>
                                        <p:cTn id="16" dur="900" decel="100000"/>
                                        <p:tgtEl>
                                          <p:spTgt spid="8"/>
                                        </p:tgtEl>
                                        <p:attrNameLst>
                                          <p:attrName>ppt_x</p:attrName>
                                        </p:attrNameLst>
                                      </p:cBhvr>
                                      <p:tavLst>
                                        <p:tav tm="0">
                                          <p:val>
                                            <p:strVal val="#ppt_x"/>
                                          </p:val>
                                        </p:tav>
                                        <p:tav tm="100000">
                                          <p:val>
                                            <p:strVal val="#ppt_x"/>
                                          </p:val>
                                        </p:tav>
                                      </p:tavLst>
                                    </p:anim>
                                    <p:anim calcmode="lin" valueType="num">
                                      <p:cBhvr>
                                        <p:cTn id="17" dur="900" decel="100000"/>
                                        <p:tgtEl>
                                          <p:spTgt spid="8"/>
                                        </p:tgtEl>
                                        <p:attrNameLst>
                                          <p:attrName>ppt_y</p:attrName>
                                        </p:attrNameLst>
                                      </p:cBhvr>
                                      <p:tavLst>
                                        <p:tav tm="0">
                                          <p:val>
                                            <p:strVal val="#ppt_y+.035"/>
                                          </p:val>
                                        </p:tav>
                                        <p:tav tm="100000">
                                          <p:val>
                                            <p:strVal val="#ppt_y"/>
                                          </p:val>
                                        </p:tav>
                                      </p:tavLst>
                                    </p:anim>
                                  </p:childTnLst>
                                </p:cTn>
                              </p:par>
                              <p:par>
                                <p:cTn id="18" presetID="22" presetClass="entr" presetSubtype="8" fill="hold" grpId="0" nodeType="withEffect">
                                  <p:stCondLst>
                                    <p:cond delay="67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700"/>
                                        <p:tgtEl>
                                          <p:spTgt spid="9"/>
                                        </p:tgtEl>
                                      </p:cBhvr>
                                    </p:animEffect>
                                  </p:childTnLst>
                                </p:cTn>
                              </p:par>
                              <p:par>
                                <p:cTn id="21" presetID="10" presetClass="entr" presetSubtype="0" fill="hold" grpId="0" nodeType="withEffect">
                                  <p:stCondLst>
                                    <p:cond delay="81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7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ic-bg" descr="paper_ivory.jpg"/>
          <p:cNvPicPr>
            <a:picLocks noChangeAspect="1"/>
          </p:cNvPicPr>
          <p:nvPr/>
        </p:nvPicPr>
        <p:blipFill>
          <a:blip r:embed="rId2"/>
          <a:stretch>
            <a:fillRect/>
          </a:stretch>
        </p:blipFill>
        <p:spPr>
          <a:xfrm>
            <a:off x="0" y="0"/>
            <a:ext cx="12191695" cy="6858000"/>
          </a:xfrm>
          <a:prstGeom prst="rect">
            <a:avLst/>
          </a:prstGeom>
        </p:spPr>
      </p:pic>
      <p:sp>
        <p:nvSpPr>
          <p:cNvPr id="3" name="static-frame"/>
          <p:cNvSpPr/>
          <p:nvPr/>
        </p:nvSpPr>
        <p:spPr>
          <a:xfrm>
            <a:off x="292608" y="292608"/>
            <a:ext cx="11606479" cy="6272784"/>
          </a:xfrm>
          <a:prstGeom prst="rect">
            <a:avLst/>
          </a:prstGeom>
          <a:noFill/>
          <a:ln w="7620">
            <a:solidFill>
              <a:srgbClr val="B9A27A"/>
            </a:solidFill>
          </a:ln>
        </p:spPr>
        <p:txBody>
          <a:bodyPr rtlCol="0" anchor="ctr"/>
          <a:lstStyle/>
          <a:p>
            <a:pPr algn="ctr"/>
          </a:p>
        </p:txBody>
      </p:sp>
      <p:sp>
        <p:nvSpPr>
          <p:cNvPr id="4" name="static-frame"/>
          <p:cNvSpPr/>
          <p:nvPr/>
        </p:nvSpPr>
        <p:spPr>
          <a:xfrm>
            <a:off x="347472" y="347472"/>
            <a:ext cx="11496751" cy="6163056"/>
          </a:xfrm>
          <a:prstGeom prst="rect">
            <a:avLst/>
          </a:prstGeom>
          <a:noFill/>
          <a:ln w="7620">
            <a:solidFill>
              <a:srgbClr val="B9A27A"/>
            </a:solidFill>
          </a:ln>
        </p:spPr>
        <p:txBody>
          <a:bodyPr rtlCol="0" anchor="ctr"/>
          <a:lstStyle/>
          <a:p>
            <a:pPr algn="ctr"/>
          </a:p>
        </p:txBody>
      </p:sp>
      <p:sp>
        <p:nvSpPr>
          <p:cNvPr id="5" name="chrome"/>
          <p:cNvSpPr txBox="1"/>
          <p:nvPr/>
        </p:nvSpPr>
        <p:spPr>
          <a:xfrm>
            <a:off x="0" y="6199632"/>
            <a:ext cx="12191695" cy="228600"/>
          </a:xfrm>
          <a:prstGeom prst="rect">
            <a:avLst/>
          </a:prstGeom>
          <a:noFill/>
        </p:spPr>
        <p:txBody>
          <a:bodyPr wrap="square" lIns="0" rIns="0" tIns="0" bIns="0">
            <a:spAutoFit/>
          </a:bodyPr>
          <a:lstStyle/>
          <a:p>
            <a:pPr algn="ctr"/>
            <a:r>
              <a:rPr sz="750" b="0" i="0" spc="400">
                <a:solidFill>
                  <a:srgbClr val="8C8270"/>
                </a:solidFill>
                <a:latin typeface="EB Garamond"/>
                <a:ea typeface="EB Garamond"/>
                <a:cs typeface="EB Garamond"/>
              </a:rPr>
              <a:t>RED FLAG RITUAL</a:t>
            </a:r>
          </a:p>
        </p:txBody>
      </p:sp>
      <p:sp>
        <p:nvSpPr>
          <p:cNvPr id="6" name="chrome"/>
          <p:cNvSpPr txBox="1"/>
          <p:nvPr/>
        </p:nvSpPr>
        <p:spPr>
          <a:xfrm>
            <a:off x="0" y="5961888"/>
            <a:ext cx="12191695" cy="228600"/>
          </a:xfrm>
          <a:prstGeom prst="rect">
            <a:avLst/>
          </a:prstGeom>
          <a:noFill/>
        </p:spPr>
        <p:txBody>
          <a:bodyPr wrap="square" lIns="0" rIns="0" tIns="0" bIns="0">
            <a:spAutoFit/>
          </a:bodyPr>
          <a:lstStyle/>
          <a:p>
            <a:pPr algn="ctr"/>
            <a:r>
              <a:rPr sz="1000" b="0" i="0">
                <a:solidFill>
                  <a:srgbClr val="B9A27A"/>
                </a:solidFill>
                <a:latin typeface="Libre Caslon Display"/>
                <a:ea typeface="EB Garamond"/>
                <a:cs typeface="EB Garamond"/>
              </a:rPr>
              <a:t>II</a:t>
            </a:r>
          </a:p>
        </p:txBody>
      </p:sp>
      <p:sp>
        <p:nvSpPr>
          <p:cNvPr id="7" name="TextBox 6"/>
          <p:cNvSpPr txBox="1"/>
          <p:nvPr/>
        </p:nvSpPr>
        <p:spPr>
          <a:xfrm>
            <a:off x="1005840" y="1188720"/>
            <a:ext cx="5486400" cy="228600"/>
          </a:xfrm>
          <a:prstGeom prst="rect">
            <a:avLst/>
          </a:prstGeom>
          <a:noFill/>
        </p:spPr>
        <p:txBody>
          <a:bodyPr wrap="square" lIns="0" rIns="0" tIns="0" bIns="0">
            <a:spAutoFit/>
          </a:bodyPr>
          <a:lstStyle/>
          <a:p>
            <a:pPr algn="l"/>
            <a:r>
              <a:rPr sz="850" b="0" i="0" spc="400">
                <a:solidFill>
                  <a:srgbClr val="8C8270"/>
                </a:solidFill>
                <a:latin typeface="EB Garamond"/>
                <a:ea typeface="EB Garamond"/>
                <a:cs typeface="EB Garamond"/>
              </a:rPr>
              <a:t>THE PROBLEM</a:t>
            </a:r>
          </a:p>
        </p:txBody>
      </p:sp>
      <p:sp>
        <p:nvSpPr>
          <p:cNvPr id="8" name="TextBox 7"/>
          <p:cNvSpPr txBox="1"/>
          <p:nvPr/>
        </p:nvSpPr>
        <p:spPr>
          <a:xfrm>
            <a:off x="1005840" y="1508760"/>
            <a:ext cx="5669280" cy="1645920"/>
          </a:xfrm>
          <a:prstGeom prst="rect">
            <a:avLst/>
          </a:prstGeom>
          <a:noFill/>
        </p:spPr>
        <p:txBody>
          <a:bodyPr wrap="square" lIns="0" rIns="0" tIns="0" bIns="0">
            <a:spAutoFit/>
          </a:bodyPr>
          <a:lstStyle/>
          <a:p>
            <a:pPr algn="l">
              <a:lnSpc>
                <a:spcPct val="100000"/>
              </a:lnSpc>
            </a:pPr>
            <a:r>
              <a:rPr sz="5000" b="0" i="0">
                <a:solidFill>
                  <a:srgbClr val="1B1A17"/>
                </a:solidFill>
                <a:latin typeface="Libre Caslon Display"/>
                <a:ea typeface="EB Garamond"/>
                <a:cs typeface="EB Garamond"/>
              </a:rPr>
              <a:t>Guests forget
most stays.</a:t>
            </a:r>
          </a:p>
        </p:txBody>
      </p:sp>
      <p:sp>
        <p:nvSpPr>
          <p:cNvPr id="9" name="Rectangle 8"/>
          <p:cNvSpPr/>
          <p:nvPr/>
        </p:nvSpPr>
        <p:spPr>
          <a:xfrm>
            <a:off x="1005840" y="3246120"/>
            <a:ext cx="731520" cy="9144"/>
          </a:xfrm>
          <a:prstGeom prst="rect">
            <a:avLst/>
          </a:prstGeom>
          <a:solidFill>
            <a:srgbClr val="5E1A1D"/>
          </a:solidFill>
          <a:ln>
            <a:noFill/>
          </a:ln>
        </p:spPr>
        <p:txBody>
          <a:bodyPr rtlCol="0" anchor="ctr"/>
          <a:lstStyle/>
          <a:p>
            <a:pPr algn="ctr"/>
          </a:p>
        </p:txBody>
      </p:sp>
      <p:sp>
        <p:nvSpPr>
          <p:cNvPr id="10" name="TextBox 9"/>
          <p:cNvSpPr txBox="1"/>
          <p:nvPr/>
        </p:nvSpPr>
        <p:spPr>
          <a:xfrm>
            <a:off x="1005840" y="3474720"/>
            <a:ext cx="4937760" cy="2011680"/>
          </a:xfrm>
          <a:prstGeom prst="rect">
            <a:avLst/>
          </a:prstGeom>
          <a:noFill/>
        </p:spPr>
        <p:txBody>
          <a:bodyPr wrap="square" lIns="0" rIns="0" tIns="0" bIns="0">
            <a:spAutoFit/>
          </a:bodyPr>
          <a:lstStyle/>
          <a:p>
            <a:pPr algn="l">
              <a:lnSpc>
                <a:spcPct val="135000"/>
              </a:lnSpc>
            </a:pPr>
            <a:r>
              <a:rPr sz="1500" b="0" i="0">
                <a:solidFill>
                  <a:srgbClr val="4A4439"/>
                </a:solidFill>
                <a:latin typeface="EB Garamond"/>
                <a:ea typeface="EB Garamond"/>
                <a:cs typeface="EB Garamond"/>
              </a:rPr>
              <a:t>Generic sachets. Mismatched bottles. A room that smells like nothing.
Guests don’t complain about it. They just don’t come back — and they don’t mention you in reviews.</a:t>
            </a:r>
          </a:p>
        </p:txBody>
      </p:sp>
      <p:pic>
        <p:nvPicPr>
          <p:cNvPr id="11" name="static-art" descr="sachet.png"/>
          <p:cNvPicPr>
            <a:picLocks noChangeAspect="1"/>
          </p:cNvPicPr>
          <p:nvPr/>
        </p:nvPicPr>
        <p:blipFill>
          <a:blip r:embed="rId3"/>
          <a:stretch>
            <a:fillRect/>
          </a:stretch>
        </p:blipFill>
        <p:spPr>
          <a:xfrm>
            <a:off x="6720840" y="1371600"/>
            <a:ext cx="4480560" cy="3328416"/>
          </a:xfrm>
          <a:prstGeom prst="rect">
            <a:avLst/>
          </a:prstGeom>
        </p:spPr>
      </p:pic>
      <p:sp>
        <p:nvSpPr>
          <p:cNvPr id="12" name="TextBox 11"/>
          <p:cNvSpPr txBox="1"/>
          <p:nvPr/>
        </p:nvSpPr>
        <p:spPr>
          <a:xfrm>
            <a:off x="6720840" y="4160520"/>
            <a:ext cx="4480560" cy="274320"/>
          </a:xfrm>
          <a:prstGeom prst="rect">
            <a:avLst/>
          </a:prstGeom>
          <a:noFill/>
        </p:spPr>
        <p:txBody>
          <a:bodyPr wrap="square" lIns="0" rIns="0" tIns="0" bIns="0">
            <a:spAutoFit/>
          </a:bodyPr>
          <a:lstStyle/>
          <a:p>
            <a:pPr algn="ctr"/>
            <a:r>
              <a:rPr sz="1100" b="0" i="1">
                <a:solidFill>
                  <a:srgbClr val="8C8270"/>
                </a:solidFill>
                <a:latin typeface="EB Garamond"/>
                <a:ea typeface="EB Garamond"/>
                <a:cs typeface="EB Garamond"/>
              </a:rPr>
              <a:t>The stay nobody remembers.</a:t>
            </a:r>
          </a:p>
        </p:txBody>
      </p:sp>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42" presetClass="entr" presetSubtype="0" fill="hold" grpId="0" nodeType="withEffect">
                                  <p:stCondLst>
                                    <p:cond delay="39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900"/>
                                        <p:tgtEl>
                                          <p:spTgt spid="8"/>
                                        </p:tgtEl>
                                      </p:cBhvr>
                                    </p:animEffect>
                                    <p:anim calcmode="lin" valueType="num">
                                      <p:cBhvr>
                                        <p:cTn id="11" dur="900" decel="100000"/>
                                        <p:tgtEl>
                                          <p:spTgt spid="8"/>
                                        </p:tgtEl>
                                        <p:attrNameLst>
                                          <p:attrName>ppt_x</p:attrName>
                                        </p:attrNameLst>
                                      </p:cBhvr>
                                      <p:tavLst>
                                        <p:tav tm="0">
                                          <p:val>
                                            <p:strVal val="#ppt_x"/>
                                          </p:val>
                                        </p:tav>
                                        <p:tav tm="100000">
                                          <p:val>
                                            <p:strVal val="#ppt_x"/>
                                          </p:val>
                                        </p:tav>
                                      </p:tavLst>
                                    </p:anim>
                                    <p:anim calcmode="lin" valueType="num">
                                      <p:cBhvr>
                                        <p:cTn id="12" dur="900" decel="100000"/>
                                        <p:tgtEl>
                                          <p:spTgt spid="8"/>
                                        </p:tgtEl>
                                        <p:attrNameLst>
                                          <p:attrName>ppt_y</p:attrName>
                                        </p:attrNameLst>
                                      </p:cBhvr>
                                      <p:tavLst>
                                        <p:tav tm="0">
                                          <p:val>
                                            <p:strVal val="#ppt_y+.035"/>
                                          </p:val>
                                        </p:tav>
                                        <p:tav tm="100000">
                                          <p:val>
                                            <p:strVal val="#ppt_y"/>
                                          </p:val>
                                        </p:tav>
                                      </p:tavLst>
                                    </p:anim>
                                  </p:childTnLst>
                                </p:cTn>
                              </p:par>
                              <p:par>
                                <p:cTn id="13" presetID="22" presetClass="entr" presetSubtype="8" fill="hold" grpId="0" nodeType="withEffect">
                                  <p:stCondLst>
                                    <p:cond delay="53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700"/>
                                        <p:tgtEl>
                                          <p:spTgt spid="9"/>
                                        </p:tgtEl>
                                      </p:cBhvr>
                                    </p:animEffect>
                                  </p:childTnLst>
                                </p:cTn>
                              </p:par>
                              <p:par>
                                <p:cTn id="16" presetID="10" presetClass="entr" presetSubtype="0" fill="hold" grpId="0" nodeType="withEffect">
                                  <p:stCondLst>
                                    <p:cond delay="67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700"/>
                                        <p:tgtEl>
                                          <p:spTgt spid="10"/>
                                        </p:tgtEl>
                                      </p:cBhvr>
                                    </p:animEffect>
                                  </p:childTnLst>
                                </p:cTn>
                              </p:par>
                              <p:par>
                                <p:cTn id="19" presetID="10" presetClass="entr" presetSubtype="0" fill="hold" grpId="0" nodeType="withEffect">
                                  <p:stCondLst>
                                    <p:cond delay="81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ic-bg" descr="paper_ivory.jpg"/>
          <p:cNvPicPr>
            <a:picLocks noChangeAspect="1"/>
          </p:cNvPicPr>
          <p:nvPr/>
        </p:nvPicPr>
        <p:blipFill>
          <a:blip r:embed="rId2"/>
          <a:stretch>
            <a:fillRect/>
          </a:stretch>
        </p:blipFill>
        <p:spPr>
          <a:xfrm>
            <a:off x="0" y="0"/>
            <a:ext cx="12191695" cy="6858000"/>
          </a:xfrm>
          <a:prstGeom prst="rect">
            <a:avLst/>
          </a:prstGeom>
        </p:spPr>
      </p:pic>
      <p:sp>
        <p:nvSpPr>
          <p:cNvPr id="3" name="static-frame"/>
          <p:cNvSpPr/>
          <p:nvPr/>
        </p:nvSpPr>
        <p:spPr>
          <a:xfrm>
            <a:off x="292608" y="292608"/>
            <a:ext cx="11606479" cy="6272784"/>
          </a:xfrm>
          <a:prstGeom prst="rect">
            <a:avLst/>
          </a:prstGeom>
          <a:noFill/>
          <a:ln w="7620">
            <a:solidFill>
              <a:srgbClr val="B9A27A"/>
            </a:solidFill>
          </a:ln>
        </p:spPr>
        <p:txBody>
          <a:bodyPr rtlCol="0" anchor="ctr"/>
          <a:lstStyle/>
          <a:p>
            <a:pPr algn="ctr"/>
          </a:p>
        </p:txBody>
      </p:sp>
      <p:sp>
        <p:nvSpPr>
          <p:cNvPr id="4" name="static-frame"/>
          <p:cNvSpPr/>
          <p:nvPr/>
        </p:nvSpPr>
        <p:spPr>
          <a:xfrm>
            <a:off x="347472" y="347472"/>
            <a:ext cx="11496751" cy="6163056"/>
          </a:xfrm>
          <a:prstGeom prst="rect">
            <a:avLst/>
          </a:prstGeom>
          <a:noFill/>
          <a:ln w="7620">
            <a:solidFill>
              <a:srgbClr val="B9A27A"/>
            </a:solidFill>
          </a:ln>
        </p:spPr>
        <p:txBody>
          <a:bodyPr rtlCol="0" anchor="ctr"/>
          <a:lstStyle/>
          <a:p>
            <a:pPr algn="ctr"/>
          </a:p>
        </p:txBody>
      </p:sp>
      <p:sp>
        <p:nvSpPr>
          <p:cNvPr id="5" name="chrome"/>
          <p:cNvSpPr txBox="1"/>
          <p:nvPr/>
        </p:nvSpPr>
        <p:spPr>
          <a:xfrm>
            <a:off x="0" y="6199632"/>
            <a:ext cx="12191695" cy="228600"/>
          </a:xfrm>
          <a:prstGeom prst="rect">
            <a:avLst/>
          </a:prstGeom>
          <a:noFill/>
        </p:spPr>
        <p:txBody>
          <a:bodyPr wrap="square" lIns="0" rIns="0" tIns="0" bIns="0">
            <a:spAutoFit/>
          </a:bodyPr>
          <a:lstStyle/>
          <a:p>
            <a:pPr algn="ctr"/>
            <a:r>
              <a:rPr sz="750" b="0" i="0" spc="400">
                <a:solidFill>
                  <a:srgbClr val="8C8270"/>
                </a:solidFill>
                <a:latin typeface="EB Garamond"/>
                <a:ea typeface="EB Garamond"/>
                <a:cs typeface="EB Garamond"/>
              </a:rPr>
              <a:t>RED FLAG RITUAL</a:t>
            </a:r>
          </a:p>
        </p:txBody>
      </p:sp>
      <p:sp>
        <p:nvSpPr>
          <p:cNvPr id="6" name="chrome"/>
          <p:cNvSpPr txBox="1"/>
          <p:nvPr/>
        </p:nvSpPr>
        <p:spPr>
          <a:xfrm>
            <a:off x="0" y="5961888"/>
            <a:ext cx="12191695" cy="228600"/>
          </a:xfrm>
          <a:prstGeom prst="rect">
            <a:avLst/>
          </a:prstGeom>
          <a:noFill/>
        </p:spPr>
        <p:txBody>
          <a:bodyPr wrap="square" lIns="0" rIns="0" tIns="0" bIns="0">
            <a:spAutoFit/>
          </a:bodyPr>
          <a:lstStyle/>
          <a:p>
            <a:pPr algn="ctr"/>
            <a:r>
              <a:rPr sz="1000" b="0" i="0">
                <a:solidFill>
                  <a:srgbClr val="B9A27A"/>
                </a:solidFill>
                <a:latin typeface="Libre Caslon Display"/>
                <a:ea typeface="EB Garamond"/>
                <a:cs typeface="EB Garamond"/>
              </a:rPr>
              <a:t>III</a:t>
            </a:r>
          </a:p>
        </p:txBody>
      </p:sp>
      <p:pic>
        <p:nvPicPr>
          <p:cNvPr id="7" name="static-art" descr="shelf.png"/>
          <p:cNvPicPr>
            <a:picLocks noChangeAspect="1"/>
          </p:cNvPicPr>
          <p:nvPr/>
        </p:nvPicPr>
        <p:blipFill>
          <a:blip r:embed="rId3"/>
          <a:stretch>
            <a:fillRect/>
          </a:stretch>
        </p:blipFill>
        <p:spPr>
          <a:xfrm>
            <a:off x="777240" y="1097280"/>
            <a:ext cx="6035040" cy="4157472"/>
          </a:xfrm>
          <a:prstGeom prst="rect">
            <a:avLst/>
          </a:prstGeom>
        </p:spPr>
      </p:pic>
      <p:sp>
        <p:nvSpPr>
          <p:cNvPr id="8" name="TextBox 7"/>
          <p:cNvSpPr txBox="1"/>
          <p:nvPr/>
        </p:nvSpPr>
        <p:spPr>
          <a:xfrm>
            <a:off x="7360920" y="1234440"/>
            <a:ext cx="4114800" cy="228600"/>
          </a:xfrm>
          <a:prstGeom prst="rect">
            <a:avLst/>
          </a:prstGeom>
          <a:noFill/>
        </p:spPr>
        <p:txBody>
          <a:bodyPr wrap="square" lIns="0" rIns="0" tIns="0" bIns="0">
            <a:spAutoFit/>
          </a:bodyPr>
          <a:lstStyle/>
          <a:p>
            <a:pPr algn="l"/>
            <a:r>
              <a:rPr sz="850" b="0" i="0" spc="400">
                <a:solidFill>
                  <a:srgbClr val="8C8270"/>
                </a:solidFill>
                <a:latin typeface="EB Garamond"/>
                <a:ea typeface="EB Garamond"/>
                <a:cs typeface="EB Garamond"/>
              </a:rPr>
              <a:t>THE ANSWER</a:t>
            </a:r>
          </a:p>
        </p:txBody>
      </p:sp>
      <p:sp>
        <p:nvSpPr>
          <p:cNvPr id="9" name="TextBox 8"/>
          <p:cNvSpPr txBox="1"/>
          <p:nvPr/>
        </p:nvSpPr>
        <p:spPr>
          <a:xfrm>
            <a:off x="7360920" y="1554480"/>
            <a:ext cx="4206240" cy="822960"/>
          </a:xfrm>
          <a:prstGeom prst="rect">
            <a:avLst/>
          </a:prstGeom>
          <a:noFill/>
        </p:spPr>
        <p:txBody>
          <a:bodyPr wrap="square" lIns="0" rIns="0" tIns="0" bIns="0">
            <a:spAutoFit/>
          </a:bodyPr>
          <a:lstStyle/>
          <a:p>
            <a:pPr algn="l">
              <a:lnSpc>
                <a:spcPct val="100000"/>
              </a:lnSpc>
            </a:pPr>
            <a:r>
              <a:rPr sz="4200" b="0" i="0">
                <a:solidFill>
                  <a:srgbClr val="1B1A17"/>
                </a:solidFill>
                <a:latin typeface="Libre Caslon Display"/>
                <a:ea typeface="EB Garamond"/>
                <a:cs typeface="EB Garamond"/>
              </a:rPr>
              <a:t>Meet the ritual.</a:t>
            </a:r>
          </a:p>
        </p:txBody>
      </p:sp>
      <p:sp>
        <p:nvSpPr>
          <p:cNvPr id="10" name="Rectangle 9"/>
          <p:cNvSpPr/>
          <p:nvPr/>
        </p:nvSpPr>
        <p:spPr>
          <a:xfrm>
            <a:off x="7360920" y="2377440"/>
            <a:ext cx="731520" cy="9144"/>
          </a:xfrm>
          <a:prstGeom prst="rect">
            <a:avLst/>
          </a:prstGeom>
          <a:solidFill>
            <a:srgbClr val="24382B"/>
          </a:solidFill>
          <a:ln>
            <a:noFill/>
          </a:ln>
        </p:spPr>
        <p:txBody>
          <a:bodyPr rtlCol="0" anchor="ctr"/>
          <a:lstStyle/>
          <a:p>
            <a:pPr algn="ctr"/>
          </a:p>
        </p:txBody>
      </p:sp>
      <p:sp>
        <p:nvSpPr>
          <p:cNvPr id="11" name="TextBox 10"/>
          <p:cNvSpPr txBox="1"/>
          <p:nvPr/>
        </p:nvSpPr>
        <p:spPr>
          <a:xfrm>
            <a:off x="7360920" y="2606040"/>
            <a:ext cx="4023360" cy="3108960"/>
          </a:xfrm>
          <a:prstGeom prst="rect">
            <a:avLst/>
          </a:prstGeom>
          <a:noFill/>
        </p:spPr>
        <p:txBody>
          <a:bodyPr wrap="square" lIns="0" rIns="0" tIns="0" bIns="0">
            <a:spAutoFit/>
          </a:bodyPr>
          <a:lstStyle/>
          <a:p>
            <a:pPr algn="l">
              <a:lnSpc>
                <a:spcPct val="140000"/>
              </a:lnSpc>
            </a:pPr>
            <a:r>
              <a:rPr sz="1400" b="0" i="0">
                <a:solidFill>
                  <a:srgbClr val="4A4439"/>
                </a:solidFill>
                <a:latin typeface="EB Garamond"/>
                <a:ea typeface="EB Garamond"/>
                <a:cs typeface="EB Garamond"/>
              </a:rPr>
              <a:t>Red Flag Ritual turns your bathroom and bedroom into one quiet, luxurious experience.
One signature scent runs through every bottle, every spray and every guest kit. It arrives at your door every month. You never think about restocking again.</a:t>
            </a:r>
          </a:p>
        </p:txBody>
      </p:sp>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par>
                                <p:cTn id="8" presetID="42" presetClass="entr" presetSubtype="0" fill="hold" grpId="0" nodeType="withEffect">
                                  <p:stCondLst>
                                    <p:cond delay="39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900"/>
                                        <p:tgtEl>
                                          <p:spTgt spid="9"/>
                                        </p:tgtEl>
                                      </p:cBhvr>
                                    </p:animEffect>
                                    <p:anim calcmode="lin" valueType="num">
                                      <p:cBhvr>
                                        <p:cTn id="11" dur="900" decel="100000"/>
                                        <p:tgtEl>
                                          <p:spTgt spid="9"/>
                                        </p:tgtEl>
                                        <p:attrNameLst>
                                          <p:attrName>ppt_x</p:attrName>
                                        </p:attrNameLst>
                                      </p:cBhvr>
                                      <p:tavLst>
                                        <p:tav tm="0">
                                          <p:val>
                                            <p:strVal val="#ppt_x"/>
                                          </p:val>
                                        </p:tav>
                                        <p:tav tm="100000">
                                          <p:val>
                                            <p:strVal val="#ppt_x"/>
                                          </p:val>
                                        </p:tav>
                                      </p:tavLst>
                                    </p:anim>
                                    <p:anim calcmode="lin" valueType="num">
                                      <p:cBhvr>
                                        <p:cTn id="12" dur="900" decel="100000"/>
                                        <p:tgtEl>
                                          <p:spTgt spid="9"/>
                                        </p:tgtEl>
                                        <p:attrNameLst>
                                          <p:attrName>ppt_y</p:attrName>
                                        </p:attrNameLst>
                                      </p:cBhvr>
                                      <p:tavLst>
                                        <p:tav tm="0">
                                          <p:val>
                                            <p:strVal val="#ppt_y+.035"/>
                                          </p:val>
                                        </p:tav>
                                        <p:tav tm="100000">
                                          <p:val>
                                            <p:strVal val="#ppt_y"/>
                                          </p:val>
                                        </p:tav>
                                      </p:tavLst>
                                    </p:anim>
                                  </p:childTnLst>
                                </p:cTn>
                              </p:par>
                              <p:par>
                                <p:cTn id="13" presetID="22" presetClass="entr" presetSubtype="8" fill="hold" grpId="0" nodeType="withEffect">
                                  <p:stCondLst>
                                    <p:cond delay="53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700"/>
                                        <p:tgtEl>
                                          <p:spTgt spid="10"/>
                                        </p:tgtEl>
                                      </p:cBhvr>
                                    </p:animEffect>
                                  </p:childTnLst>
                                </p:cTn>
                              </p:par>
                              <p:par>
                                <p:cTn id="16" presetID="10" presetClass="entr" presetSubtype="0" fill="hold" grpId="0" nodeType="withEffect">
                                  <p:stCondLst>
                                    <p:cond delay="67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7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ic-bg" descr="paper_stone.jpg"/>
          <p:cNvPicPr>
            <a:picLocks noChangeAspect="1"/>
          </p:cNvPicPr>
          <p:nvPr/>
        </p:nvPicPr>
        <p:blipFill>
          <a:blip r:embed="rId2"/>
          <a:stretch>
            <a:fillRect/>
          </a:stretch>
        </p:blipFill>
        <p:spPr>
          <a:xfrm>
            <a:off x="0" y="0"/>
            <a:ext cx="12191695" cy="6858000"/>
          </a:xfrm>
          <a:prstGeom prst="rect">
            <a:avLst/>
          </a:prstGeom>
        </p:spPr>
      </p:pic>
      <p:sp>
        <p:nvSpPr>
          <p:cNvPr id="3" name="static-frame"/>
          <p:cNvSpPr/>
          <p:nvPr/>
        </p:nvSpPr>
        <p:spPr>
          <a:xfrm>
            <a:off x="292608" y="292608"/>
            <a:ext cx="11606479" cy="6272784"/>
          </a:xfrm>
          <a:prstGeom prst="rect">
            <a:avLst/>
          </a:prstGeom>
          <a:noFill/>
          <a:ln w="7620">
            <a:solidFill>
              <a:srgbClr val="A88A57"/>
            </a:solidFill>
          </a:ln>
        </p:spPr>
        <p:txBody>
          <a:bodyPr rtlCol="0" anchor="ctr"/>
          <a:lstStyle/>
          <a:p>
            <a:pPr algn="ctr"/>
          </a:p>
        </p:txBody>
      </p:sp>
      <p:sp>
        <p:nvSpPr>
          <p:cNvPr id="4" name="static-frame"/>
          <p:cNvSpPr/>
          <p:nvPr/>
        </p:nvSpPr>
        <p:spPr>
          <a:xfrm>
            <a:off x="347472" y="347472"/>
            <a:ext cx="11496751" cy="6163056"/>
          </a:xfrm>
          <a:prstGeom prst="rect">
            <a:avLst/>
          </a:prstGeom>
          <a:noFill/>
          <a:ln w="7620">
            <a:solidFill>
              <a:srgbClr val="A88A57"/>
            </a:solidFill>
          </a:ln>
        </p:spPr>
        <p:txBody>
          <a:bodyPr rtlCol="0" anchor="ctr"/>
          <a:lstStyle/>
          <a:p>
            <a:pPr algn="ctr"/>
          </a:p>
        </p:txBody>
      </p:sp>
      <p:sp>
        <p:nvSpPr>
          <p:cNvPr id="5" name="chrome"/>
          <p:cNvSpPr txBox="1"/>
          <p:nvPr/>
        </p:nvSpPr>
        <p:spPr>
          <a:xfrm>
            <a:off x="0" y="6199632"/>
            <a:ext cx="12191695" cy="228600"/>
          </a:xfrm>
          <a:prstGeom prst="rect">
            <a:avLst/>
          </a:prstGeom>
          <a:noFill/>
        </p:spPr>
        <p:txBody>
          <a:bodyPr wrap="square" lIns="0" rIns="0" tIns="0" bIns="0">
            <a:spAutoFit/>
          </a:bodyPr>
          <a:lstStyle/>
          <a:p>
            <a:pPr algn="ctr"/>
            <a:r>
              <a:rPr sz="750" b="0" i="0" spc="400">
                <a:solidFill>
                  <a:srgbClr val="7D7362"/>
                </a:solidFill>
                <a:latin typeface="EB Garamond"/>
                <a:ea typeface="EB Garamond"/>
                <a:cs typeface="EB Garamond"/>
              </a:rPr>
              <a:t>RED FLAG RITUAL</a:t>
            </a:r>
          </a:p>
        </p:txBody>
      </p:sp>
      <p:sp>
        <p:nvSpPr>
          <p:cNvPr id="6" name="chrome"/>
          <p:cNvSpPr txBox="1"/>
          <p:nvPr/>
        </p:nvSpPr>
        <p:spPr>
          <a:xfrm>
            <a:off x="0" y="5961888"/>
            <a:ext cx="12191695" cy="228600"/>
          </a:xfrm>
          <a:prstGeom prst="rect">
            <a:avLst/>
          </a:prstGeom>
          <a:noFill/>
        </p:spPr>
        <p:txBody>
          <a:bodyPr wrap="square" lIns="0" rIns="0" tIns="0" bIns="0">
            <a:spAutoFit/>
          </a:bodyPr>
          <a:lstStyle/>
          <a:p>
            <a:pPr algn="ctr"/>
            <a:r>
              <a:rPr sz="1000" b="0" i="0">
                <a:solidFill>
                  <a:srgbClr val="A88A57"/>
                </a:solidFill>
                <a:latin typeface="Libre Caslon Display"/>
                <a:ea typeface="EB Garamond"/>
                <a:cs typeface="EB Garamond"/>
              </a:rPr>
              <a:t>IV</a:t>
            </a:r>
          </a:p>
        </p:txBody>
      </p:sp>
      <p:pic>
        <p:nvPicPr>
          <p:cNvPr id="7" name="static-art" descr="mist.png"/>
          <p:cNvPicPr>
            <a:picLocks noChangeAspect="1"/>
          </p:cNvPicPr>
          <p:nvPr/>
        </p:nvPicPr>
        <p:blipFill>
          <a:blip r:embed="rId3"/>
          <a:stretch>
            <a:fillRect/>
          </a:stretch>
        </p:blipFill>
        <p:spPr>
          <a:xfrm>
            <a:off x="4937760" y="777240"/>
            <a:ext cx="6766560" cy="4661408"/>
          </a:xfrm>
          <a:prstGeom prst="rect">
            <a:avLst/>
          </a:prstGeom>
        </p:spPr>
      </p:pic>
      <p:sp>
        <p:nvSpPr>
          <p:cNvPr id="8" name="TextBox 7"/>
          <p:cNvSpPr txBox="1"/>
          <p:nvPr/>
        </p:nvSpPr>
        <p:spPr>
          <a:xfrm>
            <a:off x="1005840" y="1188720"/>
            <a:ext cx="4572000" cy="228600"/>
          </a:xfrm>
          <a:prstGeom prst="rect">
            <a:avLst/>
          </a:prstGeom>
          <a:noFill/>
        </p:spPr>
        <p:txBody>
          <a:bodyPr wrap="square" lIns="0" rIns="0" tIns="0" bIns="0">
            <a:spAutoFit/>
          </a:bodyPr>
          <a:lstStyle/>
          <a:p>
            <a:pPr algn="l"/>
            <a:r>
              <a:rPr sz="850" b="0" i="0" spc="400">
                <a:solidFill>
                  <a:srgbClr val="5E1A1D"/>
                </a:solidFill>
                <a:latin typeface="EB Garamond"/>
                <a:ea typeface="EB Garamond"/>
                <a:cs typeface="EB Garamond"/>
              </a:rPr>
              <a:t>OUR SIGNATURE SCENT</a:t>
            </a:r>
          </a:p>
        </p:txBody>
      </p:sp>
      <p:sp>
        <p:nvSpPr>
          <p:cNvPr id="9" name="TextBox 8"/>
          <p:cNvSpPr txBox="1"/>
          <p:nvPr/>
        </p:nvSpPr>
        <p:spPr>
          <a:xfrm>
            <a:off x="1005840" y="1508760"/>
            <a:ext cx="4572000" cy="822960"/>
          </a:xfrm>
          <a:prstGeom prst="rect">
            <a:avLst/>
          </a:prstGeom>
          <a:noFill/>
        </p:spPr>
        <p:txBody>
          <a:bodyPr wrap="square" lIns="0" rIns="0" tIns="0" bIns="0">
            <a:spAutoFit/>
          </a:bodyPr>
          <a:lstStyle/>
          <a:p>
            <a:pPr algn="l">
              <a:lnSpc>
                <a:spcPct val="100000"/>
              </a:lnSpc>
            </a:pPr>
            <a:r>
              <a:rPr sz="3000" b="0" i="0">
                <a:solidFill>
                  <a:srgbClr val="7D7362"/>
                </a:solidFill>
                <a:latin typeface="Libre Caslon Display"/>
                <a:ea typeface="EB Garamond"/>
                <a:cs typeface="EB Garamond"/>
              </a:rPr>
              <a:t>No. 01</a:t>
            </a:r>
          </a:p>
        </p:txBody>
      </p:sp>
      <p:sp>
        <p:nvSpPr>
          <p:cNvPr id="10" name="TextBox 9"/>
          <p:cNvSpPr txBox="1"/>
          <p:nvPr/>
        </p:nvSpPr>
        <p:spPr>
          <a:xfrm>
            <a:off x="1005840" y="2011680"/>
            <a:ext cx="5029200" cy="914400"/>
          </a:xfrm>
          <a:prstGeom prst="rect">
            <a:avLst/>
          </a:prstGeom>
          <a:noFill/>
        </p:spPr>
        <p:txBody>
          <a:bodyPr wrap="square" lIns="0" rIns="0" tIns="0" bIns="0">
            <a:spAutoFit/>
          </a:bodyPr>
          <a:lstStyle/>
          <a:p>
            <a:pPr algn="l">
              <a:lnSpc>
                <a:spcPct val="100000"/>
              </a:lnSpc>
            </a:pPr>
            <a:r>
              <a:rPr sz="5200" b="0" i="1">
                <a:solidFill>
                  <a:srgbClr val="1B1A17"/>
                </a:solidFill>
                <a:latin typeface="Libre Caslon Display"/>
                <a:ea typeface="EB Garamond"/>
                <a:cs typeface="EB Garamond"/>
              </a:rPr>
              <a:t>Late Checkout</a:t>
            </a:r>
          </a:p>
        </p:txBody>
      </p:sp>
      <p:sp>
        <p:nvSpPr>
          <p:cNvPr id="11" name="TextBox 10"/>
          <p:cNvSpPr txBox="1"/>
          <p:nvPr/>
        </p:nvSpPr>
        <p:spPr>
          <a:xfrm>
            <a:off x="1005840" y="3063240"/>
            <a:ext cx="4023360" cy="914400"/>
          </a:xfrm>
          <a:prstGeom prst="rect">
            <a:avLst/>
          </a:prstGeom>
          <a:noFill/>
        </p:spPr>
        <p:txBody>
          <a:bodyPr wrap="square" lIns="0" rIns="0" tIns="0" bIns="0">
            <a:spAutoFit/>
          </a:bodyPr>
          <a:lstStyle/>
          <a:p>
            <a:pPr algn="l">
              <a:lnSpc>
                <a:spcPct val="135000"/>
              </a:lnSpc>
            </a:pPr>
            <a:r>
              <a:rPr sz="1500" b="0" i="0">
                <a:solidFill>
                  <a:srgbClr val="3F392F"/>
                </a:solidFill>
                <a:latin typeface="EB Garamond"/>
                <a:ea typeface="EB Garamond"/>
                <a:cs typeface="EB Garamond"/>
              </a:rPr>
              <a:t>Warm, clean, slow-morning. It smells like you didn’t have to leave yet.</a:t>
            </a:r>
          </a:p>
        </p:txBody>
      </p:sp>
      <p:sp>
        <p:nvSpPr>
          <p:cNvPr id="12" name="Rectangle 11"/>
          <p:cNvSpPr/>
          <p:nvPr/>
        </p:nvSpPr>
        <p:spPr>
          <a:xfrm>
            <a:off x="1005840" y="4206240"/>
            <a:ext cx="3931920" cy="9144"/>
          </a:xfrm>
          <a:prstGeom prst="rect">
            <a:avLst/>
          </a:prstGeom>
          <a:solidFill>
            <a:srgbClr val="A88A57"/>
          </a:solidFill>
          <a:ln>
            <a:noFill/>
          </a:ln>
        </p:spPr>
        <p:txBody>
          <a:bodyPr rtlCol="0" anchor="ctr"/>
          <a:lstStyle/>
          <a:p>
            <a:pPr algn="ctr"/>
          </a:p>
        </p:txBody>
      </p:sp>
      <p:sp>
        <p:nvSpPr>
          <p:cNvPr id="13" name="TextBox 12"/>
          <p:cNvSpPr txBox="1"/>
          <p:nvPr/>
        </p:nvSpPr>
        <p:spPr>
          <a:xfrm>
            <a:off x="1005840" y="4389120"/>
            <a:ext cx="3931920" cy="1097280"/>
          </a:xfrm>
          <a:prstGeom prst="rect">
            <a:avLst/>
          </a:prstGeom>
          <a:noFill/>
        </p:spPr>
        <p:txBody>
          <a:bodyPr wrap="square" lIns="0" rIns="0" tIns="0" bIns="0">
            <a:spAutoFit/>
          </a:bodyPr>
          <a:lstStyle/>
          <a:p>
            <a:pPr algn="l">
              <a:lnSpc>
                <a:spcPct val="130000"/>
              </a:lnSpc>
            </a:pPr>
            <a:r>
              <a:rPr sz="1700" b="0" i="1">
                <a:solidFill>
                  <a:srgbClr val="1B1A17"/>
                </a:solidFill>
                <a:latin typeface="EB Garamond"/>
                <a:ea typeface="EB Garamond"/>
                <a:cs typeface="EB Garamond"/>
              </a:rPr>
              <a:t>“Guests remember how a place made them feel. Scent is how they remember it.”</a:t>
            </a:r>
          </a:p>
        </p:txBody>
      </p:sp>
    </p:spTree>
  </p:cSld>
  <p:clrMapOvr>
    <a:masterClrMapping/>
  </p:clrMapOvr>
  <p:transition spd="slow" advClick="1">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par>
                                <p:cTn id="8" presetID="42" presetClass="entr" presetSubtype="0" fill="hold" grpId="0" nodeType="withEffect">
                                  <p:stCondLst>
                                    <p:cond delay="39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900"/>
                                        <p:tgtEl>
                                          <p:spTgt spid="9"/>
                                        </p:tgtEl>
                                      </p:cBhvr>
                                    </p:animEffect>
                                    <p:anim calcmode="lin" valueType="num">
                                      <p:cBhvr>
                                        <p:cTn id="11" dur="900" decel="100000"/>
                                        <p:tgtEl>
                                          <p:spTgt spid="9"/>
                                        </p:tgtEl>
                                        <p:attrNameLst>
                                          <p:attrName>ppt_x</p:attrName>
                                        </p:attrNameLst>
                                      </p:cBhvr>
                                      <p:tavLst>
                                        <p:tav tm="0">
                                          <p:val>
                                            <p:strVal val="#ppt_x"/>
                                          </p:val>
                                        </p:tav>
                                        <p:tav tm="100000">
                                          <p:val>
                                            <p:strVal val="#ppt_x"/>
                                          </p:val>
                                        </p:tav>
                                      </p:tavLst>
                                    </p:anim>
                                    <p:anim calcmode="lin" valueType="num">
                                      <p:cBhvr>
                                        <p:cTn id="12" dur="900" decel="100000"/>
                                        <p:tgtEl>
                                          <p:spTgt spid="9"/>
                                        </p:tgtEl>
                                        <p:attrNameLst>
                                          <p:attrName>ppt_y</p:attrName>
                                        </p:attrNameLst>
                                      </p:cBhvr>
                                      <p:tavLst>
                                        <p:tav tm="0">
                                          <p:val>
                                            <p:strVal val="#ppt_y+.035"/>
                                          </p:val>
                                        </p:tav>
                                        <p:tav tm="100000">
                                          <p:val>
                                            <p:strVal val="#ppt_y"/>
                                          </p:val>
                                        </p:tav>
                                      </p:tavLst>
                                    </p:anim>
                                  </p:childTnLst>
                                </p:cTn>
                              </p:par>
                              <p:par>
                                <p:cTn id="13" presetID="42" presetClass="entr" presetSubtype="0" fill="hold" grpId="0" nodeType="withEffect">
                                  <p:stCondLst>
                                    <p:cond delay="53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900"/>
                                        <p:tgtEl>
                                          <p:spTgt spid="10"/>
                                        </p:tgtEl>
                                      </p:cBhvr>
                                    </p:animEffect>
                                    <p:anim calcmode="lin" valueType="num">
                                      <p:cBhvr>
                                        <p:cTn id="16" dur="900" decel="100000"/>
                                        <p:tgtEl>
                                          <p:spTgt spid="10"/>
                                        </p:tgtEl>
                                        <p:attrNameLst>
                                          <p:attrName>ppt_x</p:attrName>
                                        </p:attrNameLst>
                                      </p:cBhvr>
                                      <p:tavLst>
                                        <p:tav tm="0">
                                          <p:val>
                                            <p:strVal val="#ppt_x"/>
                                          </p:val>
                                        </p:tav>
                                        <p:tav tm="100000">
                                          <p:val>
                                            <p:strVal val="#ppt_x"/>
                                          </p:val>
                                        </p:tav>
                                      </p:tavLst>
                                    </p:anim>
                                    <p:anim calcmode="lin" valueType="num">
                                      <p:cBhvr>
                                        <p:cTn id="17" dur="900" decel="100000"/>
                                        <p:tgtEl>
                                          <p:spTgt spid="10"/>
                                        </p:tgtEl>
                                        <p:attrNameLst>
                                          <p:attrName>ppt_y</p:attrName>
                                        </p:attrNameLst>
                                      </p:cBhvr>
                                      <p:tavLst>
                                        <p:tav tm="0">
                                          <p:val>
                                            <p:strVal val="#ppt_y+.035"/>
                                          </p:val>
                                        </p:tav>
                                        <p:tav tm="100000">
                                          <p:val>
                                            <p:strVal val="#ppt_y"/>
                                          </p:val>
                                        </p:tav>
                                      </p:tavLst>
                                    </p:anim>
                                  </p:childTnLst>
                                </p:cTn>
                              </p:par>
                              <p:par>
                                <p:cTn id="18" presetID="10" presetClass="entr" presetSubtype="0" fill="hold" grpId="0" nodeType="withEffect">
                                  <p:stCondLst>
                                    <p:cond delay="67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700"/>
                                        <p:tgtEl>
                                          <p:spTgt spid="11"/>
                                        </p:tgtEl>
                                      </p:cBhvr>
                                    </p:animEffect>
                                  </p:childTnLst>
                                </p:cTn>
                              </p:par>
                              <p:par>
                                <p:cTn id="21" presetID="22" presetClass="entr" presetSubtype="8" fill="hold" grpId="0" nodeType="withEffect">
                                  <p:stCondLst>
                                    <p:cond delay="81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700"/>
                                        <p:tgtEl>
                                          <p:spTgt spid="12"/>
                                        </p:tgtEl>
                                      </p:cBhvr>
                                    </p:animEffect>
                                  </p:childTnLst>
                                </p:cTn>
                              </p:par>
                              <p:par>
                                <p:cTn id="24" presetID="42" presetClass="entr" presetSubtype="0" fill="hold" grpId="0" nodeType="withEffect">
                                  <p:stCondLst>
                                    <p:cond delay="95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900"/>
                                        <p:tgtEl>
                                          <p:spTgt spid="13"/>
                                        </p:tgtEl>
                                      </p:cBhvr>
                                    </p:animEffect>
                                    <p:anim calcmode="lin" valueType="num">
                                      <p:cBhvr>
                                        <p:cTn id="27" dur="900" decel="100000"/>
                                        <p:tgtEl>
                                          <p:spTgt spid="13"/>
                                        </p:tgtEl>
                                        <p:attrNameLst>
                                          <p:attrName>ppt_x</p:attrName>
                                        </p:attrNameLst>
                                      </p:cBhvr>
                                      <p:tavLst>
                                        <p:tav tm="0">
                                          <p:val>
                                            <p:strVal val="#ppt_x"/>
                                          </p:val>
                                        </p:tav>
                                        <p:tav tm="100000">
                                          <p:val>
                                            <p:strVal val="#ppt_x"/>
                                          </p:val>
                                        </p:tav>
                                      </p:tavLst>
                                    </p:anim>
                                    <p:anim calcmode="lin" valueType="num">
                                      <p:cBhvr>
                                        <p:cTn id="28" dur="900" decel="100000"/>
                                        <p:tgtEl>
                                          <p:spTgt spid="13"/>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ic-bg" descr="paper_ivory.jpg"/>
          <p:cNvPicPr>
            <a:picLocks noChangeAspect="1"/>
          </p:cNvPicPr>
          <p:nvPr/>
        </p:nvPicPr>
        <p:blipFill>
          <a:blip r:embed="rId2"/>
          <a:stretch>
            <a:fillRect/>
          </a:stretch>
        </p:blipFill>
        <p:spPr>
          <a:xfrm>
            <a:off x="0" y="0"/>
            <a:ext cx="12191695" cy="6858000"/>
          </a:xfrm>
          <a:prstGeom prst="rect">
            <a:avLst/>
          </a:prstGeom>
        </p:spPr>
      </p:pic>
      <p:sp>
        <p:nvSpPr>
          <p:cNvPr id="3" name="static-frame"/>
          <p:cNvSpPr/>
          <p:nvPr/>
        </p:nvSpPr>
        <p:spPr>
          <a:xfrm>
            <a:off x="292608" y="292608"/>
            <a:ext cx="11606479" cy="6272784"/>
          </a:xfrm>
          <a:prstGeom prst="rect">
            <a:avLst/>
          </a:prstGeom>
          <a:noFill/>
          <a:ln w="7620">
            <a:solidFill>
              <a:srgbClr val="B9A27A"/>
            </a:solidFill>
          </a:ln>
        </p:spPr>
        <p:txBody>
          <a:bodyPr rtlCol="0" anchor="ctr"/>
          <a:lstStyle/>
          <a:p>
            <a:pPr algn="ctr"/>
          </a:p>
        </p:txBody>
      </p:sp>
      <p:sp>
        <p:nvSpPr>
          <p:cNvPr id="4" name="static-frame"/>
          <p:cNvSpPr/>
          <p:nvPr/>
        </p:nvSpPr>
        <p:spPr>
          <a:xfrm>
            <a:off x="347472" y="347472"/>
            <a:ext cx="11496751" cy="6163056"/>
          </a:xfrm>
          <a:prstGeom prst="rect">
            <a:avLst/>
          </a:prstGeom>
          <a:noFill/>
          <a:ln w="7620">
            <a:solidFill>
              <a:srgbClr val="B9A27A"/>
            </a:solidFill>
          </a:ln>
        </p:spPr>
        <p:txBody>
          <a:bodyPr rtlCol="0" anchor="ctr"/>
          <a:lstStyle/>
          <a:p>
            <a:pPr algn="ctr"/>
          </a:p>
        </p:txBody>
      </p:sp>
      <p:sp>
        <p:nvSpPr>
          <p:cNvPr id="5" name="chrome"/>
          <p:cNvSpPr txBox="1"/>
          <p:nvPr/>
        </p:nvSpPr>
        <p:spPr>
          <a:xfrm>
            <a:off x="0" y="6199632"/>
            <a:ext cx="12191695" cy="228600"/>
          </a:xfrm>
          <a:prstGeom prst="rect">
            <a:avLst/>
          </a:prstGeom>
          <a:noFill/>
        </p:spPr>
        <p:txBody>
          <a:bodyPr wrap="square" lIns="0" rIns="0" tIns="0" bIns="0">
            <a:spAutoFit/>
          </a:bodyPr>
          <a:lstStyle/>
          <a:p>
            <a:pPr algn="ctr"/>
            <a:r>
              <a:rPr sz="750" b="0" i="0" spc="400">
                <a:solidFill>
                  <a:srgbClr val="8C8270"/>
                </a:solidFill>
                <a:latin typeface="EB Garamond"/>
                <a:ea typeface="EB Garamond"/>
                <a:cs typeface="EB Garamond"/>
              </a:rPr>
              <a:t>RED FLAG RITUAL</a:t>
            </a:r>
          </a:p>
        </p:txBody>
      </p:sp>
      <p:sp>
        <p:nvSpPr>
          <p:cNvPr id="6" name="chrome"/>
          <p:cNvSpPr txBox="1"/>
          <p:nvPr/>
        </p:nvSpPr>
        <p:spPr>
          <a:xfrm>
            <a:off x="0" y="5961888"/>
            <a:ext cx="12191695" cy="228600"/>
          </a:xfrm>
          <a:prstGeom prst="rect">
            <a:avLst/>
          </a:prstGeom>
          <a:noFill/>
        </p:spPr>
        <p:txBody>
          <a:bodyPr wrap="square" lIns="0" rIns="0" tIns="0" bIns="0">
            <a:spAutoFit/>
          </a:bodyPr>
          <a:lstStyle/>
          <a:p>
            <a:pPr algn="ctr"/>
            <a:r>
              <a:rPr sz="1000" b="0" i="0">
                <a:solidFill>
                  <a:srgbClr val="B9A27A"/>
                </a:solidFill>
                <a:latin typeface="Libre Caslon Display"/>
                <a:ea typeface="EB Garamond"/>
                <a:cs typeface="EB Garamond"/>
              </a:rPr>
              <a:t>V</a:t>
            </a:r>
          </a:p>
        </p:txBody>
      </p:sp>
      <p:sp>
        <p:nvSpPr>
          <p:cNvPr id="7" name="TextBox 6"/>
          <p:cNvSpPr txBox="1"/>
          <p:nvPr/>
        </p:nvSpPr>
        <p:spPr>
          <a:xfrm>
            <a:off x="0" y="868680"/>
            <a:ext cx="12191695" cy="228600"/>
          </a:xfrm>
          <a:prstGeom prst="rect">
            <a:avLst/>
          </a:prstGeom>
          <a:noFill/>
        </p:spPr>
        <p:txBody>
          <a:bodyPr wrap="square" lIns="0" rIns="0" tIns="0" bIns="0">
            <a:spAutoFit/>
          </a:bodyPr>
          <a:lstStyle/>
          <a:p>
            <a:pPr algn="ctr"/>
            <a:r>
              <a:rPr sz="850" b="0" i="0" spc="600">
                <a:solidFill>
                  <a:srgbClr val="8C8270"/>
                </a:solidFill>
                <a:latin typeface="EB Garamond"/>
                <a:ea typeface="EB Garamond"/>
                <a:cs typeface="EB Garamond"/>
              </a:rPr>
              <a:t>THE COLLECTION</a:t>
            </a:r>
          </a:p>
        </p:txBody>
      </p:sp>
      <p:sp>
        <p:nvSpPr>
          <p:cNvPr id="8" name="TextBox 7"/>
          <p:cNvSpPr txBox="1"/>
          <p:nvPr/>
        </p:nvSpPr>
        <p:spPr>
          <a:xfrm>
            <a:off x="0" y="1115568"/>
            <a:ext cx="12191695" cy="731520"/>
          </a:xfrm>
          <a:prstGeom prst="rect">
            <a:avLst/>
          </a:prstGeom>
          <a:noFill/>
        </p:spPr>
        <p:txBody>
          <a:bodyPr wrap="square" lIns="0" rIns="0" tIns="0" bIns="0">
            <a:spAutoFit/>
          </a:bodyPr>
          <a:lstStyle/>
          <a:p>
            <a:pPr algn="ctr">
              <a:lnSpc>
                <a:spcPct val="100000"/>
              </a:lnSpc>
            </a:pPr>
            <a:r>
              <a:rPr sz="3400" b="0" i="0">
                <a:solidFill>
                  <a:srgbClr val="1B1A17"/>
                </a:solidFill>
                <a:latin typeface="Libre Caslon Display"/>
                <a:ea typeface="EB Garamond"/>
                <a:cs typeface="EB Garamond"/>
              </a:rPr>
              <a:t>Six bottles. One scent.</a:t>
            </a:r>
          </a:p>
        </p:txBody>
      </p:sp>
      <p:pic>
        <p:nvPicPr>
          <p:cNvPr id="9" name="static-art" descr="c_sud.png"/>
          <p:cNvPicPr>
            <a:picLocks noChangeAspect="1"/>
          </p:cNvPicPr>
          <p:nvPr/>
        </p:nvPicPr>
        <p:blipFill>
          <a:blip r:embed="rId3"/>
          <a:stretch>
            <a:fillRect/>
          </a:stretch>
        </p:blipFill>
        <p:spPr>
          <a:xfrm>
            <a:off x="1028166" y="1783080"/>
            <a:ext cx="1499616" cy="2422456"/>
          </a:xfrm>
          <a:prstGeom prst="rect">
            <a:avLst/>
          </a:prstGeom>
        </p:spPr>
      </p:pic>
      <p:sp>
        <p:nvSpPr>
          <p:cNvPr id="10" name="TextBox 9"/>
          <p:cNvSpPr txBox="1"/>
          <p:nvPr/>
        </p:nvSpPr>
        <p:spPr>
          <a:xfrm>
            <a:off x="914400" y="4315968"/>
            <a:ext cx="1727149" cy="365760"/>
          </a:xfrm>
          <a:prstGeom prst="rect">
            <a:avLst/>
          </a:prstGeom>
          <a:noFill/>
        </p:spPr>
        <p:txBody>
          <a:bodyPr wrap="square" lIns="0" rIns="0" tIns="0" bIns="0">
            <a:spAutoFit/>
          </a:bodyPr>
          <a:lstStyle/>
          <a:p>
            <a:pPr algn="ctr"/>
            <a:r>
              <a:rPr sz="2400" b="0" i="0" spc="600">
                <a:solidFill>
                  <a:srgbClr val="1B1A17"/>
                </a:solidFill>
                <a:latin typeface="Libre Caslon Display"/>
                <a:ea typeface="EB Garamond"/>
                <a:cs typeface="EB Garamond"/>
              </a:rPr>
              <a:t>SUD</a:t>
            </a:r>
          </a:p>
        </p:txBody>
      </p:sp>
      <p:sp>
        <p:nvSpPr>
          <p:cNvPr id="11" name="TextBox 10"/>
          <p:cNvSpPr txBox="1"/>
          <p:nvPr/>
        </p:nvSpPr>
        <p:spPr>
          <a:xfrm>
            <a:off x="914400" y="4709160"/>
            <a:ext cx="1727149" cy="274320"/>
          </a:xfrm>
          <a:prstGeom prst="rect">
            <a:avLst/>
          </a:prstGeom>
          <a:noFill/>
        </p:spPr>
        <p:txBody>
          <a:bodyPr wrap="square" lIns="0" rIns="0" tIns="0" bIns="0">
            <a:spAutoFit/>
          </a:bodyPr>
          <a:lstStyle/>
          <a:p>
            <a:pPr algn="ctr"/>
            <a:r>
              <a:rPr sz="1200" b="0" i="1">
                <a:solidFill>
                  <a:srgbClr val="1B1A17"/>
                </a:solidFill>
                <a:latin typeface="EB Garamond"/>
                <a:ea typeface="EB Garamond"/>
                <a:cs typeface="EB Garamond"/>
              </a:rPr>
              <a:t>Shampoo</a:t>
            </a:r>
          </a:p>
        </p:txBody>
      </p:sp>
      <p:sp>
        <p:nvSpPr>
          <p:cNvPr id="12" name="TextBox 11"/>
          <p:cNvSpPr txBox="1"/>
          <p:nvPr/>
        </p:nvSpPr>
        <p:spPr>
          <a:xfrm>
            <a:off x="1005840" y="4983480"/>
            <a:ext cx="1544269" cy="731520"/>
          </a:xfrm>
          <a:prstGeom prst="rect">
            <a:avLst/>
          </a:prstGeom>
          <a:noFill/>
        </p:spPr>
        <p:txBody>
          <a:bodyPr wrap="square" lIns="0" rIns="0" tIns="0" bIns="0">
            <a:spAutoFit/>
          </a:bodyPr>
          <a:lstStyle/>
          <a:p>
            <a:pPr algn="ctr">
              <a:lnSpc>
                <a:spcPct val="125000"/>
              </a:lnSpc>
            </a:pPr>
            <a:r>
              <a:rPr sz="950" b="0" i="0">
                <a:solidFill>
                  <a:srgbClr val="4A4439"/>
                </a:solidFill>
                <a:latin typeface="EB Garamond"/>
                <a:ea typeface="EB Garamond"/>
                <a:cs typeface="EB Garamond"/>
              </a:rPr>
              <a:t>Rich, soft lather. Leaves hair clean without stripping it.</a:t>
            </a:r>
          </a:p>
        </p:txBody>
      </p:sp>
      <p:pic>
        <p:nvPicPr>
          <p:cNvPr id="13" name="static-art" descr="c_dew.png"/>
          <p:cNvPicPr>
            <a:picLocks noChangeAspect="1"/>
          </p:cNvPicPr>
          <p:nvPr/>
        </p:nvPicPr>
        <p:blipFill>
          <a:blip r:embed="rId4"/>
          <a:stretch>
            <a:fillRect/>
          </a:stretch>
        </p:blipFill>
        <p:spPr>
          <a:xfrm>
            <a:off x="2755315" y="1783080"/>
            <a:ext cx="1499616" cy="2422456"/>
          </a:xfrm>
          <a:prstGeom prst="rect">
            <a:avLst/>
          </a:prstGeom>
        </p:spPr>
      </p:pic>
      <p:sp>
        <p:nvSpPr>
          <p:cNvPr id="14" name="TextBox 13"/>
          <p:cNvSpPr txBox="1"/>
          <p:nvPr/>
        </p:nvSpPr>
        <p:spPr>
          <a:xfrm>
            <a:off x="2641549" y="4315968"/>
            <a:ext cx="1727149" cy="365760"/>
          </a:xfrm>
          <a:prstGeom prst="rect">
            <a:avLst/>
          </a:prstGeom>
          <a:noFill/>
        </p:spPr>
        <p:txBody>
          <a:bodyPr wrap="square" lIns="0" rIns="0" tIns="0" bIns="0">
            <a:spAutoFit/>
          </a:bodyPr>
          <a:lstStyle/>
          <a:p>
            <a:pPr algn="ctr"/>
            <a:r>
              <a:rPr sz="2400" b="0" i="0" spc="600">
                <a:solidFill>
                  <a:srgbClr val="1B1A17"/>
                </a:solidFill>
                <a:latin typeface="Libre Caslon Display"/>
                <a:ea typeface="EB Garamond"/>
                <a:cs typeface="EB Garamond"/>
              </a:rPr>
              <a:t>DEW</a:t>
            </a:r>
          </a:p>
        </p:txBody>
      </p:sp>
      <p:sp>
        <p:nvSpPr>
          <p:cNvPr id="15" name="TextBox 14"/>
          <p:cNvSpPr txBox="1"/>
          <p:nvPr/>
        </p:nvSpPr>
        <p:spPr>
          <a:xfrm>
            <a:off x="2641549" y="4709160"/>
            <a:ext cx="1727149" cy="274320"/>
          </a:xfrm>
          <a:prstGeom prst="rect">
            <a:avLst/>
          </a:prstGeom>
          <a:noFill/>
        </p:spPr>
        <p:txBody>
          <a:bodyPr wrap="square" lIns="0" rIns="0" tIns="0" bIns="0">
            <a:spAutoFit/>
          </a:bodyPr>
          <a:lstStyle/>
          <a:p>
            <a:pPr algn="ctr"/>
            <a:r>
              <a:rPr sz="1200" b="0" i="1">
                <a:solidFill>
                  <a:srgbClr val="1B1A17"/>
                </a:solidFill>
                <a:latin typeface="EB Garamond"/>
                <a:ea typeface="EB Garamond"/>
                <a:cs typeface="EB Garamond"/>
              </a:rPr>
              <a:t>Body wash</a:t>
            </a:r>
          </a:p>
        </p:txBody>
      </p:sp>
      <p:sp>
        <p:nvSpPr>
          <p:cNvPr id="16" name="TextBox 15"/>
          <p:cNvSpPr txBox="1"/>
          <p:nvPr/>
        </p:nvSpPr>
        <p:spPr>
          <a:xfrm>
            <a:off x="2732989" y="4983480"/>
            <a:ext cx="1544269" cy="731520"/>
          </a:xfrm>
          <a:prstGeom prst="rect">
            <a:avLst/>
          </a:prstGeom>
          <a:noFill/>
        </p:spPr>
        <p:txBody>
          <a:bodyPr wrap="square" lIns="0" rIns="0" tIns="0" bIns="0">
            <a:spAutoFit/>
          </a:bodyPr>
          <a:lstStyle/>
          <a:p>
            <a:pPr algn="ctr">
              <a:lnSpc>
                <a:spcPct val="125000"/>
              </a:lnSpc>
            </a:pPr>
            <a:r>
              <a:rPr sz="950" b="0" i="0">
                <a:solidFill>
                  <a:srgbClr val="4A4439"/>
                </a:solidFill>
                <a:latin typeface="EB Garamond"/>
                <a:ea typeface="EB Garamond"/>
                <a:cs typeface="EB Garamond"/>
              </a:rPr>
              <a:t>Fresh, light wash. The scent stays on the skin after the shower.</a:t>
            </a:r>
          </a:p>
        </p:txBody>
      </p:sp>
      <p:pic>
        <p:nvPicPr>
          <p:cNvPr id="17" name="static-art" descr="c_vel.png"/>
          <p:cNvPicPr>
            <a:picLocks noChangeAspect="1"/>
          </p:cNvPicPr>
          <p:nvPr/>
        </p:nvPicPr>
        <p:blipFill>
          <a:blip r:embed="rId5"/>
          <a:stretch>
            <a:fillRect/>
          </a:stretch>
        </p:blipFill>
        <p:spPr>
          <a:xfrm>
            <a:off x="4482465" y="1783080"/>
            <a:ext cx="1499616" cy="2422456"/>
          </a:xfrm>
          <a:prstGeom prst="rect">
            <a:avLst/>
          </a:prstGeom>
        </p:spPr>
      </p:pic>
      <p:sp>
        <p:nvSpPr>
          <p:cNvPr id="18" name="TextBox 17"/>
          <p:cNvSpPr txBox="1"/>
          <p:nvPr/>
        </p:nvSpPr>
        <p:spPr>
          <a:xfrm>
            <a:off x="4368698" y="4315968"/>
            <a:ext cx="1727149" cy="365760"/>
          </a:xfrm>
          <a:prstGeom prst="rect">
            <a:avLst/>
          </a:prstGeom>
          <a:noFill/>
        </p:spPr>
        <p:txBody>
          <a:bodyPr wrap="square" lIns="0" rIns="0" tIns="0" bIns="0">
            <a:spAutoFit/>
          </a:bodyPr>
          <a:lstStyle/>
          <a:p>
            <a:pPr algn="ctr"/>
            <a:r>
              <a:rPr sz="2400" b="0" i="0" spc="600">
                <a:solidFill>
                  <a:srgbClr val="1B1A17"/>
                </a:solidFill>
                <a:latin typeface="Libre Caslon Display"/>
                <a:ea typeface="EB Garamond"/>
                <a:cs typeface="EB Garamond"/>
              </a:rPr>
              <a:t>VEL</a:t>
            </a:r>
          </a:p>
        </p:txBody>
      </p:sp>
      <p:sp>
        <p:nvSpPr>
          <p:cNvPr id="19" name="TextBox 18"/>
          <p:cNvSpPr txBox="1"/>
          <p:nvPr/>
        </p:nvSpPr>
        <p:spPr>
          <a:xfrm>
            <a:off x="4368698" y="4709160"/>
            <a:ext cx="1727149" cy="274320"/>
          </a:xfrm>
          <a:prstGeom prst="rect">
            <a:avLst/>
          </a:prstGeom>
          <a:noFill/>
        </p:spPr>
        <p:txBody>
          <a:bodyPr wrap="square" lIns="0" rIns="0" tIns="0" bIns="0">
            <a:spAutoFit/>
          </a:bodyPr>
          <a:lstStyle/>
          <a:p>
            <a:pPr algn="ctr"/>
            <a:r>
              <a:rPr sz="1200" b="0" i="1">
                <a:solidFill>
                  <a:srgbClr val="1B1A17"/>
                </a:solidFill>
                <a:latin typeface="EB Garamond"/>
                <a:ea typeface="EB Garamond"/>
                <a:cs typeface="EB Garamond"/>
              </a:rPr>
              <a:t>Body lotion</a:t>
            </a:r>
          </a:p>
        </p:txBody>
      </p:sp>
      <p:sp>
        <p:nvSpPr>
          <p:cNvPr id="20" name="TextBox 19"/>
          <p:cNvSpPr txBox="1"/>
          <p:nvPr/>
        </p:nvSpPr>
        <p:spPr>
          <a:xfrm>
            <a:off x="4460138" y="4983480"/>
            <a:ext cx="1544269" cy="731520"/>
          </a:xfrm>
          <a:prstGeom prst="rect">
            <a:avLst/>
          </a:prstGeom>
          <a:noFill/>
        </p:spPr>
        <p:txBody>
          <a:bodyPr wrap="square" lIns="0" rIns="0" tIns="0" bIns="0">
            <a:spAutoFit/>
          </a:bodyPr>
          <a:lstStyle/>
          <a:p>
            <a:pPr algn="ctr">
              <a:lnSpc>
                <a:spcPct val="125000"/>
              </a:lnSpc>
            </a:pPr>
            <a:r>
              <a:rPr sz="950" b="0" i="0">
                <a:solidFill>
                  <a:srgbClr val="4A4439"/>
                </a:solidFill>
                <a:latin typeface="EB Garamond"/>
                <a:ea typeface="EB Garamond"/>
                <a:cs typeface="EB Garamond"/>
              </a:rPr>
              <a:t>Velvet-soft, fast-absorbing, non-greasy finish.</a:t>
            </a:r>
          </a:p>
        </p:txBody>
      </p:sp>
      <p:pic>
        <p:nvPicPr>
          <p:cNvPr id="21" name="static-art" descr="c_slk.png"/>
          <p:cNvPicPr>
            <a:picLocks noChangeAspect="1"/>
          </p:cNvPicPr>
          <p:nvPr/>
        </p:nvPicPr>
        <p:blipFill>
          <a:blip r:embed="rId6"/>
          <a:stretch>
            <a:fillRect/>
          </a:stretch>
        </p:blipFill>
        <p:spPr>
          <a:xfrm>
            <a:off x="6209614" y="1783080"/>
            <a:ext cx="1499616" cy="2422456"/>
          </a:xfrm>
          <a:prstGeom prst="rect">
            <a:avLst/>
          </a:prstGeom>
        </p:spPr>
      </p:pic>
      <p:sp>
        <p:nvSpPr>
          <p:cNvPr id="22" name="TextBox 21"/>
          <p:cNvSpPr txBox="1"/>
          <p:nvPr/>
        </p:nvSpPr>
        <p:spPr>
          <a:xfrm>
            <a:off x="6095847" y="4315968"/>
            <a:ext cx="1727149" cy="365760"/>
          </a:xfrm>
          <a:prstGeom prst="rect">
            <a:avLst/>
          </a:prstGeom>
          <a:noFill/>
        </p:spPr>
        <p:txBody>
          <a:bodyPr wrap="square" lIns="0" rIns="0" tIns="0" bIns="0">
            <a:spAutoFit/>
          </a:bodyPr>
          <a:lstStyle/>
          <a:p>
            <a:pPr algn="ctr"/>
            <a:r>
              <a:rPr sz="2400" b="0" i="0" spc="600">
                <a:solidFill>
                  <a:srgbClr val="1B1A17"/>
                </a:solidFill>
                <a:latin typeface="Libre Caslon Display"/>
                <a:ea typeface="EB Garamond"/>
                <a:cs typeface="EB Garamond"/>
              </a:rPr>
              <a:t>SLK</a:t>
            </a:r>
          </a:p>
        </p:txBody>
      </p:sp>
      <p:sp>
        <p:nvSpPr>
          <p:cNvPr id="23" name="TextBox 22"/>
          <p:cNvSpPr txBox="1"/>
          <p:nvPr/>
        </p:nvSpPr>
        <p:spPr>
          <a:xfrm>
            <a:off x="6095847" y="4709160"/>
            <a:ext cx="1727149" cy="274320"/>
          </a:xfrm>
          <a:prstGeom prst="rect">
            <a:avLst/>
          </a:prstGeom>
          <a:noFill/>
        </p:spPr>
        <p:txBody>
          <a:bodyPr wrap="square" lIns="0" rIns="0" tIns="0" bIns="0">
            <a:spAutoFit/>
          </a:bodyPr>
          <a:lstStyle/>
          <a:p>
            <a:pPr algn="ctr"/>
            <a:r>
              <a:rPr sz="1200" b="0" i="1">
                <a:solidFill>
                  <a:srgbClr val="1B1A17"/>
                </a:solidFill>
                <a:latin typeface="EB Garamond"/>
                <a:ea typeface="EB Garamond"/>
                <a:cs typeface="EB Garamond"/>
              </a:rPr>
              <a:t>Conditioner</a:t>
            </a:r>
          </a:p>
        </p:txBody>
      </p:sp>
      <p:sp>
        <p:nvSpPr>
          <p:cNvPr id="24" name="TextBox 23"/>
          <p:cNvSpPr txBox="1"/>
          <p:nvPr/>
        </p:nvSpPr>
        <p:spPr>
          <a:xfrm>
            <a:off x="6187287" y="4983480"/>
            <a:ext cx="1544269" cy="731520"/>
          </a:xfrm>
          <a:prstGeom prst="rect">
            <a:avLst/>
          </a:prstGeom>
          <a:noFill/>
        </p:spPr>
        <p:txBody>
          <a:bodyPr wrap="square" lIns="0" rIns="0" tIns="0" bIns="0">
            <a:spAutoFit/>
          </a:bodyPr>
          <a:lstStyle/>
          <a:p>
            <a:pPr algn="ctr">
              <a:lnSpc>
                <a:spcPct val="125000"/>
              </a:lnSpc>
            </a:pPr>
            <a:r>
              <a:rPr sz="950" b="0" i="0">
                <a:solidFill>
                  <a:srgbClr val="4A4439"/>
                </a:solidFill>
                <a:latin typeface="EB Garamond"/>
                <a:ea typeface="EB Garamond"/>
                <a:cs typeface="EB Garamond"/>
              </a:rPr>
              <a:t>Smooth, silky detangle.</a:t>
            </a:r>
          </a:p>
        </p:txBody>
      </p:sp>
      <p:sp>
        <p:nvSpPr>
          <p:cNvPr id="25" name="TextBox 24"/>
          <p:cNvSpPr txBox="1"/>
          <p:nvPr/>
        </p:nvSpPr>
        <p:spPr>
          <a:xfrm>
            <a:off x="6095847" y="5669280"/>
            <a:ext cx="1727149" cy="228600"/>
          </a:xfrm>
          <a:prstGeom prst="rect">
            <a:avLst/>
          </a:prstGeom>
          <a:noFill/>
        </p:spPr>
        <p:txBody>
          <a:bodyPr wrap="square" lIns="0" rIns="0" tIns="0" bIns="0">
            <a:spAutoFit/>
          </a:bodyPr>
          <a:lstStyle/>
          <a:p>
            <a:pPr algn="ctr"/>
            <a:r>
              <a:rPr sz="700" b="0" i="0" spc="300">
                <a:solidFill>
                  <a:srgbClr val="5E1A1D"/>
                </a:solidFill>
                <a:latin typeface="EB Garamond"/>
                <a:ea typeface="EB Garamond"/>
                <a:cs typeface="EB Garamond"/>
              </a:rPr>
              <a:t>ESTATE ONLY</a:t>
            </a:r>
          </a:p>
        </p:txBody>
      </p:sp>
      <p:pic>
        <p:nvPicPr>
          <p:cNvPr id="26" name="static-art" descr="c_air.png"/>
          <p:cNvPicPr>
            <a:picLocks noChangeAspect="1"/>
          </p:cNvPicPr>
          <p:nvPr/>
        </p:nvPicPr>
        <p:blipFill>
          <a:blip r:embed="rId7"/>
          <a:stretch>
            <a:fillRect/>
          </a:stretch>
        </p:blipFill>
        <p:spPr>
          <a:xfrm>
            <a:off x="7936763" y="1783080"/>
            <a:ext cx="1499616" cy="2422456"/>
          </a:xfrm>
          <a:prstGeom prst="rect">
            <a:avLst/>
          </a:prstGeom>
        </p:spPr>
      </p:pic>
      <p:sp>
        <p:nvSpPr>
          <p:cNvPr id="27" name="TextBox 26"/>
          <p:cNvSpPr txBox="1"/>
          <p:nvPr/>
        </p:nvSpPr>
        <p:spPr>
          <a:xfrm>
            <a:off x="7822996" y="4315968"/>
            <a:ext cx="1727149" cy="365760"/>
          </a:xfrm>
          <a:prstGeom prst="rect">
            <a:avLst/>
          </a:prstGeom>
          <a:noFill/>
        </p:spPr>
        <p:txBody>
          <a:bodyPr wrap="square" lIns="0" rIns="0" tIns="0" bIns="0">
            <a:spAutoFit/>
          </a:bodyPr>
          <a:lstStyle/>
          <a:p>
            <a:pPr algn="ctr"/>
            <a:r>
              <a:rPr sz="2400" b="0" i="0" spc="600">
                <a:solidFill>
                  <a:srgbClr val="1B1A17"/>
                </a:solidFill>
                <a:latin typeface="Libre Caslon Display"/>
                <a:ea typeface="EB Garamond"/>
                <a:cs typeface="EB Garamond"/>
              </a:rPr>
              <a:t>AIR</a:t>
            </a:r>
          </a:p>
        </p:txBody>
      </p:sp>
      <p:sp>
        <p:nvSpPr>
          <p:cNvPr id="28" name="TextBox 27"/>
          <p:cNvSpPr txBox="1"/>
          <p:nvPr/>
        </p:nvSpPr>
        <p:spPr>
          <a:xfrm>
            <a:off x="7822996" y="4709160"/>
            <a:ext cx="1727149" cy="274320"/>
          </a:xfrm>
          <a:prstGeom prst="rect">
            <a:avLst/>
          </a:prstGeom>
          <a:noFill/>
        </p:spPr>
        <p:txBody>
          <a:bodyPr wrap="square" lIns="0" rIns="0" tIns="0" bIns="0">
            <a:spAutoFit/>
          </a:bodyPr>
          <a:lstStyle/>
          <a:p>
            <a:pPr algn="ctr"/>
            <a:r>
              <a:rPr sz="1200" b="0" i="1">
                <a:solidFill>
                  <a:srgbClr val="1B1A17"/>
                </a:solidFill>
                <a:latin typeface="EB Garamond"/>
                <a:ea typeface="EB Garamond"/>
                <a:cs typeface="EB Garamond"/>
              </a:rPr>
              <a:t>Room spray</a:t>
            </a:r>
          </a:p>
        </p:txBody>
      </p:sp>
      <p:sp>
        <p:nvSpPr>
          <p:cNvPr id="29" name="TextBox 28"/>
          <p:cNvSpPr txBox="1"/>
          <p:nvPr/>
        </p:nvSpPr>
        <p:spPr>
          <a:xfrm>
            <a:off x="7914436" y="4983480"/>
            <a:ext cx="1544269" cy="731520"/>
          </a:xfrm>
          <a:prstGeom prst="rect">
            <a:avLst/>
          </a:prstGeom>
          <a:noFill/>
        </p:spPr>
        <p:txBody>
          <a:bodyPr wrap="square" lIns="0" rIns="0" tIns="0" bIns="0">
            <a:spAutoFit/>
          </a:bodyPr>
          <a:lstStyle/>
          <a:p>
            <a:pPr algn="ctr">
              <a:lnSpc>
                <a:spcPct val="125000"/>
              </a:lnSpc>
            </a:pPr>
            <a:r>
              <a:rPr sz="950" b="0" i="0">
                <a:solidFill>
                  <a:srgbClr val="4A4439"/>
                </a:solidFill>
                <a:latin typeface="EB Garamond"/>
                <a:ea typeface="EB Garamond"/>
                <a:cs typeface="EB Garamond"/>
              </a:rPr>
              <a:t>Signature scent for rooms and linen. The first thing guests notice.</a:t>
            </a:r>
          </a:p>
        </p:txBody>
      </p:sp>
      <p:pic>
        <p:nvPicPr>
          <p:cNvPr id="30" name="static-art" descr="c_lng.png"/>
          <p:cNvPicPr>
            <a:picLocks noChangeAspect="1"/>
          </p:cNvPicPr>
          <p:nvPr/>
        </p:nvPicPr>
        <p:blipFill>
          <a:blip r:embed="rId8"/>
          <a:stretch>
            <a:fillRect/>
          </a:stretch>
        </p:blipFill>
        <p:spPr>
          <a:xfrm>
            <a:off x="9663912" y="1783080"/>
            <a:ext cx="1499616" cy="2422456"/>
          </a:xfrm>
          <a:prstGeom prst="rect">
            <a:avLst/>
          </a:prstGeom>
        </p:spPr>
      </p:pic>
      <p:sp>
        <p:nvSpPr>
          <p:cNvPr id="31" name="TextBox 30"/>
          <p:cNvSpPr txBox="1"/>
          <p:nvPr/>
        </p:nvSpPr>
        <p:spPr>
          <a:xfrm>
            <a:off x="9550146" y="4315968"/>
            <a:ext cx="1727149" cy="365760"/>
          </a:xfrm>
          <a:prstGeom prst="rect">
            <a:avLst/>
          </a:prstGeom>
          <a:noFill/>
        </p:spPr>
        <p:txBody>
          <a:bodyPr wrap="square" lIns="0" rIns="0" tIns="0" bIns="0">
            <a:spAutoFit/>
          </a:bodyPr>
          <a:lstStyle/>
          <a:p>
            <a:pPr algn="ctr"/>
            <a:r>
              <a:rPr sz="2400" b="0" i="0" spc="600">
                <a:solidFill>
                  <a:srgbClr val="1B1A17"/>
                </a:solidFill>
                <a:latin typeface="Libre Caslon Display"/>
                <a:ea typeface="EB Garamond"/>
                <a:cs typeface="EB Garamond"/>
              </a:rPr>
              <a:t>LNG</a:t>
            </a:r>
          </a:p>
        </p:txBody>
      </p:sp>
      <p:sp>
        <p:nvSpPr>
          <p:cNvPr id="32" name="TextBox 31"/>
          <p:cNvSpPr txBox="1"/>
          <p:nvPr/>
        </p:nvSpPr>
        <p:spPr>
          <a:xfrm>
            <a:off x="9550146" y="4709160"/>
            <a:ext cx="1727149" cy="274320"/>
          </a:xfrm>
          <a:prstGeom prst="rect">
            <a:avLst/>
          </a:prstGeom>
          <a:noFill/>
        </p:spPr>
        <p:txBody>
          <a:bodyPr wrap="square" lIns="0" rIns="0" tIns="0" bIns="0">
            <a:spAutoFit/>
          </a:bodyPr>
          <a:lstStyle/>
          <a:p>
            <a:pPr algn="ctr"/>
            <a:r>
              <a:rPr sz="1200" b="0" i="1">
                <a:solidFill>
                  <a:srgbClr val="1B1A17"/>
                </a:solidFill>
                <a:latin typeface="EB Garamond"/>
                <a:ea typeface="EB Garamond"/>
                <a:cs typeface="EB Garamond"/>
              </a:rPr>
              <a:t>Diffuser refill</a:t>
            </a:r>
          </a:p>
        </p:txBody>
      </p:sp>
      <p:sp>
        <p:nvSpPr>
          <p:cNvPr id="33" name="TextBox 32"/>
          <p:cNvSpPr txBox="1"/>
          <p:nvPr/>
        </p:nvSpPr>
        <p:spPr>
          <a:xfrm>
            <a:off x="9641586" y="4983480"/>
            <a:ext cx="1544269" cy="731520"/>
          </a:xfrm>
          <a:prstGeom prst="rect">
            <a:avLst/>
          </a:prstGeom>
          <a:noFill/>
        </p:spPr>
        <p:txBody>
          <a:bodyPr wrap="square" lIns="0" rIns="0" tIns="0" bIns="0">
            <a:spAutoFit/>
          </a:bodyPr>
          <a:lstStyle/>
          <a:p>
            <a:pPr algn="ctr">
              <a:lnSpc>
                <a:spcPct val="125000"/>
              </a:lnSpc>
            </a:pPr>
            <a:r>
              <a:rPr sz="950" b="0" i="0">
                <a:solidFill>
                  <a:srgbClr val="4A4439"/>
                </a:solidFill>
                <a:latin typeface="EB Garamond"/>
                <a:ea typeface="EB Garamond"/>
                <a:cs typeface="EB Garamond"/>
              </a:rPr>
              <a:t>Short for “linger”. Keeps the scent in the room all day.</a:t>
            </a:r>
          </a:p>
        </p:txBody>
      </p:sp>
      <p:sp>
        <p:nvSpPr>
          <p:cNvPr id="34" name="TextBox 33"/>
          <p:cNvSpPr txBox="1"/>
          <p:nvPr/>
        </p:nvSpPr>
        <p:spPr>
          <a:xfrm>
            <a:off x="9550146" y="5669280"/>
            <a:ext cx="1727149" cy="228600"/>
          </a:xfrm>
          <a:prstGeom prst="rect">
            <a:avLst/>
          </a:prstGeom>
          <a:noFill/>
        </p:spPr>
        <p:txBody>
          <a:bodyPr wrap="square" lIns="0" rIns="0" tIns="0" bIns="0">
            <a:spAutoFit/>
          </a:bodyPr>
          <a:lstStyle/>
          <a:p>
            <a:pPr algn="ctr"/>
            <a:r>
              <a:rPr sz="700" b="0" i="0" spc="300">
                <a:solidFill>
                  <a:srgbClr val="5E1A1D"/>
                </a:solidFill>
                <a:latin typeface="EB Garamond"/>
                <a:ea typeface="EB Garamond"/>
                <a:cs typeface="EB Garamond"/>
              </a:rPr>
              <a:t>ESTATE ONLY</a:t>
            </a:r>
          </a:p>
        </p:txBody>
      </p:sp>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42" presetClass="entr" presetSubtype="0" fill="hold" grpId="0" nodeType="withEffect">
                                  <p:stCondLst>
                                    <p:cond delay="35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900"/>
                                        <p:tgtEl>
                                          <p:spTgt spid="8"/>
                                        </p:tgtEl>
                                      </p:cBhvr>
                                    </p:animEffect>
                                    <p:anim calcmode="lin" valueType="num">
                                      <p:cBhvr>
                                        <p:cTn id="11" dur="900" decel="100000"/>
                                        <p:tgtEl>
                                          <p:spTgt spid="8"/>
                                        </p:tgtEl>
                                        <p:attrNameLst>
                                          <p:attrName>ppt_x</p:attrName>
                                        </p:attrNameLst>
                                      </p:cBhvr>
                                      <p:tavLst>
                                        <p:tav tm="0">
                                          <p:val>
                                            <p:strVal val="#ppt_x"/>
                                          </p:val>
                                        </p:tav>
                                        <p:tav tm="100000">
                                          <p:val>
                                            <p:strVal val="#ppt_x"/>
                                          </p:val>
                                        </p:tav>
                                      </p:tavLst>
                                    </p:anim>
                                    <p:anim calcmode="lin" valueType="num">
                                      <p:cBhvr>
                                        <p:cTn id="12" dur="900" decel="100000"/>
                                        <p:tgtEl>
                                          <p:spTgt spid="8"/>
                                        </p:tgtEl>
                                        <p:attrNameLst>
                                          <p:attrName>ppt_y</p:attrName>
                                        </p:attrNameLst>
                                      </p:cBhvr>
                                      <p:tavLst>
                                        <p:tav tm="0">
                                          <p:val>
                                            <p:strVal val="#ppt_y+.035"/>
                                          </p:val>
                                        </p:tav>
                                        <p:tav tm="100000">
                                          <p:val>
                                            <p:strVal val="#ppt_y"/>
                                          </p:val>
                                        </p:tav>
                                      </p:tavLst>
                                    </p:anim>
                                  </p:childTnLst>
                                </p:cTn>
                              </p:par>
                              <p:par>
                                <p:cTn id="13" presetID="42" presetClass="entr" presetSubtype="0" fill="hold" grpId="0" nodeType="withEffect">
                                  <p:stCondLst>
                                    <p:cond delay="45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900"/>
                                        <p:tgtEl>
                                          <p:spTgt spid="10"/>
                                        </p:tgtEl>
                                      </p:cBhvr>
                                    </p:animEffect>
                                    <p:anim calcmode="lin" valueType="num">
                                      <p:cBhvr>
                                        <p:cTn id="16" dur="900" decel="100000"/>
                                        <p:tgtEl>
                                          <p:spTgt spid="10"/>
                                        </p:tgtEl>
                                        <p:attrNameLst>
                                          <p:attrName>ppt_x</p:attrName>
                                        </p:attrNameLst>
                                      </p:cBhvr>
                                      <p:tavLst>
                                        <p:tav tm="0">
                                          <p:val>
                                            <p:strVal val="#ppt_x"/>
                                          </p:val>
                                        </p:tav>
                                        <p:tav tm="100000">
                                          <p:val>
                                            <p:strVal val="#ppt_x"/>
                                          </p:val>
                                        </p:tav>
                                      </p:tavLst>
                                    </p:anim>
                                    <p:anim calcmode="lin" valueType="num">
                                      <p:cBhvr>
                                        <p:cTn id="17" dur="900" decel="100000"/>
                                        <p:tgtEl>
                                          <p:spTgt spid="10"/>
                                        </p:tgtEl>
                                        <p:attrNameLst>
                                          <p:attrName>ppt_y</p:attrName>
                                        </p:attrNameLst>
                                      </p:cBhvr>
                                      <p:tavLst>
                                        <p:tav tm="0">
                                          <p:val>
                                            <p:strVal val="#ppt_y+.035"/>
                                          </p:val>
                                        </p:tav>
                                        <p:tav tm="100000">
                                          <p:val>
                                            <p:strVal val="#ppt_y"/>
                                          </p:val>
                                        </p:tav>
                                      </p:tavLst>
                                    </p:anim>
                                  </p:childTnLst>
                                </p:cTn>
                              </p:par>
                              <p:par>
                                <p:cTn id="18" presetID="42" presetClass="entr" presetSubtype="0" fill="hold" grpId="0" nodeType="withEffect">
                                  <p:stCondLst>
                                    <p:cond delay="55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900"/>
                                        <p:tgtEl>
                                          <p:spTgt spid="14"/>
                                        </p:tgtEl>
                                      </p:cBhvr>
                                    </p:animEffect>
                                    <p:anim calcmode="lin" valueType="num">
                                      <p:cBhvr>
                                        <p:cTn id="21" dur="900" decel="100000"/>
                                        <p:tgtEl>
                                          <p:spTgt spid="14"/>
                                        </p:tgtEl>
                                        <p:attrNameLst>
                                          <p:attrName>ppt_x</p:attrName>
                                        </p:attrNameLst>
                                      </p:cBhvr>
                                      <p:tavLst>
                                        <p:tav tm="0">
                                          <p:val>
                                            <p:strVal val="#ppt_x"/>
                                          </p:val>
                                        </p:tav>
                                        <p:tav tm="100000">
                                          <p:val>
                                            <p:strVal val="#ppt_x"/>
                                          </p:val>
                                        </p:tav>
                                      </p:tavLst>
                                    </p:anim>
                                    <p:anim calcmode="lin" valueType="num">
                                      <p:cBhvr>
                                        <p:cTn id="22" dur="900" decel="100000"/>
                                        <p:tgtEl>
                                          <p:spTgt spid="14"/>
                                        </p:tgtEl>
                                        <p:attrNameLst>
                                          <p:attrName>ppt_y</p:attrName>
                                        </p:attrNameLst>
                                      </p:cBhvr>
                                      <p:tavLst>
                                        <p:tav tm="0">
                                          <p:val>
                                            <p:strVal val="#ppt_y+.035"/>
                                          </p:val>
                                        </p:tav>
                                        <p:tav tm="100000">
                                          <p:val>
                                            <p:strVal val="#ppt_y"/>
                                          </p:val>
                                        </p:tav>
                                      </p:tavLst>
                                    </p:anim>
                                  </p:childTnLst>
                                </p:cTn>
                              </p:par>
                              <p:par>
                                <p:cTn id="23" presetID="42" presetClass="entr" presetSubtype="0" fill="hold" grpId="0" nodeType="withEffect">
                                  <p:stCondLst>
                                    <p:cond delay="65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900"/>
                                        <p:tgtEl>
                                          <p:spTgt spid="18"/>
                                        </p:tgtEl>
                                      </p:cBhvr>
                                    </p:animEffect>
                                    <p:anim calcmode="lin" valueType="num">
                                      <p:cBhvr>
                                        <p:cTn id="26" dur="900" decel="100000"/>
                                        <p:tgtEl>
                                          <p:spTgt spid="18"/>
                                        </p:tgtEl>
                                        <p:attrNameLst>
                                          <p:attrName>ppt_x</p:attrName>
                                        </p:attrNameLst>
                                      </p:cBhvr>
                                      <p:tavLst>
                                        <p:tav tm="0">
                                          <p:val>
                                            <p:strVal val="#ppt_x"/>
                                          </p:val>
                                        </p:tav>
                                        <p:tav tm="100000">
                                          <p:val>
                                            <p:strVal val="#ppt_x"/>
                                          </p:val>
                                        </p:tav>
                                      </p:tavLst>
                                    </p:anim>
                                    <p:anim calcmode="lin" valueType="num">
                                      <p:cBhvr>
                                        <p:cTn id="27" dur="900" decel="100000"/>
                                        <p:tgtEl>
                                          <p:spTgt spid="18"/>
                                        </p:tgtEl>
                                        <p:attrNameLst>
                                          <p:attrName>ppt_y</p:attrName>
                                        </p:attrNameLst>
                                      </p:cBhvr>
                                      <p:tavLst>
                                        <p:tav tm="0">
                                          <p:val>
                                            <p:strVal val="#ppt_y+.035"/>
                                          </p:val>
                                        </p:tav>
                                        <p:tav tm="100000">
                                          <p:val>
                                            <p:strVal val="#ppt_y"/>
                                          </p:val>
                                        </p:tav>
                                      </p:tavLst>
                                    </p:anim>
                                  </p:childTnLst>
                                </p:cTn>
                              </p:par>
                              <p:par>
                                <p:cTn id="28" presetID="42" presetClass="entr" presetSubtype="0" fill="hold" grpId="0" nodeType="withEffect">
                                  <p:stCondLst>
                                    <p:cond delay="75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900"/>
                                        <p:tgtEl>
                                          <p:spTgt spid="22"/>
                                        </p:tgtEl>
                                      </p:cBhvr>
                                    </p:animEffect>
                                    <p:anim calcmode="lin" valueType="num">
                                      <p:cBhvr>
                                        <p:cTn id="31" dur="900" decel="100000"/>
                                        <p:tgtEl>
                                          <p:spTgt spid="22"/>
                                        </p:tgtEl>
                                        <p:attrNameLst>
                                          <p:attrName>ppt_x</p:attrName>
                                        </p:attrNameLst>
                                      </p:cBhvr>
                                      <p:tavLst>
                                        <p:tav tm="0">
                                          <p:val>
                                            <p:strVal val="#ppt_x"/>
                                          </p:val>
                                        </p:tav>
                                        <p:tav tm="100000">
                                          <p:val>
                                            <p:strVal val="#ppt_x"/>
                                          </p:val>
                                        </p:tav>
                                      </p:tavLst>
                                    </p:anim>
                                    <p:anim calcmode="lin" valueType="num">
                                      <p:cBhvr>
                                        <p:cTn id="32" dur="900" decel="100000"/>
                                        <p:tgtEl>
                                          <p:spTgt spid="22"/>
                                        </p:tgtEl>
                                        <p:attrNameLst>
                                          <p:attrName>ppt_y</p:attrName>
                                        </p:attrNameLst>
                                      </p:cBhvr>
                                      <p:tavLst>
                                        <p:tav tm="0">
                                          <p:val>
                                            <p:strVal val="#ppt_y+.035"/>
                                          </p:val>
                                        </p:tav>
                                        <p:tav tm="100000">
                                          <p:val>
                                            <p:strVal val="#ppt_y"/>
                                          </p:val>
                                        </p:tav>
                                      </p:tavLst>
                                    </p:anim>
                                  </p:childTnLst>
                                </p:cTn>
                              </p:par>
                              <p:par>
                                <p:cTn id="33" presetID="42" presetClass="entr" presetSubtype="0" fill="hold" grpId="0" nodeType="withEffect">
                                  <p:stCondLst>
                                    <p:cond delay="85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900"/>
                                        <p:tgtEl>
                                          <p:spTgt spid="27"/>
                                        </p:tgtEl>
                                      </p:cBhvr>
                                    </p:animEffect>
                                    <p:anim calcmode="lin" valueType="num">
                                      <p:cBhvr>
                                        <p:cTn id="36" dur="900" decel="100000"/>
                                        <p:tgtEl>
                                          <p:spTgt spid="27"/>
                                        </p:tgtEl>
                                        <p:attrNameLst>
                                          <p:attrName>ppt_x</p:attrName>
                                        </p:attrNameLst>
                                      </p:cBhvr>
                                      <p:tavLst>
                                        <p:tav tm="0">
                                          <p:val>
                                            <p:strVal val="#ppt_x"/>
                                          </p:val>
                                        </p:tav>
                                        <p:tav tm="100000">
                                          <p:val>
                                            <p:strVal val="#ppt_x"/>
                                          </p:val>
                                        </p:tav>
                                      </p:tavLst>
                                    </p:anim>
                                    <p:anim calcmode="lin" valueType="num">
                                      <p:cBhvr>
                                        <p:cTn id="37" dur="900" decel="100000"/>
                                        <p:tgtEl>
                                          <p:spTgt spid="27"/>
                                        </p:tgtEl>
                                        <p:attrNameLst>
                                          <p:attrName>ppt_y</p:attrName>
                                        </p:attrNameLst>
                                      </p:cBhvr>
                                      <p:tavLst>
                                        <p:tav tm="0">
                                          <p:val>
                                            <p:strVal val="#ppt_y+.035"/>
                                          </p:val>
                                        </p:tav>
                                        <p:tav tm="100000">
                                          <p:val>
                                            <p:strVal val="#ppt_y"/>
                                          </p:val>
                                        </p:tav>
                                      </p:tavLst>
                                    </p:anim>
                                  </p:childTnLst>
                                </p:cTn>
                              </p:par>
                              <p:par>
                                <p:cTn id="38" presetID="42" presetClass="entr" presetSubtype="0" fill="hold" grpId="0" nodeType="withEffect">
                                  <p:stCondLst>
                                    <p:cond delay="95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900"/>
                                        <p:tgtEl>
                                          <p:spTgt spid="31"/>
                                        </p:tgtEl>
                                      </p:cBhvr>
                                    </p:animEffect>
                                    <p:anim calcmode="lin" valueType="num">
                                      <p:cBhvr>
                                        <p:cTn id="41" dur="900" decel="100000"/>
                                        <p:tgtEl>
                                          <p:spTgt spid="31"/>
                                        </p:tgtEl>
                                        <p:attrNameLst>
                                          <p:attrName>ppt_x</p:attrName>
                                        </p:attrNameLst>
                                      </p:cBhvr>
                                      <p:tavLst>
                                        <p:tav tm="0">
                                          <p:val>
                                            <p:strVal val="#ppt_x"/>
                                          </p:val>
                                        </p:tav>
                                        <p:tav tm="100000">
                                          <p:val>
                                            <p:strVal val="#ppt_x"/>
                                          </p:val>
                                        </p:tav>
                                      </p:tavLst>
                                    </p:anim>
                                    <p:anim calcmode="lin" valueType="num">
                                      <p:cBhvr>
                                        <p:cTn id="42" dur="900" decel="100000"/>
                                        <p:tgtEl>
                                          <p:spTgt spid="31"/>
                                        </p:tgtEl>
                                        <p:attrNameLst>
                                          <p:attrName>ppt_y</p:attrName>
                                        </p:attrNameLst>
                                      </p:cBhvr>
                                      <p:tavLst>
                                        <p:tav tm="0">
                                          <p:val>
                                            <p:strVal val="#ppt_y+.035"/>
                                          </p:val>
                                        </p:tav>
                                        <p:tav tm="100000">
                                          <p:val>
                                            <p:strVal val="#ppt_y"/>
                                          </p:val>
                                        </p:tav>
                                      </p:tavLst>
                                    </p:anim>
                                  </p:childTnLst>
                                </p:cTn>
                              </p:par>
                              <p:par>
                                <p:cTn id="43" presetID="10" presetClass="entr" presetSubtype="0" fill="hold" grpId="0" nodeType="withEffect">
                                  <p:stCondLst>
                                    <p:cond delay="105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700"/>
                                        <p:tgtEl>
                                          <p:spTgt spid="11"/>
                                        </p:tgtEl>
                                      </p:cBhvr>
                                    </p:animEffect>
                                  </p:childTnLst>
                                </p:cTn>
                              </p:par>
                              <p:par>
                                <p:cTn id="46" presetID="10" presetClass="entr" presetSubtype="0" fill="hold" grpId="0" nodeType="withEffect">
                                  <p:stCondLst>
                                    <p:cond delay="115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700"/>
                                        <p:tgtEl>
                                          <p:spTgt spid="15"/>
                                        </p:tgtEl>
                                      </p:cBhvr>
                                    </p:animEffect>
                                  </p:childTnLst>
                                </p:cTn>
                              </p:par>
                              <p:par>
                                <p:cTn id="49" presetID="10" presetClass="entr" presetSubtype="0" fill="hold" grpId="0" nodeType="withEffect">
                                  <p:stCondLst>
                                    <p:cond delay="125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700"/>
                                        <p:tgtEl>
                                          <p:spTgt spid="19"/>
                                        </p:tgtEl>
                                      </p:cBhvr>
                                    </p:animEffect>
                                  </p:childTnLst>
                                </p:cTn>
                              </p:par>
                              <p:par>
                                <p:cTn id="52" presetID="10" presetClass="entr" presetSubtype="0" fill="hold" grpId="0" nodeType="withEffect">
                                  <p:stCondLst>
                                    <p:cond delay="135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700"/>
                                        <p:tgtEl>
                                          <p:spTgt spid="23"/>
                                        </p:tgtEl>
                                      </p:cBhvr>
                                    </p:animEffect>
                                  </p:childTnLst>
                                </p:cTn>
                              </p:par>
                              <p:par>
                                <p:cTn id="55" presetID="10" presetClass="entr" presetSubtype="0" fill="hold" grpId="0" nodeType="withEffect">
                                  <p:stCondLst>
                                    <p:cond delay="145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700"/>
                                        <p:tgtEl>
                                          <p:spTgt spid="28"/>
                                        </p:tgtEl>
                                      </p:cBhvr>
                                    </p:animEffect>
                                  </p:childTnLst>
                                </p:cTn>
                              </p:par>
                              <p:par>
                                <p:cTn id="58" presetID="10" presetClass="entr" presetSubtype="0" fill="hold" grpId="0" nodeType="withEffect">
                                  <p:stCondLst>
                                    <p:cond delay="155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700"/>
                                        <p:tgtEl>
                                          <p:spTgt spid="32"/>
                                        </p:tgtEl>
                                      </p:cBhvr>
                                    </p:animEffect>
                                  </p:childTnLst>
                                </p:cTn>
                              </p:par>
                              <p:par>
                                <p:cTn id="61" presetID="10" presetClass="entr" presetSubtype="0" fill="hold" grpId="0" nodeType="withEffect">
                                  <p:stCondLst>
                                    <p:cond delay="165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700"/>
                                        <p:tgtEl>
                                          <p:spTgt spid="12"/>
                                        </p:tgtEl>
                                      </p:cBhvr>
                                    </p:animEffect>
                                  </p:childTnLst>
                                </p:cTn>
                              </p:par>
                              <p:par>
                                <p:cTn id="64" presetID="10" presetClass="entr" presetSubtype="0" fill="hold" grpId="0" nodeType="withEffect">
                                  <p:stCondLst>
                                    <p:cond delay="175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700"/>
                                        <p:tgtEl>
                                          <p:spTgt spid="16"/>
                                        </p:tgtEl>
                                      </p:cBhvr>
                                    </p:animEffect>
                                  </p:childTnLst>
                                </p:cTn>
                              </p:par>
                              <p:par>
                                <p:cTn id="67" presetID="10" presetClass="entr" presetSubtype="0" fill="hold" grpId="0" nodeType="withEffect">
                                  <p:stCondLst>
                                    <p:cond delay="1850"/>
                                  </p:stCondLst>
                                  <p:childTnLst>
                                    <p:set>
                                      <p:cBhvr>
                                        <p:cTn id="68" dur="1" fill="hold">
                                          <p:stCondLst>
                                            <p:cond delay="0"/>
                                          </p:stCondLst>
                                        </p:cTn>
                                        <p:tgtEl>
                                          <p:spTgt spid="20"/>
                                        </p:tgtEl>
                                        <p:attrNameLst>
                                          <p:attrName>style.visibility</p:attrName>
                                        </p:attrNameLst>
                                      </p:cBhvr>
                                      <p:to>
                                        <p:strVal val="visible"/>
                                      </p:to>
                                    </p:set>
                                    <p:animEffect transition="in" filter="fade">
                                      <p:cBhvr>
                                        <p:cTn id="69" dur="700"/>
                                        <p:tgtEl>
                                          <p:spTgt spid="20"/>
                                        </p:tgtEl>
                                      </p:cBhvr>
                                    </p:animEffect>
                                  </p:childTnLst>
                                </p:cTn>
                              </p:par>
                              <p:par>
                                <p:cTn id="70" presetID="10" presetClass="entr" presetSubtype="0" fill="hold" grpId="0" nodeType="withEffect">
                                  <p:stCondLst>
                                    <p:cond delay="195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700"/>
                                        <p:tgtEl>
                                          <p:spTgt spid="24"/>
                                        </p:tgtEl>
                                      </p:cBhvr>
                                    </p:animEffect>
                                  </p:childTnLst>
                                </p:cTn>
                              </p:par>
                              <p:par>
                                <p:cTn id="73" presetID="10" presetClass="entr" presetSubtype="0" fill="hold" grpId="0" nodeType="withEffect">
                                  <p:stCondLst>
                                    <p:cond delay="205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700"/>
                                        <p:tgtEl>
                                          <p:spTgt spid="29"/>
                                        </p:tgtEl>
                                      </p:cBhvr>
                                    </p:animEffect>
                                  </p:childTnLst>
                                </p:cTn>
                              </p:par>
                              <p:par>
                                <p:cTn id="76" presetID="10" presetClass="entr" presetSubtype="0" fill="hold" grpId="0" nodeType="withEffect">
                                  <p:stCondLst>
                                    <p:cond delay="2150"/>
                                  </p:stCondLst>
                                  <p:childTnLst>
                                    <p:set>
                                      <p:cBhvr>
                                        <p:cTn id="77" dur="1" fill="hold">
                                          <p:stCondLst>
                                            <p:cond delay="0"/>
                                          </p:stCondLst>
                                        </p:cTn>
                                        <p:tgtEl>
                                          <p:spTgt spid="33"/>
                                        </p:tgtEl>
                                        <p:attrNameLst>
                                          <p:attrName>style.visibility</p:attrName>
                                        </p:attrNameLst>
                                      </p:cBhvr>
                                      <p:to>
                                        <p:strVal val="visible"/>
                                      </p:to>
                                    </p:set>
                                    <p:animEffect transition="in" filter="fade">
                                      <p:cBhvr>
                                        <p:cTn id="78" dur="700"/>
                                        <p:tgtEl>
                                          <p:spTgt spid="33"/>
                                        </p:tgtEl>
                                      </p:cBhvr>
                                    </p:animEffect>
                                  </p:childTnLst>
                                </p:cTn>
                              </p:par>
                              <p:par>
                                <p:cTn id="79" presetID="10" presetClass="entr" presetSubtype="0" fill="hold" grpId="0" nodeType="withEffect">
                                  <p:stCondLst>
                                    <p:cond delay="225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700"/>
                                        <p:tgtEl>
                                          <p:spTgt spid="25"/>
                                        </p:tgtEl>
                                      </p:cBhvr>
                                    </p:animEffect>
                                  </p:childTnLst>
                                </p:cTn>
                              </p:par>
                              <p:par>
                                <p:cTn id="82" presetID="10" presetClass="entr" presetSubtype="0" fill="hold" grpId="0" nodeType="withEffect">
                                  <p:stCondLst>
                                    <p:cond delay="235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7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4" grpId="0" animBg="1"/>
      <p:bldP spid="18" grpId="0" animBg="1"/>
      <p:bldP spid="22" grpId="0" animBg="1"/>
      <p:bldP spid="27" grpId="0" animBg="1"/>
      <p:bldP spid="31" grpId="0" animBg="1"/>
      <p:bldP spid="11" grpId="0" animBg="1"/>
      <p:bldP spid="15" grpId="0" animBg="1"/>
      <p:bldP spid="19" grpId="0" animBg="1"/>
      <p:bldP spid="23" grpId="0" animBg="1"/>
      <p:bldP spid="28" grpId="0" animBg="1"/>
      <p:bldP spid="32" grpId="0" animBg="1"/>
      <p:bldP spid="12" grpId="0" animBg="1"/>
      <p:bldP spid="16" grpId="0" animBg="1"/>
      <p:bldP spid="20" grpId="0" animBg="1"/>
      <p:bldP spid="24" grpId="0" animBg="1"/>
      <p:bldP spid="29" grpId="0" animBg="1"/>
      <p:bldP spid="33" grpId="0" animBg="1"/>
      <p:bldP spid="25" grpId="0" animBg="1"/>
      <p:bldP spid="34"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ic-bg" descr="paper_ivory.jpg"/>
          <p:cNvPicPr>
            <a:picLocks noChangeAspect="1"/>
          </p:cNvPicPr>
          <p:nvPr/>
        </p:nvPicPr>
        <p:blipFill>
          <a:blip r:embed="rId2"/>
          <a:stretch>
            <a:fillRect/>
          </a:stretch>
        </p:blipFill>
        <p:spPr>
          <a:xfrm>
            <a:off x="0" y="0"/>
            <a:ext cx="12191695" cy="6858000"/>
          </a:xfrm>
          <a:prstGeom prst="rect">
            <a:avLst/>
          </a:prstGeom>
        </p:spPr>
      </p:pic>
      <p:sp>
        <p:nvSpPr>
          <p:cNvPr id="3" name="static-frame"/>
          <p:cNvSpPr/>
          <p:nvPr/>
        </p:nvSpPr>
        <p:spPr>
          <a:xfrm>
            <a:off x="292608" y="292608"/>
            <a:ext cx="11606479" cy="6272784"/>
          </a:xfrm>
          <a:prstGeom prst="rect">
            <a:avLst/>
          </a:prstGeom>
          <a:noFill/>
          <a:ln w="7620">
            <a:solidFill>
              <a:srgbClr val="B9A27A"/>
            </a:solidFill>
          </a:ln>
        </p:spPr>
        <p:txBody>
          <a:bodyPr rtlCol="0" anchor="ctr"/>
          <a:lstStyle/>
          <a:p>
            <a:pPr algn="ctr"/>
          </a:p>
        </p:txBody>
      </p:sp>
      <p:sp>
        <p:nvSpPr>
          <p:cNvPr id="4" name="static-frame"/>
          <p:cNvSpPr/>
          <p:nvPr/>
        </p:nvSpPr>
        <p:spPr>
          <a:xfrm>
            <a:off x="347472" y="347472"/>
            <a:ext cx="11496751" cy="6163056"/>
          </a:xfrm>
          <a:prstGeom prst="rect">
            <a:avLst/>
          </a:prstGeom>
          <a:noFill/>
          <a:ln w="7620">
            <a:solidFill>
              <a:srgbClr val="B9A27A"/>
            </a:solidFill>
          </a:ln>
        </p:spPr>
        <p:txBody>
          <a:bodyPr rtlCol="0" anchor="ctr"/>
          <a:lstStyle/>
          <a:p>
            <a:pPr algn="ctr"/>
          </a:p>
        </p:txBody>
      </p:sp>
      <p:sp>
        <p:nvSpPr>
          <p:cNvPr id="5" name="chrome"/>
          <p:cNvSpPr txBox="1"/>
          <p:nvPr/>
        </p:nvSpPr>
        <p:spPr>
          <a:xfrm>
            <a:off x="0" y="6199632"/>
            <a:ext cx="12191695" cy="228600"/>
          </a:xfrm>
          <a:prstGeom prst="rect">
            <a:avLst/>
          </a:prstGeom>
          <a:noFill/>
        </p:spPr>
        <p:txBody>
          <a:bodyPr wrap="square" lIns="0" rIns="0" tIns="0" bIns="0">
            <a:spAutoFit/>
          </a:bodyPr>
          <a:lstStyle/>
          <a:p>
            <a:pPr algn="ctr"/>
            <a:r>
              <a:rPr sz="750" b="0" i="0" spc="400">
                <a:solidFill>
                  <a:srgbClr val="8C8270"/>
                </a:solidFill>
                <a:latin typeface="EB Garamond"/>
                <a:ea typeface="EB Garamond"/>
                <a:cs typeface="EB Garamond"/>
              </a:rPr>
              <a:t>RED FLAG RITUAL</a:t>
            </a:r>
          </a:p>
        </p:txBody>
      </p:sp>
      <p:sp>
        <p:nvSpPr>
          <p:cNvPr id="6" name="chrome"/>
          <p:cNvSpPr txBox="1"/>
          <p:nvPr/>
        </p:nvSpPr>
        <p:spPr>
          <a:xfrm>
            <a:off x="0" y="5961888"/>
            <a:ext cx="12191695" cy="228600"/>
          </a:xfrm>
          <a:prstGeom prst="rect">
            <a:avLst/>
          </a:prstGeom>
          <a:noFill/>
        </p:spPr>
        <p:txBody>
          <a:bodyPr wrap="square" lIns="0" rIns="0" tIns="0" bIns="0">
            <a:spAutoFit/>
          </a:bodyPr>
          <a:lstStyle/>
          <a:p>
            <a:pPr algn="ctr"/>
            <a:r>
              <a:rPr sz="1000" b="0" i="0">
                <a:solidFill>
                  <a:srgbClr val="B9A27A"/>
                </a:solidFill>
                <a:latin typeface="Libre Caslon Display"/>
                <a:ea typeface="EB Garamond"/>
                <a:cs typeface="EB Garamond"/>
              </a:rPr>
              <a:t>VI</a:t>
            </a:r>
          </a:p>
        </p:txBody>
      </p:sp>
      <p:sp>
        <p:nvSpPr>
          <p:cNvPr id="7" name="TextBox 6"/>
          <p:cNvSpPr txBox="1"/>
          <p:nvPr/>
        </p:nvSpPr>
        <p:spPr>
          <a:xfrm>
            <a:off x="0" y="868680"/>
            <a:ext cx="12191695" cy="228600"/>
          </a:xfrm>
          <a:prstGeom prst="rect">
            <a:avLst/>
          </a:prstGeom>
          <a:noFill/>
        </p:spPr>
        <p:txBody>
          <a:bodyPr wrap="square" lIns="0" rIns="0" tIns="0" bIns="0">
            <a:spAutoFit/>
          </a:bodyPr>
          <a:lstStyle/>
          <a:p>
            <a:pPr algn="ctr"/>
            <a:r>
              <a:rPr sz="850" b="0" i="0" spc="600">
                <a:solidFill>
                  <a:srgbClr val="8C8270"/>
                </a:solidFill>
                <a:latin typeface="EB Garamond"/>
                <a:ea typeface="EB Garamond"/>
                <a:cs typeface="EB Garamond"/>
              </a:rPr>
              <a:t>PLANS</a:t>
            </a:r>
          </a:p>
        </p:txBody>
      </p:sp>
      <p:sp>
        <p:nvSpPr>
          <p:cNvPr id="8" name="TextBox 7"/>
          <p:cNvSpPr txBox="1"/>
          <p:nvPr/>
        </p:nvSpPr>
        <p:spPr>
          <a:xfrm>
            <a:off x="0" y="1115568"/>
            <a:ext cx="12191695" cy="731520"/>
          </a:xfrm>
          <a:prstGeom prst="rect">
            <a:avLst/>
          </a:prstGeom>
          <a:noFill/>
        </p:spPr>
        <p:txBody>
          <a:bodyPr wrap="square" lIns="0" rIns="0" tIns="0" bIns="0">
            <a:spAutoFit/>
          </a:bodyPr>
          <a:lstStyle/>
          <a:p>
            <a:pPr algn="ctr">
              <a:lnSpc>
                <a:spcPct val="100000"/>
              </a:lnSpc>
            </a:pPr>
            <a:r>
              <a:rPr sz="3600" b="0" i="0">
                <a:solidFill>
                  <a:srgbClr val="1B1A17"/>
                </a:solidFill>
                <a:latin typeface="Libre Caslon Display"/>
                <a:ea typeface="EB Garamond"/>
                <a:cs typeface="EB Garamond"/>
              </a:rPr>
              <a:t>Choose your house rules.</a:t>
            </a:r>
          </a:p>
        </p:txBody>
      </p:sp>
      <p:sp>
        <p:nvSpPr>
          <p:cNvPr id="9" name="TextBox 8"/>
          <p:cNvSpPr txBox="1"/>
          <p:nvPr/>
        </p:nvSpPr>
        <p:spPr>
          <a:xfrm>
            <a:off x="0" y="1755648"/>
            <a:ext cx="12191695" cy="274320"/>
          </a:xfrm>
          <a:prstGeom prst="rect">
            <a:avLst/>
          </a:prstGeom>
          <a:noFill/>
        </p:spPr>
        <p:txBody>
          <a:bodyPr wrap="square" lIns="0" rIns="0" tIns="0" bIns="0">
            <a:spAutoFit/>
          </a:bodyPr>
          <a:lstStyle/>
          <a:p>
            <a:pPr algn="ctr"/>
            <a:r>
              <a:rPr sz="1200" b="0" i="1">
                <a:solidFill>
                  <a:srgbClr val="4A4439"/>
                </a:solidFill>
                <a:latin typeface="EB Garamond"/>
                <a:ea typeface="EB Garamond"/>
                <a:cs typeface="EB Garamond"/>
              </a:rPr>
              <a:t>Every plan includes 30 guest sets a month, delivered to your property.  ·  Prices exclusive of applicable taxes. Cancel anytime.</a:t>
            </a:r>
          </a:p>
        </p:txBody>
      </p:sp>
      <p:sp>
        <p:nvSpPr>
          <p:cNvPr id="10" name="Rectangle 9"/>
          <p:cNvSpPr/>
          <p:nvPr/>
        </p:nvSpPr>
        <p:spPr>
          <a:xfrm>
            <a:off x="952347" y="2240280"/>
            <a:ext cx="3246120" cy="9144"/>
          </a:xfrm>
          <a:prstGeom prst="rect">
            <a:avLst/>
          </a:prstGeom>
          <a:solidFill>
            <a:srgbClr val="B9A27A"/>
          </a:solidFill>
          <a:ln>
            <a:noFill/>
          </a:ln>
        </p:spPr>
        <p:txBody>
          <a:bodyPr rtlCol="0" anchor="ctr"/>
          <a:lstStyle/>
          <a:p>
            <a:pPr algn="ctr"/>
          </a:p>
        </p:txBody>
      </p:sp>
      <p:sp>
        <p:nvSpPr>
          <p:cNvPr id="11" name="Rectangle 10"/>
          <p:cNvSpPr/>
          <p:nvPr/>
        </p:nvSpPr>
        <p:spPr>
          <a:xfrm>
            <a:off x="952347" y="5806440"/>
            <a:ext cx="3246120" cy="9144"/>
          </a:xfrm>
          <a:prstGeom prst="rect">
            <a:avLst/>
          </a:prstGeom>
          <a:solidFill>
            <a:srgbClr val="B9A27A"/>
          </a:solidFill>
          <a:ln>
            <a:noFill/>
          </a:ln>
        </p:spPr>
        <p:txBody>
          <a:bodyPr rtlCol="0" anchor="ctr"/>
          <a:lstStyle/>
          <a:p>
            <a:pPr algn="ctr"/>
          </a:p>
        </p:txBody>
      </p:sp>
      <p:pic>
        <p:nvPicPr>
          <p:cNvPr id="12" name="static-art" descr="tier_house.png"/>
          <p:cNvPicPr>
            <a:picLocks noChangeAspect="1"/>
          </p:cNvPicPr>
          <p:nvPr/>
        </p:nvPicPr>
        <p:blipFill>
          <a:blip r:embed="rId3"/>
          <a:stretch>
            <a:fillRect/>
          </a:stretch>
        </p:blipFill>
        <p:spPr>
          <a:xfrm>
            <a:off x="1180947" y="2697480"/>
            <a:ext cx="1222513" cy="1874519"/>
          </a:xfrm>
          <a:prstGeom prst="rect">
            <a:avLst/>
          </a:prstGeom>
        </p:spPr>
      </p:pic>
      <p:sp>
        <p:nvSpPr>
          <p:cNvPr id="13" name="TextBox 12"/>
          <p:cNvSpPr txBox="1"/>
          <p:nvPr/>
        </p:nvSpPr>
        <p:spPr>
          <a:xfrm>
            <a:off x="2369667" y="2743200"/>
            <a:ext cx="1828800" cy="457200"/>
          </a:xfrm>
          <a:prstGeom prst="rect">
            <a:avLst/>
          </a:prstGeom>
          <a:noFill/>
        </p:spPr>
        <p:txBody>
          <a:bodyPr wrap="square" lIns="0" rIns="0" tIns="0" bIns="0">
            <a:spAutoFit/>
          </a:bodyPr>
          <a:lstStyle/>
          <a:p>
            <a:pPr algn="l">
              <a:lnSpc>
                <a:spcPct val="100000"/>
              </a:lnSpc>
            </a:pPr>
            <a:r>
              <a:rPr sz="2400" b="0" i="0">
                <a:solidFill>
                  <a:srgbClr val="1B1A17"/>
                </a:solidFill>
                <a:latin typeface="Libre Caslon Display"/>
                <a:ea typeface="EB Garamond"/>
                <a:cs typeface="EB Garamond"/>
              </a:rPr>
              <a:t>House</a:t>
            </a:r>
          </a:p>
        </p:txBody>
      </p:sp>
      <p:sp>
        <p:nvSpPr>
          <p:cNvPr id="14" name="TextBox 13"/>
          <p:cNvSpPr txBox="1"/>
          <p:nvPr/>
        </p:nvSpPr>
        <p:spPr>
          <a:xfrm>
            <a:off x="2369667" y="3200400"/>
            <a:ext cx="1828800" cy="548640"/>
          </a:xfrm>
          <a:prstGeom prst="rect">
            <a:avLst/>
          </a:prstGeom>
          <a:noFill/>
        </p:spPr>
        <p:txBody>
          <a:bodyPr wrap="square" lIns="0" rIns="0" tIns="0" bIns="0">
            <a:spAutoFit/>
          </a:bodyPr>
          <a:lstStyle/>
          <a:p>
            <a:pPr algn="l">
              <a:lnSpc>
                <a:spcPct val="100000"/>
              </a:lnSpc>
            </a:pPr>
            <a:r>
              <a:rPr sz="3000" b="0" i="0">
                <a:solidFill>
                  <a:srgbClr val="1B1A17"/>
                </a:solidFill>
                <a:latin typeface="Libre Caslon Display"/>
                <a:ea typeface="EB Garamond"/>
                <a:cs typeface="EB Garamond"/>
              </a:rPr>
              <a:t>₹999</a:t>
            </a:r>
          </a:p>
        </p:txBody>
      </p:sp>
      <p:sp>
        <p:nvSpPr>
          <p:cNvPr id="15" name="TextBox 14"/>
          <p:cNvSpPr txBox="1"/>
          <p:nvPr/>
        </p:nvSpPr>
        <p:spPr>
          <a:xfrm>
            <a:off x="2369667" y="3721608"/>
            <a:ext cx="1828800" cy="274320"/>
          </a:xfrm>
          <a:prstGeom prst="rect">
            <a:avLst/>
          </a:prstGeom>
          <a:noFill/>
        </p:spPr>
        <p:txBody>
          <a:bodyPr wrap="square" lIns="0" rIns="0" tIns="0" bIns="0">
            <a:spAutoFit/>
          </a:bodyPr>
          <a:lstStyle/>
          <a:p>
            <a:pPr algn="l"/>
            <a:r>
              <a:rPr sz="1000" b="0" i="1">
                <a:solidFill>
                  <a:srgbClr val="8C8270"/>
                </a:solidFill>
                <a:latin typeface="EB Garamond"/>
                <a:ea typeface="EB Garamond"/>
                <a:cs typeface="EB Garamond"/>
              </a:rPr>
              <a:t>per month</a:t>
            </a:r>
          </a:p>
        </p:txBody>
      </p:sp>
      <p:sp>
        <p:nvSpPr>
          <p:cNvPr id="16" name="TextBox 15"/>
          <p:cNvSpPr txBox="1"/>
          <p:nvPr/>
        </p:nvSpPr>
        <p:spPr>
          <a:xfrm>
            <a:off x="2369667" y="3977639"/>
            <a:ext cx="1828800" cy="274320"/>
          </a:xfrm>
          <a:prstGeom prst="rect">
            <a:avLst/>
          </a:prstGeom>
          <a:noFill/>
        </p:spPr>
        <p:txBody>
          <a:bodyPr wrap="square" lIns="0" rIns="0" tIns="0" bIns="0">
            <a:spAutoFit/>
          </a:bodyPr>
          <a:lstStyle/>
          <a:p>
            <a:pPr algn="l"/>
            <a:r>
              <a:rPr sz="1000" b="0" i="0">
                <a:solidFill>
                  <a:srgbClr val="8C8270"/>
                </a:solidFill>
                <a:latin typeface="EB Garamond"/>
                <a:ea typeface="EB Garamond"/>
                <a:cs typeface="EB Garamond"/>
              </a:rPr>
              <a:t>≈ ₹33 per guest</a:t>
            </a:r>
          </a:p>
        </p:txBody>
      </p:sp>
      <p:sp>
        <p:nvSpPr>
          <p:cNvPr id="17" name="TextBox 16"/>
          <p:cNvSpPr txBox="1"/>
          <p:nvPr/>
        </p:nvSpPr>
        <p:spPr>
          <a:xfrm>
            <a:off x="1226667" y="4754880"/>
            <a:ext cx="2697479" cy="365760"/>
          </a:xfrm>
          <a:prstGeom prst="rect">
            <a:avLst/>
          </a:prstGeom>
          <a:noFill/>
        </p:spPr>
        <p:txBody>
          <a:bodyPr wrap="square" lIns="0" rIns="0" tIns="0" bIns="0">
            <a:spAutoFit/>
          </a:bodyPr>
          <a:lstStyle/>
          <a:p>
            <a:pPr algn="ctr"/>
            <a:r>
              <a:rPr sz="1100" b="0" i="0">
                <a:solidFill>
                  <a:srgbClr val="1B1A17"/>
                </a:solidFill>
                <a:latin typeface="EB Garamond"/>
                <a:ea typeface="EB Garamond"/>
                <a:cs typeface="EB Garamond"/>
              </a:rPr>
              <a:t>SUD + DEW in 10 mL vials</a:t>
            </a:r>
          </a:p>
        </p:txBody>
      </p:sp>
      <p:sp>
        <p:nvSpPr>
          <p:cNvPr id="18" name="TextBox 17"/>
          <p:cNvSpPr txBox="1"/>
          <p:nvPr/>
        </p:nvSpPr>
        <p:spPr>
          <a:xfrm>
            <a:off x="1226667" y="5138928"/>
            <a:ext cx="2697479" cy="365760"/>
          </a:xfrm>
          <a:prstGeom prst="rect">
            <a:avLst/>
          </a:prstGeom>
          <a:noFill/>
        </p:spPr>
        <p:txBody>
          <a:bodyPr wrap="square" lIns="0" rIns="0" tIns="0" bIns="0">
            <a:spAutoFit/>
          </a:bodyPr>
          <a:lstStyle/>
          <a:p>
            <a:pPr algn="ctr"/>
            <a:r>
              <a:rPr sz="1100" b="0" i="0">
                <a:solidFill>
                  <a:srgbClr val="1B1A17"/>
                </a:solidFill>
                <a:latin typeface="EB Garamond"/>
                <a:ea typeface="EB Garamond"/>
                <a:cs typeface="EB Garamond"/>
              </a:rPr>
              <a:t>AIR room spray</a:t>
            </a:r>
          </a:p>
        </p:txBody>
      </p:sp>
      <p:sp>
        <p:nvSpPr>
          <p:cNvPr id="19" name="static-panel"/>
          <p:cNvSpPr/>
          <p:nvPr/>
        </p:nvSpPr>
        <p:spPr>
          <a:xfrm>
            <a:off x="4472787" y="2240280"/>
            <a:ext cx="3246120" cy="3566160"/>
          </a:xfrm>
          <a:prstGeom prst="rect">
            <a:avLst/>
          </a:prstGeom>
          <a:solidFill>
            <a:srgbClr val="24382B"/>
          </a:solidFill>
          <a:ln>
            <a:noFill/>
          </a:ln>
        </p:spPr>
        <p:txBody>
          <a:bodyPr rtlCol="0" anchor="ctr"/>
          <a:lstStyle/>
          <a:p>
            <a:pPr algn="ctr"/>
          </a:p>
        </p:txBody>
      </p:sp>
      <p:sp>
        <p:nvSpPr>
          <p:cNvPr id="20" name="TextBox 19"/>
          <p:cNvSpPr txBox="1"/>
          <p:nvPr/>
        </p:nvSpPr>
        <p:spPr>
          <a:xfrm>
            <a:off x="4472787" y="2404872"/>
            <a:ext cx="3246120" cy="228600"/>
          </a:xfrm>
          <a:prstGeom prst="rect">
            <a:avLst/>
          </a:prstGeom>
          <a:noFill/>
        </p:spPr>
        <p:txBody>
          <a:bodyPr wrap="square" lIns="0" rIns="0" tIns="0" bIns="0">
            <a:spAutoFit/>
          </a:bodyPr>
          <a:lstStyle/>
          <a:p>
            <a:pPr algn="ctr"/>
            <a:r>
              <a:rPr sz="750" b="0" i="0" spc="500">
                <a:solidFill>
                  <a:srgbClr val="C9A66B"/>
                </a:solidFill>
                <a:latin typeface="EB Garamond"/>
                <a:ea typeface="EB Garamond"/>
                <a:cs typeface="EB Garamond"/>
              </a:rPr>
              <a:t>MOST HOSTS</a:t>
            </a:r>
          </a:p>
        </p:txBody>
      </p:sp>
      <p:pic>
        <p:nvPicPr>
          <p:cNvPr id="21" name="static-art" descr="tier_manor.png"/>
          <p:cNvPicPr>
            <a:picLocks noChangeAspect="1"/>
          </p:cNvPicPr>
          <p:nvPr/>
        </p:nvPicPr>
        <p:blipFill>
          <a:blip r:embed="rId4"/>
          <a:stretch>
            <a:fillRect/>
          </a:stretch>
        </p:blipFill>
        <p:spPr>
          <a:xfrm>
            <a:off x="4701387" y="2697480"/>
            <a:ext cx="1222513" cy="1874519"/>
          </a:xfrm>
          <a:prstGeom prst="rect">
            <a:avLst/>
          </a:prstGeom>
        </p:spPr>
      </p:pic>
      <p:sp>
        <p:nvSpPr>
          <p:cNvPr id="22" name="TextBox 21"/>
          <p:cNvSpPr txBox="1"/>
          <p:nvPr/>
        </p:nvSpPr>
        <p:spPr>
          <a:xfrm>
            <a:off x="5890107" y="2743200"/>
            <a:ext cx="1828800" cy="457200"/>
          </a:xfrm>
          <a:prstGeom prst="rect">
            <a:avLst/>
          </a:prstGeom>
          <a:noFill/>
        </p:spPr>
        <p:txBody>
          <a:bodyPr wrap="square" lIns="0" rIns="0" tIns="0" bIns="0">
            <a:spAutoFit/>
          </a:bodyPr>
          <a:lstStyle/>
          <a:p>
            <a:pPr algn="l">
              <a:lnSpc>
                <a:spcPct val="100000"/>
              </a:lnSpc>
            </a:pPr>
            <a:r>
              <a:rPr sz="2400" b="0" i="0">
                <a:solidFill>
                  <a:srgbClr val="F4EFE4"/>
                </a:solidFill>
                <a:latin typeface="Libre Caslon Display"/>
                <a:ea typeface="EB Garamond"/>
                <a:cs typeface="EB Garamond"/>
              </a:rPr>
              <a:t>Manor</a:t>
            </a:r>
          </a:p>
        </p:txBody>
      </p:sp>
      <p:sp>
        <p:nvSpPr>
          <p:cNvPr id="23" name="TextBox 22"/>
          <p:cNvSpPr txBox="1"/>
          <p:nvPr/>
        </p:nvSpPr>
        <p:spPr>
          <a:xfrm>
            <a:off x="5890107" y="3200400"/>
            <a:ext cx="1828800" cy="548640"/>
          </a:xfrm>
          <a:prstGeom prst="rect">
            <a:avLst/>
          </a:prstGeom>
          <a:noFill/>
        </p:spPr>
        <p:txBody>
          <a:bodyPr wrap="square" lIns="0" rIns="0" tIns="0" bIns="0">
            <a:spAutoFit/>
          </a:bodyPr>
          <a:lstStyle/>
          <a:p>
            <a:pPr algn="l">
              <a:lnSpc>
                <a:spcPct val="100000"/>
              </a:lnSpc>
            </a:pPr>
            <a:r>
              <a:rPr sz="3000" b="0" i="0">
                <a:solidFill>
                  <a:srgbClr val="F4EFE4"/>
                </a:solidFill>
                <a:latin typeface="Libre Caslon Display"/>
                <a:ea typeface="EB Garamond"/>
                <a:cs typeface="EB Garamond"/>
              </a:rPr>
              <a:t>₹1,999</a:t>
            </a:r>
          </a:p>
        </p:txBody>
      </p:sp>
      <p:sp>
        <p:nvSpPr>
          <p:cNvPr id="24" name="TextBox 23"/>
          <p:cNvSpPr txBox="1"/>
          <p:nvPr/>
        </p:nvSpPr>
        <p:spPr>
          <a:xfrm>
            <a:off x="5890107" y="3721608"/>
            <a:ext cx="1828800" cy="274320"/>
          </a:xfrm>
          <a:prstGeom prst="rect">
            <a:avLst/>
          </a:prstGeom>
          <a:noFill/>
        </p:spPr>
        <p:txBody>
          <a:bodyPr wrap="square" lIns="0" rIns="0" tIns="0" bIns="0">
            <a:spAutoFit/>
          </a:bodyPr>
          <a:lstStyle/>
          <a:p>
            <a:pPr algn="l"/>
            <a:r>
              <a:rPr sz="1000" b="0" i="1">
                <a:solidFill>
                  <a:srgbClr val="C9C1B0"/>
                </a:solidFill>
                <a:latin typeface="EB Garamond"/>
                <a:ea typeface="EB Garamond"/>
                <a:cs typeface="EB Garamond"/>
              </a:rPr>
              <a:t>per month</a:t>
            </a:r>
          </a:p>
        </p:txBody>
      </p:sp>
      <p:sp>
        <p:nvSpPr>
          <p:cNvPr id="25" name="TextBox 24"/>
          <p:cNvSpPr txBox="1"/>
          <p:nvPr/>
        </p:nvSpPr>
        <p:spPr>
          <a:xfrm>
            <a:off x="5890107" y="3977639"/>
            <a:ext cx="1828800" cy="274320"/>
          </a:xfrm>
          <a:prstGeom prst="rect">
            <a:avLst/>
          </a:prstGeom>
          <a:noFill/>
        </p:spPr>
        <p:txBody>
          <a:bodyPr wrap="square" lIns="0" rIns="0" tIns="0" bIns="0">
            <a:spAutoFit/>
          </a:bodyPr>
          <a:lstStyle/>
          <a:p>
            <a:pPr algn="l"/>
            <a:r>
              <a:rPr sz="1000" b="0" i="0">
                <a:solidFill>
                  <a:srgbClr val="C9C1B0"/>
                </a:solidFill>
                <a:latin typeface="EB Garamond"/>
                <a:ea typeface="EB Garamond"/>
                <a:cs typeface="EB Garamond"/>
              </a:rPr>
              <a:t>≈ ₹67 per guest</a:t>
            </a:r>
          </a:p>
        </p:txBody>
      </p:sp>
      <p:sp>
        <p:nvSpPr>
          <p:cNvPr id="26" name="TextBox 25"/>
          <p:cNvSpPr txBox="1"/>
          <p:nvPr/>
        </p:nvSpPr>
        <p:spPr>
          <a:xfrm>
            <a:off x="4747107" y="4754880"/>
            <a:ext cx="2697479" cy="365760"/>
          </a:xfrm>
          <a:prstGeom prst="rect">
            <a:avLst/>
          </a:prstGeom>
          <a:noFill/>
        </p:spPr>
        <p:txBody>
          <a:bodyPr wrap="square" lIns="0" rIns="0" tIns="0" bIns="0">
            <a:spAutoFit/>
          </a:bodyPr>
          <a:lstStyle/>
          <a:p>
            <a:pPr algn="ctr"/>
            <a:r>
              <a:rPr sz="1100" b="0" i="0">
                <a:solidFill>
                  <a:srgbClr val="F4EFE4"/>
                </a:solidFill>
                <a:latin typeface="EB Garamond"/>
                <a:ea typeface="EB Garamond"/>
                <a:cs typeface="EB Garamond"/>
              </a:rPr>
              <a:t>SUD + DEW + VEL in 10 mL amber glass</a:t>
            </a:r>
          </a:p>
        </p:txBody>
      </p:sp>
      <p:sp>
        <p:nvSpPr>
          <p:cNvPr id="27" name="TextBox 26"/>
          <p:cNvSpPr txBox="1"/>
          <p:nvPr/>
        </p:nvSpPr>
        <p:spPr>
          <a:xfrm>
            <a:off x="4747107" y="5138928"/>
            <a:ext cx="2697479" cy="365760"/>
          </a:xfrm>
          <a:prstGeom prst="rect">
            <a:avLst/>
          </a:prstGeom>
          <a:noFill/>
        </p:spPr>
        <p:txBody>
          <a:bodyPr wrap="square" lIns="0" rIns="0" tIns="0" bIns="0">
            <a:spAutoFit/>
          </a:bodyPr>
          <a:lstStyle/>
          <a:p>
            <a:pPr algn="ctr"/>
            <a:r>
              <a:rPr sz="1100" b="0" i="0">
                <a:solidFill>
                  <a:srgbClr val="F4EFE4"/>
                </a:solidFill>
                <a:latin typeface="EB Garamond"/>
                <a:ea typeface="EB Garamond"/>
                <a:cs typeface="EB Garamond"/>
              </a:rPr>
              <a:t>AIR glass spray</a:t>
            </a:r>
          </a:p>
        </p:txBody>
      </p:sp>
      <p:sp>
        <p:nvSpPr>
          <p:cNvPr id="28" name="Rectangle 27"/>
          <p:cNvSpPr/>
          <p:nvPr/>
        </p:nvSpPr>
        <p:spPr>
          <a:xfrm>
            <a:off x="7993227" y="2240280"/>
            <a:ext cx="3246120" cy="9144"/>
          </a:xfrm>
          <a:prstGeom prst="rect">
            <a:avLst/>
          </a:prstGeom>
          <a:solidFill>
            <a:srgbClr val="B9A27A"/>
          </a:solidFill>
          <a:ln>
            <a:noFill/>
          </a:ln>
        </p:spPr>
        <p:txBody>
          <a:bodyPr rtlCol="0" anchor="ctr"/>
          <a:lstStyle/>
          <a:p>
            <a:pPr algn="ctr"/>
          </a:p>
        </p:txBody>
      </p:sp>
      <p:sp>
        <p:nvSpPr>
          <p:cNvPr id="29" name="Rectangle 28"/>
          <p:cNvSpPr/>
          <p:nvPr/>
        </p:nvSpPr>
        <p:spPr>
          <a:xfrm>
            <a:off x="7993227" y="5806440"/>
            <a:ext cx="3246120" cy="9144"/>
          </a:xfrm>
          <a:prstGeom prst="rect">
            <a:avLst/>
          </a:prstGeom>
          <a:solidFill>
            <a:srgbClr val="B9A27A"/>
          </a:solidFill>
          <a:ln>
            <a:noFill/>
          </a:ln>
        </p:spPr>
        <p:txBody>
          <a:bodyPr rtlCol="0" anchor="ctr"/>
          <a:lstStyle/>
          <a:p>
            <a:pPr algn="ctr"/>
          </a:p>
        </p:txBody>
      </p:sp>
      <p:pic>
        <p:nvPicPr>
          <p:cNvPr id="30" name="static-art" descr="tier_estate.png"/>
          <p:cNvPicPr>
            <a:picLocks noChangeAspect="1"/>
          </p:cNvPicPr>
          <p:nvPr/>
        </p:nvPicPr>
        <p:blipFill>
          <a:blip r:embed="rId5"/>
          <a:stretch>
            <a:fillRect/>
          </a:stretch>
        </p:blipFill>
        <p:spPr>
          <a:xfrm>
            <a:off x="8221827" y="2697480"/>
            <a:ext cx="1222513" cy="1874519"/>
          </a:xfrm>
          <a:prstGeom prst="rect">
            <a:avLst/>
          </a:prstGeom>
        </p:spPr>
      </p:pic>
      <p:sp>
        <p:nvSpPr>
          <p:cNvPr id="31" name="TextBox 30"/>
          <p:cNvSpPr txBox="1"/>
          <p:nvPr/>
        </p:nvSpPr>
        <p:spPr>
          <a:xfrm>
            <a:off x="9410547" y="2743200"/>
            <a:ext cx="1828800" cy="457200"/>
          </a:xfrm>
          <a:prstGeom prst="rect">
            <a:avLst/>
          </a:prstGeom>
          <a:noFill/>
        </p:spPr>
        <p:txBody>
          <a:bodyPr wrap="square" lIns="0" rIns="0" tIns="0" bIns="0">
            <a:spAutoFit/>
          </a:bodyPr>
          <a:lstStyle/>
          <a:p>
            <a:pPr algn="l">
              <a:lnSpc>
                <a:spcPct val="100000"/>
              </a:lnSpc>
            </a:pPr>
            <a:r>
              <a:rPr sz="2400" b="0" i="0">
                <a:solidFill>
                  <a:srgbClr val="1B1A17"/>
                </a:solidFill>
                <a:latin typeface="Libre Caslon Display"/>
                <a:ea typeface="EB Garamond"/>
                <a:cs typeface="EB Garamond"/>
              </a:rPr>
              <a:t>Estate</a:t>
            </a:r>
          </a:p>
        </p:txBody>
      </p:sp>
      <p:sp>
        <p:nvSpPr>
          <p:cNvPr id="32" name="TextBox 31"/>
          <p:cNvSpPr txBox="1"/>
          <p:nvPr/>
        </p:nvSpPr>
        <p:spPr>
          <a:xfrm>
            <a:off x="9410547" y="3200400"/>
            <a:ext cx="1828800" cy="548640"/>
          </a:xfrm>
          <a:prstGeom prst="rect">
            <a:avLst/>
          </a:prstGeom>
          <a:noFill/>
        </p:spPr>
        <p:txBody>
          <a:bodyPr wrap="square" lIns="0" rIns="0" tIns="0" bIns="0">
            <a:spAutoFit/>
          </a:bodyPr>
          <a:lstStyle/>
          <a:p>
            <a:pPr algn="l">
              <a:lnSpc>
                <a:spcPct val="100000"/>
              </a:lnSpc>
            </a:pPr>
            <a:r>
              <a:rPr sz="3000" b="0" i="0">
                <a:solidFill>
                  <a:srgbClr val="1B1A17"/>
                </a:solidFill>
                <a:latin typeface="Libre Caslon Display"/>
                <a:ea typeface="EB Garamond"/>
                <a:cs typeface="EB Garamond"/>
              </a:rPr>
              <a:t>₹3,999</a:t>
            </a:r>
          </a:p>
        </p:txBody>
      </p:sp>
      <p:sp>
        <p:nvSpPr>
          <p:cNvPr id="33" name="TextBox 32"/>
          <p:cNvSpPr txBox="1"/>
          <p:nvPr/>
        </p:nvSpPr>
        <p:spPr>
          <a:xfrm>
            <a:off x="9410547" y="3721608"/>
            <a:ext cx="1828800" cy="274320"/>
          </a:xfrm>
          <a:prstGeom prst="rect">
            <a:avLst/>
          </a:prstGeom>
          <a:noFill/>
        </p:spPr>
        <p:txBody>
          <a:bodyPr wrap="square" lIns="0" rIns="0" tIns="0" bIns="0">
            <a:spAutoFit/>
          </a:bodyPr>
          <a:lstStyle/>
          <a:p>
            <a:pPr algn="l"/>
            <a:r>
              <a:rPr sz="1000" b="0" i="1">
                <a:solidFill>
                  <a:srgbClr val="8C8270"/>
                </a:solidFill>
                <a:latin typeface="EB Garamond"/>
                <a:ea typeface="EB Garamond"/>
                <a:cs typeface="EB Garamond"/>
              </a:rPr>
              <a:t>per month</a:t>
            </a:r>
          </a:p>
        </p:txBody>
      </p:sp>
      <p:sp>
        <p:nvSpPr>
          <p:cNvPr id="34" name="TextBox 33"/>
          <p:cNvSpPr txBox="1"/>
          <p:nvPr/>
        </p:nvSpPr>
        <p:spPr>
          <a:xfrm>
            <a:off x="9410547" y="3977639"/>
            <a:ext cx="1828800" cy="274320"/>
          </a:xfrm>
          <a:prstGeom prst="rect">
            <a:avLst/>
          </a:prstGeom>
          <a:noFill/>
        </p:spPr>
        <p:txBody>
          <a:bodyPr wrap="square" lIns="0" rIns="0" tIns="0" bIns="0">
            <a:spAutoFit/>
          </a:bodyPr>
          <a:lstStyle/>
          <a:p>
            <a:pPr algn="l"/>
            <a:r>
              <a:rPr sz="1000" b="0" i="0">
                <a:solidFill>
                  <a:srgbClr val="8C8270"/>
                </a:solidFill>
                <a:latin typeface="EB Garamond"/>
                <a:ea typeface="EB Garamond"/>
                <a:cs typeface="EB Garamond"/>
              </a:rPr>
              <a:t>≈ ₹133 per guest</a:t>
            </a:r>
          </a:p>
        </p:txBody>
      </p:sp>
      <p:sp>
        <p:nvSpPr>
          <p:cNvPr id="35" name="TextBox 34"/>
          <p:cNvSpPr txBox="1"/>
          <p:nvPr/>
        </p:nvSpPr>
        <p:spPr>
          <a:xfrm>
            <a:off x="8267547" y="4754880"/>
            <a:ext cx="2697479" cy="365760"/>
          </a:xfrm>
          <a:prstGeom prst="rect">
            <a:avLst/>
          </a:prstGeom>
          <a:noFill/>
        </p:spPr>
        <p:txBody>
          <a:bodyPr wrap="square" lIns="0" rIns="0" tIns="0" bIns="0">
            <a:spAutoFit/>
          </a:bodyPr>
          <a:lstStyle/>
          <a:p>
            <a:pPr algn="ctr"/>
            <a:r>
              <a:rPr sz="1100" b="0" i="0">
                <a:solidFill>
                  <a:srgbClr val="1B1A17"/>
                </a:solidFill>
                <a:latin typeface="EB Garamond"/>
                <a:ea typeface="EB Garamond"/>
                <a:cs typeface="EB Garamond"/>
              </a:rPr>
              <a:t>SUD + DEW + VEL + SLK in 15 mL designer glass</a:t>
            </a:r>
          </a:p>
        </p:txBody>
      </p:sp>
      <p:sp>
        <p:nvSpPr>
          <p:cNvPr id="36" name="TextBox 35"/>
          <p:cNvSpPr txBox="1"/>
          <p:nvPr/>
        </p:nvSpPr>
        <p:spPr>
          <a:xfrm>
            <a:off x="8267547" y="5138928"/>
            <a:ext cx="2697479" cy="365760"/>
          </a:xfrm>
          <a:prstGeom prst="rect">
            <a:avLst/>
          </a:prstGeom>
          <a:noFill/>
        </p:spPr>
        <p:txBody>
          <a:bodyPr wrap="square" lIns="0" rIns="0" tIns="0" bIns="0">
            <a:spAutoFit/>
          </a:bodyPr>
          <a:lstStyle/>
          <a:p>
            <a:pPr algn="ctr"/>
            <a:r>
              <a:rPr sz="1100" b="0" i="0">
                <a:solidFill>
                  <a:srgbClr val="1B1A17"/>
                </a:solidFill>
                <a:latin typeface="EB Garamond"/>
                <a:ea typeface="EB Garamond"/>
                <a:cs typeface="EB Garamond"/>
              </a:rPr>
              <a:t>AIR glass spray</a:t>
            </a:r>
          </a:p>
        </p:txBody>
      </p:sp>
      <p:sp>
        <p:nvSpPr>
          <p:cNvPr id="37" name="TextBox 36"/>
          <p:cNvSpPr txBox="1"/>
          <p:nvPr/>
        </p:nvSpPr>
        <p:spPr>
          <a:xfrm>
            <a:off x="8267547" y="5522976"/>
            <a:ext cx="2697479" cy="365760"/>
          </a:xfrm>
          <a:prstGeom prst="rect">
            <a:avLst/>
          </a:prstGeom>
          <a:noFill/>
        </p:spPr>
        <p:txBody>
          <a:bodyPr wrap="square" lIns="0" rIns="0" tIns="0" bIns="0">
            <a:spAutoFit/>
          </a:bodyPr>
          <a:lstStyle/>
          <a:p>
            <a:pPr algn="ctr"/>
            <a:r>
              <a:rPr sz="1100" b="0" i="0">
                <a:solidFill>
                  <a:srgbClr val="1B1A17"/>
                </a:solidFill>
                <a:latin typeface="EB Garamond"/>
                <a:ea typeface="EB Garamond"/>
                <a:cs typeface="EB Garamond"/>
              </a:rPr>
              <a:t>LNG diffuser</a:t>
            </a:r>
          </a:p>
        </p:txBody>
      </p:sp>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42" presetClass="entr" presetSubtype="0" fill="hold" grpId="0" nodeType="withEffect">
                                  <p:stCondLst>
                                    <p:cond delay="331"/>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900"/>
                                        <p:tgtEl>
                                          <p:spTgt spid="8"/>
                                        </p:tgtEl>
                                      </p:cBhvr>
                                    </p:animEffect>
                                    <p:anim calcmode="lin" valueType="num">
                                      <p:cBhvr>
                                        <p:cTn id="11" dur="900" decel="100000"/>
                                        <p:tgtEl>
                                          <p:spTgt spid="8"/>
                                        </p:tgtEl>
                                        <p:attrNameLst>
                                          <p:attrName>ppt_x</p:attrName>
                                        </p:attrNameLst>
                                      </p:cBhvr>
                                      <p:tavLst>
                                        <p:tav tm="0">
                                          <p:val>
                                            <p:strVal val="#ppt_x"/>
                                          </p:val>
                                        </p:tav>
                                        <p:tav tm="100000">
                                          <p:val>
                                            <p:strVal val="#ppt_x"/>
                                          </p:val>
                                        </p:tav>
                                      </p:tavLst>
                                    </p:anim>
                                    <p:anim calcmode="lin" valueType="num">
                                      <p:cBhvr>
                                        <p:cTn id="12" dur="900" decel="100000"/>
                                        <p:tgtEl>
                                          <p:spTgt spid="8"/>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412"/>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700"/>
                                        <p:tgtEl>
                                          <p:spTgt spid="9"/>
                                        </p:tgtEl>
                                      </p:cBhvr>
                                    </p:animEffect>
                                  </p:childTnLst>
                                </p:cTn>
                              </p:par>
                              <p:par>
                                <p:cTn id="16" presetID="22" presetClass="entr" presetSubtype="8" fill="hold" grpId="0" nodeType="withEffect">
                                  <p:stCondLst>
                                    <p:cond delay="493"/>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700"/>
                                        <p:tgtEl>
                                          <p:spTgt spid="10"/>
                                        </p:tgtEl>
                                      </p:cBhvr>
                                    </p:animEffect>
                                  </p:childTnLst>
                                </p:cTn>
                              </p:par>
                              <p:par>
                                <p:cTn id="19" presetID="22" presetClass="entr" presetSubtype="8" fill="hold" grpId="0" nodeType="withEffect">
                                  <p:stCondLst>
                                    <p:cond delay="574"/>
                                  </p:stCondLst>
                                  <p:childTnLst>
                                    <p:set>
                                      <p:cBhvr>
                                        <p:cTn id="20" dur="1" fill="hold">
                                          <p:stCondLst>
                                            <p:cond delay="0"/>
                                          </p:stCondLst>
                                        </p:cTn>
                                        <p:tgtEl>
                                          <p:spTgt spid="28"/>
                                        </p:tgtEl>
                                        <p:attrNameLst>
                                          <p:attrName>style.visibility</p:attrName>
                                        </p:attrNameLst>
                                      </p:cBhvr>
                                      <p:to>
                                        <p:strVal val="visible"/>
                                      </p:to>
                                    </p:set>
                                    <p:animEffect transition="in" filter="wipe(left)">
                                      <p:cBhvr>
                                        <p:cTn id="21" dur="700"/>
                                        <p:tgtEl>
                                          <p:spTgt spid="28"/>
                                        </p:tgtEl>
                                      </p:cBhvr>
                                    </p:animEffect>
                                  </p:childTnLst>
                                </p:cTn>
                              </p:par>
                              <p:par>
                                <p:cTn id="22" presetID="10" presetClass="entr" presetSubtype="0" fill="hold" grpId="0" nodeType="withEffect">
                                  <p:stCondLst>
                                    <p:cond delay="655"/>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700"/>
                                        <p:tgtEl>
                                          <p:spTgt spid="20"/>
                                        </p:tgtEl>
                                      </p:cBhvr>
                                    </p:animEffect>
                                  </p:childTnLst>
                                </p:cTn>
                              </p:par>
                              <p:par>
                                <p:cTn id="25" presetID="42" presetClass="entr" presetSubtype="0" fill="hold" grpId="0" nodeType="withEffect">
                                  <p:stCondLst>
                                    <p:cond delay="736"/>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900"/>
                                        <p:tgtEl>
                                          <p:spTgt spid="13"/>
                                        </p:tgtEl>
                                      </p:cBhvr>
                                    </p:animEffect>
                                    <p:anim calcmode="lin" valueType="num">
                                      <p:cBhvr>
                                        <p:cTn id="28" dur="900" decel="100000"/>
                                        <p:tgtEl>
                                          <p:spTgt spid="13"/>
                                        </p:tgtEl>
                                        <p:attrNameLst>
                                          <p:attrName>ppt_x</p:attrName>
                                        </p:attrNameLst>
                                      </p:cBhvr>
                                      <p:tavLst>
                                        <p:tav tm="0">
                                          <p:val>
                                            <p:strVal val="#ppt_x"/>
                                          </p:val>
                                        </p:tav>
                                        <p:tav tm="100000">
                                          <p:val>
                                            <p:strVal val="#ppt_x"/>
                                          </p:val>
                                        </p:tav>
                                      </p:tavLst>
                                    </p:anim>
                                    <p:anim calcmode="lin" valueType="num">
                                      <p:cBhvr>
                                        <p:cTn id="29" dur="900" decel="100000"/>
                                        <p:tgtEl>
                                          <p:spTgt spid="13"/>
                                        </p:tgtEl>
                                        <p:attrNameLst>
                                          <p:attrName>ppt_y</p:attrName>
                                        </p:attrNameLst>
                                      </p:cBhvr>
                                      <p:tavLst>
                                        <p:tav tm="0">
                                          <p:val>
                                            <p:strVal val="#ppt_y+.035"/>
                                          </p:val>
                                        </p:tav>
                                        <p:tav tm="100000">
                                          <p:val>
                                            <p:strVal val="#ppt_y"/>
                                          </p:val>
                                        </p:tav>
                                      </p:tavLst>
                                    </p:anim>
                                  </p:childTnLst>
                                </p:cTn>
                              </p:par>
                              <p:par>
                                <p:cTn id="30" presetID="42" presetClass="entr" presetSubtype="0" fill="hold" grpId="0" nodeType="withEffect">
                                  <p:stCondLst>
                                    <p:cond delay="817"/>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900"/>
                                        <p:tgtEl>
                                          <p:spTgt spid="22"/>
                                        </p:tgtEl>
                                      </p:cBhvr>
                                    </p:animEffect>
                                    <p:anim calcmode="lin" valueType="num">
                                      <p:cBhvr>
                                        <p:cTn id="33" dur="900" decel="100000"/>
                                        <p:tgtEl>
                                          <p:spTgt spid="22"/>
                                        </p:tgtEl>
                                        <p:attrNameLst>
                                          <p:attrName>ppt_x</p:attrName>
                                        </p:attrNameLst>
                                      </p:cBhvr>
                                      <p:tavLst>
                                        <p:tav tm="0">
                                          <p:val>
                                            <p:strVal val="#ppt_x"/>
                                          </p:val>
                                        </p:tav>
                                        <p:tav tm="100000">
                                          <p:val>
                                            <p:strVal val="#ppt_x"/>
                                          </p:val>
                                        </p:tav>
                                      </p:tavLst>
                                    </p:anim>
                                    <p:anim calcmode="lin" valueType="num">
                                      <p:cBhvr>
                                        <p:cTn id="34" dur="900" decel="100000"/>
                                        <p:tgtEl>
                                          <p:spTgt spid="22"/>
                                        </p:tgtEl>
                                        <p:attrNameLst>
                                          <p:attrName>ppt_y</p:attrName>
                                        </p:attrNameLst>
                                      </p:cBhvr>
                                      <p:tavLst>
                                        <p:tav tm="0">
                                          <p:val>
                                            <p:strVal val="#ppt_y+.035"/>
                                          </p:val>
                                        </p:tav>
                                        <p:tav tm="100000">
                                          <p:val>
                                            <p:strVal val="#ppt_y"/>
                                          </p:val>
                                        </p:tav>
                                      </p:tavLst>
                                    </p:anim>
                                  </p:childTnLst>
                                </p:cTn>
                              </p:par>
                              <p:par>
                                <p:cTn id="35" presetID="42" presetClass="entr" presetSubtype="0" fill="hold" grpId="0" nodeType="withEffect">
                                  <p:stCondLst>
                                    <p:cond delay="898"/>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900"/>
                                        <p:tgtEl>
                                          <p:spTgt spid="31"/>
                                        </p:tgtEl>
                                      </p:cBhvr>
                                    </p:animEffect>
                                    <p:anim calcmode="lin" valueType="num">
                                      <p:cBhvr>
                                        <p:cTn id="38" dur="900" decel="100000"/>
                                        <p:tgtEl>
                                          <p:spTgt spid="31"/>
                                        </p:tgtEl>
                                        <p:attrNameLst>
                                          <p:attrName>ppt_x</p:attrName>
                                        </p:attrNameLst>
                                      </p:cBhvr>
                                      <p:tavLst>
                                        <p:tav tm="0">
                                          <p:val>
                                            <p:strVal val="#ppt_x"/>
                                          </p:val>
                                        </p:tav>
                                        <p:tav tm="100000">
                                          <p:val>
                                            <p:strVal val="#ppt_x"/>
                                          </p:val>
                                        </p:tav>
                                      </p:tavLst>
                                    </p:anim>
                                    <p:anim calcmode="lin" valueType="num">
                                      <p:cBhvr>
                                        <p:cTn id="39" dur="900" decel="100000"/>
                                        <p:tgtEl>
                                          <p:spTgt spid="31"/>
                                        </p:tgtEl>
                                        <p:attrNameLst>
                                          <p:attrName>ppt_y</p:attrName>
                                        </p:attrNameLst>
                                      </p:cBhvr>
                                      <p:tavLst>
                                        <p:tav tm="0">
                                          <p:val>
                                            <p:strVal val="#ppt_y+.035"/>
                                          </p:val>
                                        </p:tav>
                                        <p:tav tm="100000">
                                          <p:val>
                                            <p:strVal val="#ppt_y"/>
                                          </p:val>
                                        </p:tav>
                                      </p:tavLst>
                                    </p:anim>
                                  </p:childTnLst>
                                </p:cTn>
                              </p:par>
                              <p:par>
                                <p:cTn id="40" presetID="42" presetClass="entr" presetSubtype="0" fill="hold" grpId="0" nodeType="withEffect">
                                  <p:stCondLst>
                                    <p:cond delay="979"/>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900"/>
                                        <p:tgtEl>
                                          <p:spTgt spid="14"/>
                                        </p:tgtEl>
                                      </p:cBhvr>
                                    </p:animEffect>
                                    <p:anim calcmode="lin" valueType="num">
                                      <p:cBhvr>
                                        <p:cTn id="43" dur="900" decel="100000"/>
                                        <p:tgtEl>
                                          <p:spTgt spid="14"/>
                                        </p:tgtEl>
                                        <p:attrNameLst>
                                          <p:attrName>ppt_x</p:attrName>
                                        </p:attrNameLst>
                                      </p:cBhvr>
                                      <p:tavLst>
                                        <p:tav tm="0">
                                          <p:val>
                                            <p:strVal val="#ppt_x"/>
                                          </p:val>
                                        </p:tav>
                                        <p:tav tm="100000">
                                          <p:val>
                                            <p:strVal val="#ppt_x"/>
                                          </p:val>
                                        </p:tav>
                                      </p:tavLst>
                                    </p:anim>
                                    <p:anim calcmode="lin" valueType="num">
                                      <p:cBhvr>
                                        <p:cTn id="44" dur="900" decel="100000"/>
                                        <p:tgtEl>
                                          <p:spTgt spid="14"/>
                                        </p:tgtEl>
                                        <p:attrNameLst>
                                          <p:attrName>ppt_y</p:attrName>
                                        </p:attrNameLst>
                                      </p:cBhvr>
                                      <p:tavLst>
                                        <p:tav tm="0">
                                          <p:val>
                                            <p:strVal val="#ppt_y+.035"/>
                                          </p:val>
                                        </p:tav>
                                        <p:tav tm="100000">
                                          <p:val>
                                            <p:strVal val="#ppt_y"/>
                                          </p:val>
                                        </p:tav>
                                      </p:tavLst>
                                    </p:anim>
                                  </p:childTnLst>
                                </p:cTn>
                              </p:par>
                              <p:par>
                                <p:cTn id="45" presetID="42" presetClass="entr" presetSubtype="0" fill="hold" grpId="0" nodeType="withEffect">
                                  <p:stCondLst>
                                    <p:cond delay="106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900"/>
                                        <p:tgtEl>
                                          <p:spTgt spid="23"/>
                                        </p:tgtEl>
                                      </p:cBhvr>
                                    </p:animEffect>
                                    <p:anim calcmode="lin" valueType="num">
                                      <p:cBhvr>
                                        <p:cTn id="48" dur="900" decel="100000"/>
                                        <p:tgtEl>
                                          <p:spTgt spid="23"/>
                                        </p:tgtEl>
                                        <p:attrNameLst>
                                          <p:attrName>ppt_x</p:attrName>
                                        </p:attrNameLst>
                                      </p:cBhvr>
                                      <p:tavLst>
                                        <p:tav tm="0">
                                          <p:val>
                                            <p:strVal val="#ppt_x"/>
                                          </p:val>
                                        </p:tav>
                                        <p:tav tm="100000">
                                          <p:val>
                                            <p:strVal val="#ppt_x"/>
                                          </p:val>
                                        </p:tav>
                                      </p:tavLst>
                                    </p:anim>
                                    <p:anim calcmode="lin" valueType="num">
                                      <p:cBhvr>
                                        <p:cTn id="49" dur="900" decel="100000"/>
                                        <p:tgtEl>
                                          <p:spTgt spid="23"/>
                                        </p:tgtEl>
                                        <p:attrNameLst>
                                          <p:attrName>ppt_y</p:attrName>
                                        </p:attrNameLst>
                                      </p:cBhvr>
                                      <p:tavLst>
                                        <p:tav tm="0">
                                          <p:val>
                                            <p:strVal val="#ppt_y+.035"/>
                                          </p:val>
                                        </p:tav>
                                        <p:tav tm="100000">
                                          <p:val>
                                            <p:strVal val="#ppt_y"/>
                                          </p:val>
                                        </p:tav>
                                      </p:tavLst>
                                    </p:anim>
                                  </p:childTnLst>
                                </p:cTn>
                              </p:par>
                              <p:par>
                                <p:cTn id="50" presetID="42" presetClass="entr" presetSubtype="0" fill="hold" grpId="0" nodeType="withEffect">
                                  <p:stCondLst>
                                    <p:cond delay="1141"/>
                                  </p:stCondLst>
                                  <p:childTnLst>
                                    <p:set>
                                      <p:cBhvr>
                                        <p:cTn id="51" dur="1" fill="hold">
                                          <p:stCondLst>
                                            <p:cond delay="0"/>
                                          </p:stCondLst>
                                        </p:cTn>
                                        <p:tgtEl>
                                          <p:spTgt spid="32"/>
                                        </p:tgtEl>
                                        <p:attrNameLst>
                                          <p:attrName>style.visibility</p:attrName>
                                        </p:attrNameLst>
                                      </p:cBhvr>
                                      <p:to>
                                        <p:strVal val="visible"/>
                                      </p:to>
                                    </p:set>
                                    <p:animEffect transition="in" filter="fade">
                                      <p:cBhvr>
                                        <p:cTn id="52" dur="900"/>
                                        <p:tgtEl>
                                          <p:spTgt spid="32"/>
                                        </p:tgtEl>
                                      </p:cBhvr>
                                    </p:animEffect>
                                    <p:anim calcmode="lin" valueType="num">
                                      <p:cBhvr>
                                        <p:cTn id="53" dur="900" decel="100000"/>
                                        <p:tgtEl>
                                          <p:spTgt spid="32"/>
                                        </p:tgtEl>
                                        <p:attrNameLst>
                                          <p:attrName>ppt_x</p:attrName>
                                        </p:attrNameLst>
                                      </p:cBhvr>
                                      <p:tavLst>
                                        <p:tav tm="0">
                                          <p:val>
                                            <p:strVal val="#ppt_x"/>
                                          </p:val>
                                        </p:tav>
                                        <p:tav tm="100000">
                                          <p:val>
                                            <p:strVal val="#ppt_x"/>
                                          </p:val>
                                        </p:tav>
                                      </p:tavLst>
                                    </p:anim>
                                    <p:anim calcmode="lin" valueType="num">
                                      <p:cBhvr>
                                        <p:cTn id="54" dur="900" decel="100000"/>
                                        <p:tgtEl>
                                          <p:spTgt spid="32"/>
                                        </p:tgtEl>
                                        <p:attrNameLst>
                                          <p:attrName>ppt_y</p:attrName>
                                        </p:attrNameLst>
                                      </p:cBhvr>
                                      <p:tavLst>
                                        <p:tav tm="0">
                                          <p:val>
                                            <p:strVal val="#ppt_y+.035"/>
                                          </p:val>
                                        </p:tav>
                                        <p:tav tm="100000">
                                          <p:val>
                                            <p:strVal val="#ppt_y"/>
                                          </p:val>
                                        </p:tav>
                                      </p:tavLst>
                                    </p:anim>
                                  </p:childTnLst>
                                </p:cTn>
                              </p:par>
                              <p:par>
                                <p:cTn id="55" presetID="10" presetClass="entr" presetSubtype="0" fill="hold" grpId="0" nodeType="withEffect">
                                  <p:stCondLst>
                                    <p:cond delay="1222"/>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700"/>
                                        <p:tgtEl>
                                          <p:spTgt spid="15"/>
                                        </p:tgtEl>
                                      </p:cBhvr>
                                    </p:animEffect>
                                  </p:childTnLst>
                                </p:cTn>
                              </p:par>
                              <p:par>
                                <p:cTn id="58" presetID="10" presetClass="entr" presetSubtype="0" fill="hold" grpId="0" nodeType="withEffect">
                                  <p:stCondLst>
                                    <p:cond delay="1303"/>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700"/>
                                        <p:tgtEl>
                                          <p:spTgt spid="16"/>
                                        </p:tgtEl>
                                      </p:cBhvr>
                                    </p:animEffect>
                                  </p:childTnLst>
                                </p:cTn>
                              </p:par>
                              <p:par>
                                <p:cTn id="61" presetID="10" presetClass="entr" presetSubtype="0" fill="hold" grpId="0" nodeType="withEffect">
                                  <p:stCondLst>
                                    <p:cond delay="1384"/>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700"/>
                                        <p:tgtEl>
                                          <p:spTgt spid="24"/>
                                        </p:tgtEl>
                                      </p:cBhvr>
                                    </p:animEffect>
                                  </p:childTnLst>
                                </p:cTn>
                              </p:par>
                              <p:par>
                                <p:cTn id="64" presetID="10" presetClass="entr" presetSubtype="0" fill="hold" grpId="0" nodeType="withEffect">
                                  <p:stCondLst>
                                    <p:cond delay="1465"/>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700"/>
                                        <p:tgtEl>
                                          <p:spTgt spid="25"/>
                                        </p:tgtEl>
                                      </p:cBhvr>
                                    </p:animEffect>
                                  </p:childTnLst>
                                </p:cTn>
                              </p:par>
                              <p:par>
                                <p:cTn id="67" presetID="10" presetClass="entr" presetSubtype="0" fill="hold" grpId="0" nodeType="withEffect">
                                  <p:stCondLst>
                                    <p:cond delay="1546"/>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700"/>
                                        <p:tgtEl>
                                          <p:spTgt spid="33"/>
                                        </p:tgtEl>
                                      </p:cBhvr>
                                    </p:animEffect>
                                  </p:childTnLst>
                                </p:cTn>
                              </p:par>
                              <p:par>
                                <p:cTn id="70" presetID="10" presetClass="entr" presetSubtype="0" fill="hold" grpId="0" nodeType="withEffect">
                                  <p:stCondLst>
                                    <p:cond delay="1627"/>
                                  </p:stCondLst>
                                  <p:childTnLst>
                                    <p:set>
                                      <p:cBhvr>
                                        <p:cTn id="71" dur="1" fill="hold">
                                          <p:stCondLst>
                                            <p:cond delay="0"/>
                                          </p:stCondLst>
                                        </p:cTn>
                                        <p:tgtEl>
                                          <p:spTgt spid="34"/>
                                        </p:tgtEl>
                                        <p:attrNameLst>
                                          <p:attrName>style.visibility</p:attrName>
                                        </p:attrNameLst>
                                      </p:cBhvr>
                                      <p:to>
                                        <p:strVal val="visible"/>
                                      </p:to>
                                    </p:set>
                                    <p:animEffect transition="in" filter="fade">
                                      <p:cBhvr>
                                        <p:cTn id="72" dur="700"/>
                                        <p:tgtEl>
                                          <p:spTgt spid="34"/>
                                        </p:tgtEl>
                                      </p:cBhvr>
                                    </p:animEffect>
                                  </p:childTnLst>
                                </p:cTn>
                              </p:par>
                              <p:par>
                                <p:cTn id="73" presetID="10" presetClass="entr" presetSubtype="0" fill="hold" grpId="0" nodeType="withEffect">
                                  <p:stCondLst>
                                    <p:cond delay="1708"/>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700"/>
                                        <p:tgtEl>
                                          <p:spTgt spid="17"/>
                                        </p:tgtEl>
                                      </p:cBhvr>
                                    </p:animEffect>
                                  </p:childTnLst>
                                </p:cTn>
                              </p:par>
                              <p:par>
                                <p:cTn id="76" presetID="10" presetClass="entr" presetSubtype="0" fill="hold" grpId="0" nodeType="withEffect">
                                  <p:stCondLst>
                                    <p:cond delay="1789"/>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700"/>
                                        <p:tgtEl>
                                          <p:spTgt spid="26"/>
                                        </p:tgtEl>
                                      </p:cBhvr>
                                    </p:animEffect>
                                  </p:childTnLst>
                                </p:cTn>
                              </p:par>
                              <p:par>
                                <p:cTn id="79" presetID="10" presetClass="entr" presetSubtype="0" fill="hold" grpId="0" nodeType="withEffect">
                                  <p:stCondLst>
                                    <p:cond delay="187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700"/>
                                        <p:tgtEl>
                                          <p:spTgt spid="35"/>
                                        </p:tgtEl>
                                      </p:cBhvr>
                                    </p:animEffect>
                                  </p:childTnLst>
                                </p:cTn>
                              </p:par>
                              <p:par>
                                <p:cTn id="82" presetID="10" presetClass="entr" presetSubtype="0" fill="hold" grpId="0" nodeType="withEffect">
                                  <p:stCondLst>
                                    <p:cond delay="1951"/>
                                  </p:stCondLst>
                                  <p:childTnLst>
                                    <p:set>
                                      <p:cBhvr>
                                        <p:cTn id="83" dur="1" fill="hold">
                                          <p:stCondLst>
                                            <p:cond delay="0"/>
                                          </p:stCondLst>
                                        </p:cTn>
                                        <p:tgtEl>
                                          <p:spTgt spid="18"/>
                                        </p:tgtEl>
                                        <p:attrNameLst>
                                          <p:attrName>style.visibility</p:attrName>
                                        </p:attrNameLst>
                                      </p:cBhvr>
                                      <p:to>
                                        <p:strVal val="visible"/>
                                      </p:to>
                                    </p:set>
                                    <p:animEffect transition="in" filter="fade">
                                      <p:cBhvr>
                                        <p:cTn id="84" dur="700"/>
                                        <p:tgtEl>
                                          <p:spTgt spid="18"/>
                                        </p:tgtEl>
                                      </p:cBhvr>
                                    </p:animEffect>
                                  </p:childTnLst>
                                </p:cTn>
                              </p:par>
                              <p:par>
                                <p:cTn id="85" presetID="10" presetClass="entr" presetSubtype="0" fill="hold" grpId="0" nodeType="withEffect">
                                  <p:stCondLst>
                                    <p:cond delay="2032"/>
                                  </p:stCondLst>
                                  <p:childTnLst>
                                    <p:set>
                                      <p:cBhvr>
                                        <p:cTn id="86" dur="1" fill="hold">
                                          <p:stCondLst>
                                            <p:cond delay="0"/>
                                          </p:stCondLst>
                                        </p:cTn>
                                        <p:tgtEl>
                                          <p:spTgt spid="27"/>
                                        </p:tgtEl>
                                        <p:attrNameLst>
                                          <p:attrName>style.visibility</p:attrName>
                                        </p:attrNameLst>
                                      </p:cBhvr>
                                      <p:to>
                                        <p:strVal val="visible"/>
                                      </p:to>
                                    </p:set>
                                    <p:animEffect transition="in" filter="fade">
                                      <p:cBhvr>
                                        <p:cTn id="87" dur="700"/>
                                        <p:tgtEl>
                                          <p:spTgt spid="27"/>
                                        </p:tgtEl>
                                      </p:cBhvr>
                                    </p:animEffect>
                                  </p:childTnLst>
                                </p:cTn>
                              </p:par>
                              <p:par>
                                <p:cTn id="88" presetID="10" presetClass="entr" presetSubtype="0" fill="hold" grpId="0" nodeType="withEffect">
                                  <p:stCondLst>
                                    <p:cond delay="2113"/>
                                  </p:stCondLst>
                                  <p:childTnLst>
                                    <p:set>
                                      <p:cBhvr>
                                        <p:cTn id="89" dur="1" fill="hold">
                                          <p:stCondLst>
                                            <p:cond delay="0"/>
                                          </p:stCondLst>
                                        </p:cTn>
                                        <p:tgtEl>
                                          <p:spTgt spid="36"/>
                                        </p:tgtEl>
                                        <p:attrNameLst>
                                          <p:attrName>style.visibility</p:attrName>
                                        </p:attrNameLst>
                                      </p:cBhvr>
                                      <p:to>
                                        <p:strVal val="visible"/>
                                      </p:to>
                                    </p:set>
                                    <p:animEffect transition="in" filter="fade">
                                      <p:cBhvr>
                                        <p:cTn id="90" dur="700"/>
                                        <p:tgtEl>
                                          <p:spTgt spid="36"/>
                                        </p:tgtEl>
                                      </p:cBhvr>
                                    </p:animEffect>
                                  </p:childTnLst>
                                </p:cTn>
                              </p:par>
                              <p:par>
                                <p:cTn id="91" presetID="10" presetClass="entr" presetSubtype="0" fill="hold" grpId="0" nodeType="withEffect">
                                  <p:stCondLst>
                                    <p:cond delay="2194"/>
                                  </p:stCondLst>
                                  <p:childTnLst>
                                    <p:set>
                                      <p:cBhvr>
                                        <p:cTn id="92" dur="1" fill="hold">
                                          <p:stCondLst>
                                            <p:cond delay="0"/>
                                          </p:stCondLst>
                                        </p:cTn>
                                        <p:tgtEl>
                                          <p:spTgt spid="37"/>
                                        </p:tgtEl>
                                        <p:attrNameLst>
                                          <p:attrName>style.visibility</p:attrName>
                                        </p:attrNameLst>
                                      </p:cBhvr>
                                      <p:to>
                                        <p:strVal val="visible"/>
                                      </p:to>
                                    </p:set>
                                    <p:animEffect transition="in" filter="fade">
                                      <p:cBhvr>
                                        <p:cTn id="93" dur="700"/>
                                        <p:tgtEl>
                                          <p:spTgt spid="37"/>
                                        </p:tgtEl>
                                      </p:cBhvr>
                                    </p:animEffect>
                                  </p:childTnLst>
                                </p:cTn>
                              </p:par>
                              <p:par>
                                <p:cTn id="94" presetID="22" presetClass="entr" presetSubtype="8" fill="hold" grpId="0" nodeType="withEffect">
                                  <p:stCondLst>
                                    <p:cond delay="2275"/>
                                  </p:stCondLst>
                                  <p:childTnLst>
                                    <p:set>
                                      <p:cBhvr>
                                        <p:cTn id="95" dur="1" fill="hold">
                                          <p:stCondLst>
                                            <p:cond delay="0"/>
                                          </p:stCondLst>
                                        </p:cTn>
                                        <p:tgtEl>
                                          <p:spTgt spid="11"/>
                                        </p:tgtEl>
                                        <p:attrNameLst>
                                          <p:attrName>style.visibility</p:attrName>
                                        </p:attrNameLst>
                                      </p:cBhvr>
                                      <p:to>
                                        <p:strVal val="visible"/>
                                      </p:to>
                                    </p:set>
                                    <p:animEffect transition="in" filter="wipe(left)">
                                      <p:cBhvr>
                                        <p:cTn id="96" dur="700"/>
                                        <p:tgtEl>
                                          <p:spTgt spid="11"/>
                                        </p:tgtEl>
                                      </p:cBhvr>
                                    </p:animEffect>
                                  </p:childTnLst>
                                </p:cTn>
                              </p:par>
                              <p:par>
                                <p:cTn id="97" presetID="22" presetClass="entr" presetSubtype="8" fill="hold" grpId="0" nodeType="withEffect">
                                  <p:stCondLst>
                                    <p:cond delay="2356"/>
                                  </p:stCondLst>
                                  <p:childTnLst>
                                    <p:set>
                                      <p:cBhvr>
                                        <p:cTn id="98" dur="1" fill="hold">
                                          <p:stCondLst>
                                            <p:cond delay="0"/>
                                          </p:stCondLst>
                                        </p:cTn>
                                        <p:tgtEl>
                                          <p:spTgt spid="29"/>
                                        </p:tgtEl>
                                        <p:attrNameLst>
                                          <p:attrName>style.visibility</p:attrName>
                                        </p:attrNameLst>
                                      </p:cBhvr>
                                      <p:to>
                                        <p:strVal val="visible"/>
                                      </p:to>
                                    </p:set>
                                    <p:animEffect transition="in" filter="wipe(left)">
                                      <p:cBhvr>
                                        <p:cTn id="99" dur="7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28" grpId="0" animBg="1"/>
      <p:bldP spid="20" grpId="0" animBg="1"/>
      <p:bldP spid="13" grpId="0" animBg="1"/>
      <p:bldP spid="22" grpId="0" animBg="1"/>
      <p:bldP spid="31" grpId="0" animBg="1"/>
      <p:bldP spid="14" grpId="0" animBg="1"/>
      <p:bldP spid="23" grpId="0" animBg="1"/>
      <p:bldP spid="32" grpId="0" animBg="1"/>
      <p:bldP spid="15" grpId="0" animBg="1"/>
      <p:bldP spid="16" grpId="0" animBg="1"/>
      <p:bldP spid="24" grpId="0" animBg="1"/>
      <p:bldP spid="25" grpId="0" animBg="1"/>
      <p:bldP spid="33" grpId="0" animBg="1"/>
      <p:bldP spid="34" grpId="0" animBg="1"/>
      <p:bldP spid="17" grpId="0" animBg="1"/>
      <p:bldP spid="26" grpId="0" animBg="1"/>
      <p:bldP spid="35" grpId="0" animBg="1"/>
      <p:bldP spid="18" grpId="0" animBg="1"/>
      <p:bldP spid="27" grpId="0" animBg="1"/>
      <p:bldP spid="36" grpId="0" animBg="1"/>
      <p:bldP spid="37" grpId="0" animBg="1"/>
      <p:bldP spid="11" grpId="0" animBg="1"/>
      <p:bldP spid="29"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ic-bg" descr="paper_ink.jpg"/>
          <p:cNvPicPr>
            <a:picLocks noChangeAspect="1"/>
          </p:cNvPicPr>
          <p:nvPr/>
        </p:nvPicPr>
        <p:blipFill>
          <a:blip r:embed="rId2"/>
          <a:stretch>
            <a:fillRect/>
          </a:stretch>
        </p:blipFill>
        <p:spPr>
          <a:xfrm>
            <a:off x="0" y="0"/>
            <a:ext cx="12191695" cy="6858000"/>
          </a:xfrm>
          <a:prstGeom prst="rect">
            <a:avLst/>
          </a:prstGeom>
        </p:spPr>
      </p:pic>
      <p:sp>
        <p:nvSpPr>
          <p:cNvPr id="3" name="static-frame"/>
          <p:cNvSpPr/>
          <p:nvPr/>
        </p:nvSpPr>
        <p:spPr>
          <a:xfrm>
            <a:off x="292608" y="292608"/>
            <a:ext cx="11606479" cy="6272784"/>
          </a:xfrm>
          <a:prstGeom prst="rect">
            <a:avLst/>
          </a:prstGeom>
          <a:noFill/>
          <a:ln w="7620">
            <a:solidFill>
              <a:srgbClr val="A88A57"/>
            </a:solidFill>
          </a:ln>
        </p:spPr>
        <p:txBody>
          <a:bodyPr rtlCol="0" anchor="ctr"/>
          <a:lstStyle/>
          <a:p>
            <a:pPr algn="ctr"/>
          </a:p>
        </p:txBody>
      </p:sp>
      <p:sp>
        <p:nvSpPr>
          <p:cNvPr id="4" name="static-frame"/>
          <p:cNvSpPr/>
          <p:nvPr/>
        </p:nvSpPr>
        <p:spPr>
          <a:xfrm>
            <a:off x="347472" y="347472"/>
            <a:ext cx="11496751" cy="6163056"/>
          </a:xfrm>
          <a:prstGeom prst="rect">
            <a:avLst/>
          </a:prstGeom>
          <a:noFill/>
          <a:ln w="7620">
            <a:solidFill>
              <a:srgbClr val="A88A57"/>
            </a:solidFill>
          </a:ln>
        </p:spPr>
        <p:txBody>
          <a:bodyPr rtlCol="0" anchor="ctr"/>
          <a:lstStyle/>
          <a:p>
            <a:pPr algn="ctr"/>
          </a:p>
        </p:txBody>
      </p:sp>
      <p:sp>
        <p:nvSpPr>
          <p:cNvPr id="5" name="chrome"/>
          <p:cNvSpPr txBox="1"/>
          <p:nvPr/>
        </p:nvSpPr>
        <p:spPr>
          <a:xfrm>
            <a:off x="0" y="6199632"/>
            <a:ext cx="12191695" cy="228600"/>
          </a:xfrm>
          <a:prstGeom prst="rect">
            <a:avLst/>
          </a:prstGeom>
          <a:noFill/>
        </p:spPr>
        <p:txBody>
          <a:bodyPr wrap="square" lIns="0" rIns="0" tIns="0" bIns="0">
            <a:spAutoFit/>
          </a:bodyPr>
          <a:lstStyle/>
          <a:p>
            <a:pPr algn="ctr"/>
            <a:r>
              <a:rPr sz="750" b="0" i="0" spc="400">
                <a:solidFill>
                  <a:srgbClr val="9A9080"/>
                </a:solidFill>
                <a:latin typeface="EB Garamond"/>
                <a:ea typeface="EB Garamond"/>
                <a:cs typeface="EB Garamond"/>
              </a:rPr>
              <a:t>RED FLAG RITUAL</a:t>
            </a:r>
          </a:p>
        </p:txBody>
      </p:sp>
      <p:sp>
        <p:nvSpPr>
          <p:cNvPr id="6" name="chrome"/>
          <p:cNvSpPr txBox="1"/>
          <p:nvPr/>
        </p:nvSpPr>
        <p:spPr>
          <a:xfrm>
            <a:off x="0" y="5961888"/>
            <a:ext cx="12191695" cy="228600"/>
          </a:xfrm>
          <a:prstGeom prst="rect">
            <a:avLst/>
          </a:prstGeom>
          <a:noFill/>
        </p:spPr>
        <p:txBody>
          <a:bodyPr wrap="square" lIns="0" rIns="0" tIns="0" bIns="0">
            <a:spAutoFit/>
          </a:bodyPr>
          <a:lstStyle/>
          <a:p>
            <a:pPr algn="ctr"/>
            <a:r>
              <a:rPr sz="1000" b="0" i="0">
                <a:solidFill>
                  <a:srgbClr val="A88A57"/>
                </a:solidFill>
                <a:latin typeface="Libre Caslon Display"/>
                <a:ea typeface="EB Garamond"/>
                <a:cs typeface="EB Garamond"/>
              </a:rPr>
              <a:t>VII</a:t>
            </a:r>
          </a:p>
        </p:txBody>
      </p:sp>
      <p:pic>
        <p:nvPicPr>
          <p:cNvPr id="7" name="static-art" descr="kit.png"/>
          <p:cNvPicPr>
            <a:picLocks noChangeAspect="1"/>
          </p:cNvPicPr>
          <p:nvPr/>
        </p:nvPicPr>
        <p:blipFill>
          <a:blip r:embed="rId3"/>
          <a:stretch>
            <a:fillRect/>
          </a:stretch>
        </p:blipFill>
        <p:spPr>
          <a:xfrm>
            <a:off x="5669280" y="868680"/>
            <a:ext cx="5852160" cy="4031488"/>
          </a:xfrm>
          <a:prstGeom prst="rect">
            <a:avLst/>
          </a:prstGeom>
        </p:spPr>
      </p:pic>
      <p:sp>
        <p:nvSpPr>
          <p:cNvPr id="8" name="TextBox 7"/>
          <p:cNvSpPr txBox="1"/>
          <p:nvPr/>
        </p:nvSpPr>
        <p:spPr>
          <a:xfrm>
            <a:off x="1005840" y="1188720"/>
            <a:ext cx="4572000" cy="228600"/>
          </a:xfrm>
          <a:prstGeom prst="rect">
            <a:avLst/>
          </a:prstGeom>
          <a:noFill/>
        </p:spPr>
        <p:txBody>
          <a:bodyPr wrap="square" lIns="0" rIns="0" tIns="0" bIns="0">
            <a:spAutoFit/>
          </a:bodyPr>
          <a:lstStyle/>
          <a:p>
            <a:pPr algn="l"/>
            <a:r>
              <a:rPr sz="850" b="0" i="0" spc="400">
                <a:solidFill>
                  <a:srgbClr val="A88A57"/>
                </a:solidFill>
                <a:latin typeface="EB Garamond"/>
                <a:ea typeface="EB Garamond"/>
                <a:cs typeface="EB Garamond"/>
              </a:rPr>
              <a:t>THE GUEST TAKE-HOME KIT</a:t>
            </a:r>
          </a:p>
        </p:txBody>
      </p:sp>
      <p:sp>
        <p:nvSpPr>
          <p:cNvPr id="9" name="TextBox 8"/>
          <p:cNvSpPr txBox="1"/>
          <p:nvPr/>
        </p:nvSpPr>
        <p:spPr>
          <a:xfrm>
            <a:off x="1005840" y="1508760"/>
            <a:ext cx="4572000" cy="822960"/>
          </a:xfrm>
          <a:prstGeom prst="rect">
            <a:avLst/>
          </a:prstGeom>
          <a:noFill/>
        </p:spPr>
        <p:txBody>
          <a:bodyPr wrap="square" lIns="0" rIns="0" tIns="0" bIns="0">
            <a:spAutoFit/>
          </a:bodyPr>
          <a:lstStyle/>
          <a:p>
            <a:pPr algn="l">
              <a:lnSpc>
                <a:spcPct val="100000"/>
              </a:lnSpc>
            </a:pPr>
            <a:r>
              <a:rPr sz="4800" b="0" i="0">
                <a:solidFill>
                  <a:srgbClr val="F4EFE4"/>
                </a:solidFill>
                <a:latin typeface="Libre Caslon Display"/>
                <a:ea typeface="EB Garamond"/>
                <a:cs typeface="EB Garamond"/>
              </a:rPr>
              <a:t>Ritual Classic</a:t>
            </a:r>
          </a:p>
        </p:txBody>
      </p:sp>
      <p:sp>
        <p:nvSpPr>
          <p:cNvPr id="10" name="Rectangle 9"/>
          <p:cNvSpPr/>
          <p:nvPr/>
        </p:nvSpPr>
        <p:spPr>
          <a:xfrm>
            <a:off x="1005840" y="2377440"/>
            <a:ext cx="731520" cy="9144"/>
          </a:xfrm>
          <a:prstGeom prst="rect">
            <a:avLst/>
          </a:prstGeom>
          <a:solidFill>
            <a:srgbClr val="A88A57"/>
          </a:solidFill>
          <a:ln>
            <a:noFill/>
          </a:ln>
        </p:spPr>
        <p:txBody>
          <a:bodyPr rtlCol="0" anchor="ctr"/>
          <a:lstStyle/>
          <a:p>
            <a:pPr algn="ctr"/>
          </a:p>
        </p:txBody>
      </p:sp>
      <p:sp>
        <p:nvSpPr>
          <p:cNvPr id="11" name="TextBox 10"/>
          <p:cNvSpPr txBox="1"/>
          <p:nvPr/>
        </p:nvSpPr>
        <p:spPr>
          <a:xfrm>
            <a:off x="1005840" y="2606040"/>
            <a:ext cx="4206240" cy="1828800"/>
          </a:xfrm>
          <a:prstGeom prst="rect">
            <a:avLst/>
          </a:prstGeom>
          <a:noFill/>
        </p:spPr>
        <p:txBody>
          <a:bodyPr wrap="square" lIns="0" rIns="0" tIns="0" bIns="0">
            <a:spAutoFit/>
          </a:bodyPr>
          <a:lstStyle/>
          <a:p>
            <a:pPr algn="l">
              <a:lnSpc>
                <a:spcPct val="140000"/>
              </a:lnSpc>
            </a:pPr>
            <a:r>
              <a:rPr sz="1400" b="0" i="0">
                <a:solidFill>
                  <a:srgbClr val="D8D0C0"/>
                </a:solidFill>
                <a:latin typeface="EB Garamond"/>
                <a:ea typeface="EB Garamond"/>
                <a:cs typeface="EB Garamond"/>
              </a:rPr>
              <a:t>Four test tubes of the ritual in a monogrammed box: SUD, DEW, VEL and AIR.
A thank-you guests keep — and a QR code that lets them bring the scent home.</a:t>
            </a:r>
          </a:p>
        </p:txBody>
      </p:sp>
      <p:sp>
        <p:nvSpPr>
          <p:cNvPr id="12" name="TextBox 11"/>
          <p:cNvSpPr txBox="1"/>
          <p:nvPr/>
        </p:nvSpPr>
        <p:spPr>
          <a:xfrm>
            <a:off x="1005840" y="4526280"/>
            <a:ext cx="3657600" cy="640080"/>
          </a:xfrm>
          <a:prstGeom prst="rect">
            <a:avLst/>
          </a:prstGeom>
          <a:noFill/>
        </p:spPr>
        <p:txBody>
          <a:bodyPr wrap="square" lIns="0" rIns="0" tIns="0" bIns="0">
            <a:spAutoFit/>
          </a:bodyPr>
          <a:lstStyle/>
          <a:p>
            <a:pPr algn="l">
              <a:lnSpc>
                <a:spcPct val="100000"/>
              </a:lnSpc>
            </a:pPr>
            <a:r>
              <a:rPr sz="4000" b="0" i="0">
                <a:solidFill>
                  <a:srgbClr val="C9A66B"/>
                </a:solidFill>
                <a:latin typeface="Libre Caslon Display"/>
                <a:ea typeface="EB Garamond"/>
                <a:cs typeface="EB Garamond"/>
              </a:rPr>
              <a:t>₹149</a:t>
            </a:r>
          </a:p>
        </p:txBody>
      </p:sp>
      <p:sp>
        <p:nvSpPr>
          <p:cNvPr id="13" name="TextBox 12"/>
          <p:cNvSpPr txBox="1"/>
          <p:nvPr/>
        </p:nvSpPr>
        <p:spPr>
          <a:xfrm>
            <a:off x="2331720" y="4681728"/>
            <a:ext cx="3200400" cy="457200"/>
          </a:xfrm>
          <a:prstGeom prst="rect">
            <a:avLst/>
          </a:prstGeom>
          <a:noFill/>
        </p:spPr>
        <p:txBody>
          <a:bodyPr wrap="square" lIns="0" rIns="0" tIns="0" bIns="0">
            <a:spAutoFit/>
          </a:bodyPr>
          <a:lstStyle/>
          <a:p>
            <a:pPr algn="l">
              <a:lnSpc>
                <a:spcPct val="120000"/>
              </a:lnSpc>
            </a:pPr>
            <a:r>
              <a:rPr sz="1100" b="0" i="1">
                <a:solidFill>
                  <a:srgbClr val="D8D0C0"/>
                </a:solidFill>
                <a:latin typeface="EB Garamond"/>
                <a:ea typeface="EB Garamond"/>
                <a:cs typeface="EB Garamond"/>
              </a:rPr>
              <a:t>per kit  ·  minimum 10
add to any plan</a:t>
            </a:r>
          </a:p>
        </p:txBody>
      </p:sp>
    </p:spTree>
  </p:cSld>
  <p:clrMapOvr>
    <a:masterClrMapping/>
  </p:clrMapOvr>
  <p:transition spd="slow" advClick="1">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par>
                                <p:cTn id="8" presetID="42" presetClass="entr" presetSubtype="0" fill="hold" grpId="0" nodeType="withEffect">
                                  <p:stCondLst>
                                    <p:cond delay="39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900"/>
                                        <p:tgtEl>
                                          <p:spTgt spid="9"/>
                                        </p:tgtEl>
                                      </p:cBhvr>
                                    </p:animEffect>
                                    <p:anim calcmode="lin" valueType="num">
                                      <p:cBhvr>
                                        <p:cTn id="11" dur="900" decel="100000"/>
                                        <p:tgtEl>
                                          <p:spTgt spid="9"/>
                                        </p:tgtEl>
                                        <p:attrNameLst>
                                          <p:attrName>ppt_x</p:attrName>
                                        </p:attrNameLst>
                                      </p:cBhvr>
                                      <p:tavLst>
                                        <p:tav tm="0">
                                          <p:val>
                                            <p:strVal val="#ppt_x"/>
                                          </p:val>
                                        </p:tav>
                                        <p:tav tm="100000">
                                          <p:val>
                                            <p:strVal val="#ppt_x"/>
                                          </p:val>
                                        </p:tav>
                                      </p:tavLst>
                                    </p:anim>
                                    <p:anim calcmode="lin" valueType="num">
                                      <p:cBhvr>
                                        <p:cTn id="12" dur="900" decel="100000"/>
                                        <p:tgtEl>
                                          <p:spTgt spid="9"/>
                                        </p:tgtEl>
                                        <p:attrNameLst>
                                          <p:attrName>ppt_y</p:attrName>
                                        </p:attrNameLst>
                                      </p:cBhvr>
                                      <p:tavLst>
                                        <p:tav tm="0">
                                          <p:val>
                                            <p:strVal val="#ppt_y+.035"/>
                                          </p:val>
                                        </p:tav>
                                        <p:tav tm="100000">
                                          <p:val>
                                            <p:strVal val="#ppt_y"/>
                                          </p:val>
                                        </p:tav>
                                      </p:tavLst>
                                    </p:anim>
                                  </p:childTnLst>
                                </p:cTn>
                              </p:par>
                              <p:par>
                                <p:cTn id="13" presetID="22" presetClass="entr" presetSubtype="8" fill="hold" grpId="0" nodeType="withEffect">
                                  <p:stCondLst>
                                    <p:cond delay="53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700"/>
                                        <p:tgtEl>
                                          <p:spTgt spid="10"/>
                                        </p:tgtEl>
                                      </p:cBhvr>
                                    </p:animEffect>
                                  </p:childTnLst>
                                </p:cTn>
                              </p:par>
                              <p:par>
                                <p:cTn id="16" presetID="10" presetClass="entr" presetSubtype="0" fill="hold" grpId="0" nodeType="withEffect">
                                  <p:stCondLst>
                                    <p:cond delay="67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700"/>
                                        <p:tgtEl>
                                          <p:spTgt spid="11"/>
                                        </p:tgtEl>
                                      </p:cBhvr>
                                    </p:animEffect>
                                  </p:childTnLst>
                                </p:cTn>
                              </p:par>
                              <p:par>
                                <p:cTn id="19" presetID="42" presetClass="entr" presetSubtype="0" fill="hold" grpId="0" nodeType="withEffect">
                                  <p:stCondLst>
                                    <p:cond delay="81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900"/>
                                        <p:tgtEl>
                                          <p:spTgt spid="12"/>
                                        </p:tgtEl>
                                      </p:cBhvr>
                                    </p:animEffect>
                                    <p:anim calcmode="lin" valueType="num">
                                      <p:cBhvr>
                                        <p:cTn id="22" dur="900" decel="100000"/>
                                        <p:tgtEl>
                                          <p:spTgt spid="12"/>
                                        </p:tgtEl>
                                        <p:attrNameLst>
                                          <p:attrName>ppt_x</p:attrName>
                                        </p:attrNameLst>
                                      </p:cBhvr>
                                      <p:tavLst>
                                        <p:tav tm="0">
                                          <p:val>
                                            <p:strVal val="#ppt_x"/>
                                          </p:val>
                                        </p:tav>
                                        <p:tav tm="100000">
                                          <p:val>
                                            <p:strVal val="#ppt_x"/>
                                          </p:val>
                                        </p:tav>
                                      </p:tavLst>
                                    </p:anim>
                                    <p:anim calcmode="lin" valueType="num">
                                      <p:cBhvr>
                                        <p:cTn id="23" dur="900" decel="100000"/>
                                        <p:tgtEl>
                                          <p:spTgt spid="12"/>
                                        </p:tgtEl>
                                        <p:attrNameLst>
                                          <p:attrName>ppt_y</p:attrName>
                                        </p:attrNameLst>
                                      </p:cBhvr>
                                      <p:tavLst>
                                        <p:tav tm="0">
                                          <p:val>
                                            <p:strVal val="#ppt_y+.035"/>
                                          </p:val>
                                        </p:tav>
                                        <p:tav tm="100000">
                                          <p:val>
                                            <p:strVal val="#ppt_y"/>
                                          </p:val>
                                        </p:tav>
                                      </p:tavLst>
                                    </p:anim>
                                  </p:childTnLst>
                                </p:cTn>
                              </p:par>
                              <p:par>
                                <p:cTn id="24" presetID="10" presetClass="entr" presetSubtype="0" fill="hold" grpId="0" nodeType="withEffect">
                                  <p:stCondLst>
                                    <p:cond delay="95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7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ic-bg" descr="paper_ivory.jpg"/>
          <p:cNvPicPr>
            <a:picLocks noChangeAspect="1"/>
          </p:cNvPicPr>
          <p:nvPr/>
        </p:nvPicPr>
        <p:blipFill>
          <a:blip r:embed="rId2"/>
          <a:stretch>
            <a:fillRect/>
          </a:stretch>
        </p:blipFill>
        <p:spPr>
          <a:xfrm>
            <a:off x="0" y="0"/>
            <a:ext cx="12191695" cy="6858000"/>
          </a:xfrm>
          <a:prstGeom prst="rect">
            <a:avLst/>
          </a:prstGeom>
        </p:spPr>
      </p:pic>
      <p:sp>
        <p:nvSpPr>
          <p:cNvPr id="3" name="static-frame"/>
          <p:cNvSpPr/>
          <p:nvPr/>
        </p:nvSpPr>
        <p:spPr>
          <a:xfrm>
            <a:off x="292608" y="292608"/>
            <a:ext cx="11606479" cy="6272784"/>
          </a:xfrm>
          <a:prstGeom prst="rect">
            <a:avLst/>
          </a:prstGeom>
          <a:noFill/>
          <a:ln w="7620">
            <a:solidFill>
              <a:srgbClr val="B9A27A"/>
            </a:solidFill>
          </a:ln>
        </p:spPr>
        <p:txBody>
          <a:bodyPr rtlCol="0" anchor="ctr"/>
          <a:lstStyle/>
          <a:p>
            <a:pPr algn="ctr"/>
          </a:p>
        </p:txBody>
      </p:sp>
      <p:sp>
        <p:nvSpPr>
          <p:cNvPr id="4" name="static-frame"/>
          <p:cNvSpPr/>
          <p:nvPr/>
        </p:nvSpPr>
        <p:spPr>
          <a:xfrm>
            <a:off x="347472" y="347472"/>
            <a:ext cx="11496751" cy="6163056"/>
          </a:xfrm>
          <a:prstGeom prst="rect">
            <a:avLst/>
          </a:prstGeom>
          <a:noFill/>
          <a:ln w="7620">
            <a:solidFill>
              <a:srgbClr val="B9A27A"/>
            </a:solidFill>
          </a:ln>
        </p:spPr>
        <p:txBody>
          <a:bodyPr rtlCol="0" anchor="ctr"/>
          <a:lstStyle/>
          <a:p>
            <a:pPr algn="ctr"/>
          </a:p>
        </p:txBody>
      </p:sp>
      <p:sp>
        <p:nvSpPr>
          <p:cNvPr id="5" name="chrome"/>
          <p:cNvSpPr txBox="1"/>
          <p:nvPr/>
        </p:nvSpPr>
        <p:spPr>
          <a:xfrm>
            <a:off x="0" y="6199632"/>
            <a:ext cx="12191695" cy="228600"/>
          </a:xfrm>
          <a:prstGeom prst="rect">
            <a:avLst/>
          </a:prstGeom>
          <a:noFill/>
        </p:spPr>
        <p:txBody>
          <a:bodyPr wrap="square" lIns="0" rIns="0" tIns="0" bIns="0">
            <a:spAutoFit/>
          </a:bodyPr>
          <a:lstStyle/>
          <a:p>
            <a:pPr algn="ctr"/>
            <a:r>
              <a:rPr sz="750" b="0" i="0" spc="400">
                <a:solidFill>
                  <a:srgbClr val="8C8270"/>
                </a:solidFill>
                <a:latin typeface="EB Garamond"/>
                <a:ea typeface="EB Garamond"/>
                <a:cs typeface="EB Garamond"/>
              </a:rPr>
              <a:t>RED FLAG RITUAL</a:t>
            </a:r>
          </a:p>
        </p:txBody>
      </p:sp>
      <p:sp>
        <p:nvSpPr>
          <p:cNvPr id="6" name="chrome"/>
          <p:cNvSpPr txBox="1"/>
          <p:nvPr/>
        </p:nvSpPr>
        <p:spPr>
          <a:xfrm>
            <a:off x="0" y="5961888"/>
            <a:ext cx="12191695" cy="228600"/>
          </a:xfrm>
          <a:prstGeom prst="rect">
            <a:avLst/>
          </a:prstGeom>
          <a:noFill/>
        </p:spPr>
        <p:txBody>
          <a:bodyPr wrap="square" lIns="0" rIns="0" tIns="0" bIns="0">
            <a:spAutoFit/>
          </a:bodyPr>
          <a:lstStyle/>
          <a:p>
            <a:pPr algn="ctr"/>
            <a:r>
              <a:rPr sz="1000" b="0" i="0">
                <a:solidFill>
                  <a:srgbClr val="B9A27A"/>
                </a:solidFill>
                <a:latin typeface="Libre Caslon Display"/>
                <a:ea typeface="EB Garamond"/>
                <a:cs typeface="EB Garamond"/>
              </a:rPr>
              <a:t>VIII</a:t>
            </a:r>
          </a:p>
        </p:txBody>
      </p:sp>
      <p:sp>
        <p:nvSpPr>
          <p:cNvPr id="7" name="TextBox 6"/>
          <p:cNvSpPr txBox="1"/>
          <p:nvPr/>
        </p:nvSpPr>
        <p:spPr>
          <a:xfrm>
            <a:off x="0" y="1143000"/>
            <a:ext cx="12191695" cy="228600"/>
          </a:xfrm>
          <a:prstGeom prst="rect">
            <a:avLst/>
          </a:prstGeom>
          <a:noFill/>
        </p:spPr>
        <p:txBody>
          <a:bodyPr wrap="square" lIns="0" rIns="0" tIns="0" bIns="0">
            <a:spAutoFit/>
          </a:bodyPr>
          <a:lstStyle/>
          <a:p>
            <a:pPr algn="ctr"/>
            <a:r>
              <a:rPr sz="850" b="0" i="0" spc="600">
                <a:solidFill>
                  <a:srgbClr val="8C8270"/>
                </a:solidFill>
                <a:latin typeface="EB Garamond"/>
                <a:ea typeface="EB Garamond"/>
                <a:cs typeface="EB Garamond"/>
              </a:rPr>
              <a:t>HOW IT WORKS</a:t>
            </a:r>
          </a:p>
        </p:txBody>
      </p:sp>
      <p:sp>
        <p:nvSpPr>
          <p:cNvPr id="8" name="TextBox 7"/>
          <p:cNvSpPr txBox="1"/>
          <p:nvPr/>
        </p:nvSpPr>
        <p:spPr>
          <a:xfrm>
            <a:off x="0" y="1389888"/>
            <a:ext cx="12191695" cy="731520"/>
          </a:xfrm>
          <a:prstGeom prst="rect">
            <a:avLst/>
          </a:prstGeom>
          <a:noFill/>
        </p:spPr>
        <p:txBody>
          <a:bodyPr wrap="square" lIns="0" rIns="0" tIns="0" bIns="0">
            <a:spAutoFit/>
          </a:bodyPr>
          <a:lstStyle/>
          <a:p>
            <a:pPr algn="ctr">
              <a:lnSpc>
                <a:spcPct val="100000"/>
              </a:lnSpc>
            </a:pPr>
            <a:r>
              <a:rPr sz="3400" b="0" i="0">
                <a:solidFill>
                  <a:srgbClr val="1B1A17"/>
                </a:solidFill>
                <a:latin typeface="Libre Caslon Display"/>
                <a:ea typeface="EB Garamond"/>
                <a:cs typeface="EB Garamond"/>
              </a:rPr>
              <a:t>Set it once. It simply repeats.</a:t>
            </a:r>
          </a:p>
        </p:txBody>
      </p:sp>
      <p:sp>
        <p:nvSpPr>
          <p:cNvPr id="9" name="Rectangle 8"/>
          <p:cNvSpPr/>
          <p:nvPr/>
        </p:nvSpPr>
        <p:spPr>
          <a:xfrm>
            <a:off x="2346921" y="3200400"/>
            <a:ext cx="7497851" cy="9144"/>
          </a:xfrm>
          <a:prstGeom prst="rect">
            <a:avLst/>
          </a:prstGeom>
          <a:solidFill>
            <a:srgbClr val="B9A27A"/>
          </a:solidFill>
          <a:ln>
            <a:noFill/>
          </a:ln>
        </p:spPr>
        <p:txBody>
          <a:bodyPr rtlCol="0" anchor="ctr"/>
          <a:lstStyle/>
          <a:p>
            <a:pPr algn="ctr"/>
          </a:p>
        </p:txBody>
      </p:sp>
      <p:sp>
        <p:nvSpPr>
          <p:cNvPr id="10" name="Oval 9"/>
          <p:cNvSpPr/>
          <p:nvPr/>
        </p:nvSpPr>
        <p:spPr>
          <a:xfrm>
            <a:off x="1798281" y="2651760"/>
            <a:ext cx="1097280" cy="1097280"/>
          </a:xfrm>
          <a:prstGeom prst="ellipse">
            <a:avLst/>
          </a:prstGeom>
          <a:solidFill>
            <a:srgbClr val="F4EFE4"/>
          </a:solidFill>
          <a:ln w="9525">
            <a:solidFill>
              <a:srgbClr val="A8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static-art" descr="i_plan.png"/>
          <p:cNvPicPr>
            <a:picLocks noChangeAspect="1"/>
          </p:cNvPicPr>
          <p:nvPr/>
        </p:nvPicPr>
        <p:blipFill>
          <a:blip r:embed="rId3"/>
          <a:stretch>
            <a:fillRect/>
          </a:stretch>
        </p:blipFill>
        <p:spPr>
          <a:xfrm>
            <a:off x="1999449" y="2852928"/>
            <a:ext cx="694944" cy="694944"/>
          </a:xfrm>
          <a:prstGeom prst="rect">
            <a:avLst/>
          </a:prstGeom>
        </p:spPr>
      </p:pic>
      <p:sp>
        <p:nvSpPr>
          <p:cNvPr id="12" name="TextBox 11"/>
          <p:cNvSpPr txBox="1"/>
          <p:nvPr/>
        </p:nvSpPr>
        <p:spPr>
          <a:xfrm>
            <a:off x="1097280" y="3977639"/>
            <a:ext cx="2499283" cy="365760"/>
          </a:xfrm>
          <a:prstGeom prst="rect">
            <a:avLst/>
          </a:prstGeom>
          <a:noFill/>
        </p:spPr>
        <p:txBody>
          <a:bodyPr wrap="square" lIns="0" rIns="0" tIns="0" bIns="0">
            <a:spAutoFit/>
          </a:bodyPr>
          <a:lstStyle/>
          <a:p>
            <a:pPr algn="ctr"/>
            <a:r>
              <a:rPr sz="1400" b="0" i="0">
                <a:solidFill>
                  <a:srgbClr val="B9A27A"/>
                </a:solidFill>
                <a:latin typeface="Libre Caslon Display"/>
                <a:ea typeface="EB Garamond"/>
                <a:cs typeface="EB Garamond"/>
              </a:rPr>
              <a:t>I</a:t>
            </a:r>
          </a:p>
        </p:txBody>
      </p:sp>
      <p:sp>
        <p:nvSpPr>
          <p:cNvPr id="13" name="TextBox 12"/>
          <p:cNvSpPr txBox="1"/>
          <p:nvPr/>
        </p:nvSpPr>
        <p:spPr>
          <a:xfrm>
            <a:off x="1188720" y="4343400"/>
            <a:ext cx="2316403" cy="457200"/>
          </a:xfrm>
          <a:prstGeom prst="rect">
            <a:avLst/>
          </a:prstGeom>
          <a:noFill/>
        </p:spPr>
        <p:txBody>
          <a:bodyPr wrap="square" lIns="0" rIns="0" tIns="0" bIns="0">
            <a:spAutoFit/>
          </a:bodyPr>
          <a:lstStyle/>
          <a:p>
            <a:pPr algn="ctr">
              <a:lnSpc>
                <a:spcPct val="100000"/>
              </a:lnSpc>
            </a:pPr>
            <a:r>
              <a:rPr sz="2000" b="0" i="0">
                <a:solidFill>
                  <a:srgbClr val="1B1A17"/>
                </a:solidFill>
                <a:latin typeface="Libre Caslon Display"/>
                <a:ea typeface="EB Garamond"/>
                <a:cs typeface="EB Garamond"/>
              </a:rPr>
              <a:t>Pick your plan.</a:t>
            </a:r>
          </a:p>
        </p:txBody>
      </p:sp>
      <p:sp>
        <p:nvSpPr>
          <p:cNvPr id="14" name="TextBox 13"/>
          <p:cNvSpPr txBox="1"/>
          <p:nvPr/>
        </p:nvSpPr>
        <p:spPr>
          <a:xfrm>
            <a:off x="1325880" y="4846320"/>
            <a:ext cx="2042083" cy="822960"/>
          </a:xfrm>
          <a:prstGeom prst="rect">
            <a:avLst/>
          </a:prstGeom>
          <a:noFill/>
        </p:spPr>
        <p:txBody>
          <a:bodyPr wrap="square" lIns="0" rIns="0" tIns="0" bIns="0">
            <a:spAutoFit/>
          </a:bodyPr>
          <a:lstStyle/>
          <a:p>
            <a:pPr algn="ctr">
              <a:lnSpc>
                <a:spcPct val="130000"/>
              </a:lnSpc>
            </a:pPr>
            <a:r>
              <a:rPr sz="1200" b="0" i="0">
                <a:solidFill>
                  <a:srgbClr val="4A4439"/>
                </a:solidFill>
                <a:latin typeface="EB Garamond"/>
                <a:ea typeface="EB Garamond"/>
                <a:cs typeface="EB Garamond"/>
              </a:rPr>
              <a:t>House, Manor or Estate.</a:t>
            </a:r>
          </a:p>
        </p:txBody>
      </p:sp>
      <p:sp>
        <p:nvSpPr>
          <p:cNvPr id="15" name="Oval 14"/>
          <p:cNvSpPr/>
          <p:nvPr/>
        </p:nvSpPr>
        <p:spPr>
          <a:xfrm>
            <a:off x="4297565" y="2651760"/>
            <a:ext cx="1097280" cy="1097280"/>
          </a:xfrm>
          <a:prstGeom prst="ellipse">
            <a:avLst/>
          </a:prstGeom>
          <a:solidFill>
            <a:srgbClr val="F4EFE4"/>
          </a:solidFill>
          <a:ln w="9525">
            <a:solidFill>
              <a:srgbClr val="A8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static-art" descr="i_deliver.png"/>
          <p:cNvPicPr>
            <a:picLocks noChangeAspect="1"/>
          </p:cNvPicPr>
          <p:nvPr/>
        </p:nvPicPr>
        <p:blipFill>
          <a:blip r:embed="rId4"/>
          <a:stretch>
            <a:fillRect/>
          </a:stretch>
        </p:blipFill>
        <p:spPr>
          <a:xfrm>
            <a:off x="4498733" y="2852928"/>
            <a:ext cx="694944" cy="694944"/>
          </a:xfrm>
          <a:prstGeom prst="rect">
            <a:avLst/>
          </a:prstGeom>
        </p:spPr>
      </p:pic>
      <p:sp>
        <p:nvSpPr>
          <p:cNvPr id="17" name="TextBox 16"/>
          <p:cNvSpPr txBox="1"/>
          <p:nvPr/>
        </p:nvSpPr>
        <p:spPr>
          <a:xfrm>
            <a:off x="3596563" y="3977639"/>
            <a:ext cx="2499283" cy="365760"/>
          </a:xfrm>
          <a:prstGeom prst="rect">
            <a:avLst/>
          </a:prstGeom>
          <a:noFill/>
        </p:spPr>
        <p:txBody>
          <a:bodyPr wrap="square" lIns="0" rIns="0" tIns="0" bIns="0">
            <a:spAutoFit/>
          </a:bodyPr>
          <a:lstStyle/>
          <a:p>
            <a:pPr algn="ctr"/>
            <a:r>
              <a:rPr sz="1400" b="0" i="0">
                <a:solidFill>
                  <a:srgbClr val="B9A27A"/>
                </a:solidFill>
                <a:latin typeface="Libre Caslon Display"/>
                <a:ea typeface="EB Garamond"/>
                <a:cs typeface="EB Garamond"/>
              </a:rPr>
              <a:t>II</a:t>
            </a:r>
          </a:p>
        </p:txBody>
      </p:sp>
      <p:sp>
        <p:nvSpPr>
          <p:cNvPr id="18" name="TextBox 17"/>
          <p:cNvSpPr txBox="1"/>
          <p:nvPr/>
        </p:nvSpPr>
        <p:spPr>
          <a:xfrm>
            <a:off x="3688003" y="4343400"/>
            <a:ext cx="2316403" cy="457200"/>
          </a:xfrm>
          <a:prstGeom prst="rect">
            <a:avLst/>
          </a:prstGeom>
          <a:noFill/>
        </p:spPr>
        <p:txBody>
          <a:bodyPr wrap="square" lIns="0" rIns="0" tIns="0" bIns="0">
            <a:spAutoFit/>
          </a:bodyPr>
          <a:lstStyle/>
          <a:p>
            <a:pPr algn="ctr">
              <a:lnSpc>
                <a:spcPct val="100000"/>
              </a:lnSpc>
            </a:pPr>
            <a:r>
              <a:rPr sz="2000" b="0" i="0">
                <a:solidFill>
                  <a:srgbClr val="1B1A17"/>
                </a:solidFill>
                <a:latin typeface="Libre Caslon Display"/>
                <a:ea typeface="EB Garamond"/>
                <a:cs typeface="EB Garamond"/>
              </a:rPr>
              <a:t>We deliver monthly.</a:t>
            </a:r>
          </a:p>
        </p:txBody>
      </p:sp>
      <p:sp>
        <p:nvSpPr>
          <p:cNvPr id="19" name="TextBox 18"/>
          <p:cNvSpPr txBox="1"/>
          <p:nvPr/>
        </p:nvSpPr>
        <p:spPr>
          <a:xfrm>
            <a:off x="3825163" y="4846320"/>
            <a:ext cx="2042083" cy="822960"/>
          </a:xfrm>
          <a:prstGeom prst="rect">
            <a:avLst/>
          </a:prstGeom>
          <a:noFill/>
        </p:spPr>
        <p:txBody>
          <a:bodyPr wrap="square" lIns="0" rIns="0" tIns="0" bIns="0">
            <a:spAutoFit/>
          </a:bodyPr>
          <a:lstStyle/>
          <a:p>
            <a:pPr algn="ctr">
              <a:lnSpc>
                <a:spcPct val="130000"/>
              </a:lnSpc>
            </a:pPr>
            <a:r>
              <a:rPr sz="1200" b="0" i="0">
                <a:solidFill>
                  <a:srgbClr val="4A4439"/>
                </a:solidFill>
                <a:latin typeface="EB Garamond"/>
                <a:ea typeface="EB Garamond"/>
                <a:cs typeface="EB Garamond"/>
              </a:rPr>
              <a:t>30 guest sets, sealed and ready.</a:t>
            </a:r>
          </a:p>
        </p:txBody>
      </p:sp>
      <p:sp>
        <p:nvSpPr>
          <p:cNvPr id="20" name="Oval 19"/>
          <p:cNvSpPr/>
          <p:nvPr/>
        </p:nvSpPr>
        <p:spPr>
          <a:xfrm>
            <a:off x="6796849" y="2651760"/>
            <a:ext cx="1097280" cy="1097280"/>
          </a:xfrm>
          <a:prstGeom prst="ellipse">
            <a:avLst/>
          </a:prstGeom>
          <a:solidFill>
            <a:srgbClr val="F4EFE4"/>
          </a:solidFill>
          <a:ln w="9525">
            <a:solidFill>
              <a:srgbClr val="A8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static-art" descr="i_notice.png"/>
          <p:cNvPicPr>
            <a:picLocks noChangeAspect="1"/>
          </p:cNvPicPr>
          <p:nvPr/>
        </p:nvPicPr>
        <p:blipFill>
          <a:blip r:embed="rId5"/>
          <a:stretch>
            <a:fillRect/>
          </a:stretch>
        </p:blipFill>
        <p:spPr>
          <a:xfrm>
            <a:off x="6998017" y="2852928"/>
            <a:ext cx="694944" cy="694944"/>
          </a:xfrm>
          <a:prstGeom prst="rect">
            <a:avLst/>
          </a:prstGeom>
        </p:spPr>
      </p:pic>
      <p:sp>
        <p:nvSpPr>
          <p:cNvPr id="22" name="TextBox 21"/>
          <p:cNvSpPr txBox="1"/>
          <p:nvPr/>
        </p:nvSpPr>
        <p:spPr>
          <a:xfrm>
            <a:off x="6095847" y="3977639"/>
            <a:ext cx="2499283" cy="365760"/>
          </a:xfrm>
          <a:prstGeom prst="rect">
            <a:avLst/>
          </a:prstGeom>
          <a:noFill/>
        </p:spPr>
        <p:txBody>
          <a:bodyPr wrap="square" lIns="0" rIns="0" tIns="0" bIns="0">
            <a:spAutoFit/>
          </a:bodyPr>
          <a:lstStyle/>
          <a:p>
            <a:pPr algn="ctr"/>
            <a:r>
              <a:rPr sz="1400" b="0" i="0">
                <a:solidFill>
                  <a:srgbClr val="B9A27A"/>
                </a:solidFill>
                <a:latin typeface="Libre Caslon Display"/>
                <a:ea typeface="EB Garamond"/>
                <a:cs typeface="EB Garamond"/>
              </a:rPr>
              <a:t>III</a:t>
            </a:r>
          </a:p>
        </p:txBody>
      </p:sp>
      <p:sp>
        <p:nvSpPr>
          <p:cNvPr id="23" name="TextBox 22"/>
          <p:cNvSpPr txBox="1"/>
          <p:nvPr/>
        </p:nvSpPr>
        <p:spPr>
          <a:xfrm>
            <a:off x="6187287" y="4343400"/>
            <a:ext cx="2316403" cy="457200"/>
          </a:xfrm>
          <a:prstGeom prst="rect">
            <a:avLst/>
          </a:prstGeom>
          <a:noFill/>
        </p:spPr>
        <p:txBody>
          <a:bodyPr wrap="square" lIns="0" rIns="0" tIns="0" bIns="0">
            <a:spAutoFit/>
          </a:bodyPr>
          <a:lstStyle/>
          <a:p>
            <a:pPr algn="ctr">
              <a:lnSpc>
                <a:spcPct val="100000"/>
              </a:lnSpc>
            </a:pPr>
            <a:r>
              <a:rPr sz="2000" b="0" i="0">
                <a:solidFill>
                  <a:srgbClr val="1B1A17"/>
                </a:solidFill>
                <a:latin typeface="Libre Caslon Display"/>
                <a:ea typeface="EB Garamond"/>
                <a:cs typeface="EB Garamond"/>
              </a:rPr>
              <a:t>Guests notice.</a:t>
            </a:r>
          </a:p>
        </p:txBody>
      </p:sp>
      <p:sp>
        <p:nvSpPr>
          <p:cNvPr id="24" name="TextBox 23"/>
          <p:cNvSpPr txBox="1"/>
          <p:nvPr/>
        </p:nvSpPr>
        <p:spPr>
          <a:xfrm>
            <a:off x="6324447" y="4846320"/>
            <a:ext cx="2042083" cy="822960"/>
          </a:xfrm>
          <a:prstGeom prst="rect">
            <a:avLst/>
          </a:prstGeom>
          <a:noFill/>
        </p:spPr>
        <p:txBody>
          <a:bodyPr wrap="square" lIns="0" rIns="0" tIns="0" bIns="0">
            <a:spAutoFit/>
          </a:bodyPr>
          <a:lstStyle/>
          <a:p>
            <a:pPr algn="ctr">
              <a:lnSpc>
                <a:spcPct val="130000"/>
              </a:lnSpc>
            </a:pPr>
            <a:r>
              <a:rPr sz="1200" b="0" i="0">
                <a:solidFill>
                  <a:srgbClr val="4A4439"/>
                </a:solidFill>
                <a:latin typeface="EB Garamond"/>
                <a:ea typeface="EB Garamond"/>
                <a:cs typeface="EB Garamond"/>
              </a:rPr>
              <a:t>The scent shows up in reviews.</a:t>
            </a:r>
          </a:p>
        </p:txBody>
      </p:sp>
      <p:sp>
        <p:nvSpPr>
          <p:cNvPr id="25" name="Oval 24"/>
          <p:cNvSpPr/>
          <p:nvPr/>
        </p:nvSpPr>
        <p:spPr>
          <a:xfrm>
            <a:off x="9296133" y="2651760"/>
            <a:ext cx="1097280" cy="1097280"/>
          </a:xfrm>
          <a:prstGeom prst="ellipse">
            <a:avLst/>
          </a:prstGeom>
          <a:solidFill>
            <a:srgbClr val="F4EFE4"/>
          </a:solidFill>
          <a:ln w="9525">
            <a:solidFill>
              <a:srgbClr val="A8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static-art" descr="i_repeat.png"/>
          <p:cNvPicPr>
            <a:picLocks noChangeAspect="1"/>
          </p:cNvPicPr>
          <p:nvPr/>
        </p:nvPicPr>
        <p:blipFill>
          <a:blip r:embed="rId6"/>
          <a:stretch>
            <a:fillRect/>
          </a:stretch>
        </p:blipFill>
        <p:spPr>
          <a:xfrm>
            <a:off x="9497301" y="2852928"/>
            <a:ext cx="694944" cy="694944"/>
          </a:xfrm>
          <a:prstGeom prst="rect">
            <a:avLst/>
          </a:prstGeom>
        </p:spPr>
      </p:pic>
      <p:sp>
        <p:nvSpPr>
          <p:cNvPr id="27" name="TextBox 26"/>
          <p:cNvSpPr txBox="1"/>
          <p:nvPr/>
        </p:nvSpPr>
        <p:spPr>
          <a:xfrm>
            <a:off x="8595131" y="3977639"/>
            <a:ext cx="2499283" cy="365760"/>
          </a:xfrm>
          <a:prstGeom prst="rect">
            <a:avLst/>
          </a:prstGeom>
          <a:noFill/>
        </p:spPr>
        <p:txBody>
          <a:bodyPr wrap="square" lIns="0" rIns="0" tIns="0" bIns="0">
            <a:spAutoFit/>
          </a:bodyPr>
          <a:lstStyle/>
          <a:p>
            <a:pPr algn="ctr"/>
            <a:r>
              <a:rPr sz="1400" b="0" i="0">
                <a:solidFill>
                  <a:srgbClr val="B9A27A"/>
                </a:solidFill>
                <a:latin typeface="Libre Caslon Display"/>
                <a:ea typeface="EB Garamond"/>
                <a:cs typeface="EB Garamond"/>
              </a:rPr>
              <a:t>IV</a:t>
            </a:r>
          </a:p>
        </p:txBody>
      </p:sp>
      <p:sp>
        <p:nvSpPr>
          <p:cNvPr id="28" name="TextBox 27"/>
          <p:cNvSpPr txBox="1"/>
          <p:nvPr/>
        </p:nvSpPr>
        <p:spPr>
          <a:xfrm>
            <a:off x="8686571" y="4343400"/>
            <a:ext cx="2316403" cy="457200"/>
          </a:xfrm>
          <a:prstGeom prst="rect">
            <a:avLst/>
          </a:prstGeom>
          <a:noFill/>
        </p:spPr>
        <p:txBody>
          <a:bodyPr wrap="square" lIns="0" rIns="0" tIns="0" bIns="0">
            <a:spAutoFit/>
          </a:bodyPr>
          <a:lstStyle/>
          <a:p>
            <a:pPr algn="ctr">
              <a:lnSpc>
                <a:spcPct val="100000"/>
              </a:lnSpc>
            </a:pPr>
            <a:r>
              <a:rPr sz="2000" b="0" i="0">
                <a:solidFill>
                  <a:srgbClr val="1B1A17"/>
                </a:solidFill>
                <a:latin typeface="Libre Caslon Display"/>
                <a:ea typeface="EB Garamond"/>
                <a:cs typeface="EB Garamond"/>
              </a:rPr>
              <a:t>It just repeats.</a:t>
            </a:r>
          </a:p>
        </p:txBody>
      </p:sp>
      <p:sp>
        <p:nvSpPr>
          <p:cNvPr id="29" name="TextBox 28"/>
          <p:cNvSpPr txBox="1"/>
          <p:nvPr/>
        </p:nvSpPr>
        <p:spPr>
          <a:xfrm>
            <a:off x="8823731" y="4846320"/>
            <a:ext cx="2042083" cy="822960"/>
          </a:xfrm>
          <a:prstGeom prst="rect">
            <a:avLst/>
          </a:prstGeom>
          <a:noFill/>
        </p:spPr>
        <p:txBody>
          <a:bodyPr wrap="square" lIns="0" rIns="0" tIns="0" bIns="0">
            <a:spAutoFit/>
          </a:bodyPr>
          <a:lstStyle/>
          <a:p>
            <a:pPr algn="ctr">
              <a:lnSpc>
                <a:spcPct val="130000"/>
              </a:lnSpc>
            </a:pPr>
            <a:r>
              <a:rPr sz="1200" b="0" i="0">
                <a:solidFill>
                  <a:srgbClr val="4A4439"/>
                </a:solidFill>
                <a:latin typeface="EB Garamond"/>
                <a:ea typeface="EB Garamond"/>
                <a:cs typeface="EB Garamond"/>
              </a:rPr>
              <a:t>Auto-renews every month. Change or cancel anytime.</a:t>
            </a:r>
          </a:p>
        </p:txBody>
      </p:sp>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42" presetClass="entr" presetSubtype="0" fill="hold" grpId="0" nodeType="withEffect">
                                  <p:stCondLst>
                                    <p:cond delay="365"/>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900"/>
                                        <p:tgtEl>
                                          <p:spTgt spid="8"/>
                                        </p:tgtEl>
                                      </p:cBhvr>
                                    </p:animEffect>
                                    <p:anim calcmode="lin" valueType="num">
                                      <p:cBhvr>
                                        <p:cTn id="11" dur="900" decel="100000"/>
                                        <p:tgtEl>
                                          <p:spTgt spid="8"/>
                                        </p:tgtEl>
                                        <p:attrNameLst>
                                          <p:attrName>ppt_x</p:attrName>
                                        </p:attrNameLst>
                                      </p:cBhvr>
                                      <p:tavLst>
                                        <p:tav tm="0">
                                          <p:val>
                                            <p:strVal val="#ppt_x"/>
                                          </p:val>
                                        </p:tav>
                                        <p:tav tm="100000">
                                          <p:val>
                                            <p:strVal val="#ppt_x"/>
                                          </p:val>
                                        </p:tav>
                                      </p:tavLst>
                                    </p:anim>
                                    <p:anim calcmode="lin" valueType="num">
                                      <p:cBhvr>
                                        <p:cTn id="12" dur="900" decel="100000"/>
                                        <p:tgtEl>
                                          <p:spTgt spid="8"/>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48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700"/>
                                        <p:tgtEl>
                                          <p:spTgt spid="10"/>
                                        </p:tgtEl>
                                      </p:cBhvr>
                                    </p:animEffect>
                                  </p:childTnLst>
                                </p:cTn>
                              </p:par>
                              <p:par>
                                <p:cTn id="16" presetID="10" presetClass="entr" presetSubtype="0" fill="hold" grpId="0" nodeType="withEffect">
                                  <p:stCondLst>
                                    <p:cond delay="595"/>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700"/>
                                        <p:tgtEl>
                                          <p:spTgt spid="15"/>
                                        </p:tgtEl>
                                      </p:cBhvr>
                                    </p:animEffect>
                                  </p:childTnLst>
                                </p:cTn>
                              </p:par>
                              <p:par>
                                <p:cTn id="19" presetID="10" presetClass="entr" presetSubtype="0" fill="hold" grpId="0" nodeType="withEffect">
                                  <p:stCondLst>
                                    <p:cond delay="71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700"/>
                                        <p:tgtEl>
                                          <p:spTgt spid="20"/>
                                        </p:tgtEl>
                                      </p:cBhvr>
                                    </p:animEffect>
                                  </p:childTnLst>
                                </p:cTn>
                              </p:par>
                              <p:par>
                                <p:cTn id="22" presetID="10" presetClass="entr" presetSubtype="0" fill="hold" grpId="0" nodeType="withEffect">
                                  <p:stCondLst>
                                    <p:cond delay="825"/>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700"/>
                                        <p:tgtEl>
                                          <p:spTgt spid="25"/>
                                        </p:tgtEl>
                                      </p:cBhvr>
                                    </p:animEffect>
                                  </p:childTnLst>
                                </p:cTn>
                              </p:par>
                              <p:par>
                                <p:cTn id="25" presetID="22" presetClass="entr" presetSubtype="8" fill="hold" grpId="0" nodeType="withEffect">
                                  <p:stCondLst>
                                    <p:cond delay="94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700"/>
                                        <p:tgtEl>
                                          <p:spTgt spid="9"/>
                                        </p:tgtEl>
                                      </p:cBhvr>
                                    </p:animEffect>
                                  </p:childTnLst>
                                </p:cTn>
                              </p:par>
                              <p:par>
                                <p:cTn id="28" presetID="10" presetClass="entr" presetSubtype="0" fill="hold" grpId="0" nodeType="withEffect">
                                  <p:stCondLst>
                                    <p:cond delay="1055"/>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700"/>
                                        <p:tgtEl>
                                          <p:spTgt spid="12"/>
                                        </p:tgtEl>
                                      </p:cBhvr>
                                    </p:animEffect>
                                  </p:childTnLst>
                                </p:cTn>
                              </p:par>
                              <p:par>
                                <p:cTn id="31" presetID="10" presetClass="entr" presetSubtype="0" fill="hold" grpId="0" nodeType="withEffect">
                                  <p:stCondLst>
                                    <p:cond delay="117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700"/>
                                        <p:tgtEl>
                                          <p:spTgt spid="17"/>
                                        </p:tgtEl>
                                      </p:cBhvr>
                                    </p:animEffect>
                                  </p:childTnLst>
                                </p:cTn>
                              </p:par>
                              <p:par>
                                <p:cTn id="34" presetID="10" presetClass="entr" presetSubtype="0" fill="hold" grpId="0" nodeType="withEffect">
                                  <p:stCondLst>
                                    <p:cond delay="1285"/>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700"/>
                                        <p:tgtEl>
                                          <p:spTgt spid="22"/>
                                        </p:tgtEl>
                                      </p:cBhvr>
                                    </p:animEffect>
                                  </p:childTnLst>
                                </p:cTn>
                              </p:par>
                              <p:par>
                                <p:cTn id="37" presetID="10" presetClass="entr" presetSubtype="0" fill="hold" grpId="0" nodeType="withEffect">
                                  <p:stCondLst>
                                    <p:cond delay="140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700"/>
                                        <p:tgtEl>
                                          <p:spTgt spid="27"/>
                                        </p:tgtEl>
                                      </p:cBhvr>
                                    </p:animEffect>
                                  </p:childTnLst>
                                </p:cTn>
                              </p:par>
                              <p:par>
                                <p:cTn id="40" presetID="42" presetClass="entr" presetSubtype="0" fill="hold" grpId="0" nodeType="withEffect">
                                  <p:stCondLst>
                                    <p:cond delay="1515"/>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900"/>
                                        <p:tgtEl>
                                          <p:spTgt spid="13"/>
                                        </p:tgtEl>
                                      </p:cBhvr>
                                    </p:animEffect>
                                    <p:anim calcmode="lin" valueType="num">
                                      <p:cBhvr>
                                        <p:cTn id="43" dur="900" decel="100000"/>
                                        <p:tgtEl>
                                          <p:spTgt spid="13"/>
                                        </p:tgtEl>
                                        <p:attrNameLst>
                                          <p:attrName>ppt_x</p:attrName>
                                        </p:attrNameLst>
                                      </p:cBhvr>
                                      <p:tavLst>
                                        <p:tav tm="0">
                                          <p:val>
                                            <p:strVal val="#ppt_x"/>
                                          </p:val>
                                        </p:tav>
                                        <p:tav tm="100000">
                                          <p:val>
                                            <p:strVal val="#ppt_x"/>
                                          </p:val>
                                        </p:tav>
                                      </p:tavLst>
                                    </p:anim>
                                    <p:anim calcmode="lin" valueType="num">
                                      <p:cBhvr>
                                        <p:cTn id="44" dur="900" decel="100000"/>
                                        <p:tgtEl>
                                          <p:spTgt spid="13"/>
                                        </p:tgtEl>
                                        <p:attrNameLst>
                                          <p:attrName>ppt_y</p:attrName>
                                        </p:attrNameLst>
                                      </p:cBhvr>
                                      <p:tavLst>
                                        <p:tav tm="0">
                                          <p:val>
                                            <p:strVal val="#ppt_y+.035"/>
                                          </p:val>
                                        </p:tav>
                                        <p:tav tm="100000">
                                          <p:val>
                                            <p:strVal val="#ppt_y"/>
                                          </p:val>
                                        </p:tav>
                                      </p:tavLst>
                                    </p:anim>
                                  </p:childTnLst>
                                </p:cTn>
                              </p:par>
                              <p:par>
                                <p:cTn id="45" presetID="42" presetClass="entr" presetSubtype="0" fill="hold" grpId="0" nodeType="withEffect">
                                  <p:stCondLst>
                                    <p:cond delay="163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900"/>
                                        <p:tgtEl>
                                          <p:spTgt spid="18"/>
                                        </p:tgtEl>
                                      </p:cBhvr>
                                    </p:animEffect>
                                    <p:anim calcmode="lin" valueType="num">
                                      <p:cBhvr>
                                        <p:cTn id="48" dur="900" decel="100000"/>
                                        <p:tgtEl>
                                          <p:spTgt spid="18"/>
                                        </p:tgtEl>
                                        <p:attrNameLst>
                                          <p:attrName>ppt_x</p:attrName>
                                        </p:attrNameLst>
                                      </p:cBhvr>
                                      <p:tavLst>
                                        <p:tav tm="0">
                                          <p:val>
                                            <p:strVal val="#ppt_x"/>
                                          </p:val>
                                        </p:tav>
                                        <p:tav tm="100000">
                                          <p:val>
                                            <p:strVal val="#ppt_x"/>
                                          </p:val>
                                        </p:tav>
                                      </p:tavLst>
                                    </p:anim>
                                    <p:anim calcmode="lin" valueType="num">
                                      <p:cBhvr>
                                        <p:cTn id="49" dur="900" decel="100000"/>
                                        <p:tgtEl>
                                          <p:spTgt spid="18"/>
                                        </p:tgtEl>
                                        <p:attrNameLst>
                                          <p:attrName>ppt_y</p:attrName>
                                        </p:attrNameLst>
                                      </p:cBhvr>
                                      <p:tavLst>
                                        <p:tav tm="0">
                                          <p:val>
                                            <p:strVal val="#ppt_y+.035"/>
                                          </p:val>
                                        </p:tav>
                                        <p:tav tm="100000">
                                          <p:val>
                                            <p:strVal val="#ppt_y"/>
                                          </p:val>
                                        </p:tav>
                                      </p:tavLst>
                                    </p:anim>
                                  </p:childTnLst>
                                </p:cTn>
                              </p:par>
                              <p:par>
                                <p:cTn id="50" presetID="42" presetClass="entr" presetSubtype="0" fill="hold" grpId="0" nodeType="withEffect">
                                  <p:stCondLst>
                                    <p:cond delay="1745"/>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900"/>
                                        <p:tgtEl>
                                          <p:spTgt spid="23"/>
                                        </p:tgtEl>
                                      </p:cBhvr>
                                    </p:animEffect>
                                    <p:anim calcmode="lin" valueType="num">
                                      <p:cBhvr>
                                        <p:cTn id="53" dur="900" decel="100000"/>
                                        <p:tgtEl>
                                          <p:spTgt spid="23"/>
                                        </p:tgtEl>
                                        <p:attrNameLst>
                                          <p:attrName>ppt_x</p:attrName>
                                        </p:attrNameLst>
                                      </p:cBhvr>
                                      <p:tavLst>
                                        <p:tav tm="0">
                                          <p:val>
                                            <p:strVal val="#ppt_x"/>
                                          </p:val>
                                        </p:tav>
                                        <p:tav tm="100000">
                                          <p:val>
                                            <p:strVal val="#ppt_x"/>
                                          </p:val>
                                        </p:tav>
                                      </p:tavLst>
                                    </p:anim>
                                    <p:anim calcmode="lin" valueType="num">
                                      <p:cBhvr>
                                        <p:cTn id="54" dur="900" decel="100000"/>
                                        <p:tgtEl>
                                          <p:spTgt spid="23"/>
                                        </p:tgtEl>
                                        <p:attrNameLst>
                                          <p:attrName>ppt_y</p:attrName>
                                        </p:attrNameLst>
                                      </p:cBhvr>
                                      <p:tavLst>
                                        <p:tav tm="0">
                                          <p:val>
                                            <p:strVal val="#ppt_y+.035"/>
                                          </p:val>
                                        </p:tav>
                                        <p:tav tm="100000">
                                          <p:val>
                                            <p:strVal val="#ppt_y"/>
                                          </p:val>
                                        </p:tav>
                                      </p:tavLst>
                                    </p:anim>
                                  </p:childTnLst>
                                </p:cTn>
                              </p:par>
                              <p:par>
                                <p:cTn id="55" presetID="42" presetClass="entr" presetSubtype="0" fill="hold" grpId="0" nodeType="withEffect">
                                  <p:stCondLst>
                                    <p:cond delay="186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900"/>
                                        <p:tgtEl>
                                          <p:spTgt spid="28"/>
                                        </p:tgtEl>
                                      </p:cBhvr>
                                    </p:animEffect>
                                    <p:anim calcmode="lin" valueType="num">
                                      <p:cBhvr>
                                        <p:cTn id="58" dur="900" decel="100000"/>
                                        <p:tgtEl>
                                          <p:spTgt spid="28"/>
                                        </p:tgtEl>
                                        <p:attrNameLst>
                                          <p:attrName>ppt_x</p:attrName>
                                        </p:attrNameLst>
                                      </p:cBhvr>
                                      <p:tavLst>
                                        <p:tav tm="0">
                                          <p:val>
                                            <p:strVal val="#ppt_x"/>
                                          </p:val>
                                        </p:tav>
                                        <p:tav tm="100000">
                                          <p:val>
                                            <p:strVal val="#ppt_x"/>
                                          </p:val>
                                        </p:tav>
                                      </p:tavLst>
                                    </p:anim>
                                    <p:anim calcmode="lin" valueType="num">
                                      <p:cBhvr>
                                        <p:cTn id="59" dur="900" decel="100000"/>
                                        <p:tgtEl>
                                          <p:spTgt spid="28"/>
                                        </p:tgtEl>
                                        <p:attrNameLst>
                                          <p:attrName>ppt_y</p:attrName>
                                        </p:attrNameLst>
                                      </p:cBhvr>
                                      <p:tavLst>
                                        <p:tav tm="0">
                                          <p:val>
                                            <p:strVal val="#ppt_y+.035"/>
                                          </p:val>
                                        </p:tav>
                                        <p:tav tm="100000">
                                          <p:val>
                                            <p:strVal val="#ppt_y"/>
                                          </p:val>
                                        </p:tav>
                                      </p:tavLst>
                                    </p:anim>
                                  </p:childTnLst>
                                </p:cTn>
                              </p:par>
                              <p:par>
                                <p:cTn id="60" presetID="10" presetClass="entr" presetSubtype="0" fill="hold" grpId="0" nodeType="withEffect">
                                  <p:stCondLst>
                                    <p:cond delay="1975"/>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700"/>
                                        <p:tgtEl>
                                          <p:spTgt spid="14"/>
                                        </p:tgtEl>
                                      </p:cBhvr>
                                    </p:animEffect>
                                  </p:childTnLst>
                                </p:cTn>
                              </p:par>
                              <p:par>
                                <p:cTn id="63" presetID="10" presetClass="entr" presetSubtype="0" fill="hold" grpId="0" nodeType="withEffect">
                                  <p:stCondLst>
                                    <p:cond delay="2090"/>
                                  </p:stCondLst>
                                  <p:childTnLst>
                                    <p:set>
                                      <p:cBhvr>
                                        <p:cTn id="64" dur="1" fill="hold">
                                          <p:stCondLst>
                                            <p:cond delay="0"/>
                                          </p:stCondLst>
                                        </p:cTn>
                                        <p:tgtEl>
                                          <p:spTgt spid="19"/>
                                        </p:tgtEl>
                                        <p:attrNameLst>
                                          <p:attrName>style.visibility</p:attrName>
                                        </p:attrNameLst>
                                      </p:cBhvr>
                                      <p:to>
                                        <p:strVal val="visible"/>
                                      </p:to>
                                    </p:set>
                                    <p:animEffect transition="in" filter="fade">
                                      <p:cBhvr>
                                        <p:cTn id="65" dur="700"/>
                                        <p:tgtEl>
                                          <p:spTgt spid="19"/>
                                        </p:tgtEl>
                                      </p:cBhvr>
                                    </p:animEffect>
                                  </p:childTnLst>
                                </p:cTn>
                              </p:par>
                              <p:par>
                                <p:cTn id="66" presetID="10" presetClass="entr" presetSubtype="0" fill="hold" grpId="0" nodeType="withEffect">
                                  <p:stCondLst>
                                    <p:cond delay="2205"/>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700"/>
                                        <p:tgtEl>
                                          <p:spTgt spid="24"/>
                                        </p:tgtEl>
                                      </p:cBhvr>
                                    </p:animEffect>
                                  </p:childTnLst>
                                </p:cTn>
                              </p:par>
                              <p:par>
                                <p:cTn id="69" presetID="10" presetClass="entr" presetSubtype="0" fill="hold" grpId="0" nodeType="withEffect">
                                  <p:stCondLst>
                                    <p:cond delay="232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7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5" grpId="0" animBg="1"/>
      <p:bldP spid="20" grpId="0" animBg="1"/>
      <p:bldP spid="25" grpId="0" animBg="1"/>
      <p:bldP spid="9" grpId="0" animBg="1"/>
      <p:bldP spid="12" grpId="0" animBg="1"/>
      <p:bldP spid="17" grpId="0" animBg="1"/>
      <p:bldP spid="22" grpId="0" animBg="1"/>
      <p:bldP spid="27" grpId="0" animBg="1"/>
      <p:bldP spid="13" grpId="0" animBg="1"/>
      <p:bldP spid="18" grpId="0" animBg="1"/>
      <p:bldP spid="23" grpId="0" animBg="1"/>
      <p:bldP spid="28" grpId="0" animBg="1"/>
      <p:bldP spid="14" grpId="0" animBg="1"/>
      <p:bldP spid="19" grpId="0" animBg="1"/>
      <p:bldP spid="24" grpId="0" animBg="1"/>
      <p:bldP spid="29"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ic-bg" descr="paper_ivory.jpg"/>
          <p:cNvPicPr>
            <a:picLocks noChangeAspect="1"/>
          </p:cNvPicPr>
          <p:nvPr/>
        </p:nvPicPr>
        <p:blipFill>
          <a:blip r:embed="rId2"/>
          <a:stretch>
            <a:fillRect/>
          </a:stretch>
        </p:blipFill>
        <p:spPr>
          <a:xfrm>
            <a:off x="0" y="0"/>
            <a:ext cx="12191695" cy="6858000"/>
          </a:xfrm>
          <a:prstGeom prst="rect">
            <a:avLst/>
          </a:prstGeom>
        </p:spPr>
      </p:pic>
      <p:sp>
        <p:nvSpPr>
          <p:cNvPr id="3" name="static-frame"/>
          <p:cNvSpPr/>
          <p:nvPr/>
        </p:nvSpPr>
        <p:spPr>
          <a:xfrm>
            <a:off x="292608" y="292608"/>
            <a:ext cx="11606479" cy="6272784"/>
          </a:xfrm>
          <a:prstGeom prst="rect">
            <a:avLst/>
          </a:prstGeom>
          <a:noFill/>
          <a:ln w="7620">
            <a:solidFill>
              <a:srgbClr val="B9A27A"/>
            </a:solidFill>
          </a:ln>
        </p:spPr>
        <p:txBody>
          <a:bodyPr rtlCol="0" anchor="ctr"/>
          <a:lstStyle/>
          <a:p>
            <a:pPr algn="ctr"/>
          </a:p>
        </p:txBody>
      </p:sp>
      <p:sp>
        <p:nvSpPr>
          <p:cNvPr id="4" name="static-frame"/>
          <p:cNvSpPr/>
          <p:nvPr/>
        </p:nvSpPr>
        <p:spPr>
          <a:xfrm>
            <a:off x="347472" y="347472"/>
            <a:ext cx="11496751" cy="6163056"/>
          </a:xfrm>
          <a:prstGeom prst="rect">
            <a:avLst/>
          </a:prstGeom>
          <a:noFill/>
          <a:ln w="7620">
            <a:solidFill>
              <a:srgbClr val="B9A27A"/>
            </a:solidFill>
          </a:ln>
        </p:spPr>
        <p:txBody>
          <a:bodyPr rtlCol="0" anchor="ctr"/>
          <a:lstStyle/>
          <a:p>
            <a:pPr algn="ctr"/>
          </a:p>
        </p:txBody>
      </p:sp>
      <p:sp>
        <p:nvSpPr>
          <p:cNvPr id="5" name="chrome"/>
          <p:cNvSpPr txBox="1"/>
          <p:nvPr/>
        </p:nvSpPr>
        <p:spPr>
          <a:xfrm>
            <a:off x="0" y="6199632"/>
            <a:ext cx="12191695" cy="228600"/>
          </a:xfrm>
          <a:prstGeom prst="rect">
            <a:avLst/>
          </a:prstGeom>
          <a:noFill/>
        </p:spPr>
        <p:txBody>
          <a:bodyPr wrap="square" lIns="0" rIns="0" tIns="0" bIns="0">
            <a:spAutoFit/>
          </a:bodyPr>
          <a:lstStyle/>
          <a:p>
            <a:pPr algn="ctr"/>
            <a:r>
              <a:rPr sz="750" b="0" i="0" spc="400">
                <a:solidFill>
                  <a:srgbClr val="8C8270"/>
                </a:solidFill>
                <a:latin typeface="EB Garamond"/>
                <a:ea typeface="EB Garamond"/>
                <a:cs typeface="EB Garamond"/>
              </a:rPr>
              <a:t>RED FLAG RITUAL</a:t>
            </a:r>
          </a:p>
        </p:txBody>
      </p:sp>
      <p:sp>
        <p:nvSpPr>
          <p:cNvPr id="6" name="chrome"/>
          <p:cNvSpPr txBox="1"/>
          <p:nvPr/>
        </p:nvSpPr>
        <p:spPr>
          <a:xfrm>
            <a:off x="0" y="5961888"/>
            <a:ext cx="12191695" cy="228600"/>
          </a:xfrm>
          <a:prstGeom prst="rect">
            <a:avLst/>
          </a:prstGeom>
          <a:noFill/>
        </p:spPr>
        <p:txBody>
          <a:bodyPr wrap="square" lIns="0" rIns="0" tIns="0" bIns="0">
            <a:spAutoFit/>
          </a:bodyPr>
          <a:lstStyle/>
          <a:p>
            <a:pPr algn="ctr"/>
            <a:r>
              <a:rPr sz="1000" b="0" i="0">
                <a:solidFill>
                  <a:srgbClr val="B9A27A"/>
                </a:solidFill>
                <a:latin typeface="Libre Caslon Display"/>
                <a:ea typeface="EB Garamond"/>
                <a:cs typeface="EB Garamond"/>
              </a:rPr>
              <a:t>IX</a:t>
            </a:r>
          </a:p>
        </p:txBody>
      </p:sp>
      <p:sp>
        <p:nvSpPr>
          <p:cNvPr id="7" name="TextBox 6"/>
          <p:cNvSpPr txBox="1"/>
          <p:nvPr/>
        </p:nvSpPr>
        <p:spPr>
          <a:xfrm>
            <a:off x="1005840" y="1188720"/>
            <a:ext cx="5486400" cy="228600"/>
          </a:xfrm>
          <a:prstGeom prst="rect">
            <a:avLst/>
          </a:prstGeom>
          <a:noFill/>
        </p:spPr>
        <p:txBody>
          <a:bodyPr wrap="square" lIns="0" rIns="0" tIns="0" bIns="0">
            <a:spAutoFit/>
          </a:bodyPr>
          <a:lstStyle/>
          <a:p>
            <a:pPr algn="l"/>
            <a:r>
              <a:rPr sz="850" b="0" i="0" spc="400">
                <a:solidFill>
                  <a:srgbClr val="8C8270"/>
                </a:solidFill>
                <a:latin typeface="EB Garamond"/>
                <a:ea typeface="EB Garamond"/>
                <a:cs typeface="EB Garamond"/>
              </a:rPr>
              <a:t>WHY HOSTS CHOOSE RED FLAG RITUAL</a:t>
            </a:r>
          </a:p>
        </p:txBody>
      </p:sp>
      <p:sp>
        <p:nvSpPr>
          <p:cNvPr id="8" name="TextBox 7"/>
          <p:cNvSpPr txBox="1"/>
          <p:nvPr/>
        </p:nvSpPr>
        <p:spPr>
          <a:xfrm>
            <a:off x="1005840" y="1508760"/>
            <a:ext cx="5486400" cy="822960"/>
          </a:xfrm>
          <a:prstGeom prst="rect">
            <a:avLst/>
          </a:prstGeom>
          <a:noFill/>
        </p:spPr>
        <p:txBody>
          <a:bodyPr wrap="square" lIns="0" rIns="0" tIns="0" bIns="0">
            <a:spAutoFit/>
          </a:bodyPr>
          <a:lstStyle/>
          <a:p>
            <a:pPr algn="l">
              <a:lnSpc>
                <a:spcPct val="100000"/>
              </a:lnSpc>
            </a:pPr>
            <a:r>
              <a:rPr sz="4000" b="0" i="0">
                <a:solidFill>
                  <a:srgbClr val="1B1A17"/>
                </a:solidFill>
                <a:latin typeface="Libre Caslon Display"/>
                <a:ea typeface="EB Garamond"/>
                <a:cs typeface="EB Garamond"/>
              </a:rPr>
              <a:t>Green flags, only.</a:t>
            </a:r>
          </a:p>
        </p:txBody>
      </p:sp>
      <p:sp>
        <p:nvSpPr>
          <p:cNvPr id="9" name="Rectangle 8"/>
          <p:cNvSpPr/>
          <p:nvPr/>
        </p:nvSpPr>
        <p:spPr>
          <a:xfrm>
            <a:off x="1005840" y="2514600"/>
            <a:ext cx="5303520" cy="9144"/>
          </a:xfrm>
          <a:prstGeom prst="rect">
            <a:avLst/>
          </a:prstGeom>
          <a:solidFill>
            <a:srgbClr val="B9A27A"/>
          </a:solidFill>
          <a:ln>
            <a:noFill/>
          </a:ln>
        </p:spPr>
        <p:txBody>
          <a:bodyPr rtlCol="0" anchor="ctr"/>
          <a:lstStyle/>
          <a:p>
            <a:pPr algn="ctr"/>
          </a:p>
        </p:txBody>
      </p:sp>
      <p:sp>
        <p:nvSpPr>
          <p:cNvPr id="10" name="TextBox 9"/>
          <p:cNvSpPr txBox="1"/>
          <p:nvPr/>
        </p:nvSpPr>
        <p:spPr>
          <a:xfrm>
            <a:off x="1005840" y="2670048"/>
            <a:ext cx="457200" cy="320040"/>
          </a:xfrm>
          <a:prstGeom prst="rect">
            <a:avLst/>
          </a:prstGeom>
          <a:noFill/>
        </p:spPr>
        <p:txBody>
          <a:bodyPr wrap="square" lIns="0" rIns="0" tIns="0" bIns="0">
            <a:spAutoFit/>
          </a:bodyPr>
          <a:lstStyle/>
          <a:p>
            <a:pPr algn="l"/>
            <a:r>
              <a:rPr sz="1200" b="0" i="0">
                <a:solidFill>
                  <a:srgbClr val="B9A27A"/>
                </a:solidFill>
                <a:latin typeface="Libre Caslon Display"/>
                <a:ea typeface="EB Garamond"/>
                <a:cs typeface="EB Garamond"/>
              </a:rPr>
              <a:t>I</a:t>
            </a:r>
          </a:p>
        </p:txBody>
      </p:sp>
      <p:sp>
        <p:nvSpPr>
          <p:cNvPr id="11" name="TextBox 10"/>
          <p:cNvSpPr txBox="1"/>
          <p:nvPr/>
        </p:nvSpPr>
        <p:spPr>
          <a:xfrm>
            <a:off x="1554480" y="2651760"/>
            <a:ext cx="4754880" cy="365760"/>
          </a:xfrm>
          <a:prstGeom prst="rect">
            <a:avLst/>
          </a:prstGeom>
          <a:noFill/>
        </p:spPr>
        <p:txBody>
          <a:bodyPr wrap="square" lIns="0" rIns="0" tIns="0" bIns="0">
            <a:spAutoFit/>
          </a:bodyPr>
          <a:lstStyle/>
          <a:p>
            <a:pPr algn="l"/>
            <a:r>
              <a:rPr sz="1500" b="0" i="0">
                <a:solidFill>
                  <a:srgbClr val="1B1A17"/>
                </a:solidFill>
                <a:latin typeface="EB Garamond"/>
                <a:ea typeface="EB Garamond"/>
                <a:cs typeface="EB Garamond"/>
              </a:rPr>
              <a:t>Hotel-grade experience from ₹33 per guest</a:t>
            </a:r>
          </a:p>
        </p:txBody>
      </p:sp>
      <p:sp>
        <p:nvSpPr>
          <p:cNvPr id="12" name="Rectangle 11"/>
          <p:cNvSpPr/>
          <p:nvPr/>
        </p:nvSpPr>
        <p:spPr>
          <a:xfrm>
            <a:off x="1005840" y="3118104"/>
            <a:ext cx="5303520" cy="9144"/>
          </a:xfrm>
          <a:prstGeom prst="rect">
            <a:avLst/>
          </a:prstGeom>
          <a:solidFill>
            <a:srgbClr val="B9A27A"/>
          </a:solidFill>
          <a:ln>
            <a:noFill/>
          </a:ln>
        </p:spPr>
        <p:txBody>
          <a:bodyPr rtlCol="0" anchor="ctr"/>
          <a:lstStyle/>
          <a:p>
            <a:pPr algn="ctr"/>
          </a:p>
        </p:txBody>
      </p:sp>
      <p:sp>
        <p:nvSpPr>
          <p:cNvPr id="13" name="TextBox 12"/>
          <p:cNvSpPr txBox="1"/>
          <p:nvPr/>
        </p:nvSpPr>
        <p:spPr>
          <a:xfrm>
            <a:off x="1005840" y="3273552"/>
            <a:ext cx="457200" cy="320040"/>
          </a:xfrm>
          <a:prstGeom prst="rect">
            <a:avLst/>
          </a:prstGeom>
          <a:noFill/>
        </p:spPr>
        <p:txBody>
          <a:bodyPr wrap="square" lIns="0" rIns="0" tIns="0" bIns="0">
            <a:spAutoFit/>
          </a:bodyPr>
          <a:lstStyle/>
          <a:p>
            <a:pPr algn="l"/>
            <a:r>
              <a:rPr sz="1200" b="0" i="0">
                <a:solidFill>
                  <a:srgbClr val="B9A27A"/>
                </a:solidFill>
                <a:latin typeface="Libre Caslon Display"/>
                <a:ea typeface="EB Garamond"/>
                <a:cs typeface="EB Garamond"/>
              </a:rPr>
              <a:t>II</a:t>
            </a:r>
          </a:p>
        </p:txBody>
      </p:sp>
      <p:sp>
        <p:nvSpPr>
          <p:cNvPr id="14" name="TextBox 13"/>
          <p:cNvSpPr txBox="1"/>
          <p:nvPr/>
        </p:nvSpPr>
        <p:spPr>
          <a:xfrm>
            <a:off x="1554480" y="3255264"/>
            <a:ext cx="4754880" cy="365760"/>
          </a:xfrm>
          <a:prstGeom prst="rect">
            <a:avLst/>
          </a:prstGeom>
          <a:noFill/>
        </p:spPr>
        <p:txBody>
          <a:bodyPr wrap="square" lIns="0" rIns="0" tIns="0" bIns="0">
            <a:spAutoFit/>
          </a:bodyPr>
          <a:lstStyle/>
          <a:p>
            <a:pPr algn="l"/>
            <a:r>
              <a:rPr sz="1500" b="0" i="0">
                <a:solidFill>
                  <a:srgbClr val="1B1A17"/>
                </a:solidFill>
                <a:latin typeface="EB Garamond"/>
                <a:ea typeface="EB Garamond"/>
                <a:cs typeface="EB Garamond"/>
              </a:rPr>
              <a:t>One signature scent across the whole stay</a:t>
            </a:r>
          </a:p>
        </p:txBody>
      </p:sp>
      <p:sp>
        <p:nvSpPr>
          <p:cNvPr id="15" name="Rectangle 14"/>
          <p:cNvSpPr/>
          <p:nvPr/>
        </p:nvSpPr>
        <p:spPr>
          <a:xfrm>
            <a:off x="1005840" y="3721608"/>
            <a:ext cx="5303520" cy="9144"/>
          </a:xfrm>
          <a:prstGeom prst="rect">
            <a:avLst/>
          </a:prstGeom>
          <a:solidFill>
            <a:srgbClr val="B9A27A"/>
          </a:solidFill>
          <a:ln>
            <a:noFill/>
          </a:ln>
        </p:spPr>
        <p:txBody>
          <a:bodyPr rtlCol="0" anchor="ctr"/>
          <a:lstStyle/>
          <a:p>
            <a:pPr algn="ctr"/>
          </a:p>
        </p:txBody>
      </p:sp>
      <p:sp>
        <p:nvSpPr>
          <p:cNvPr id="16" name="TextBox 15"/>
          <p:cNvSpPr txBox="1"/>
          <p:nvPr/>
        </p:nvSpPr>
        <p:spPr>
          <a:xfrm>
            <a:off x="1005840" y="3877056"/>
            <a:ext cx="457200" cy="320040"/>
          </a:xfrm>
          <a:prstGeom prst="rect">
            <a:avLst/>
          </a:prstGeom>
          <a:noFill/>
        </p:spPr>
        <p:txBody>
          <a:bodyPr wrap="square" lIns="0" rIns="0" tIns="0" bIns="0">
            <a:spAutoFit/>
          </a:bodyPr>
          <a:lstStyle/>
          <a:p>
            <a:pPr algn="l"/>
            <a:r>
              <a:rPr sz="1200" b="0" i="0">
                <a:solidFill>
                  <a:srgbClr val="B9A27A"/>
                </a:solidFill>
                <a:latin typeface="Libre Caslon Display"/>
                <a:ea typeface="EB Garamond"/>
                <a:cs typeface="EB Garamond"/>
              </a:rPr>
              <a:t>III</a:t>
            </a:r>
          </a:p>
        </p:txBody>
      </p:sp>
      <p:sp>
        <p:nvSpPr>
          <p:cNvPr id="17" name="TextBox 16"/>
          <p:cNvSpPr txBox="1"/>
          <p:nvPr/>
        </p:nvSpPr>
        <p:spPr>
          <a:xfrm>
            <a:off x="1554480" y="3858768"/>
            <a:ext cx="4754880" cy="365760"/>
          </a:xfrm>
          <a:prstGeom prst="rect">
            <a:avLst/>
          </a:prstGeom>
          <a:noFill/>
        </p:spPr>
        <p:txBody>
          <a:bodyPr wrap="square" lIns="0" rIns="0" tIns="0" bIns="0">
            <a:spAutoFit/>
          </a:bodyPr>
          <a:lstStyle/>
          <a:p>
            <a:pPr algn="l"/>
            <a:r>
              <a:rPr sz="1500" b="0" i="0">
                <a:solidFill>
                  <a:srgbClr val="1B1A17"/>
                </a:solidFill>
                <a:latin typeface="EB Garamond"/>
                <a:ea typeface="EB Garamond"/>
                <a:cs typeface="EB Garamond"/>
              </a:rPr>
              <a:t>Sealed, single-stay bottles for every guest</a:t>
            </a:r>
          </a:p>
        </p:txBody>
      </p:sp>
      <p:sp>
        <p:nvSpPr>
          <p:cNvPr id="18" name="Rectangle 17"/>
          <p:cNvSpPr/>
          <p:nvPr/>
        </p:nvSpPr>
        <p:spPr>
          <a:xfrm>
            <a:off x="1005840" y="4325112"/>
            <a:ext cx="5303520" cy="9144"/>
          </a:xfrm>
          <a:prstGeom prst="rect">
            <a:avLst/>
          </a:prstGeom>
          <a:solidFill>
            <a:srgbClr val="B9A27A"/>
          </a:solidFill>
          <a:ln>
            <a:noFill/>
          </a:ln>
        </p:spPr>
        <p:txBody>
          <a:bodyPr rtlCol="0" anchor="ctr"/>
          <a:lstStyle/>
          <a:p>
            <a:pPr algn="ctr"/>
          </a:p>
        </p:txBody>
      </p:sp>
      <p:sp>
        <p:nvSpPr>
          <p:cNvPr id="19" name="TextBox 18"/>
          <p:cNvSpPr txBox="1"/>
          <p:nvPr/>
        </p:nvSpPr>
        <p:spPr>
          <a:xfrm>
            <a:off x="1005840" y="4480560"/>
            <a:ext cx="457200" cy="320040"/>
          </a:xfrm>
          <a:prstGeom prst="rect">
            <a:avLst/>
          </a:prstGeom>
          <a:noFill/>
        </p:spPr>
        <p:txBody>
          <a:bodyPr wrap="square" lIns="0" rIns="0" tIns="0" bIns="0">
            <a:spAutoFit/>
          </a:bodyPr>
          <a:lstStyle/>
          <a:p>
            <a:pPr algn="l"/>
            <a:r>
              <a:rPr sz="1200" b="0" i="0">
                <a:solidFill>
                  <a:srgbClr val="B9A27A"/>
                </a:solidFill>
                <a:latin typeface="Libre Caslon Display"/>
                <a:ea typeface="EB Garamond"/>
                <a:cs typeface="EB Garamond"/>
              </a:rPr>
              <a:t>IV</a:t>
            </a:r>
          </a:p>
        </p:txBody>
      </p:sp>
      <p:sp>
        <p:nvSpPr>
          <p:cNvPr id="20" name="TextBox 19"/>
          <p:cNvSpPr txBox="1"/>
          <p:nvPr/>
        </p:nvSpPr>
        <p:spPr>
          <a:xfrm>
            <a:off x="1554480" y="4462272"/>
            <a:ext cx="4754880" cy="365760"/>
          </a:xfrm>
          <a:prstGeom prst="rect">
            <a:avLst/>
          </a:prstGeom>
          <a:noFill/>
        </p:spPr>
        <p:txBody>
          <a:bodyPr wrap="square" lIns="0" rIns="0" tIns="0" bIns="0">
            <a:spAutoFit/>
          </a:bodyPr>
          <a:lstStyle/>
          <a:p>
            <a:pPr algn="l"/>
            <a:r>
              <a:rPr sz="1500" b="0" i="0">
                <a:solidFill>
                  <a:srgbClr val="1B1A17"/>
                </a:solidFill>
                <a:latin typeface="EB Garamond"/>
                <a:ea typeface="EB Garamond"/>
                <a:cs typeface="EB Garamond"/>
              </a:rPr>
              <a:t>No restocking runs. It arrives every month.</a:t>
            </a:r>
          </a:p>
        </p:txBody>
      </p:sp>
      <p:sp>
        <p:nvSpPr>
          <p:cNvPr id="21" name="Rectangle 20"/>
          <p:cNvSpPr/>
          <p:nvPr/>
        </p:nvSpPr>
        <p:spPr>
          <a:xfrm>
            <a:off x="1005840" y="4928616"/>
            <a:ext cx="5303520" cy="9144"/>
          </a:xfrm>
          <a:prstGeom prst="rect">
            <a:avLst/>
          </a:prstGeom>
          <a:solidFill>
            <a:srgbClr val="B9A27A"/>
          </a:solidFill>
          <a:ln>
            <a:noFill/>
          </a:ln>
        </p:spPr>
        <p:txBody>
          <a:bodyPr rtlCol="0" anchor="ctr"/>
          <a:lstStyle/>
          <a:p>
            <a:pPr algn="ctr"/>
          </a:p>
        </p:txBody>
      </p:sp>
      <p:sp>
        <p:nvSpPr>
          <p:cNvPr id="22" name="TextBox 21"/>
          <p:cNvSpPr txBox="1"/>
          <p:nvPr/>
        </p:nvSpPr>
        <p:spPr>
          <a:xfrm>
            <a:off x="1005840" y="5084064"/>
            <a:ext cx="457200" cy="320040"/>
          </a:xfrm>
          <a:prstGeom prst="rect">
            <a:avLst/>
          </a:prstGeom>
          <a:noFill/>
        </p:spPr>
        <p:txBody>
          <a:bodyPr wrap="square" lIns="0" rIns="0" tIns="0" bIns="0">
            <a:spAutoFit/>
          </a:bodyPr>
          <a:lstStyle/>
          <a:p>
            <a:pPr algn="l"/>
            <a:r>
              <a:rPr sz="1200" b="0" i="0">
                <a:solidFill>
                  <a:srgbClr val="B9A27A"/>
                </a:solidFill>
                <a:latin typeface="Libre Caslon Display"/>
                <a:ea typeface="EB Garamond"/>
                <a:cs typeface="EB Garamond"/>
              </a:rPr>
              <a:t>V</a:t>
            </a:r>
          </a:p>
        </p:txBody>
      </p:sp>
      <p:sp>
        <p:nvSpPr>
          <p:cNvPr id="23" name="TextBox 22"/>
          <p:cNvSpPr txBox="1"/>
          <p:nvPr/>
        </p:nvSpPr>
        <p:spPr>
          <a:xfrm>
            <a:off x="1554480" y="5065776"/>
            <a:ext cx="4754880" cy="365760"/>
          </a:xfrm>
          <a:prstGeom prst="rect">
            <a:avLst/>
          </a:prstGeom>
          <a:noFill/>
        </p:spPr>
        <p:txBody>
          <a:bodyPr wrap="square" lIns="0" rIns="0" tIns="0" bIns="0">
            <a:spAutoFit/>
          </a:bodyPr>
          <a:lstStyle/>
          <a:p>
            <a:pPr algn="l"/>
            <a:r>
              <a:rPr sz="1500" b="0" i="0">
                <a:solidFill>
                  <a:srgbClr val="1B1A17"/>
                </a:solidFill>
                <a:latin typeface="EB Garamond"/>
                <a:ea typeface="EB Garamond"/>
                <a:cs typeface="EB Garamond"/>
              </a:rPr>
              <a:t>Trusted in Red Flag Homes properties first</a:t>
            </a:r>
          </a:p>
        </p:txBody>
      </p:sp>
      <p:sp>
        <p:nvSpPr>
          <p:cNvPr id="24" name="Rectangle 23"/>
          <p:cNvSpPr/>
          <p:nvPr/>
        </p:nvSpPr>
        <p:spPr>
          <a:xfrm>
            <a:off x="1005840" y="5532120"/>
            <a:ext cx="5303520" cy="9144"/>
          </a:xfrm>
          <a:prstGeom prst="rect">
            <a:avLst/>
          </a:prstGeom>
          <a:solidFill>
            <a:srgbClr val="B9A27A"/>
          </a:solidFill>
          <a:ln>
            <a:noFill/>
          </a:ln>
        </p:spPr>
        <p:txBody>
          <a:bodyPr rtlCol="0" anchor="ctr"/>
          <a:lstStyle/>
          <a:p>
            <a:pPr algn="ctr"/>
          </a:p>
        </p:txBody>
      </p:sp>
      <p:sp>
        <p:nvSpPr>
          <p:cNvPr id="25" name="static-card"/>
          <p:cNvSpPr/>
          <p:nvPr/>
        </p:nvSpPr>
        <p:spPr>
          <a:xfrm>
            <a:off x="7223760" y="1828800"/>
            <a:ext cx="3931920" cy="3291840"/>
          </a:xfrm>
          <a:prstGeom prst="rect">
            <a:avLst/>
          </a:prstGeom>
          <a:solidFill>
            <a:srgbClr val="ECE5D7"/>
          </a:solidFill>
          <a:ln>
            <a:noFill/>
          </a:ln>
        </p:spPr>
        <p:txBody>
          <a:bodyPr rtlCol="0" anchor="ctr"/>
          <a:lstStyle/>
          <a:p>
            <a:pPr algn="ctr"/>
          </a:p>
        </p:txBody>
      </p:sp>
      <p:sp>
        <p:nvSpPr>
          <p:cNvPr id="26" name="static-frame"/>
          <p:cNvSpPr/>
          <p:nvPr/>
        </p:nvSpPr>
        <p:spPr>
          <a:xfrm>
            <a:off x="7333488" y="1938528"/>
            <a:ext cx="3712463" cy="3072384"/>
          </a:xfrm>
          <a:prstGeom prst="rect">
            <a:avLst/>
          </a:prstGeom>
          <a:noFill/>
          <a:ln w="6350">
            <a:solidFill>
              <a:srgbClr val="A88A57"/>
            </a:solidFill>
          </a:ln>
        </p:spPr>
        <p:txBody>
          <a:bodyPr rtlCol="0" anchor="ctr"/>
          <a:lstStyle/>
          <a:p>
            <a:pPr algn="ctr"/>
          </a:p>
        </p:txBody>
      </p:sp>
      <p:sp>
        <p:nvSpPr>
          <p:cNvPr id="27" name="static-frame"/>
          <p:cNvSpPr/>
          <p:nvPr/>
        </p:nvSpPr>
        <p:spPr>
          <a:xfrm>
            <a:off x="7379208" y="1984248"/>
            <a:ext cx="3621024" cy="2980944"/>
          </a:xfrm>
          <a:prstGeom prst="rect">
            <a:avLst/>
          </a:prstGeom>
          <a:noFill/>
          <a:ln w="6350">
            <a:solidFill>
              <a:srgbClr val="A88A57"/>
            </a:solidFill>
          </a:ln>
        </p:spPr>
        <p:txBody>
          <a:bodyPr rtlCol="0" anchor="ctr"/>
          <a:lstStyle/>
          <a:p>
            <a:pPr algn="ctr"/>
          </a:p>
        </p:txBody>
      </p:sp>
      <p:sp>
        <p:nvSpPr>
          <p:cNvPr id="28" name="TextBox 27"/>
          <p:cNvSpPr txBox="1"/>
          <p:nvPr/>
        </p:nvSpPr>
        <p:spPr>
          <a:xfrm>
            <a:off x="7223760" y="2240280"/>
            <a:ext cx="3931920" cy="365760"/>
          </a:xfrm>
          <a:prstGeom prst="rect">
            <a:avLst/>
          </a:prstGeom>
          <a:noFill/>
        </p:spPr>
        <p:txBody>
          <a:bodyPr wrap="square" lIns="0" rIns="0" tIns="0" bIns="0">
            <a:spAutoFit/>
          </a:bodyPr>
          <a:lstStyle/>
          <a:p>
            <a:pPr algn="ctr"/>
            <a:r>
              <a:rPr sz="1300" b="0" i="0" spc="200">
                <a:solidFill>
                  <a:srgbClr val="A88A57"/>
                </a:solidFill>
                <a:latin typeface="EB Garamond"/>
                <a:ea typeface="EB Garamond"/>
                <a:cs typeface="EB Garamond"/>
              </a:rPr>
              <a:t>★ ★ ★ ★ ★</a:t>
            </a:r>
          </a:p>
        </p:txBody>
      </p:sp>
      <p:sp>
        <p:nvSpPr>
          <p:cNvPr id="29" name="TextBox 28"/>
          <p:cNvSpPr txBox="1"/>
          <p:nvPr/>
        </p:nvSpPr>
        <p:spPr>
          <a:xfrm>
            <a:off x="7589520" y="2743200"/>
            <a:ext cx="3200400" cy="1280160"/>
          </a:xfrm>
          <a:prstGeom prst="rect">
            <a:avLst/>
          </a:prstGeom>
          <a:noFill/>
        </p:spPr>
        <p:txBody>
          <a:bodyPr wrap="square" lIns="0" rIns="0" tIns="0" bIns="0">
            <a:spAutoFit/>
          </a:bodyPr>
          <a:lstStyle/>
          <a:p>
            <a:pPr algn="ctr">
              <a:lnSpc>
                <a:spcPct val="110000"/>
              </a:lnSpc>
            </a:pPr>
            <a:r>
              <a:rPr sz="2800" b="0" i="1">
                <a:solidFill>
                  <a:srgbClr val="1B1A17"/>
                </a:solidFill>
                <a:latin typeface="Libre Caslon Display"/>
                <a:ea typeface="EB Garamond"/>
                <a:cs typeface="EB Garamond"/>
              </a:rPr>
              <a:t>“The room smelled incredible.”</a:t>
            </a:r>
          </a:p>
        </p:txBody>
      </p:sp>
      <p:sp>
        <p:nvSpPr>
          <p:cNvPr id="30" name="Rectangle 29"/>
          <p:cNvSpPr/>
          <p:nvPr/>
        </p:nvSpPr>
        <p:spPr>
          <a:xfrm>
            <a:off x="8823960" y="4160520"/>
            <a:ext cx="731520" cy="9144"/>
          </a:xfrm>
          <a:prstGeom prst="rect">
            <a:avLst/>
          </a:prstGeom>
          <a:solidFill>
            <a:srgbClr val="B9A27A"/>
          </a:solidFill>
          <a:ln>
            <a:noFill/>
          </a:ln>
        </p:spPr>
        <p:txBody>
          <a:bodyPr rtlCol="0" anchor="ctr"/>
          <a:lstStyle/>
          <a:p>
            <a:pPr algn="ctr"/>
          </a:p>
        </p:txBody>
      </p:sp>
      <p:sp>
        <p:nvSpPr>
          <p:cNvPr id="31" name="TextBox 30"/>
          <p:cNvSpPr txBox="1"/>
          <p:nvPr/>
        </p:nvSpPr>
        <p:spPr>
          <a:xfrm>
            <a:off x="7223760" y="4343400"/>
            <a:ext cx="3931920" cy="228600"/>
          </a:xfrm>
          <a:prstGeom prst="rect">
            <a:avLst/>
          </a:prstGeom>
          <a:noFill/>
        </p:spPr>
        <p:txBody>
          <a:bodyPr wrap="square" lIns="0" rIns="0" tIns="0" bIns="0">
            <a:spAutoFit/>
          </a:bodyPr>
          <a:lstStyle/>
          <a:p>
            <a:pPr algn="ctr"/>
            <a:r>
              <a:rPr sz="700" b="0" i="0" spc="400">
                <a:solidFill>
                  <a:srgbClr val="8C8270"/>
                </a:solidFill>
                <a:latin typeface="EB Garamond"/>
                <a:ea typeface="EB Garamond"/>
                <a:cs typeface="EB Garamond"/>
              </a:rPr>
              <a:t>SAMPLE REVIEW</a:t>
            </a:r>
          </a:p>
        </p:txBody>
      </p:sp>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42" presetClass="entr" presetSubtype="0" fill="hold" grpId="0" nodeType="withEffect">
                                  <p:stCondLst>
                                    <p:cond delay="35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900"/>
                                        <p:tgtEl>
                                          <p:spTgt spid="8"/>
                                        </p:tgtEl>
                                      </p:cBhvr>
                                    </p:animEffect>
                                    <p:anim calcmode="lin" valueType="num">
                                      <p:cBhvr>
                                        <p:cTn id="11" dur="900" decel="100000"/>
                                        <p:tgtEl>
                                          <p:spTgt spid="8"/>
                                        </p:tgtEl>
                                        <p:attrNameLst>
                                          <p:attrName>ppt_x</p:attrName>
                                        </p:attrNameLst>
                                      </p:cBhvr>
                                      <p:tavLst>
                                        <p:tav tm="0">
                                          <p:val>
                                            <p:strVal val="#ppt_x"/>
                                          </p:val>
                                        </p:tav>
                                        <p:tav tm="100000">
                                          <p:val>
                                            <p:strVal val="#ppt_x"/>
                                          </p:val>
                                        </p:tav>
                                      </p:tavLst>
                                    </p:anim>
                                    <p:anim calcmode="lin" valueType="num">
                                      <p:cBhvr>
                                        <p:cTn id="12" dur="900" decel="100000"/>
                                        <p:tgtEl>
                                          <p:spTgt spid="8"/>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45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700"/>
                                        <p:tgtEl>
                                          <p:spTgt spid="28"/>
                                        </p:tgtEl>
                                      </p:cBhvr>
                                    </p:animEffect>
                                  </p:childTnLst>
                                </p:cTn>
                              </p:par>
                              <p:par>
                                <p:cTn id="16" presetID="22" presetClass="entr" presetSubtype="8" fill="hold" grpId="0" nodeType="withEffect">
                                  <p:stCondLst>
                                    <p:cond delay="55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700"/>
                                        <p:tgtEl>
                                          <p:spTgt spid="9"/>
                                        </p:tgtEl>
                                      </p:cBhvr>
                                    </p:animEffect>
                                  </p:childTnLst>
                                </p:cTn>
                              </p:par>
                              <p:par>
                                <p:cTn id="19" presetID="10" presetClass="entr" presetSubtype="0" fill="hold" grpId="0" nodeType="withEffect">
                                  <p:stCondLst>
                                    <p:cond delay="65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700"/>
                                        <p:tgtEl>
                                          <p:spTgt spid="10"/>
                                        </p:tgtEl>
                                      </p:cBhvr>
                                    </p:animEffect>
                                  </p:childTnLst>
                                </p:cTn>
                              </p:par>
                              <p:par>
                                <p:cTn id="22" presetID="10" presetClass="entr" presetSubtype="0" fill="hold" grpId="0" nodeType="withEffect">
                                  <p:stCondLst>
                                    <p:cond delay="75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700"/>
                                        <p:tgtEl>
                                          <p:spTgt spid="11"/>
                                        </p:tgtEl>
                                      </p:cBhvr>
                                    </p:animEffect>
                                  </p:childTnLst>
                                </p:cTn>
                              </p:par>
                              <p:par>
                                <p:cTn id="25" presetID="42" presetClass="entr" presetSubtype="0" fill="hold" grpId="0" nodeType="withEffect">
                                  <p:stCondLst>
                                    <p:cond delay="85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900"/>
                                        <p:tgtEl>
                                          <p:spTgt spid="29"/>
                                        </p:tgtEl>
                                      </p:cBhvr>
                                    </p:animEffect>
                                    <p:anim calcmode="lin" valueType="num">
                                      <p:cBhvr>
                                        <p:cTn id="28" dur="900" decel="100000"/>
                                        <p:tgtEl>
                                          <p:spTgt spid="29"/>
                                        </p:tgtEl>
                                        <p:attrNameLst>
                                          <p:attrName>ppt_x</p:attrName>
                                        </p:attrNameLst>
                                      </p:cBhvr>
                                      <p:tavLst>
                                        <p:tav tm="0">
                                          <p:val>
                                            <p:strVal val="#ppt_x"/>
                                          </p:val>
                                        </p:tav>
                                        <p:tav tm="100000">
                                          <p:val>
                                            <p:strVal val="#ppt_x"/>
                                          </p:val>
                                        </p:tav>
                                      </p:tavLst>
                                    </p:anim>
                                    <p:anim calcmode="lin" valueType="num">
                                      <p:cBhvr>
                                        <p:cTn id="29" dur="900" decel="100000"/>
                                        <p:tgtEl>
                                          <p:spTgt spid="29"/>
                                        </p:tgtEl>
                                        <p:attrNameLst>
                                          <p:attrName>ppt_y</p:attrName>
                                        </p:attrNameLst>
                                      </p:cBhvr>
                                      <p:tavLst>
                                        <p:tav tm="0">
                                          <p:val>
                                            <p:strVal val="#ppt_y+.035"/>
                                          </p:val>
                                        </p:tav>
                                        <p:tav tm="100000">
                                          <p:val>
                                            <p:strVal val="#ppt_y"/>
                                          </p:val>
                                        </p:tav>
                                      </p:tavLst>
                                    </p:anim>
                                  </p:childTnLst>
                                </p:cTn>
                              </p:par>
                              <p:par>
                                <p:cTn id="30" presetID="22" presetClass="entr" presetSubtype="8" fill="hold" grpId="0" nodeType="withEffect">
                                  <p:stCondLst>
                                    <p:cond delay="95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700"/>
                                        <p:tgtEl>
                                          <p:spTgt spid="12"/>
                                        </p:tgtEl>
                                      </p:cBhvr>
                                    </p:animEffect>
                                  </p:childTnLst>
                                </p:cTn>
                              </p:par>
                              <p:par>
                                <p:cTn id="33" presetID="10" presetClass="entr" presetSubtype="0" fill="hold" grpId="0" nodeType="withEffect">
                                  <p:stCondLst>
                                    <p:cond delay="105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700"/>
                                        <p:tgtEl>
                                          <p:spTgt spid="13"/>
                                        </p:tgtEl>
                                      </p:cBhvr>
                                    </p:animEffect>
                                  </p:childTnLst>
                                </p:cTn>
                              </p:par>
                              <p:par>
                                <p:cTn id="36" presetID="10" presetClass="entr" presetSubtype="0" fill="hold" grpId="0" nodeType="withEffect">
                                  <p:stCondLst>
                                    <p:cond delay="115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700"/>
                                        <p:tgtEl>
                                          <p:spTgt spid="14"/>
                                        </p:tgtEl>
                                      </p:cBhvr>
                                    </p:animEffect>
                                  </p:childTnLst>
                                </p:cTn>
                              </p:par>
                              <p:par>
                                <p:cTn id="39" presetID="22" presetClass="entr" presetSubtype="8" fill="hold" grpId="0" nodeType="withEffect">
                                  <p:stCondLst>
                                    <p:cond delay="1250"/>
                                  </p:stCondLst>
                                  <p:childTnLst>
                                    <p:set>
                                      <p:cBhvr>
                                        <p:cTn id="40" dur="1" fill="hold">
                                          <p:stCondLst>
                                            <p:cond delay="0"/>
                                          </p:stCondLst>
                                        </p:cTn>
                                        <p:tgtEl>
                                          <p:spTgt spid="15"/>
                                        </p:tgtEl>
                                        <p:attrNameLst>
                                          <p:attrName>style.visibility</p:attrName>
                                        </p:attrNameLst>
                                      </p:cBhvr>
                                      <p:to>
                                        <p:strVal val="visible"/>
                                      </p:to>
                                    </p:set>
                                    <p:animEffect transition="in" filter="wipe(left)">
                                      <p:cBhvr>
                                        <p:cTn id="41" dur="700"/>
                                        <p:tgtEl>
                                          <p:spTgt spid="15"/>
                                        </p:tgtEl>
                                      </p:cBhvr>
                                    </p:animEffect>
                                  </p:childTnLst>
                                </p:cTn>
                              </p:par>
                              <p:par>
                                <p:cTn id="42" presetID="10" presetClass="entr" presetSubtype="0" fill="hold" grpId="0" nodeType="withEffect">
                                  <p:stCondLst>
                                    <p:cond delay="135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700"/>
                                        <p:tgtEl>
                                          <p:spTgt spid="16"/>
                                        </p:tgtEl>
                                      </p:cBhvr>
                                    </p:animEffect>
                                  </p:childTnLst>
                                </p:cTn>
                              </p:par>
                              <p:par>
                                <p:cTn id="45" presetID="10" presetClass="entr" presetSubtype="0" fill="hold" grpId="0" nodeType="withEffect">
                                  <p:stCondLst>
                                    <p:cond delay="145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700"/>
                                        <p:tgtEl>
                                          <p:spTgt spid="17"/>
                                        </p:tgtEl>
                                      </p:cBhvr>
                                    </p:animEffect>
                                  </p:childTnLst>
                                </p:cTn>
                              </p:par>
                              <p:par>
                                <p:cTn id="48" presetID="22" presetClass="entr" presetSubtype="8" fill="hold" grpId="0" nodeType="withEffect">
                                  <p:stCondLst>
                                    <p:cond delay="1550"/>
                                  </p:stCondLst>
                                  <p:childTnLst>
                                    <p:set>
                                      <p:cBhvr>
                                        <p:cTn id="49" dur="1" fill="hold">
                                          <p:stCondLst>
                                            <p:cond delay="0"/>
                                          </p:stCondLst>
                                        </p:cTn>
                                        <p:tgtEl>
                                          <p:spTgt spid="30"/>
                                        </p:tgtEl>
                                        <p:attrNameLst>
                                          <p:attrName>style.visibility</p:attrName>
                                        </p:attrNameLst>
                                      </p:cBhvr>
                                      <p:to>
                                        <p:strVal val="visible"/>
                                      </p:to>
                                    </p:set>
                                    <p:animEffect transition="in" filter="wipe(left)">
                                      <p:cBhvr>
                                        <p:cTn id="50" dur="700"/>
                                        <p:tgtEl>
                                          <p:spTgt spid="30"/>
                                        </p:tgtEl>
                                      </p:cBhvr>
                                    </p:animEffect>
                                  </p:childTnLst>
                                </p:cTn>
                              </p:par>
                              <p:par>
                                <p:cTn id="51" presetID="22" presetClass="entr" presetSubtype="8" fill="hold" grpId="0" nodeType="withEffect">
                                  <p:stCondLst>
                                    <p:cond delay="1650"/>
                                  </p:stCondLst>
                                  <p:childTnLst>
                                    <p:set>
                                      <p:cBhvr>
                                        <p:cTn id="52" dur="1" fill="hold">
                                          <p:stCondLst>
                                            <p:cond delay="0"/>
                                          </p:stCondLst>
                                        </p:cTn>
                                        <p:tgtEl>
                                          <p:spTgt spid="18"/>
                                        </p:tgtEl>
                                        <p:attrNameLst>
                                          <p:attrName>style.visibility</p:attrName>
                                        </p:attrNameLst>
                                      </p:cBhvr>
                                      <p:to>
                                        <p:strVal val="visible"/>
                                      </p:to>
                                    </p:set>
                                    <p:animEffect transition="in" filter="wipe(left)">
                                      <p:cBhvr>
                                        <p:cTn id="53" dur="700"/>
                                        <p:tgtEl>
                                          <p:spTgt spid="18"/>
                                        </p:tgtEl>
                                      </p:cBhvr>
                                    </p:animEffect>
                                  </p:childTnLst>
                                </p:cTn>
                              </p:par>
                              <p:par>
                                <p:cTn id="54" presetID="10" presetClass="entr" presetSubtype="0" fill="hold" grpId="0" nodeType="withEffect">
                                  <p:stCondLst>
                                    <p:cond delay="175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700"/>
                                        <p:tgtEl>
                                          <p:spTgt spid="19"/>
                                        </p:tgtEl>
                                      </p:cBhvr>
                                    </p:animEffect>
                                  </p:childTnLst>
                                </p:cTn>
                              </p:par>
                              <p:par>
                                <p:cTn id="57" presetID="10" presetClass="entr" presetSubtype="0" fill="hold" grpId="0" nodeType="withEffect">
                                  <p:stCondLst>
                                    <p:cond delay="185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700"/>
                                        <p:tgtEl>
                                          <p:spTgt spid="20"/>
                                        </p:tgtEl>
                                      </p:cBhvr>
                                    </p:animEffect>
                                  </p:childTnLst>
                                </p:cTn>
                              </p:par>
                              <p:par>
                                <p:cTn id="60" presetID="10" presetClass="entr" presetSubtype="0" fill="hold" grpId="0" nodeType="withEffect">
                                  <p:stCondLst>
                                    <p:cond delay="195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700"/>
                                        <p:tgtEl>
                                          <p:spTgt spid="31"/>
                                        </p:tgtEl>
                                      </p:cBhvr>
                                    </p:animEffect>
                                  </p:childTnLst>
                                </p:cTn>
                              </p:par>
                              <p:par>
                                <p:cTn id="63" presetID="22" presetClass="entr" presetSubtype="8" fill="hold" grpId="0" nodeType="withEffect">
                                  <p:stCondLst>
                                    <p:cond delay="2050"/>
                                  </p:stCondLst>
                                  <p:childTnLst>
                                    <p:set>
                                      <p:cBhvr>
                                        <p:cTn id="64" dur="1" fill="hold">
                                          <p:stCondLst>
                                            <p:cond delay="0"/>
                                          </p:stCondLst>
                                        </p:cTn>
                                        <p:tgtEl>
                                          <p:spTgt spid="21"/>
                                        </p:tgtEl>
                                        <p:attrNameLst>
                                          <p:attrName>style.visibility</p:attrName>
                                        </p:attrNameLst>
                                      </p:cBhvr>
                                      <p:to>
                                        <p:strVal val="visible"/>
                                      </p:to>
                                    </p:set>
                                    <p:animEffect transition="in" filter="wipe(left)">
                                      <p:cBhvr>
                                        <p:cTn id="65" dur="700"/>
                                        <p:tgtEl>
                                          <p:spTgt spid="21"/>
                                        </p:tgtEl>
                                      </p:cBhvr>
                                    </p:animEffect>
                                  </p:childTnLst>
                                </p:cTn>
                              </p:par>
                              <p:par>
                                <p:cTn id="66" presetID="10" presetClass="entr" presetSubtype="0" fill="hold" grpId="0" nodeType="withEffect">
                                  <p:stCondLst>
                                    <p:cond delay="215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700"/>
                                        <p:tgtEl>
                                          <p:spTgt spid="22"/>
                                        </p:tgtEl>
                                      </p:cBhvr>
                                    </p:animEffect>
                                  </p:childTnLst>
                                </p:cTn>
                              </p:par>
                              <p:par>
                                <p:cTn id="69" presetID="10" presetClass="entr" presetSubtype="0" fill="hold" grpId="0" nodeType="withEffect">
                                  <p:stCondLst>
                                    <p:cond delay="225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700"/>
                                        <p:tgtEl>
                                          <p:spTgt spid="23"/>
                                        </p:tgtEl>
                                      </p:cBhvr>
                                    </p:animEffect>
                                  </p:childTnLst>
                                </p:cTn>
                              </p:par>
                              <p:par>
                                <p:cTn id="72" presetID="22" presetClass="entr" presetSubtype="8" fill="hold" grpId="0" nodeType="withEffect">
                                  <p:stCondLst>
                                    <p:cond delay="2350"/>
                                  </p:stCondLst>
                                  <p:childTnLst>
                                    <p:set>
                                      <p:cBhvr>
                                        <p:cTn id="73" dur="1" fill="hold">
                                          <p:stCondLst>
                                            <p:cond delay="0"/>
                                          </p:stCondLst>
                                        </p:cTn>
                                        <p:tgtEl>
                                          <p:spTgt spid="24"/>
                                        </p:tgtEl>
                                        <p:attrNameLst>
                                          <p:attrName>style.visibility</p:attrName>
                                        </p:attrNameLst>
                                      </p:cBhvr>
                                      <p:to>
                                        <p:strVal val="visible"/>
                                      </p:to>
                                    </p:set>
                                    <p:animEffect transition="in" filter="wipe(left)">
                                      <p:cBhvr>
                                        <p:cTn id="74" dur="7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28" grpId="0" animBg="1"/>
      <p:bldP spid="9" grpId="0" animBg="1"/>
      <p:bldP spid="10" grpId="0" animBg="1"/>
      <p:bldP spid="11" grpId="0" animBg="1"/>
      <p:bldP spid="29" grpId="0" animBg="1"/>
      <p:bldP spid="12" grpId="0" animBg="1"/>
      <p:bldP spid="13" grpId="0" animBg="1"/>
      <p:bldP spid="14" grpId="0" animBg="1"/>
      <p:bldP spid="15" grpId="0" animBg="1"/>
      <p:bldP spid="16" grpId="0" animBg="1"/>
      <p:bldP spid="17" grpId="0" animBg="1"/>
      <p:bldP spid="30" grpId="0" animBg="1"/>
      <p:bldP spid="18" grpId="0" animBg="1"/>
      <p:bldP spid="19" grpId="0" animBg="1"/>
      <p:bldP spid="20" grpId="0" animBg="1"/>
      <p:bldP spid="31" grpId="0" animBg="1"/>
      <p:bldP spid="21" grpId="0" animBg="1"/>
      <p:bldP spid="22" grpId="0" animBg="1"/>
      <p:bldP spid="23" grpId="0" animBg="1"/>
      <p:bldP spid="24"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ic-bg" descr="paper_oxblood.jpg"/>
          <p:cNvPicPr>
            <a:picLocks noChangeAspect="1"/>
          </p:cNvPicPr>
          <p:nvPr/>
        </p:nvPicPr>
        <p:blipFill>
          <a:blip r:embed="rId2"/>
          <a:stretch>
            <a:fillRect/>
          </a:stretch>
        </p:blipFill>
        <p:spPr>
          <a:xfrm>
            <a:off x="0" y="0"/>
            <a:ext cx="12191695" cy="6858000"/>
          </a:xfrm>
          <a:prstGeom prst="rect">
            <a:avLst/>
          </a:prstGeom>
        </p:spPr>
      </p:pic>
      <p:sp>
        <p:nvSpPr>
          <p:cNvPr id="3" name="static-frame"/>
          <p:cNvSpPr/>
          <p:nvPr/>
        </p:nvSpPr>
        <p:spPr>
          <a:xfrm>
            <a:off x="292608" y="292608"/>
            <a:ext cx="11606479" cy="6272784"/>
          </a:xfrm>
          <a:prstGeom prst="rect">
            <a:avLst/>
          </a:prstGeom>
          <a:noFill/>
          <a:ln w="7620">
            <a:solidFill>
              <a:srgbClr val="C9A66B"/>
            </a:solidFill>
          </a:ln>
        </p:spPr>
        <p:txBody>
          <a:bodyPr rtlCol="0" anchor="ctr"/>
          <a:lstStyle/>
          <a:p>
            <a:pPr algn="ctr"/>
          </a:p>
        </p:txBody>
      </p:sp>
      <p:sp>
        <p:nvSpPr>
          <p:cNvPr id="4" name="static-frame"/>
          <p:cNvSpPr/>
          <p:nvPr/>
        </p:nvSpPr>
        <p:spPr>
          <a:xfrm>
            <a:off x="347472" y="347472"/>
            <a:ext cx="11496751" cy="6163056"/>
          </a:xfrm>
          <a:prstGeom prst="rect">
            <a:avLst/>
          </a:prstGeom>
          <a:noFill/>
          <a:ln w="7620">
            <a:solidFill>
              <a:srgbClr val="C9A66B"/>
            </a:solidFill>
          </a:ln>
        </p:spPr>
        <p:txBody>
          <a:bodyPr rtlCol="0" anchor="ctr"/>
          <a:lstStyle/>
          <a:p>
            <a:pPr algn="ctr"/>
          </a:p>
        </p:txBody>
      </p:sp>
      <p:pic>
        <p:nvPicPr>
          <p:cNvPr id="5" name="static-art" descr="flag_ivory.png"/>
          <p:cNvPicPr>
            <a:picLocks noChangeAspect="1"/>
          </p:cNvPicPr>
          <p:nvPr/>
        </p:nvPicPr>
        <p:blipFill>
          <a:blip r:embed="rId3"/>
          <a:stretch>
            <a:fillRect/>
          </a:stretch>
        </p:blipFill>
        <p:spPr>
          <a:xfrm>
            <a:off x="5976975" y="1143000"/>
            <a:ext cx="431074" cy="502920"/>
          </a:xfrm>
          <a:prstGeom prst="rect">
            <a:avLst/>
          </a:prstGeom>
        </p:spPr>
      </p:pic>
      <p:sp>
        <p:nvSpPr>
          <p:cNvPr id="6" name="TextBox 5"/>
          <p:cNvSpPr txBox="1"/>
          <p:nvPr/>
        </p:nvSpPr>
        <p:spPr>
          <a:xfrm>
            <a:off x="0" y="1965960"/>
            <a:ext cx="12191695" cy="822960"/>
          </a:xfrm>
          <a:prstGeom prst="rect">
            <a:avLst/>
          </a:prstGeom>
          <a:noFill/>
        </p:spPr>
        <p:txBody>
          <a:bodyPr wrap="square" lIns="0" rIns="0" tIns="0" bIns="0">
            <a:spAutoFit/>
          </a:bodyPr>
          <a:lstStyle/>
          <a:p>
            <a:pPr algn="ctr">
              <a:lnSpc>
                <a:spcPct val="100000"/>
              </a:lnSpc>
            </a:pPr>
            <a:r>
              <a:rPr sz="5400" b="0" i="0">
                <a:solidFill>
                  <a:srgbClr val="F4EFE4"/>
                </a:solidFill>
                <a:latin typeface="Libre Caslon Display"/>
                <a:ea typeface="EB Garamond"/>
                <a:cs typeface="EB Garamond"/>
              </a:rPr>
              <a:t>The only red flag</a:t>
            </a:r>
          </a:p>
        </p:txBody>
      </p:sp>
      <p:sp>
        <p:nvSpPr>
          <p:cNvPr id="7" name="TextBox 6"/>
          <p:cNvSpPr txBox="1"/>
          <p:nvPr/>
        </p:nvSpPr>
        <p:spPr>
          <a:xfrm>
            <a:off x="0" y="2743200"/>
            <a:ext cx="12191695" cy="822960"/>
          </a:xfrm>
          <a:prstGeom prst="rect">
            <a:avLst/>
          </a:prstGeom>
          <a:noFill/>
        </p:spPr>
        <p:txBody>
          <a:bodyPr wrap="square" lIns="0" rIns="0" tIns="0" bIns="0">
            <a:spAutoFit/>
          </a:bodyPr>
          <a:lstStyle/>
          <a:p>
            <a:pPr algn="ctr">
              <a:lnSpc>
                <a:spcPct val="100000"/>
              </a:lnSpc>
            </a:pPr>
            <a:r>
              <a:rPr sz="5400" b="0" i="1">
                <a:solidFill>
                  <a:srgbClr val="F4EFE4"/>
                </a:solidFill>
                <a:latin typeface="Libre Caslon Display"/>
                <a:ea typeface="EB Garamond"/>
                <a:cs typeface="EB Garamond"/>
              </a:rPr>
              <a:t>is leaving.</a:t>
            </a:r>
          </a:p>
        </p:txBody>
      </p:sp>
      <p:sp>
        <p:nvSpPr>
          <p:cNvPr id="8" name="TextBox 7"/>
          <p:cNvSpPr txBox="1"/>
          <p:nvPr/>
        </p:nvSpPr>
        <p:spPr>
          <a:xfrm>
            <a:off x="0" y="3794760"/>
            <a:ext cx="12191695" cy="457200"/>
          </a:xfrm>
          <a:prstGeom prst="rect">
            <a:avLst/>
          </a:prstGeom>
          <a:noFill/>
        </p:spPr>
        <p:txBody>
          <a:bodyPr wrap="square" lIns="0" rIns="0" tIns="0" bIns="0">
            <a:spAutoFit/>
          </a:bodyPr>
          <a:lstStyle/>
          <a:p>
            <a:pPr algn="ctr"/>
            <a:r>
              <a:rPr sz="2000" b="0" i="1">
                <a:solidFill>
                  <a:srgbClr val="F4EFE4"/>
                </a:solidFill>
                <a:latin typeface="EB Garamond"/>
                <a:ea typeface="EB Garamond"/>
                <a:cs typeface="EB Garamond"/>
              </a:rPr>
              <a:t>Start your ritual today.</a:t>
            </a:r>
          </a:p>
        </p:txBody>
      </p:sp>
      <p:sp>
        <p:nvSpPr>
          <p:cNvPr id="9" name="Rectangle 8"/>
          <p:cNvSpPr/>
          <p:nvPr/>
        </p:nvSpPr>
        <p:spPr>
          <a:xfrm>
            <a:off x="5547207" y="4434840"/>
            <a:ext cx="1097280" cy="9144"/>
          </a:xfrm>
          <a:prstGeom prst="rect">
            <a:avLst/>
          </a:prstGeom>
          <a:solidFill>
            <a:srgbClr val="C9A66B"/>
          </a:solidFill>
          <a:ln>
            <a:noFill/>
          </a:ln>
        </p:spPr>
        <p:txBody>
          <a:bodyPr rtlCol="0" anchor="ctr"/>
          <a:lstStyle/>
          <a:p>
            <a:pPr algn="ctr"/>
          </a:p>
        </p:txBody>
      </p:sp>
      <p:sp>
        <p:nvSpPr>
          <p:cNvPr id="10" name="TextBox 9"/>
          <p:cNvSpPr txBox="1"/>
          <p:nvPr/>
        </p:nvSpPr>
        <p:spPr>
          <a:xfrm>
            <a:off x="0" y="4663440"/>
            <a:ext cx="12191695" cy="228600"/>
          </a:xfrm>
          <a:prstGeom prst="rect">
            <a:avLst/>
          </a:prstGeom>
          <a:noFill/>
        </p:spPr>
        <p:txBody>
          <a:bodyPr wrap="square" lIns="0" rIns="0" tIns="0" bIns="0">
            <a:spAutoFit/>
          </a:bodyPr>
          <a:lstStyle/>
          <a:p>
            <a:pPr algn="ctr"/>
            <a:r>
              <a:rPr sz="900" b="0" i="0" spc="300">
                <a:solidFill>
                  <a:srgbClr val="E6D9CC"/>
                </a:solidFill>
                <a:latin typeface="EB Garamond"/>
                <a:ea typeface="EB Garamond"/>
                <a:cs typeface="EB Garamond"/>
              </a:rPr>
              <a:t>REDFLAGHOMES.IN   ·   [WHATSAPP NUMBER]   ·   [INSTAGRAM HANDLE]</a:t>
            </a:r>
          </a:p>
        </p:txBody>
      </p:sp>
    </p:spTree>
  </p:cSld>
  <p:clrMapOvr>
    <a:masterClrMapping/>
  </p:clrMapOvr>
  <p:transition spd="slow" advClick="1">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900"/>
                                        <p:tgtEl>
                                          <p:spTgt spid="6"/>
                                        </p:tgtEl>
                                      </p:cBhvr>
                                    </p:animEffect>
                                    <p:anim calcmode="lin" valueType="num">
                                      <p:cBhvr>
                                        <p:cTn id="8" dur="900" decel="100000"/>
                                        <p:tgtEl>
                                          <p:spTgt spid="6"/>
                                        </p:tgtEl>
                                        <p:attrNameLst>
                                          <p:attrName>ppt_x</p:attrName>
                                        </p:attrNameLst>
                                      </p:cBhvr>
                                      <p:tavLst>
                                        <p:tav tm="0">
                                          <p:val>
                                            <p:strVal val="#ppt_x"/>
                                          </p:val>
                                        </p:tav>
                                        <p:tav tm="100000">
                                          <p:val>
                                            <p:strVal val="#ppt_x"/>
                                          </p:val>
                                        </p:tav>
                                      </p:tavLst>
                                    </p:anim>
                                    <p:anim calcmode="lin" valueType="num">
                                      <p:cBhvr>
                                        <p:cTn id="9" dur="900" decel="100000"/>
                                        <p:tgtEl>
                                          <p:spTgt spid="6"/>
                                        </p:tgtEl>
                                        <p:attrNameLst>
                                          <p:attrName>ppt_y</p:attrName>
                                        </p:attrNameLst>
                                      </p:cBhvr>
                                      <p:tavLst>
                                        <p:tav tm="0">
                                          <p:val>
                                            <p:strVal val="#ppt_y+.035"/>
                                          </p:val>
                                        </p:tav>
                                        <p:tav tm="100000">
                                          <p:val>
                                            <p:strVal val="#ppt_y"/>
                                          </p:val>
                                        </p:tav>
                                      </p:tavLst>
                                    </p:anim>
                                  </p:childTnLst>
                                </p:cTn>
                              </p:par>
                              <p:par>
                                <p:cTn id="10" presetID="42" presetClass="entr" presetSubtype="0" fill="hold" grpId="0" nodeType="withEffect">
                                  <p:stCondLst>
                                    <p:cond delay="39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900"/>
                                        <p:tgtEl>
                                          <p:spTgt spid="7"/>
                                        </p:tgtEl>
                                      </p:cBhvr>
                                    </p:animEffect>
                                    <p:anim calcmode="lin" valueType="num">
                                      <p:cBhvr>
                                        <p:cTn id="13" dur="900" decel="100000"/>
                                        <p:tgtEl>
                                          <p:spTgt spid="7"/>
                                        </p:tgtEl>
                                        <p:attrNameLst>
                                          <p:attrName>ppt_x</p:attrName>
                                        </p:attrNameLst>
                                      </p:cBhvr>
                                      <p:tavLst>
                                        <p:tav tm="0">
                                          <p:val>
                                            <p:strVal val="#ppt_x"/>
                                          </p:val>
                                        </p:tav>
                                        <p:tav tm="100000">
                                          <p:val>
                                            <p:strVal val="#ppt_x"/>
                                          </p:val>
                                        </p:tav>
                                      </p:tavLst>
                                    </p:anim>
                                    <p:anim calcmode="lin" valueType="num">
                                      <p:cBhvr>
                                        <p:cTn id="14" dur="900" decel="100000"/>
                                        <p:tgtEl>
                                          <p:spTgt spid="7"/>
                                        </p:tgtEl>
                                        <p:attrNameLst>
                                          <p:attrName>ppt_y</p:attrName>
                                        </p:attrNameLst>
                                      </p:cBhvr>
                                      <p:tavLst>
                                        <p:tav tm="0">
                                          <p:val>
                                            <p:strVal val="#ppt_y+.035"/>
                                          </p:val>
                                        </p:tav>
                                        <p:tav tm="100000">
                                          <p:val>
                                            <p:strVal val="#ppt_y"/>
                                          </p:val>
                                        </p:tav>
                                      </p:tavLst>
                                    </p:anim>
                                  </p:childTnLst>
                                </p:cTn>
                              </p:par>
                              <p:par>
                                <p:cTn id="15" presetID="42" presetClass="entr" presetSubtype="0" fill="hold" grpId="0" nodeType="withEffect">
                                  <p:stCondLst>
                                    <p:cond delay="53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900"/>
                                        <p:tgtEl>
                                          <p:spTgt spid="8"/>
                                        </p:tgtEl>
                                      </p:cBhvr>
                                    </p:animEffect>
                                    <p:anim calcmode="lin" valueType="num">
                                      <p:cBhvr>
                                        <p:cTn id="18" dur="900" decel="100000"/>
                                        <p:tgtEl>
                                          <p:spTgt spid="8"/>
                                        </p:tgtEl>
                                        <p:attrNameLst>
                                          <p:attrName>ppt_x</p:attrName>
                                        </p:attrNameLst>
                                      </p:cBhvr>
                                      <p:tavLst>
                                        <p:tav tm="0">
                                          <p:val>
                                            <p:strVal val="#ppt_x"/>
                                          </p:val>
                                        </p:tav>
                                        <p:tav tm="100000">
                                          <p:val>
                                            <p:strVal val="#ppt_x"/>
                                          </p:val>
                                        </p:tav>
                                      </p:tavLst>
                                    </p:anim>
                                    <p:anim calcmode="lin" valueType="num">
                                      <p:cBhvr>
                                        <p:cTn id="19" dur="900" decel="100000"/>
                                        <p:tgtEl>
                                          <p:spTgt spid="8"/>
                                        </p:tgtEl>
                                        <p:attrNameLst>
                                          <p:attrName>ppt_y</p:attrName>
                                        </p:attrNameLst>
                                      </p:cBhvr>
                                      <p:tavLst>
                                        <p:tav tm="0">
                                          <p:val>
                                            <p:strVal val="#ppt_y+.035"/>
                                          </p:val>
                                        </p:tav>
                                        <p:tav tm="100000">
                                          <p:val>
                                            <p:strVal val="#ppt_y"/>
                                          </p:val>
                                        </p:tav>
                                      </p:tavLst>
                                    </p:anim>
                                  </p:childTnLst>
                                </p:cTn>
                              </p:par>
                              <p:par>
                                <p:cTn id="20" presetID="22" presetClass="entr" presetSubtype="8" fill="hold" grpId="0" nodeType="withEffect">
                                  <p:stCondLst>
                                    <p:cond delay="67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700"/>
                                        <p:tgtEl>
                                          <p:spTgt spid="9"/>
                                        </p:tgtEl>
                                      </p:cBhvr>
                                    </p:animEffect>
                                  </p:childTnLst>
                                </p:cTn>
                              </p:par>
                              <p:par>
                                <p:cTn id="23" presetID="10" presetClass="entr" presetSubtype="0" fill="hold" grpId="0" nodeType="withEffect">
                                  <p:stCondLst>
                                    <p:cond delay="81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7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